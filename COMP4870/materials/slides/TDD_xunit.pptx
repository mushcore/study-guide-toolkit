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5"/>
    <p:sldMasterId id="2147483973" r:id="rId6"/>
  </p:sldMasterIdLst>
  <p:notesMasterIdLst>
    <p:notesMasterId r:id="rId20"/>
  </p:notesMasterIdLst>
  <p:sldIdLst>
    <p:sldId id="256" r:id="rId7"/>
    <p:sldId id="358" r:id="rId8"/>
    <p:sldId id="359" r:id="rId9"/>
    <p:sldId id="377" r:id="rId10"/>
    <p:sldId id="360" r:id="rId11"/>
    <p:sldId id="361" r:id="rId12"/>
    <p:sldId id="362" r:id="rId13"/>
    <p:sldId id="379" r:id="rId14"/>
    <p:sldId id="380" r:id="rId15"/>
    <p:sldId id="378" r:id="rId16"/>
    <p:sldId id="368" r:id="rId17"/>
    <p:sldId id="369" r:id="rId18"/>
    <p:sldId id="376" r:id="rId1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5B2D4-0417-7641-83E3-76B0B22E9640}" v="6" dt="2025-11-08T23:09:46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3" autoAdjust="0"/>
    <p:restoredTop sz="83170" autoAdjust="0"/>
  </p:normalViewPr>
  <p:slideViewPr>
    <p:cSldViewPr>
      <p:cViewPr varScale="1">
        <p:scale>
          <a:sx n="102" d="100"/>
          <a:sy n="102" d="100"/>
        </p:scale>
        <p:origin x="22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undo custSel modSld">
      <pc:chgData name="Medhat Elmasry" userId="405e238c19f61b9e" providerId="LiveId" clId="{FDECEA60-4432-5C1E-B4FA-7BC519CADCB5}" dt="2025-11-08T23:11:42.606" v="58" actId="12385"/>
      <pc:docMkLst>
        <pc:docMk/>
      </pc:docMkLst>
      <pc:sldChg chg="modSp mod">
        <pc:chgData name="Medhat Elmasry" userId="405e238c19f61b9e" providerId="LiveId" clId="{FDECEA60-4432-5C1E-B4FA-7BC519CADCB5}" dt="2025-11-08T23:08:13.189" v="25" actId="20577"/>
        <pc:sldMkLst>
          <pc:docMk/>
          <pc:sldMk cId="2321684073" sldId="358"/>
        </pc:sldMkLst>
        <pc:spChg chg="mod">
          <ac:chgData name="Medhat Elmasry" userId="405e238c19f61b9e" providerId="LiveId" clId="{FDECEA60-4432-5C1E-B4FA-7BC519CADCB5}" dt="2025-11-08T23:08:13.189" v="25" actId="20577"/>
          <ac:spMkLst>
            <pc:docMk/>
            <pc:sldMk cId="2321684073" sldId="358"/>
            <ac:spMk id="3" creationId="{00000000-0000-0000-0000-000000000000}"/>
          </ac:spMkLst>
        </pc:spChg>
      </pc:sldChg>
      <pc:sldChg chg="addSp modSp mod">
        <pc:chgData name="Medhat Elmasry" userId="405e238c19f61b9e" providerId="LiveId" clId="{FDECEA60-4432-5C1E-B4FA-7BC519CADCB5}" dt="2025-11-08T23:11:42.606" v="58" actId="12385"/>
        <pc:sldMkLst>
          <pc:docMk/>
          <pc:sldMk cId="1050785349" sldId="378"/>
        </pc:sldMkLst>
        <pc:spChg chg="mod">
          <ac:chgData name="Medhat Elmasry" userId="405e238c19f61b9e" providerId="LiveId" clId="{FDECEA60-4432-5C1E-B4FA-7BC519CADCB5}" dt="2025-11-08T23:10:07.701" v="41" actId="12"/>
          <ac:spMkLst>
            <pc:docMk/>
            <pc:sldMk cId="1050785349" sldId="378"/>
            <ac:spMk id="3" creationId="{00000000-0000-0000-0000-000000000000}"/>
          </ac:spMkLst>
        </pc:spChg>
        <pc:graphicFrameChg chg="add mod modGraphic">
          <ac:chgData name="Medhat Elmasry" userId="405e238c19f61b9e" providerId="LiveId" clId="{FDECEA60-4432-5C1E-B4FA-7BC519CADCB5}" dt="2025-11-08T23:11:42.606" v="58" actId="12385"/>
          <ac:graphicFrameMkLst>
            <pc:docMk/>
            <pc:sldMk cId="1050785349" sldId="378"/>
            <ac:graphicFrameMk id="4" creationId="{4C5F6DAB-D551-D561-AB14-59EF1305E9A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B2C53EDC-CD28-42A5-8C8E-204ED3F356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55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_0000_Layer Comp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52813" y="43913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34" name="Rectangle 33"/>
          <p:cNvSpPr/>
          <p:nvPr/>
        </p:nvSpPr>
        <p:spPr>
          <a:xfrm flipH="1">
            <a:off x="4752814" y="532810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5" name="Rectangle 34"/>
          <p:cNvSpPr/>
          <p:nvPr/>
        </p:nvSpPr>
        <p:spPr>
          <a:xfrm flipH="1">
            <a:off x="4299183" y="532527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6" name="Rectangle 35"/>
          <p:cNvSpPr/>
          <p:nvPr/>
        </p:nvSpPr>
        <p:spPr>
          <a:xfrm flipH="1">
            <a:off x="4504979" y="499564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145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96597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043781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1_Layer Comp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24620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2293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19200" y="30759"/>
            <a:ext cx="4876800" cy="2255241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5682617" y="814504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7" name="Rectangle 16"/>
          <p:cNvSpPr/>
          <p:nvPr/>
        </p:nvSpPr>
        <p:spPr>
          <a:xfrm>
            <a:off x="5682617" y="484841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0" y="152400"/>
            <a:ext cx="3556000" cy="1341967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2679" y="1536672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20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21839" y="814930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89579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1_Layer Comp 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10272" r="17057" b="7457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52" y="449235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2" name="Rectangle 11"/>
          <p:cNvSpPr/>
          <p:nvPr/>
        </p:nvSpPr>
        <p:spPr>
          <a:xfrm flipH="1">
            <a:off x="658353" y="5338203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204722" y="5335371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410517" y="5005741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970331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C12_Sam_001_16x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129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09337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0933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51791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5309337" y="5435916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 flipH="1">
            <a:off x="4855707" y="543308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5061503" y="5103454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16802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2_Layer Comp 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r="847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066" y="40829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3" name="Rectangle 12"/>
          <p:cNvSpPr/>
          <p:nvPr/>
        </p:nvSpPr>
        <p:spPr>
          <a:xfrm flipH="1">
            <a:off x="653067" y="529726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199436" y="529443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 flipH="1">
            <a:off x="405232" y="496480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665224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0003_Layer Comp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233581" y="327541"/>
            <a:ext cx="3184052" cy="516795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33582" y="1734558"/>
            <a:ext cx="3184050" cy="1954348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3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74225" y="4706299"/>
            <a:ext cx="2902766" cy="572695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2689" y="5567949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2" name="Rectangle 31"/>
          <p:cNvSpPr/>
          <p:nvPr/>
        </p:nvSpPr>
        <p:spPr>
          <a:xfrm>
            <a:off x="8472689" y="523828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/>
          <p:cNvSpPr/>
          <p:nvPr/>
        </p:nvSpPr>
        <p:spPr>
          <a:xfrm>
            <a:off x="7611117" y="556851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505234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27067" y="619519"/>
            <a:ext cx="7302500" cy="36307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027068" y="1794192"/>
            <a:ext cx="7301768" cy="1107016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35072" y="2902660"/>
            <a:ext cx="6993764" cy="559473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643" y="4323286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778221" y="399365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027068" y="432350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7922833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5768D-597F-444B-9A31-18D8449AA4CF}" type="datetime1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13517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91C6F-EFA8-46E8-BCB7-BE83D7CA91F7}" type="datetime1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455466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CBEFB-FBB2-43EC-819E-C1995C229489}" type="datetime1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754676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 descr="WIN11_Sarah_01_PP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32" b="-232"/>
          <a:stretch/>
        </p:blipFill>
        <p:spPr>
          <a:xfrm>
            <a:off x="356017" y="1687908"/>
            <a:ext cx="2743200" cy="3657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208423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179" y="1683559"/>
            <a:ext cx="2739318" cy="365242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558396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18" y="1687908"/>
            <a:ext cx="2734056" cy="36454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446140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935" y="1690573"/>
            <a:ext cx="2729723" cy="36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668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65E5-D49D-488B-953C-8D72A2115E0A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32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8229600" cy="49053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200" dirty="0" smtClean="0"/>
            </a:lvl1pPr>
            <a:lvl2pPr>
              <a:defRPr lang="en-US" sz="2800" dirty="0" smtClean="0"/>
            </a:lvl2pPr>
            <a:lvl3pPr>
              <a:defRPr lang="en-US" sz="20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30258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8229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5BB4-6839-4F7D-B1DB-ED40FD8DB602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59556748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0416-FC3C-4D8F-A2B6-C0424F15D7C3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7792003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94B8-74E1-4FD5-B9F4-CB262C43468F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8030493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BAB4-895E-4208-A8FC-7DF1CD2B69DD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32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82202501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6318-EE40-48FD-B84D-0821338283C1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56653337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66DA-406B-4F27-B199-A4D44B5544E0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62029737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061E2-E31F-4DAF-A1E3-8E72CD07C689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74694838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FC41-CC29-413B-B475-E22B8620836E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1675487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67C0-6C15-4F65-B4D1-7C420B23675E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68178753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870E-468C-47D4-83F1-4BBAE04CEBED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24195188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294F-77DC-420B-BC77-5A5D9746E316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14763757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197-BFD1-4D64-BB08-8012D6A3FFC4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6" name="Rectangle 25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114306742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651C4-5CC1-49C0-A1E3-C3A1981755A1}" type="datetime1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2" y="281943"/>
            <a:ext cx="8244357" cy="582841"/>
          </a:xfrm>
        </p:spPr>
        <p:txBody>
          <a:bodyPr vert="horz" lIns="91440" tIns="0" rIns="91440" bIns="45720" rtlCol="0" anchor="t" anchorCtr="0">
            <a:noAutofit/>
          </a:bodyPr>
          <a:lstStyle>
            <a:lvl1pPr>
              <a:defRPr lang="en-US" b="0" dirty="0">
                <a:solidFill>
                  <a:srgbClr val="0072C6"/>
                </a:solidFill>
              </a:defRPr>
            </a:lvl1pPr>
          </a:lstStyle>
          <a:p>
            <a:pPr lvl="0"/>
            <a:r>
              <a:rPr lang="en-US" dirty="0"/>
              <a:t>title of text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220286435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0AC9-E131-4B5D-86D9-149A03CD6B9E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758105031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B3D1-9C0C-4794-AA64-A33FBE08A51B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727881600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5862-C215-4E95-92B2-D9BAE5EF8781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6576867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37278-374E-4751-A05F-60A4BD131932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628147496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2BBE-4F35-41B0-B8FE-6919D2F5576E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6903377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7E77E-94E6-4BED-81F4-7874A0191B24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6953819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FF44-CACF-4E76-A58D-D0628EB55756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8"/>
            <a:ext cx="1409346" cy="1870668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68083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2515"/>
            <a:ext cx="1403350" cy="1859168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50" y="3804719"/>
            <a:ext cx="1409345" cy="1872369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40126990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7565-76E0-4063-952F-22E1C4CEA4E0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22"/>
            <a:ext cx="1409346" cy="1856153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53569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3567"/>
            <a:ext cx="1403350" cy="1858600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47" y="3806420"/>
            <a:ext cx="1409345" cy="1856153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248675990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85F-5957-4B7B-A01B-50AA0559DB2E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61190369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88F4F-C858-4A4C-B79F-358B7C08A490}" type="datetime1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110778132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3"/>
            <a:ext cx="8382000" cy="2210863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3530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74918"/>
      </p:ext>
    </p:extLst>
  </p:cSld>
  <p:clrMapOvr>
    <a:masterClrMapping/>
  </p:clrMapOvr>
  <p:transition>
    <p:fade/>
  </p:transition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6"/>
            <a:ext cx="4114800" cy="2129815"/>
          </a:xfrm>
        </p:spPr>
        <p:txBody>
          <a:bodyPr/>
          <a:lstStyle>
            <a:lvl1pPr marL="191237" indent="-191237">
              <a:lnSpc>
                <a:spcPct val="90000"/>
              </a:lnSpc>
              <a:defRPr sz="1575"/>
            </a:lvl1pPr>
            <a:lvl2pPr marL="378753" indent="-183051">
              <a:lnSpc>
                <a:spcPct val="90000"/>
              </a:lnSpc>
              <a:defRPr sz="1350"/>
            </a:lvl2pPr>
            <a:lvl3pPr marL="536504" indent="-162216">
              <a:lnSpc>
                <a:spcPct val="90000"/>
              </a:lnSpc>
              <a:defRPr sz="1125"/>
            </a:lvl3pPr>
            <a:lvl4pPr marL="690536" indent="-154031">
              <a:lnSpc>
                <a:spcPct val="90000"/>
              </a:lnSpc>
              <a:defRPr sz="1013"/>
            </a:lvl4pPr>
            <a:lvl5pPr marL="852752" indent="-15775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6"/>
            <a:ext cx="4114800" cy="2129815"/>
          </a:xfrm>
        </p:spPr>
        <p:txBody>
          <a:bodyPr/>
          <a:lstStyle>
            <a:lvl1pPr marL="195702" indent="-195702">
              <a:lnSpc>
                <a:spcPct val="90000"/>
              </a:lnSpc>
              <a:defRPr sz="1575"/>
            </a:lvl1pPr>
            <a:lvl2pPr marL="378753" indent="-191237">
              <a:lnSpc>
                <a:spcPct val="90000"/>
              </a:lnSpc>
              <a:defRPr sz="1350"/>
            </a:lvl2pPr>
            <a:lvl3pPr marL="540969" indent="-170402">
              <a:lnSpc>
                <a:spcPct val="90000"/>
              </a:lnSpc>
              <a:defRPr sz="1125"/>
            </a:lvl3pPr>
            <a:lvl4pPr marL="690536" indent="-149567">
              <a:lnSpc>
                <a:spcPct val="90000"/>
              </a:lnSpc>
              <a:defRPr sz="1013"/>
            </a:lvl4pPr>
            <a:lvl5pPr marL="852752" indent="-15403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117904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1" y="1905002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50" y="4344990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0944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150334"/>
      </p:ext>
    </p:extLst>
  </p:cSld>
  <p:clrMapOvr>
    <a:masterClrMapping/>
  </p:clrMapOvr>
  <p:transition>
    <p:fade/>
  </p:transition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1"/>
            <a:ext cx="8534400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E7D11901-920F-40E9-9358-02F7474122C6}" type="datetime1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86500"/>
            <a:ext cx="4953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1" y="6286500"/>
            <a:ext cx="1685924" cy="457200"/>
          </a:xfrm>
          <a:prstGeom prst="rect">
            <a:avLst/>
          </a:prstGeom>
        </p:spPr>
        <p:txBody>
          <a:bodyPr/>
          <a:lstStyle>
            <a:lvl1pPr>
              <a:defRPr sz="1200" dirty="0" smtClean="0"/>
            </a:lvl1pPr>
          </a:lstStyle>
          <a:p>
            <a:pPr>
              <a:defRPr/>
            </a:pPr>
            <a:r>
              <a:rPr lang="en-US"/>
              <a:t>01d - </a:t>
            </a:r>
            <a:fld id="{04A82B7A-E402-484D-99B9-22764C3DB7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57556"/>
      </p:ext>
    </p:extLst>
  </p:cSld>
  <p:clrMapOvr>
    <a:masterClrMapping/>
  </p:clrMapOvr>
  <p:transition>
    <p:wipe/>
  </p:transition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0650"/>
            <a:ext cx="8763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xfrm>
            <a:off x="41910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1668A-1010-49A7-9CD6-33C50EDB010F}" type="datetime1">
              <a:rPr lang="en-US" smtClean="0"/>
              <a:t>11/8/25</a:t>
            </a:fld>
            <a:endParaRPr lang="en-CA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152400" y="6245225"/>
            <a:ext cx="3810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11a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13798"/>
      </p:ext>
    </p:extLst>
  </p:cSld>
  <p:clrMapOvr>
    <a:masterClrMapping/>
  </p:clrMapOvr>
  <p:transition>
    <p:wipe dir="r"/>
  </p:transition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30045" y="1411552"/>
            <a:ext cx="7672003" cy="2053960"/>
          </a:xfrm>
        </p:spPr>
        <p:txBody>
          <a:bodyPr/>
          <a:lstStyle>
            <a:lvl1pPr>
              <a:lnSpc>
                <a:spcPct val="78000"/>
              </a:lnSpc>
              <a:defRPr/>
            </a:lvl1pPr>
            <a:lvl2pPr>
              <a:lnSpc>
                <a:spcPct val="78000"/>
              </a:lnSpc>
              <a:defRPr/>
            </a:lvl2pPr>
            <a:lvl3pPr>
              <a:lnSpc>
                <a:spcPct val="78000"/>
              </a:lnSpc>
              <a:defRPr/>
            </a:lvl3pPr>
            <a:lvl4pPr>
              <a:lnSpc>
                <a:spcPct val="78000"/>
              </a:lnSpc>
              <a:defRPr/>
            </a:lvl4pPr>
            <a:lvl5pPr>
              <a:lnSpc>
                <a:spcPct val="78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387054" y="152400"/>
            <a:ext cx="8375946" cy="6093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49428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1981202"/>
            <a:ext cx="8363938" cy="1218795"/>
          </a:xfrm>
        </p:spPr>
        <p:txBody>
          <a:bodyPr anchor="b" anchorCtr="0"/>
          <a:lstStyle>
            <a:lvl1pPr>
              <a:defRPr sz="4951" spc="-169" baseline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753468158"/>
      </p:ext>
    </p:extLst>
  </p:cSld>
  <p:clrMapOvr>
    <a:masterClrMapping/>
  </p:clrMapOvr>
  <p:transition>
    <p:fade/>
  </p:transition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16396" y="34711"/>
            <a:ext cx="8458200" cy="914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000" spc="-113" baseline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16396" y="1143000"/>
            <a:ext cx="8458200" cy="533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90000"/>
              </a:lnSpc>
              <a:buFont typeface="Arial" pitchFamily="34" charset="0"/>
              <a:buChar char="•"/>
              <a:defRPr sz="24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lnSpc>
                <a:spcPct val="90000"/>
              </a:lnSpc>
              <a:buFont typeface="Arial" pitchFamily="34" charset="0"/>
              <a:buChar char="•"/>
              <a:defRPr sz="21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WP SemiLight" pitchFamily="34" charset="0"/>
                <a:ea typeface="Segoe UI" pitchFamily="34" charset="0"/>
                <a:cs typeface="Segoe UI" pitchFamily="34" charset="0"/>
              </a:defRPr>
            </a:lvl2pPr>
            <a:lvl3pPr>
              <a:lnSpc>
                <a:spcPct val="90000"/>
              </a:lnSpc>
              <a:buFont typeface="Arial" pitchFamily="34" charset="0"/>
              <a:buChar char="•"/>
              <a:defRPr sz="18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lnSpc>
                <a:spcPct val="90000"/>
              </a:lnSpc>
              <a:buFont typeface="Arial" pitchFamily="34" charset="0"/>
              <a:buChar char="•"/>
              <a:defRPr sz="1200" baseline="0"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buFont typeface="Arial" pitchFamily="34" charset="0"/>
              <a:buChar char="•"/>
              <a:defRPr sz="10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665668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pPr>
              <a:defRPr/>
            </a:pPr>
            <a:fld id="{B8C0579B-B76E-4EE1-8210-7345AF863B8F}" type="datetime1">
              <a:rPr lang="en-US" smtClean="0"/>
              <a:t>11/8/25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86500"/>
            <a:ext cx="4953000" cy="4572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1" y="6286500"/>
            <a:ext cx="1685924" cy="457200"/>
          </a:xfrm>
          <a:prstGeom prst="rect">
            <a:avLst/>
          </a:prstGeom>
        </p:spPr>
        <p:txBody>
          <a:bodyPr/>
          <a:lstStyle>
            <a:lvl1pPr>
              <a:defRPr sz="1600" dirty="0" smtClean="0">
                <a:latin typeface="+mj-lt"/>
              </a:defRPr>
            </a:lvl1pPr>
          </a:lstStyle>
          <a:p>
            <a:pPr>
              <a:defRPr/>
            </a:pPr>
            <a:r>
              <a:rPr lang="en-CA" dirty="0"/>
              <a:t>11a - </a:t>
            </a:r>
            <a:fld id="{BFBD0CE7-AF06-4436-9696-3D133052222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08516"/>
      </p:ext>
    </p:extLst>
  </p:cSld>
  <p:clrMapOvr>
    <a:masterClrMapping/>
  </p:clrMapOvr>
  <p:transition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384608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16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16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214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355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940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490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961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779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204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898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8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101668A-1010-49A7-9CD6-33C50EDB010F}" type="datetime1">
              <a:rPr lang="en-US" smtClean="0"/>
              <a:t>11/8/25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/>
              <a:t>11a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1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  <p:sldLayoutId id="2147483938" r:id="rId17"/>
    <p:sldLayoutId id="2147483939" r:id="rId18"/>
    <p:sldLayoutId id="2147483940" r:id="rId19"/>
    <p:sldLayoutId id="2147483941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  <p:sldLayoutId id="2147483948" r:id="rId27"/>
    <p:sldLayoutId id="2147483949" r:id="rId28"/>
    <p:sldLayoutId id="2147483950" r:id="rId29"/>
    <p:sldLayoutId id="2147483951" r:id="rId30"/>
    <p:sldLayoutId id="2147483952" r:id="rId31"/>
    <p:sldLayoutId id="2147483953" r:id="rId32"/>
    <p:sldLayoutId id="2147483954" r:id="rId33"/>
    <p:sldLayoutId id="2147483955" r:id="rId34"/>
    <p:sldLayoutId id="2147483956" r:id="rId35"/>
    <p:sldLayoutId id="2147483957" r:id="rId36"/>
    <p:sldLayoutId id="2147483958" r:id="rId37"/>
    <p:sldLayoutId id="2147483959" r:id="rId38"/>
    <p:sldLayoutId id="2147483960" r:id="rId39"/>
    <p:sldLayoutId id="2147483961" r:id="rId40"/>
    <p:sldLayoutId id="2147483962" r:id="rId41"/>
    <p:sldLayoutId id="2147483963" r:id="rId42"/>
    <p:sldLayoutId id="2147483964" r:id="rId43"/>
    <p:sldLayoutId id="2147483965" r:id="rId44"/>
    <p:sldLayoutId id="2147483966" r:id="rId45"/>
    <p:sldLayoutId id="2147483967" r:id="rId46"/>
    <p:sldLayoutId id="2147483968" r:id="rId47"/>
    <p:sldLayoutId id="2147483969" r:id="rId48"/>
    <p:sldLayoutId id="2147483970" r:id="rId49"/>
    <p:sldLayoutId id="2147483971" r:id="rId50"/>
    <p:sldLayoutId id="2147483972" r:id="rId51"/>
  </p:sldLayoutIdLst>
  <p:transition>
    <p:fade/>
  </p:transition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kern="1200" cap="none" baseline="0">
          <a:solidFill>
            <a:schemeClr val="tx1"/>
          </a:solidFill>
          <a:latin typeface="Segoe Light"/>
          <a:ea typeface="Segoe UI" pitchFamily="34" charset="0"/>
          <a:cs typeface="Segoe Light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•"/>
        <a:defRPr lang="en-US" sz="21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557213" indent="-214313" algn="l" defTabSz="342900" rtl="0" eaLnBrk="1" latinLnBrk="0" hangingPunct="1">
        <a:spcBef>
          <a:spcPts val="300"/>
        </a:spcBef>
        <a:buClr>
          <a:srgbClr val="0072C6"/>
        </a:buClr>
        <a:buSzPct val="70000"/>
        <a:buFont typeface="Courier New" pitchFamily="49" charset="0"/>
        <a:buChar char="o"/>
        <a:defRPr lang="en-US" sz="18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0072C6"/>
        </a:buClr>
        <a:buFont typeface="Wingdings" pitchFamily="2" charset="2"/>
        <a:buChar char="§"/>
        <a:defRPr lang="en-US" sz="15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–"/>
        <a:defRPr lang="en-US" sz="12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»"/>
        <a:defRPr lang="en-US" sz="1200" b="0" i="0" kern="1200" dirty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2091D-5602-4A78-827E-89656559BF2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9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rosettacode.org/wiki/FizzBuzz" TargetMode="Externa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52400"/>
            <a:ext cx="4114800" cy="1341967"/>
          </a:xfrm>
        </p:spPr>
        <p:txBody>
          <a:bodyPr/>
          <a:lstStyle/>
          <a:p>
            <a:r>
              <a:rPr lang="en-US" dirty="0" err="1"/>
              <a:t>xunit</a:t>
            </a:r>
            <a:r>
              <a:rPr lang="en-US" dirty="0"/>
              <a:t> - Test Driven Development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Medhat </a:t>
            </a:r>
            <a:r>
              <a:rPr lang="en-US" dirty="0" err="1"/>
              <a:t>Elmasry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Testing &amp; TDD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  <a:p>
            <a:pPr lvl="1"/>
            <a:r>
              <a:rPr lang="en-US" dirty="0"/>
              <a:t>Test a single unit – a class or (better) a method</a:t>
            </a:r>
          </a:p>
          <a:p>
            <a:pPr lvl="1"/>
            <a:r>
              <a:rPr lang="en-US" dirty="0"/>
              <a:t>Test in isolation</a:t>
            </a:r>
          </a:p>
          <a:p>
            <a:r>
              <a:rPr lang="en-US" dirty="0"/>
              <a:t>TDD (Test Driven Development)</a:t>
            </a:r>
          </a:p>
          <a:p>
            <a:pPr lvl="1"/>
            <a:r>
              <a:rPr lang="en-US" dirty="0"/>
              <a:t>Uses unit testing to drive the design</a:t>
            </a:r>
          </a:p>
          <a:p>
            <a:pPr lvl="1"/>
            <a:r>
              <a:rPr lang="en-US" dirty="0"/>
              <a:t>Test First</a:t>
            </a:r>
          </a:p>
        </p:txBody>
      </p:sp>
    </p:spTree>
    <p:extLst>
      <p:ext uri="{BB962C8B-B14F-4D97-AF65-F5344CB8AC3E}">
        <p14:creationId xmlns:p14="http://schemas.microsoft.com/office/powerpoint/2010/main" val="23216840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(Test Driven Development)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Tests</a:t>
            </a:r>
          </a:p>
          <a:p>
            <a:r>
              <a:rPr lang="en-US" dirty="0"/>
              <a:t>Test </a:t>
            </a:r>
          </a:p>
          <a:p>
            <a:r>
              <a:rPr lang="en-US" dirty="0"/>
              <a:t>Red Green Refactor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– create a failed test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Green</a:t>
            </a:r>
            <a:r>
              <a:rPr lang="en-US" dirty="0"/>
              <a:t> – write enough code to pass the test</a:t>
            </a:r>
          </a:p>
          <a:p>
            <a:pPr lvl="1"/>
            <a:r>
              <a:rPr lang="en-US" dirty="0"/>
              <a:t>Refactor – clean up the code in a way that does not cause the test to fail</a:t>
            </a:r>
          </a:p>
          <a:p>
            <a:pPr lvl="1"/>
            <a:r>
              <a:rPr lang="en-US" dirty="0"/>
              <a:t>Repeat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3573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35570" y="2010968"/>
            <a:ext cx="1608992" cy="113228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8139" y="3734259"/>
            <a:ext cx="1608992" cy="113228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Green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1" y="3734259"/>
            <a:ext cx="1608992" cy="11322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Refactor</a:t>
            </a:r>
          </a:p>
        </p:txBody>
      </p:sp>
      <p:sp>
        <p:nvSpPr>
          <p:cNvPr id="9" name="Bent Arrow 8"/>
          <p:cNvSpPr/>
          <p:nvPr/>
        </p:nvSpPr>
        <p:spPr>
          <a:xfrm rot="5400000">
            <a:off x="5219676" y="2463291"/>
            <a:ext cx="1192870" cy="975946"/>
          </a:xfrm>
          <a:prstGeom prst="ben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10" name="Bent Arrow 9"/>
          <p:cNvSpPr/>
          <p:nvPr/>
        </p:nvSpPr>
        <p:spPr>
          <a:xfrm>
            <a:off x="1862527" y="2362177"/>
            <a:ext cx="888023" cy="1185521"/>
          </a:xfrm>
          <a:prstGeom prst="ben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 flipH="1">
            <a:off x="3235569" y="4154365"/>
            <a:ext cx="1608992" cy="46599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10984170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Robert C. Martin’s 3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 production code until you’ve written a failing test</a:t>
            </a:r>
          </a:p>
          <a:p>
            <a:r>
              <a:rPr lang="en-US" dirty="0"/>
              <a:t>Write no more in your unit test than enough to make it fail</a:t>
            </a:r>
          </a:p>
          <a:p>
            <a:r>
              <a:rPr lang="en-US" dirty="0"/>
              <a:t>Write no more production code than enough to make it pass</a:t>
            </a:r>
          </a:p>
        </p:txBody>
      </p:sp>
    </p:spTree>
    <p:extLst>
      <p:ext uri="{BB962C8B-B14F-4D97-AF65-F5344CB8AC3E}">
        <p14:creationId xmlns:p14="http://schemas.microsoft.com/office/powerpoint/2010/main" val="99967753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one feature only</a:t>
            </a:r>
          </a:p>
          <a:p>
            <a:r>
              <a:rPr lang="en-US" dirty="0"/>
              <a:t>Run the test – see it fail</a:t>
            </a:r>
          </a:p>
          <a:p>
            <a:pPr lvl="1"/>
            <a:r>
              <a:rPr lang="en-US" dirty="0"/>
              <a:t>Why this is important? Only when you see it fail can you have confidence when you see it pass.</a:t>
            </a:r>
          </a:p>
          <a:p>
            <a:r>
              <a:rPr lang="en-US" dirty="0"/>
              <a:t>Fix only enough to make it pass</a:t>
            </a:r>
          </a:p>
          <a:p>
            <a:pPr lvl="1"/>
            <a:r>
              <a:rPr lang="en-US" dirty="0"/>
              <a:t>Why this is important? You do not need extra code. Any extra code becomes untested code.</a:t>
            </a:r>
          </a:p>
          <a:p>
            <a:r>
              <a:rPr lang="en-US" dirty="0"/>
              <a:t>Run the test and see it succeed</a:t>
            </a:r>
          </a:p>
          <a:p>
            <a:r>
              <a:rPr lang="en-US" dirty="0"/>
              <a:t>Refactor and retest</a:t>
            </a:r>
          </a:p>
        </p:txBody>
      </p:sp>
    </p:spTree>
    <p:extLst>
      <p:ext uri="{BB962C8B-B14F-4D97-AF65-F5344CB8AC3E}">
        <p14:creationId xmlns:p14="http://schemas.microsoft.com/office/powerpoint/2010/main" val="355145659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Assert what you expect to be true</a:t>
            </a:r>
          </a:p>
          <a:p>
            <a:r>
              <a:rPr lang="en-US" dirty="0"/>
              <a:t>Only a single “logical” assert per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77612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Simple Equality</a:t>
            </a:r>
          </a:p>
          <a:p>
            <a:r>
              <a:rPr lang="en-US" sz="1600" dirty="0"/>
              <a:t>Equal(1,2); // fail</a:t>
            </a:r>
          </a:p>
          <a:p>
            <a:r>
              <a:rPr lang="en-US" sz="1600" dirty="0" err="1"/>
              <a:t>NotEqual</a:t>
            </a:r>
            <a:r>
              <a:rPr lang="en-US" sz="1600" dirty="0"/>
              <a:t>(1,2); // pass</a:t>
            </a:r>
          </a:p>
          <a:p>
            <a:pPr marL="0" indent="0">
              <a:buNone/>
            </a:pPr>
            <a:r>
              <a:rPr lang="en-US" sz="1600" b="1" dirty="0"/>
              <a:t>Ranges</a:t>
            </a:r>
          </a:p>
          <a:p>
            <a:r>
              <a:rPr lang="en-US" sz="1600" dirty="0" err="1"/>
              <a:t>int</a:t>
            </a:r>
            <a:r>
              <a:rPr lang="en-US" sz="1600" dirty="0"/>
              <a:t> v = 67;</a:t>
            </a:r>
          </a:p>
          <a:p>
            <a:r>
              <a:rPr lang="en-US" sz="1600" dirty="0" err="1"/>
              <a:t>InRange</a:t>
            </a:r>
            <a:r>
              <a:rPr lang="en-US" sz="1600" dirty="0"/>
              <a:t>(v, 21, 100); // pass</a:t>
            </a:r>
          </a:p>
          <a:p>
            <a:r>
              <a:rPr lang="en-US" sz="1600" dirty="0" err="1"/>
              <a:t>NotInRange</a:t>
            </a:r>
            <a:r>
              <a:rPr lang="en-US" sz="1600" dirty="0"/>
              <a:t>(v, 21, 100); // fail</a:t>
            </a:r>
          </a:p>
          <a:p>
            <a:pPr marL="0" indent="0">
              <a:buNone/>
            </a:pPr>
            <a:r>
              <a:rPr lang="en-US" sz="1600" b="1" dirty="0"/>
              <a:t>Reference Equality</a:t>
            </a:r>
          </a:p>
          <a:p>
            <a:r>
              <a:rPr lang="en-US" sz="1600" dirty="0"/>
              <a:t>Same(</a:t>
            </a:r>
            <a:r>
              <a:rPr lang="en-US" sz="1600" dirty="0" err="1"/>
              <a:t>objA</a:t>
            </a:r>
            <a:r>
              <a:rPr lang="en-US" sz="1600" dirty="0"/>
              <a:t>, </a:t>
            </a:r>
            <a:r>
              <a:rPr lang="en-US" sz="1600" dirty="0" err="1"/>
              <a:t>objB</a:t>
            </a:r>
            <a:r>
              <a:rPr lang="en-US" sz="1600" dirty="0"/>
              <a:t>); // fail</a:t>
            </a:r>
          </a:p>
          <a:p>
            <a:r>
              <a:rPr lang="en-US" sz="1600" dirty="0" err="1"/>
              <a:t>NotSame</a:t>
            </a:r>
            <a:r>
              <a:rPr lang="en-US" sz="1600" dirty="0"/>
              <a:t>(</a:t>
            </a:r>
            <a:r>
              <a:rPr lang="en-US" sz="1600" dirty="0" err="1"/>
              <a:t>objA</a:t>
            </a:r>
            <a:r>
              <a:rPr lang="en-US" sz="1600" dirty="0"/>
              <a:t>, </a:t>
            </a:r>
            <a:r>
              <a:rPr lang="en-US" sz="1600" dirty="0" err="1"/>
              <a:t>objB</a:t>
            </a:r>
            <a:r>
              <a:rPr lang="en-US" sz="1600" dirty="0"/>
              <a:t>) // pass</a:t>
            </a:r>
          </a:p>
          <a:p>
            <a:pPr marL="0" indent="0">
              <a:buNone/>
            </a:pPr>
            <a:r>
              <a:rPr lang="en-US" sz="1600" b="1" dirty="0" err="1"/>
              <a:t>IEnumerable</a:t>
            </a:r>
            <a:r>
              <a:rPr lang="en-US" sz="1600" b="1" dirty="0"/>
              <a:t> Emptiness</a:t>
            </a:r>
          </a:p>
          <a:p>
            <a:r>
              <a:rPr lang="en-US" sz="1600" dirty="0"/>
              <a:t>Empty(new List&lt;string&gt;()); // pass</a:t>
            </a:r>
          </a:p>
          <a:p>
            <a:r>
              <a:rPr lang="en-US" sz="1600" dirty="0"/>
              <a:t>string[] names = {"</a:t>
            </a:r>
            <a:r>
              <a:rPr lang="en-US" sz="1600" dirty="0" err="1"/>
              <a:t>bob","sue</a:t>
            </a:r>
            <a:r>
              <a:rPr lang="en-US" sz="1600" dirty="0"/>
              <a:t>"};</a:t>
            </a:r>
          </a:p>
          <a:p>
            <a:r>
              <a:rPr lang="en-US" sz="1600" dirty="0" err="1"/>
              <a:t>NotEmpty</a:t>
            </a:r>
            <a:r>
              <a:rPr lang="en-US" sz="1600" dirty="0"/>
              <a:t>(names); // pass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Boolean</a:t>
            </a:r>
          </a:p>
          <a:p>
            <a:r>
              <a:rPr lang="en-US" sz="1600" dirty="0"/>
              <a:t>True(true); // pass</a:t>
            </a:r>
          </a:p>
          <a:p>
            <a:r>
              <a:rPr lang="en-US" sz="1600" dirty="0"/>
              <a:t>False(true); // fail</a:t>
            </a:r>
          </a:p>
          <a:p>
            <a:pPr marL="0" indent="0">
              <a:buNone/>
            </a:pPr>
            <a:r>
              <a:rPr lang="en-US" sz="1600" b="1" dirty="0"/>
              <a:t>Nulls</a:t>
            </a:r>
          </a:p>
          <a:p>
            <a:r>
              <a:rPr lang="en-US" sz="1600" dirty="0"/>
              <a:t>Null(null); // pass</a:t>
            </a:r>
          </a:p>
          <a:p>
            <a:r>
              <a:rPr lang="en-US" sz="1600" dirty="0" err="1"/>
              <a:t>NotNull</a:t>
            </a:r>
            <a:r>
              <a:rPr lang="en-US" sz="1600" dirty="0"/>
              <a:t>("hello"); // fail</a:t>
            </a:r>
          </a:p>
          <a:p>
            <a:pPr marL="0" indent="0">
              <a:buNone/>
            </a:pPr>
            <a:r>
              <a:rPr lang="en-US" sz="1600" b="1" dirty="0" err="1"/>
              <a:t>IEnumerable</a:t>
            </a:r>
            <a:r>
              <a:rPr lang="en-US" sz="1600" b="1" dirty="0"/>
              <a:t> Contains Item</a:t>
            </a:r>
          </a:p>
          <a:p>
            <a:r>
              <a:rPr lang="en-US" sz="1600" dirty="0"/>
              <a:t>Contains("May", months); // pass</a:t>
            </a:r>
          </a:p>
          <a:p>
            <a:r>
              <a:rPr lang="en-US" sz="1600" dirty="0" err="1"/>
              <a:t>DoesNotContain</a:t>
            </a:r>
            <a:r>
              <a:rPr lang="en-US" sz="1600" dirty="0"/>
              <a:t>(“pen”, months); // fail</a:t>
            </a:r>
          </a:p>
          <a:p>
            <a:pPr marL="0" indent="0">
              <a:buNone/>
            </a:pPr>
            <a:r>
              <a:rPr lang="en-US" sz="1600" b="1" dirty="0" err="1"/>
              <a:t>SpecificType</a:t>
            </a:r>
            <a:endParaRPr lang="en-US" sz="1600" b="1" dirty="0"/>
          </a:p>
          <a:p>
            <a:r>
              <a:rPr lang="en-US" sz="1600" dirty="0" err="1"/>
              <a:t>IsType</a:t>
            </a:r>
            <a:r>
              <a:rPr lang="en-US" sz="1600" dirty="0"/>
              <a:t>&lt;string&gt;(“hello”); // pass</a:t>
            </a:r>
          </a:p>
          <a:p>
            <a:r>
              <a:rPr lang="en-US" sz="1600" dirty="0" err="1"/>
              <a:t>IsNotType</a:t>
            </a:r>
            <a:r>
              <a:rPr lang="en-US" sz="1600" dirty="0"/>
              <a:t>&lt;</a:t>
            </a:r>
            <a:r>
              <a:rPr lang="en-US" sz="1600" dirty="0" err="1"/>
              <a:t>int</a:t>
            </a:r>
            <a:r>
              <a:rPr lang="en-US" sz="1600" dirty="0"/>
              <a:t>&gt;(“hello”); // pass</a:t>
            </a:r>
          </a:p>
          <a:p>
            <a:pPr marL="0" indent="0">
              <a:buNone/>
            </a:pPr>
            <a:r>
              <a:rPr lang="en-US" sz="1600" b="1" dirty="0"/>
              <a:t>Exception</a:t>
            </a:r>
          </a:p>
          <a:p>
            <a:r>
              <a:rPr lang="en-CA" sz="1600" dirty="0" err="1"/>
              <a:t>var</a:t>
            </a:r>
            <a:r>
              <a:rPr lang="en-CA" sz="1600" dirty="0"/>
              <a:t> input = "a string";</a:t>
            </a:r>
          </a:p>
          <a:p>
            <a:r>
              <a:rPr lang="en-CA" sz="1600" dirty="0" err="1"/>
              <a:t>Assert.Throws</a:t>
            </a:r>
            <a:r>
              <a:rPr lang="en-CA" sz="1600" dirty="0"/>
              <a:t>&lt;</a:t>
            </a:r>
            <a:r>
              <a:rPr lang="en-CA" sz="1600" dirty="0" err="1"/>
              <a:t>FormatException</a:t>
            </a:r>
            <a:r>
              <a:rPr lang="en-CA" sz="1600" dirty="0"/>
              <a:t>&gt;(() =&gt; </a:t>
            </a:r>
            <a:r>
              <a:rPr lang="en-CA" sz="1600" dirty="0" err="1"/>
              <a:t>int.Parse</a:t>
            </a:r>
            <a:r>
              <a:rPr lang="en-CA" sz="1600"/>
              <a:t>(input));</a:t>
            </a:r>
            <a:endParaRPr lang="en-US"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 Methods</a:t>
            </a:r>
          </a:p>
        </p:txBody>
      </p:sp>
    </p:spTree>
    <p:extLst>
      <p:ext uri="{BB962C8B-B14F-4D97-AF65-F5344CB8AC3E}">
        <p14:creationId xmlns:p14="http://schemas.microsoft.com/office/powerpoint/2010/main" val="71018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Test Method</a:t>
            </a:r>
          </a:p>
          <a:p>
            <a:pPr marL="0" indent="0">
              <a:buNone/>
            </a:pPr>
            <a:r>
              <a:rPr lang="en-US" dirty="0"/>
              <a:t>[Fact]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Skip Test Method</a:t>
            </a:r>
          </a:p>
          <a:p>
            <a:pPr marL="0" indent="0">
              <a:buNone/>
            </a:pPr>
            <a:r>
              <a:rPr lang="en-US" dirty="0"/>
              <a:t>[Fact(Skip="This test sucks")]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Max Run Time (</a:t>
            </a:r>
            <a:r>
              <a:rPr lang="en-US" b="1" dirty="0" err="1"/>
              <a:t>ms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[Fact(Timeout=50)]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Inline Data-Driven</a:t>
            </a:r>
          </a:p>
          <a:p>
            <a:pPr marL="0" indent="0">
              <a:buNone/>
            </a:pPr>
            <a:r>
              <a:rPr lang="en-US" dirty="0"/>
              <a:t>[Theory]</a:t>
            </a:r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err="1"/>
              <a:t>InlineData</a:t>
            </a:r>
            <a:r>
              <a:rPr lang="en-US" dirty="0"/>
              <a:t>(9, true)]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Property Data-Driven</a:t>
            </a:r>
          </a:p>
          <a:p>
            <a:pPr marL="0" indent="0">
              <a:buNone/>
            </a:pPr>
            <a:r>
              <a:rPr lang="en-US" dirty="0"/>
              <a:t>[Theory]</a:t>
            </a:r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err="1"/>
              <a:t>PropertyData</a:t>
            </a:r>
            <a:r>
              <a:rPr lang="en-US" dirty="0"/>
              <a:t>(“</a:t>
            </a:r>
            <a:r>
              <a:rPr lang="en-US" dirty="0" err="1"/>
              <a:t>TestData</a:t>
            </a:r>
            <a:r>
              <a:rPr lang="en-US" dirty="0"/>
              <a:t>”, </a:t>
            </a:r>
            <a:r>
              <a:rPr lang="en-US" dirty="0" err="1"/>
              <a:t>PropertyType</a:t>
            </a:r>
            <a:r>
              <a:rPr lang="en-US" dirty="0"/>
              <a:t>=</a:t>
            </a:r>
            <a:r>
              <a:rPr lang="en-US" dirty="0" err="1"/>
              <a:t>typeof</a:t>
            </a:r>
            <a:r>
              <a:rPr lang="en-US" dirty="0"/>
              <a:t>(</a:t>
            </a:r>
            <a:r>
              <a:rPr lang="en-US" dirty="0" err="1"/>
              <a:t>PropertyTestDataSource</a:t>
            </a:r>
            <a:r>
              <a:rPr lang="en-US" dirty="0"/>
              <a:t>))]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Excel Data-Driven</a:t>
            </a:r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err="1"/>
              <a:t>ExcelData</a:t>
            </a:r>
            <a:r>
              <a:rPr lang="en-US" dirty="0"/>
              <a:t>(“SampleData.xls”, “select * from </a:t>
            </a:r>
            <a:r>
              <a:rPr lang="en-US" dirty="0" err="1"/>
              <a:t>TestData</a:t>
            </a:r>
            <a:r>
              <a:rPr lang="en-US" dirty="0"/>
              <a:t>”)]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SQL Data Driven</a:t>
            </a:r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err="1"/>
              <a:t>SqlServer</a:t>
            </a:r>
            <a:r>
              <a:rPr lang="en-US" dirty="0"/>
              <a:t>(@”.\</a:t>
            </a:r>
            <a:r>
              <a:rPr lang="en-US" dirty="0" err="1"/>
              <a:t>sqlexpress</a:t>
            </a:r>
            <a:r>
              <a:rPr lang="en-US" dirty="0"/>
              <a:t>”, …)]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</p:spTree>
    <p:extLst>
      <p:ext uri="{BB962C8B-B14F-4D97-AF65-F5344CB8AC3E}">
        <p14:creationId xmlns:p14="http://schemas.microsoft.com/office/powerpoint/2010/main" val="102100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8229600" cy="1217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FizzBuzz</a:t>
            </a:r>
            <a:r>
              <a:rPr lang="en-US" sz="2800" dirty="0"/>
              <a:t> - </a:t>
            </a:r>
            <a:r>
              <a:rPr lang="en-US" sz="2800" dirty="0">
                <a:hlinkClick r:id="rId2"/>
              </a:rPr>
              <a:t>http://rosettacode.org/wiki/</a:t>
            </a:r>
            <a:r>
              <a:rPr lang="en-US" sz="2800" dirty="0" err="1">
                <a:hlinkClick r:id="rId2"/>
              </a:rPr>
              <a:t>FizzBuz</a:t>
            </a:r>
            <a:r>
              <a:rPr lang="en-US" sz="2800" dirty="0" err="1">
                <a:hlinkClick r:id="rId2"/>
              </a:rPr>
              <a:t>z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5F6DAB-D551-D561-AB14-59EF1305E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896214"/>
              </p:ext>
            </p:extLst>
          </p:nvPr>
        </p:nvGraphicFramePr>
        <p:xfrm>
          <a:off x="533400" y="2133600"/>
          <a:ext cx="8229600" cy="13716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58170587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363071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If a number is divisible by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output Fizz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399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If a number is divisible by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output Buzz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8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If a number is divisible by both 3 &amp;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output </a:t>
                      </a:r>
                      <a:r>
                        <a:rPr lang="en-US" sz="2400" dirty="0" err="1"/>
                        <a:t>FizzBuzz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009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7853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Names matter</a:t>
            </a:r>
          </a:p>
          <a:p>
            <a:pPr lvl="1"/>
            <a:r>
              <a:rPr lang="en-US" dirty="0"/>
              <a:t>Spend time naming your objects, classes, methods, variables, </a:t>
            </a:r>
            <a:r>
              <a:rPr lang="en-US" dirty="0" err="1"/>
              <a:t>etc</a:t>
            </a:r>
            <a:r>
              <a:rPr lang="en-US" dirty="0"/>
              <a:t> . . .</a:t>
            </a:r>
          </a:p>
          <a:p>
            <a:pPr lvl="1"/>
            <a:r>
              <a:rPr lang="en-US" dirty="0"/>
              <a:t>Renaming is very cheap</a:t>
            </a:r>
          </a:p>
          <a:p>
            <a:pPr lvl="1"/>
            <a:r>
              <a:rPr lang="en-US" dirty="0"/>
              <a:t>Use meaningful names</a:t>
            </a:r>
          </a:p>
          <a:p>
            <a:pPr lvl="1"/>
            <a:r>
              <a:rPr lang="en-US" dirty="0"/>
              <a:t>Do not be afraid of long names</a:t>
            </a:r>
          </a:p>
          <a:p>
            <a:pPr lvl="1"/>
            <a:r>
              <a:rPr lang="en-US" dirty="0"/>
              <a:t>Make names pronounceable</a:t>
            </a:r>
          </a:p>
          <a:p>
            <a:pPr lvl="1"/>
            <a:r>
              <a:rPr lang="en-US" dirty="0"/>
              <a:t>Classes = nouns</a:t>
            </a:r>
          </a:p>
          <a:p>
            <a:pPr lvl="1"/>
            <a:r>
              <a:rPr lang="en-US" dirty="0"/>
              <a:t>Methods = verbs</a:t>
            </a:r>
          </a:p>
          <a:p>
            <a:pPr lvl="1"/>
            <a:r>
              <a:rPr lang="en-US" dirty="0"/>
              <a:t>Collections are plural</a:t>
            </a:r>
          </a:p>
          <a:p>
            <a:pPr lvl="1"/>
            <a:r>
              <a:rPr lang="en-US" dirty="0"/>
              <a:t>Avoid encoding</a:t>
            </a:r>
          </a:p>
          <a:p>
            <a:pPr lvl="2"/>
            <a:r>
              <a:rPr lang="en-US" dirty="0"/>
              <a:t>No Hungarian notation</a:t>
            </a:r>
          </a:p>
          <a:p>
            <a:pPr lvl="2"/>
            <a:r>
              <a:rPr lang="en-US" dirty="0"/>
              <a:t>Interfaces do not need to </a:t>
            </a:r>
            <a:r>
              <a:rPr lang="en-US"/>
              <a:t>begin with I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58337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Functions should be small</a:t>
            </a:r>
          </a:p>
          <a:p>
            <a:pPr lvl="1"/>
            <a:r>
              <a:rPr lang="en-US" dirty="0"/>
              <a:t>Smaller than that</a:t>
            </a:r>
          </a:p>
          <a:p>
            <a:r>
              <a:rPr lang="en-US" dirty="0"/>
              <a:t>Do one thing</a:t>
            </a:r>
          </a:p>
          <a:p>
            <a:pPr lvl="1"/>
            <a:r>
              <a:rPr lang="en-US" dirty="0"/>
              <a:t>And do it well</a:t>
            </a:r>
          </a:p>
          <a:p>
            <a:r>
              <a:rPr lang="en-US" dirty="0"/>
              <a:t>Avoid using switch statements</a:t>
            </a:r>
          </a:p>
          <a:p>
            <a:pPr lvl="1"/>
            <a:r>
              <a:rPr lang="en-US" dirty="0"/>
              <a:t>Use derived types where possible</a:t>
            </a:r>
          </a:p>
          <a:p>
            <a:r>
              <a:rPr lang="en-US" dirty="0"/>
              <a:t>Use descriptive names</a:t>
            </a:r>
          </a:p>
          <a:p>
            <a:pPr lvl="1"/>
            <a:r>
              <a:rPr lang="en-US" dirty="0"/>
              <a:t>Do not be afraid of long names</a:t>
            </a:r>
          </a:p>
          <a:p>
            <a:r>
              <a:rPr lang="en-US" dirty="0"/>
              <a:t>Minimize the number of parameters that you pass into a method</a:t>
            </a:r>
          </a:p>
          <a:p>
            <a:pPr lvl="1"/>
            <a:r>
              <a:rPr lang="en-US" dirty="0"/>
              <a:t>Zero is ideal</a:t>
            </a:r>
          </a:p>
          <a:p>
            <a:pPr lvl="1"/>
            <a:r>
              <a:rPr lang="en-US" dirty="0"/>
              <a:t>One or two are workable</a:t>
            </a:r>
          </a:p>
          <a:p>
            <a:pPr lvl="1"/>
            <a:r>
              <a:rPr lang="en-US" dirty="0"/>
              <a:t>Three or more are too much cognitive load</a:t>
            </a:r>
          </a:p>
        </p:txBody>
      </p:sp>
    </p:spTree>
    <p:extLst>
      <p:ext uri="{BB962C8B-B14F-4D97-AF65-F5344CB8AC3E}">
        <p14:creationId xmlns:p14="http://schemas.microsoft.com/office/powerpoint/2010/main" val="317589860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– 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 – </a:t>
            </a:r>
            <a:r>
              <a:rPr lang="en-US" dirty="0">
                <a:solidFill>
                  <a:srgbClr val="0070C0"/>
                </a:solidFill>
              </a:rPr>
              <a:t>Refactor</a:t>
            </a:r>
          </a:p>
          <a:p>
            <a:r>
              <a:rPr lang="en-US" dirty="0"/>
              <a:t>No production code until you have written a failing test</a:t>
            </a:r>
          </a:p>
          <a:p>
            <a:r>
              <a:rPr lang="en-US" dirty="0"/>
              <a:t>Write no more in your unit test than is enough to make it fail</a:t>
            </a:r>
          </a:p>
          <a:p>
            <a:r>
              <a:rPr lang="en-US" dirty="0"/>
              <a:t>Write no more production code than enough to make it pass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8101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PE_Blue_PowerPoint_msp_v5 noIcon">
  <a:themeElements>
    <a:clrScheme name="Microsof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B900"/>
      </a:accent1>
      <a:accent2>
        <a:srgbClr val="FF8C00"/>
      </a:accent2>
      <a:accent3>
        <a:srgbClr val="EB3C00"/>
      </a:accent3>
      <a:accent4>
        <a:srgbClr val="6DC2E9"/>
      </a:accent4>
      <a:accent5>
        <a:srgbClr val="00BCF2"/>
      </a:accent5>
      <a:accent6>
        <a:srgbClr val="0072C6"/>
      </a:accent6>
      <a:hlink>
        <a:srgbClr val="4C4C4C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EA97CAC667734F910DED7F230F66E4" ma:contentTypeVersion="0" ma:contentTypeDescription="Create a new document." ma:contentTypeScope="" ma:versionID="534b3fcd074d023ad3b73198264837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2868EA-B7BA-421C-9D92-80CEDFFDA3B4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38791CA-70C4-48D0-B856-43E7CE2630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3E6C917-63E9-464E-B931-03940864E026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A24E73D5-0339-435B-9160-332A57DF85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COMP-4870</Template>
  <TotalTime>36859</TotalTime>
  <Words>673</Words>
  <Application>Microsoft Macintosh PowerPoint</Application>
  <PresentationFormat>On-screen Show (4:3)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Segoe Light</vt:lpstr>
      <vt:lpstr>Segoe UI</vt:lpstr>
      <vt:lpstr>Segoe WP SemiLight</vt:lpstr>
      <vt:lpstr>Times New Roman</vt:lpstr>
      <vt:lpstr>Wingdings</vt:lpstr>
      <vt:lpstr>DPE_Blue_PowerPoint_msp_v5 noIcon</vt:lpstr>
      <vt:lpstr>Custom Design</vt:lpstr>
      <vt:lpstr>xunit - Test Driven Development</vt:lpstr>
      <vt:lpstr>Unit Testing &amp; TDD</vt:lpstr>
      <vt:lpstr>TDD (Test Driven Development)</vt:lpstr>
      <vt:lpstr>Refactoring</vt:lpstr>
      <vt:lpstr>Robert C. Martin’s 3 laws</vt:lpstr>
      <vt:lpstr>First Tests</vt:lpstr>
      <vt:lpstr>Asserts</vt:lpstr>
      <vt:lpstr>Assert Methods</vt:lpstr>
      <vt:lpstr>Attributes</vt:lpstr>
      <vt:lpstr>Demo</vt:lpstr>
      <vt:lpstr>Refactoring</vt:lpstr>
      <vt:lpstr>Refactoring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Lecture:- WCF Data Services</dc:title>
  <dc:subject/>
  <dc:creator>Windows XP Pro</dc:creator>
  <cp:keywords/>
  <dc:description/>
  <cp:lastModifiedBy>Medhat Elmasry</cp:lastModifiedBy>
  <cp:revision>1115</cp:revision>
  <dcterms:created xsi:type="dcterms:W3CDTF">2003-03-02T21:17:43Z</dcterms:created>
  <dcterms:modified xsi:type="dcterms:W3CDTF">2025-11-08T23:11:45Z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m">
    <vt:lpwstr>Lecture: How to configure, deploy and optimize ASP.NET 2.0 web applications</vt:lpwstr>
  </property>
  <property fmtid="{D5CDD505-2E9C-101B-9397-08002B2CF9AE}" pid="4" name="xd_Signature">
    <vt:lpwstr/>
  </property>
  <property fmtid="{D5CDD505-2E9C-101B-9397-08002B2CF9AE}" pid="5" name="TemplateUrl">
    <vt:lpwstr/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Subject">
    <vt:lpwstr/>
  </property>
  <property fmtid="{D5CDD505-2E9C-101B-9397-08002B2CF9AE}" pid="9" name="Keywords">
    <vt:lpwstr/>
  </property>
  <property fmtid="{D5CDD505-2E9C-101B-9397-08002B2CF9AE}" pid="10" name="_Author">
    <vt:lpwstr>Windows XP Pro</vt:lpwstr>
  </property>
  <property fmtid="{D5CDD505-2E9C-101B-9397-08002B2CF9AE}" pid="11" name="_Category">
    <vt:lpwstr/>
  </property>
  <property fmtid="{D5CDD505-2E9C-101B-9397-08002B2CF9AE}" pid="12" name="Slides">
    <vt:lpwstr>52</vt:lpwstr>
  </property>
  <property fmtid="{D5CDD505-2E9C-101B-9397-08002B2CF9AE}" pid="13" name="Categories">
    <vt:lpwstr/>
  </property>
  <property fmtid="{D5CDD505-2E9C-101B-9397-08002B2CF9AE}" pid="14" name="Approval Level">
    <vt:lpwstr/>
  </property>
  <property fmtid="{D5CDD505-2E9C-101B-9397-08002B2CF9AE}" pid="15" name="_Comments">
    <vt:lpwstr/>
  </property>
  <property fmtid="{D5CDD505-2E9C-101B-9397-08002B2CF9AE}" pid="16" name="Assigned To">
    <vt:lpwstr/>
  </property>
  <property fmtid="{D5CDD505-2E9C-101B-9397-08002B2CF9AE}" pid="17" name="_dlc_DocIdItemGuid">
    <vt:lpwstr>655f6121-8d0f-43d1-afa0-4976f9402167</vt:lpwstr>
  </property>
  <property fmtid="{D5CDD505-2E9C-101B-9397-08002B2CF9AE}" pid="18" name="ContentTypeId">
    <vt:lpwstr>0x010100FAEA97CAC667734F910DED7F230F66E4</vt:lpwstr>
  </property>
  <property fmtid="{D5CDD505-2E9C-101B-9397-08002B2CF9AE}" pid="19" name="Order">
    <vt:r8>5400</vt:r8>
  </property>
  <property fmtid="{D5CDD505-2E9C-101B-9397-08002B2CF9AE}" pid="20" name="_SharedFileIndex">
    <vt:lpwstr/>
  </property>
</Properties>
</file>