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snapToGrid="0">
      <p:cViewPr varScale="1">
        <p:scale>
          <a:sx n="117" d="100"/>
          <a:sy n="117" d="100"/>
        </p:scale>
        <p:origin x="36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dhat Elmasry" userId="405e238c19f61b9e" providerId="LiveId" clId="{DD2FBBFF-B752-734F-8A71-CF947DEF048E}"/>
    <pc:docChg chg="modSld">
      <pc:chgData name="Medhat Elmasry" userId="405e238c19f61b9e" providerId="LiveId" clId="{DD2FBBFF-B752-734F-8A71-CF947DEF048E}" dt="2023-10-09T19:41:32.613" v="2" actId="20577"/>
      <pc:docMkLst>
        <pc:docMk/>
      </pc:docMkLst>
      <pc:sldChg chg="modSp mod">
        <pc:chgData name="Medhat Elmasry" userId="405e238c19f61b9e" providerId="LiveId" clId="{DD2FBBFF-B752-734F-8A71-CF947DEF048E}" dt="2023-10-09T19:40:45.892" v="0" actId="20577"/>
        <pc:sldMkLst>
          <pc:docMk/>
          <pc:sldMk cId="740746646" sldId="257"/>
        </pc:sldMkLst>
        <pc:spChg chg="mod">
          <ac:chgData name="Medhat Elmasry" userId="405e238c19f61b9e" providerId="LiveId" clId="{DD2FBBFF-B752-734F-8A71-CF947DEF048E}" dt="2023-10-09T19:40:45.892" v="0" actId="20577"/>
          <ac:spMkLst>
            <pc:docMk/>
            <pc:sldMk cId="740746646" sldId="257"/>
            <ac:spMk id="3" creationId="{00000000-0000-0000-0000-000000000000}"/>
          </ac:spMkLst>
        </pc:spChg>
      </pc:sldChg>
      <pc:sldChg chg="modSp mod">
        <pc:chgData name="Medhat Elmasry" userId="405e238c19f61b9e" providerId="LiveId" clId="{DD2FBBFF-B752-734F-8A71-CF947DEF048E}" dt="2023-10-09T19:41:32.613" v="2" actId="20577"/>
        <pc:sldMkLst>
          <pc:docMk/>
          <pc:sldMk cId="2535126929" sldId="259"/>
        </pc:sldMkLst>
        <pc:spChg chg="mod">
          <ac:chgData name="Medhat Elmasry" userId="405e238c19f61b9e" providerId="LiveId" clId="{DD2FBBFF-B752-734F-8A71-CF947DEF048E}" dt="2023-10-09T19:41:32.613" v="2" actId="20577"/>
          <ac:spMkLst>
            <pc:docMk/>
            <pc:sldMk cId="2535126929" sldId="259"/>
            <ac:spMk id="3" creationId="{00000000-0000-0000-0000-000000000000}"/>
          </ac:spMkLst>
        </pc:spChg>
      </pc:sldChg>
    </pc:docChg>
  </pc:docChgLst>
  <pc:docChgLst>
    <pc:chgData name="Medhat Elmasry" userId="405e238c19f61b9e" providerId="LiveId" clId="{68686A54-86BC-614C-8765-B40A9B47AF51}"/>
    <pc:docChg chg="modSld">
      <pc:chgData name="Medhat Elmasry" userId="405e238c19f61b9e" providerId="LiveId" clId="{68686A54-86BC-614C-8765-B40A9B47AF51}" dt="2023-02-10T03:26:35.477" v="0" actId="20577"/>
      <pc:docMkLst>
        <pc:docMk/>
      </pc:docMkLst>
      <pc:sldChg chg="modSp mod">
        <pc:chgData name="Medhat Elmasry" userId="405e238c19f61b9e" providerId="LiveId" clId="{68686A54-86BC-614C-8765-B40A9B47AF51}" dt="2023-02-10T03:26:35.477" v="0" actId="20577"/>
        <pc:sldMkLst>
          <pc:docMk/>
          <pc:sldMk cId="3152059677" sldId="267"/>
        </pc:sldMkLst>
        <pc:spChg chg="mod">
          <ac:chgData name="Medhat Elmasry" userId="405e238c19f61b9e" providerId="LiveId" clId="{68686A54-86BC-614C-8765-B40A9B47AF51}" dt="2023-02-10T03:26:35.477" v="0" actId="20577"/>
          <ac:spMkLst>
            <pc:docMk/>
            <pc:sldMk cId="3152059677" sldId="267"/>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CE20C4C0-E380-4DCB-99D6-245A690C42B1}" type="datetimeFigureOut">
              <a:rPr lang="en-CA" smtClean="0"/>
              <a:t>2023-10-09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835D549-9DDC-49A3-8FD2-B6B05AC36C8C}" type="slidenum">
              <a:rPr lang="en-CA" smtClean="0"/>
              <a:t>‹#›</a:t>
            </a:fld>
            <a:endParaRPr lang="en-CA"/>
          </a:p>
        </p:txBody>
      </p:sp>
    </p:spTree>
    <p:extLst>
      <p:ext uri="{BB962C8B-B14F-4D97-AF65-F5344CB8AC3E}">
        <p14:creationId xmlns:p14="http://schemas.microsoft.com/office/powerpoint/2010/main" val="2848467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CE20C4C0-E380-4DCB-99D6-245A690C42B1}" type="datetimeFigureOut">
              <a:rPr lang="en-CA" smtClean="0"/>
              <a:t>2023-10-09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835D549-9DDC-49A3-8FD2-B6B05AC36C8C}" type="slidenum">
              <a:rPr lang="en-CA" smtClean="0"/>
              <a:t>‹#›</a:t>
            </a:fld>
            <a:endParaRPr lang="en-CA"/>
          </a:p>
        </p:txBody>
      </p:sp>
    </p:spTree>
    <p:extLst>
      <p:ext uri="{BB962C8B-B14F-4D97-AF65-F5344CB8AC3E}">
        <p14:creationId xmlns:p14="http://schemas.microsoft.com/office/powerpoint/2010/main" val="3674320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E20C4C0-E380-4DCB-99D6-245A690C42B1}" type="datetimeFigureOut">
              <a:rPr lang="en-CA" smtClean="0"/>
              <a:t>2023-10-09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835D549-9DDC-49A3-8FD2-B6B05AC36C8C}" type="slidenum">
              <a:rPr lang="en-CA" smtClean="0"/>
              <a:t>‹#›</a:t>
            </a:fld>
            <a:endParaRPr lang="en-CA"/>
          </a:p>
        </p:txBody>
      </p:sp>
    </p:spTree>
    <p:extLst>
      <p:ext uri="{BB962C8B-B14F-4D97-AF65-F5344CB8AC3E}">
        <p14:creationId xmlns:p14="http://schemas.microsoft.com/office/powerpoint/2010/main" val="996306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CE20C4C0-E380-4DCB-99D6-245A690C42B1}" type="datetimeFigureOut">
              <a:rPr lang="en-CA" smtClean="0"/>
              <a:t>2023-10-09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835D549-9DDC-49A3-8FD2-B6B05AC36C8C}" type="slidenum">
              <a:rPr lang="en-CA" smtClean="0"/>
              <a:t>‹#›</a:t>
            </a:fld>
            <a:endParaRPr lang="en-CA"/>
          </a:p>
        </p:txBody>
      </p:sp>
    </p:spTree>
    <p:extLst>
      <p:ext uri="{BB962C8B-B14F-4D97-AF65-F5344CB8AC3E}">
        <p14:creationId xmlns:p14="http://schemas.microsoft.com/office/powerpoint/2010/main" val="1154896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CE20C4C0-E380-4DCB-99D6-245A690C42B1}" type="datetimeFigureOut">
              <a:rPr lang="en-CA" smtClean="0"/>
              <a:t>2023-10-09</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A835D549-9DDC-49A3-8FD2-B6B05AC36C8C}" type="slidenum">
              <a:rPr lang="en-CA" smtClean="0"/>
              <a:t>‹#›</a:t>
            </a:fld>
            <a:endParaRPr lang="en-CA"/>
          </a:p>
        </p:txBody>
      </p:sp>
    </p:spTree>
    <p:extLst>
      <p:ext uri="{BB962C8B-B14F-4D97-AF65-F5344CB8AC3E}">
        <p14:creationId xmlns:p14="http://schemas.microsoft.com/office/powerpoint/2010/main" val="704279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CE20C4C0-E380-4DCB-99D6-245A690C42B1}" type="datetimeFigureOut">
              <a:rPr lang="en-CA" smtClean="0"/>
              <a:t>2023-10-09</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835D549-9DDC-49A3-8FD2-B6B05AC36C8C}" type="slidenum">
              <a:rPr lang="en-CA" smtClean="0"/>
              <a:t>‹#›</a:t>
            </a:fld>
            <a:endParaRPr lang="en-CA"/>
          </a:p>
        </p:txBody>
      </p:sp>
    </p:spTree>
    <p:extLst>
      <p:ext uri="{BB962C8B-B14F-4D97-AF65-F5344CB8AC3E}">
        <p14:creationId xmlns:p14="http://schemas.microsoft.com/office/powerpoint/2010/main" val="1115042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20C4C0-E380-4DCB-99D6-245A690C42B1}" type="datetimeFigureOut">
              <a:rPr lang="en-CA" smtClean="0"/>
              <a:t>2023-10-09</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A835D549-9DDC-49A3-8FD2-B6B05AC36C8C}" type="slidenum">
              <a:rPr lang="en-CA" smtClean="0"/>
              <a:t>‹#›</a:t>
            </a:fld>
            <a:endParaRPr lang="en-CA"/>
          </a:p>
        </p:txBody>
      </p:sp>
    </p:spTree>
    <p:extLst>
      <p:ext uri="{BB962C8B-B14F-4D97-AF65-F5344CB8AC3E}">
        <p14:creationId xmlns:p14="http://schemas.microsoft.com/office/powerpoint/2010/main" val="3278432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20C4C0-E380-4DCB-99D6-245A690C42B1}" type="datetimeFigureOut">
              <a:rPr lang="en-CA" smtClean="0"/>
              <a:t>2023-10-09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835D549-9DDC-49A3-8FD2-B6B05AC36C8C}" type="slidenum">
              <a:rPr lang="en-CA" smtClean="0"/>
              <a:t>‹#›</a:t>
            </a:fld>
            <a:endParaRPr lang="en-CA"/>
          </a:p>
        </p:txBody>
      </p:sp>
    </p:spTree>
    <p:extLst>
      <p:ext uri="{BB962C8B-B14F-4D97-AF65-F5344CB8AC3E}">
        <p14:creationId xmlns:p14="http://schemas.microsoft.com/office/powerpoint/2010/main" val="3551296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20C4C0-E380-4DCB-99D6-245A690C42B1}" type="datetimeFigureOut">
              <a:rPr lang="en-CA" smtClean="0"/>
              <a:t>2023-10-09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835D549-9DDC-49A3-8FD2-B6B05AC36C8C}" type="slidenum">
              <a:rPr lang="en-CA" smtClean="0"/>
              <a:t>‹#›</a:t>
            </a:fld>
            <a:endParaRPr lang="en-CA"/>
          </a:p>
        </p:txBody>
      </p:sp>
    </p:spTree>
    <p:extLst>
      <p:ext uri="{BB962C8B-B14F-4D97-AF65-F5344CB8AC3E}">
        <p14:creationId xmlns:p14="http://schemas.microsoft.com/office/powerpoint/2010/main" val="838988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CE20C4C0-E380-4DCB-99D6-245A690C42B1}" type="datetimeFigureOut">
              <a:rPr lang="en-CA" smtClean="0"/>
              <a:t>2023-10-09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835D549-9DDC-49A3-8FD2-B6B05AC36C8C}" type="slidenum">
              <a:rPr lang="en-CA" smtClean="0"/>
              <a:t>‹#›</a:t>
            </a:fld>
            <a:endParaRPr lang="en-CA"/>
          </a:p>
        </p:txBody>
      </p:sp>
    </p:spTree>
    <p:extLst>
      <p:ext uri="{BB962C8B-B14F-4D97-AF65-F5344CB8AC3E}">
        <p14:creationId xmlns:p14="http://schemas.microsoft.com/office/powerpoint/2010/main" val="3838188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CE20C4C0-E380-4DCB-99D6-245A690C42B1}" type="datetimeFigureOut">
              <a:rPr lang="en-CA" smtClean="0"/>
              <a:t>2023-10-09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835D549-9DDC-49A3-8FD2-B6B05AC36C8C}" type="slidenum">
              <a:rPr lang="en-CA" smtClean="0"/>
              <a:t>‹#›</a:t>
            </a:fld>
            <a:endParaRPr lang="en-CA"/>
          </a:p>
        </p:txBody>
      </p:sp>
    </p:spTree>
    <p:extLst>
      <p:ext uri="{BB962C8B-B14F-4D97-AF65-F5344CB8AC3E}">
        <p14:creationId xmlns:p14="http://schemas.microsoft.com/office/powerpoint/2010/main" val="1143212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20C4C0-E380-4DCB-99D6-245A690C42B1}" type="datetimeFigureOut">
              <a:rPr lang="en-CA" smtClean="0"/>
              <a:t>2023-10-09</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35D549-9DDC-49A3-8FD2-B6B05AC36C8C}" type="slidenum">
              <a:rPr lang="en-CA" smtClean="0"/>
              <a:t>‹#›</a:t>
            </a:fld>
            <a:endParaRPr lang="en-CA"/>
          </a:p>
        </p:txBody>
      </p:sp>
    </p:spTree>
    <p:extLst>
      <p:ext uri="{BB962C8B-B14F-4D97-AF65-F5344CB8AC3E}">
        <p14:creationId xmlns:p14="http://schemas.microsoft.com/office/powerpoint/2010/main" val="3054402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Intro to Azure Functions</a:t>
            </a:r>
          </a:p>
        </p:txBody>
      </p:sp>
      <p:sp>
        <p:nvSpPr>
          <p:cNvPr id="3" name="Subtitle 2"/>
          <p:cNvSpPr>
            <a:spLocks noGrp="1"/>
          </p:cNvSpPr>
          <p:nvPr>
            <p:ph type="subTitle" idx="1"/>
          </p:nvPr>
        </p:nvSpPr>
        <p:spPr/>
        <p:txBody>
          <a:bodyPr/>
          <a:lstStyle/>
          <a:p>
            <a:r>
              <a:rPr lang="en-CA" dirty="0"/>
              <a:t>Medhat Elmasry</a:t>
            </a:r>
          </a:p>
        </p:txBody>
      </p:sp>
    </p:spTree>
    <p:extLst>
      <p:ext uri="{BB962C8B-B14F-4D97-AF65-F5344CB8AC3E}">
        <p14:creationId xmlns:p14="http://schemas.microsoft.com/office/powerpoint/2010/main" val="240794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Azure server-less compute</a:t>
            </a:r>
          </a:p>
        </p:txBody>
      </p:sp>
      <p:sp>
        <p:nvSpPr>
          <p:cNvPr id="3" name="Content Placeholder 2"/>
          <p:cNvSpPr>
            <a:spLocks noGrp="1"/>
          </p:cNvSpPr>
          <p:nvPr>
            <p:ph idx="1"/>
          </p:nvPr>
        </p:nvSpPr>
        <p:spPr/>
        <p:txBody>
          <a:bodyPr/>
          <a:lstStyle/>
          <a:p>
            <a:r>
              <a:rPr lang="en-CA" dirty="0"/>
              <a:t>It’s now becoming easier than ever to create small, targeted micro-service architecture using a variety of services</a:t>
            </a:r>
          </a:p>
          <a:p>
            <a:r>
              <a:rPr lang="en-CA" dirty="0"/>
              <a:t>Azure provides many services that can help you achieve a low-friction, high-throughput and low-cost solution</a:t>
            </a:r>
          </a:p>
        </p:txBody>
      </p:sp>
    </p:spTree>
    <p:extLst>
      <p:ext uri="{BB962C8B-B14F-4D97-AF65-F5344CB8AC3E}">
        <p14:creationId xmlns:p14="http://schemas.microsoft.com/office/powerpoint/2010/main" val="740746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Azure Functions?</a:t>
            </a:r>
          </a:p>
        </p:txBody>
      </p:sp>
      <p:sp>
        <p:nvSpPr>
          <p:cNvPr id="3" name="Content Placeholder 2"/>
          <p:cNvSpPr>
            <a:spLocks noGrp="1"/>
          </p:cNvSpPr>
          <p:nvPr>
            <p:ph idx="1"/>
          </p:nvPr>
        </p:nvSpPr>
        <p:spPr/>
        <p:txBody>
          <a:bodyPr/>
          <a:lstStyle/>
          <a:p>
            <a:r>
              <a:rPr lang="en-CA" dirty="0"/>
              <a:t>Azure Functions are a server-less, event driven experience that extends the existing Azure App Service platform</a:t>
            </a:r>
          </a:p>
          <a:p>
            <a:r>
              <a:rPr lang="en-CA" dirty="0"/>
              <a:t>Azure Functions are “</a:t>
            </a:r>
            <a:r>
              <a:rPr lang="en-CA" dirty="0" err="1"/>
              <a:t>nano</a:t>
            </a:r>
            <a:r>
              <a:rPr lang="en-CA" dirty="0"/>
              <a:t>-services” that can scale based on demand (only paying for the resources you use)</a:t>
            </a:r>
          </a:p>
          <a:p>
            <a:r>
              <a:rPr lang="en-CA" dirty="0"/>
              <a:t>Think of Azure Functions as…</a:t>
            </a:r>
          </a:p>
        </p:txBody>
      </p:sp>
      <p:pic>
        <p:nvPicPr>
          <p:cNvPr id="4" name="Picture 3"/>
          <p:cNvPicPr>
            <a:picLocks noChangeAspect="1"/>
          </p:cNvPicPr>
          <p:nvPr/>
        </p:nvPicPr>
        <p:blipFill>
          <a:blip r:embed="rId2"/>
          <a:stretch>
            <a:fillRect/>
          </a:stretch>
        </p:blipFill>
        <p:spPr>
          <a:xfrm>
            <a:off x="3814444" y="4200935"/>
            <a:ext cx="4563112" cy="2314898"/>
          </a:xfrm>
          <a:prstGeom prst="rect">
            <a:avLst/>
          </a:prstGeom>
        </p:spPr>
      </p:pic>
    </p:spTree>
    <p:extLst>
      <p:ext uri="{BB962C8B-B14F-4D97-AF65-F5344CB8AC3E}">
        <p14:creationId xmlns:p14="http://schemas.microsoft.com/office/powerpoint/2010/main" val="1382969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Azure Functions (cont’d)</a:t>
            </a:r>
          </a:p>
        </p:txBody>
      </p:sp>
      <p:sp>
        <p:nvSpPr>
          <p:cNvPr id="3" name="Content Placeholder 2"/>
          <p:cNvSpPr>
            <a:spLocks noGrp="1"/>
          </p:cNvSpPr>
          <p:nvPr>
            <p:ph idx="1"/>
          </p:nvPr>
        </p:nvSpPr>
        <p:spPr/>
        <p:txBody>
          <a:bodyPr>
            <a:normAutofit/>
          </a:bodyPr>
          <a:lstStyle/>
          <a:p>
            <a:r>
              <a:rPr lang="en-CA" dirty="0"/>
              <a:t>Server-less</a:t>
            </a:r>
          </a:p>
          <a:p>
            <a:pPr lvl="1"/>
            <a:r>
              <a:rPr lang="en-CA" dirty="0"/>
              <a:t>Don’t worry about the infrastructure and provisioning of servers, especially when your </a:t>
            </a:r>
            <a:r>
              <a:rPr lang="en-CA"/>
              <a:t>functions scales </a:t>
            </a:r>
            <a:r>
              <a:rPr lang="en-CA" dirty="0"/>
              <a:t>up</a:t>
            </a:r>
          </a:p>
          <a:p>
            <a:r>
              <a:rPr lang="en-CA" dirty="0"/>
              <a:t>Accelerate development</a:t>
            </a:r>
          </a:p>
          <a:p>
            <a:pPr lvl="1"/>
            <a:r>
              <a:rPr lang="en-CA" dirty="0"/>
              <a:t>Write your code in the portal for immediate execution</a:t>
            </a:r>
          </a:p>
          <a:p>
            <a:pPr lvl="1"/>
            <a:r>
              <a:rPr lang="en-CA" dirty="0"/>
              <a:t>Quickly and easily iterate with continuous deployment (Visual Studio Team Services, GitHub, </a:t>
            </a:r>
            <a:r>
              <a:rPr lang="en-CA" dirty="0" err="1"/>
              <a:t>BitBucket</a:t>
            </a:r>
            <a:r>
              <a:rPr lang="en-CA" dirty="0"/>
              <a:t>)</a:t>
            </a:r>
          </a:p>
          <a:p>
            <a:r>
              <a:rPr lang="en-CA" dirty="0"/>
              <a:t>Bind into services</a:t>
            </a:r>
          </a:p>
          <a:p>
            <a:pPr lvl="1"/>
            <a:r>
              <a:rPr lang="en-CA" dirty="0"/>
              <a:t>Easily add bindings to Azure services and external services (Box, </a:t>
            </a:r>
            <a:r>
              <a:rPr lang="en-CA" dirty="0" err="1"/>
              <a:t>DropBox</a:t>
            </a:r>
            <a:r>
              <a:rPr lang="en-CA" dirty="0"/>
              <a:t>, OneDrive, </a:t>
            </a:r>
            <a:r>
              <a:rPr lang="en-CA" dirty="0" err="1"/>
              <a:t>SendGrid</a:t>
            </a:r>
            <a:r>
              <a:rPr lang="en-CA" dirty="0"/>
              <a:t>, …) to get input into or output from your Azure Functions</a:t>
            </a:r>
          </a:p>
          <a:p>
            <a:endParaRPr lang="en-CA" dirty="0"/>
          </a:p>
        </p:txBody>
      </p:sp>
    </p:spTree>
    <p:extLst>
      <p:ext uri="{BB962C8B-B14F-4D97-AF65-F5344CB8AC3E}">
        <p14:creationId xmlns:p14="http://schemas.microsoft.com/office/powerpoint/2010/main" val="2535126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Azure Functions architecture</a:t>
            </a:r>
          </a:p>
        </p:txBody>
      </p:sp>
      <p:sp>
        <p:nvSpPr>
          <p:cNvPr id="3" name="Content Placeholder 2"/>
          <p:cNvSpPr>
            <a:spLocks noGrp="1"/>
          </p:cNvSpPr>
          <p:nvPr>
            <p:ph idx="1"/>
          </p:nvPr>
        </p:nvSpPr>
        <p:spPr/>
        <p:txBody>
          <a:bodyPr>
            <a:normAutofit/>
          </a:bodyPr>
          <a:lstStyle/>
          <a:p>
            <a:pPr marL="0" indent="0">
              <a:buNone/>
            </a:pPr>
            <a:r>
              <a:rPr lang="en-CA" sz="2400" dirty="0"/>
              <a:t>Azure Functions are built on top of Azure App Service and </a:t>
            </a:r>
            <a:r>
              <a:rPr lang="en-CA" sz="2400" dirty="0" err="1"/>
              <a:t>WebJobs</a:t>
            </a:r>
            <a:r>
              <a:rPr lang="en-CA" sz="2400" dirty="0"/>
              <a:t> SDK.</a:t>
            </a:r>
          </a:p>
        </p:txBody>
      </p:sp>
      <p:pic>
        <p:nvPicPr>
          <p:cNvPr id="4" name="Picture 3"/>
          <p:cNvPicPr>
            <a:picLocks noChangeAspect="1"/>
          </p:cNvPicPr>
          <p:nvPr/>
        </p:nvPicPr>
        <p:blipFill>
          <a:blip r:embed="rId2"/>
          <a:stretch>
            <a:fillRect/>
          </a:stretch>
        </p:blipFill>
        <p:spPr>
          <a:xfrm>
            <a:off x="2409445" y="2788288"/>
            <a:ext cx="7373110" cy="3018457"/>
          </a:xfrm>
          <a:prstGeom prst="rect">
            <a:avLst/>
          </a:prstGeom>
        </p:spPr>
      </p:pic>
    </p:spTree>
    <p:extLst>
      <p:ext uri="{BB962C8B-B14F-4D97-AF65-F5344CB8AC3E}">
        <p14:creationId xmlns:p14="http://schemas.microsoft.com/office/powerpoint/2010/main" val="4085417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Features of Azure Functions</a:t>
            </a:r>
          </a:p>
        </p:txBody>
      </p:sp>
      <p:sp>
        <p:nvSpPr>
          <p:cNvPr id="3" name="Content Placeholder 2"/>
          <p:cNvSpPr>
            <a:spLocks noGrp="1"/>
          </p:cNvSpPr>
          <p:nvPr>
            <p:ph idx="1"/>
          </p:nvPr>
        </p:nvSpPr>
        <p:spPr/>
        <p:txBody>
          <a:bodyPr/>
          <a:lstStyle/>
          <a:p>
            <a:r>
              <a:rPr lang="en-CA" dirty="0"/>
              <a:t>Choice of language</a:t>
            </a:r>
          </a:p>
          <a:p>
            <a:r>
              <a:rPr lang="en-CA" dirty="0"/>
              <a:t>Pay-per-use pricing model</a:t>
            </a:r>
          </a:p>
          <a:p>
            <a:r>
              <a:rPr lang="en-CA" dirty="0"/>
              <a:t>Bring your own dependencies (</a:t>
            </a:r>
            <a:r>
              <a:rPr lang="en-CA" dirty="0" err="1"/>
              <a:t>NuGet</a:t>
            </a:r>
            <a:r>
              <a:rPr lang="en-CA" dirty="0"/>
              <a:t>, NPM)</a:t>
            </a:r>
          </a:p>
          <a:p>
            <a:r>
              <a:rPr lang="en-CA" dirty="0"/>
              <a:t>Integrated security</a:t>
            </a:r>
          </a:p>
          <a:p>
            <a:r>
              <a:rPr lang="en-CA" dirty="0"/>
              <a:t>Simplified integration</a:t>
            </a:r>
          </a:p>
          <a:p>
            <a:r>
              <a:rPr lang="en-CA" dirty="0"/>
              <a:t>Flexible development / deployment</a:t>
            </a:r>
          </a:p>
          <a:p>
            <a:r>
              <a:rPr lang="en-CA" dirty="0"/>
              <a:t>Open-source</a:t>
            </a:r>
          </a:p>
          <a:p>
            <a:r>
              <a:rPr lang="en-CA" dirty="0"/>
              <a:t>Very close to the metal, quickly caches and </a:t>
            </a:r>
            <a:r>
              <a:rPr lang="en-CA" dirty="0" err="1"/>
              <a:t>uncaches</a:t>
            </a:r>
            <a:endParaRPr lang="en-CA" dirty="0"/>
          </a:p>
        </p:txBody>
      </p:sp>
    </p:spTree>
    <p:extLst>
      <p:ext uri="{BB962C8B-B14F-4D97-AF65-F5344CB8AC3E}">
        <p14:creationId xmlns:p14="http://schemas.microsoft.com/office/powerpoint/2010/main" val="1721919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Supported languages and tools</a:t>
            </a:r>
          </a:p>
        </p:txBody>
      </p:sp>
      <p:sp>
        <p:nvSpPr>
          <p:cNvPr id="3" name="Content Placeholder 2"/>
          <p:cNvSpPr>
            <a:spLocks noGrp="1"/>
          </p:cNvSpPr>
          <p:nvPr>
            <p:ph idx="1"/>
          </p:nvPr>
        </p:nvSpPr>
        <p:spPr/>
        <p:txBody>
          <a:bodyPr/>
          <a:lstStyle/>
          <a:p>
            <a:r>
              <a:rPr lang="en-CA" dirty="0"/>
              <a:t>Azure Functions can be created in:</a:t>
            </a:r>
          </a:p>
          <a:p>
            <a:pPr lvl="1"/>
            <a:r>
              <a:rPr lang="en-CA" dirty="0"/>
              <a:t>C#</a:t>
            </a:r>
          </a:p>
          <a:p>
            <a:pPr lvl="1"/>
            <a:r>
              <a:rPr lang="en-CA" dirty="0"/>
              <a:t>Node/JavaScript</a:t>
            </a:r>
          </a:p>
          <a:p>
            <a:pPr lvl="1"/>
            <a:r>
              <a:rPr lang="en-CA" dirty="0"/>
              <a:t>Python</a:t>
            </a:r>
          </a:p>
          <a:p>
            <a:pPr lvl="1"/>
            <a:r>
              <a:rPr lang="en-CA" dirty="0"/>
              <a:t>F#</a:t>
            </a:r>
          </a:p>
          <a:p>
            <a:pPr lvl="1"/>
            <a:r>
              <a:rPr lang="en-CA" dirty="0"/>
              <a:t>PHP </a:t>
            </a:r>
          </a:p>
          <a:p>
            <a:pPr lvl="1"/>
            <a:r>
              <a:rPr lang="en-CA" dirty="0"/>
              <a:t>and scripting languages like PowerShell, Batch and Bash</a:t>
            </a:r>
          </a:p>
          <a:p>
            <a:r>
              <a:rPr lang="en-CA" dirty="0"/>
              <a:t>Azure Functions can even run EXE’s or call into DLL’s</a:t>
            </a:r>
          </a:p>
        </p:txBody>
      </p:sp>
    </p:spTree>
    <p:extLst>
      <p:ext uri="{BB962C8B-B14F-4D97-AF65-F5344CB8AC3E}">
        <p14:creationId xmlns:p14="http://schemas.microsoft.com/office/powerpoint/2010/main" val="3308397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can I do with Azure Functions?</a:t>
            </a:r>
          </a:p>
        </p:txBody>
      </p:sp>
      <p:sp>
        <p:nvSpPr>
          <p:cNvPr id="3" name="Content Placeholder 2"/>
          <p:cNvSpPr>
            <a:spLocks noGrp="1"/>
          </p:cNvSpPr>
          <p:nvPr>
            <p:ph idx="1"/>
          </p:nvPr>
        </p:nvSpPr>
        <p:spPr/>
        <p:txBody>
          <a:bodyPr>
            <a:normAutofit/>
          </a:bodyPr>
          <a:lstStyle/>
          <a:p>
            <a:r>
              <a:rPr lang="en-CA" dirty="0"/>
              <a:t>Azure Functions are great for processing data, integrating systems, working with </a:t>
            </a:r>
            <a:r>
              <a:rPr lang="en-CA" dirty="0" err="1"/>
              <a:t>IoT</a:t>
            </a:r>
            <a:r>
              <a:rPr lang="en-CA" dirty="0"/>
              <a:t>, simple API’s and micro-services</a:t>
            </a:r>
          </a:p>
          <a:p>
            <a:r>
              <a:rPr lang="en-CA" dirty="0"/>
              <a:t>Azure Functions provide templates for a number of key scenarios</a:t>
            </a:r>
          </a:p>
          <a:p>
            <a:r>
              <a:rPr lang="en-CA" dirty="0"/>
              <a:t>Azure Functions supports</a:t>
            </a:r>
          </a:p>
          <a:p>
            <a:pPr lvl="1"/>
            <a:r>
              <a:rPr lang="en-CA" dirty="0"/>
              <a:t>Triggers - a way to start execution</a:t>
            </a:r>
          </a:p>
          <a:p>
            <a:pPr lvl="1"/>
            <a:r>
              <a:rPr lang="en-CA" dirty="0"/>
              <a:t>Bindings - a way to simplify code for input and output of data</a:t>
            </a:r>
          </a:p>
          <a:p>
            <a:endParaRPr lang="en-CA" dirty="0"/>
          </a:p>
        </p:txBody>
      </p:sp>
    </p:spTree>
    <p:extLst>
      <p:ext uri="{BB962C8B-B14F-4D97-AF65-F5344CB8AC3E}">
        <p14:creationId xmlns:p14="http://schemas.microsoft.com/office/powerpoint/2010/main" val="2326565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Integrations</a:t>
            </a:r>
          </a:p>
        </p:txBody>
      </p:sp>
      <p:sp>
        <p:nvSpPr>
          <p:cNvPr id="3" name="Content Placeholder 2"/>
          <p:cNvSpPr>
            <a:spLocks noGrp="1"/>
          </p:cNvSpPr>
          <p:nvPr>
            <p:ph idx="1"/>
          </p:nvPr>
        </p:nvSpPr>
        <p:spPr>
          <a:xfrm>
            <a:off x="838200" y="1825625"/>
            <a:ext cx="10515600" cy="1914271"/>
          </a:xfrm>
        </p:spPr>
        <p:txBody>
          <a:bodyPr/>
          <a:lstStyle/>
          <a:p>
            <a:r>
              <a:rPr lang="en-CA" dirty="0"/>
              <a:t>Azure Functions can be triggered by virtually any event in Azure, other 3</a:t>
            </a:r>
            <a:r>
              <a:rPr lang="en-CA" baseline="30000" dirty="0"/>
              <a:t>rd</a:t>
            </a:r>
            <a:r>
              <a:rPr lang="en-CA" dirty="0"/>
              <a:t> party services or even from </a:t>
            </a:r>
            <a:r>
              <a:rPr lang="en-CA" dirty="0" err="1"/>
              <a:t>on-premise</a:t>
            </a:r>
            <a:r>
              <a:rPr lang="en-CA" dirty="0"/>
              <a:t> systems</a:t>
            </a:r>
          </a:p>
          <a:p>
            <a:r>
              <a:rPr lang="en-CA" dirty="0"/>
              <a:t>These services can trigger your function (</a:t>
            </a:r>
            <a:r>
              <a:rPr lang="en-CA" dirty="0" err="1"/>
              <a:t>startup</a:t>
            </a:r>
            <a:r>
              <a:rPr lang="en-CA" dirty="0"/>
              <a:t>) or serve as input and output for your code</a:t>
            </a:r>
          </a:p>
          <a:p>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473568800"/>
              </p:ext>
            </p:extLst>
          </p:nvPr>
        </p:nvGraphicFramePr>
        <p:xfrm>
          <a:off x="1538224" y="4139522"/>
          <a:ext cx="8128000" cy="1854200"/>
        </p:xfrm>
        <a:graphic>
          <a:graphicData uri="http://schemas.openxmlformats.org/drawingml/2006/table">
            <a:tbl>
              <a:tblPr bandRow="1">
                <a:tableStyleId>{5940675A-B579-460E-94D1-54222C63F5DA}</a:tableStyleId>
              </a:tblPr>
              <a:tblGrid>
                <a:gridCol w="4064000">
                  <a:extLst>
                    <a:ext uri="{9D8B030D-6E8A-4147-A177-3AD203B41FA5}">
                      <a16:colId xmlns:a16="http://schemas.microsoft.com/office/drawing/2014/main" val="736832578"/>
                    </a:ext>
                  </a:extLst>
                </a:gridCol>
                <a:gridCol w="4064000">
                  <a:extLst>
                    <a:ext uri="{9D8B030D-6E8A-4147-A177-3AD203B41FA5}">
                      <a16:colId xmlns:a16="http://schemas.microsoft.com/office/drawing/2014/main" val="2039578910"/>
                    </a:ext>
                  </a:extLst>
                </a:gridCol>
              </a:tblGrid>
              <a:tr h="370840">
                <a:tc>
                  <a:txBody>
                    <a:bodyPr/>
                    <a:lstStyle/>
                    <a:p>
                      <a:r>
                        <a:rPr lang="en-CA" dirty="0" err="1"/>
                        <a:t>DocumentDB</a:t>
                      </a:r>
                      <a:endParaRPr lang="en-CA" dirty="0"/>
                    </a:p>
                  </a:txBody>
                  <a:tcPr/>
                </a:tc>
                <a:tc>
                  <a:txBody>
                    <a:bodyPr/>
                    <a:lstStyle/>
                    <a:p>
                      <a:r>
                        <a:rPr lang="en-CA" dirty="0"/>
                        <a:t>Event Hubs</a:t>
                      </a:r>
                    </a:p>
                  </a:txBody>
                  <a:tcPr/>
                </a:tc>
                <a:extLst>
                  <a:ext uri="{0D108BD9-81ED-4DB2-BD59-A6C34878D82A}">
                    <a16:rowId xmlns:a16="http://schemas.microsoft.com/office/drawing/2014/main" val="4010308549"/>
                  </a:ext>
                </a:extLst>
              </a:tr>
              <a:tr h="370840">
                <a:tc>
                  <a:txBody>
                    <a:bodyPr/>
                    <a:lstStyle/>
                    <a:p>
                      <a:r>
                        <a:rPr lang="en-CA" dirty="0"/>
                        <a:t>Mobile Apps (tables)</a:t>
                      </a:r>
                    </a:p>
                  </a:txBody>
                  <a:tcPr/>
                </a:tc>
                <a:tc>
                  <a:txBody>
                    <a:bodyPr/>
                    <a:lstStyle/>
                    <a:p>
                      <a:r>
                        <a:rPr lang="en-CA" dirty="0"/>
                        <a:t>Notification Hubs</a:t>
                      </a:r>
                    </a:p>
                  </a:txBody>
                  <a:tcPr/>
                </a:tc>
                <a:extLst>
                  <a:ext uri="{0D108BD9-81ED-4DB2-BD59-A6C34878D82A}">
                    <a16:rowId xmlns:a16="http://schemas.microsoft.com/office/drawing/2014/main" val="4181459115"/>
                  </a:ext>
                </a:extLst>
              </a:tr>
              <a:tr h="370840">
                <a:tc>
                  <a:txBody>
                    <a:bodyPr/>
                    <a:lstStyle/>
                    <a:p>
                      <a:r>
                        <a:rPr lang="en-CA" dirty="0"/>
                        <a:t>Service Bus (queues, topics)</a:t>
                      </a:r>
                    </a:p>
                  </a:txBody>
                  <a:tcPr/>
                </a:tc>
                <a:tc>
                  <a:txBody>
                    <a:bodyPr/>
                    <a:lstStyle/>
                    <a:p>
                      <a:r>
                        <a:rPr lang="en-CA" dirty="0"/>
                        <a:t>Storage (blob, queues, tables)</a:t>
                      </a:r>
                    </a:p>
                  </a:txBody>
                  <a:tcPr/>
                </a:tc>
                <a:extLst>
                  <a:ext uri="{0D108BD9-81ED-4DB2-BD59-A6C34878D82A}">
                    <a16:rowId xmlns:a16="http://schemas.microsoft.com/office/drawing/2014/main" val="702695977"/>
                  </a:ext>
                </a:extLst>
              </a:tr>
              <a:tr h="370840">
                <a:tc>
                  <a:txBody>
                    <a:bodyPr/>
                    <a:lstStyle/>
                    <a:p>
                      <a:r>
                        <a:rPr lang="en-CA" dirty="0"/>
                        <a:t>GitHub (</a:t>
                      </a:r>
                      <a:r>
                        <a:rPr lang="en-CA" dirty="0" err="1"/>
                        <a:t>webhooks</a:t>
                      </a:r>
                      <a:r>
                        <a:rPr lang="en-CA" dirty="0"/>
                        <a:t>)</a:t>
                      </a:r>
                    </a:p>
                  </a:txBody>
                  <a:tcPr/>
                </a:tc>
                <a:tc>
                  <a:txBody>
                    <a:bodyPr/>
                    <a:lstStyle/>
                    <a:p>
                      <a:r>
                        <a:rPr lang="en-CA" dirty="0" err="1"/>
                        <a:t>Twilio</a:t>
                      </a:r>
                      <a:r>
                        <a:rPr lang="en-CA" dirty="0"/>
                        <a:t> (SMS messages)</a:t>
                      </a:r>
                    </a:p>
                  </a:txBody>
                  <a:tcPr/>
                </a:tc>
                <a:extLst>
                  <a:ext uri="{0D108BD9-81ED-4DB2-BD59-A6C34878D82A}">
                    <a16:rowId xmlns:a16="http://schemas.microsoft.com/office/drawing/2014/main" val="2218409463"/>
                  </a:ext>
                </a:extLst>
              </a:tr>
              <a:tr h="370840">
                <a:tc>
                  <a:txBody>
                    <a:bodyPr/>
                    <a:lstStyle/>
                    <a:p>
                      <a:r>
                        <a:rPr lang="en-CA"/>
                        <a:t>On-premises (using Service Bus)</a:t>
                      </a:r>
                    </a:p>
                  </a:txBody>
                  <a:tcPr/>
                </a:tc>
                <a:tc>
                  <a:txBody>
                    <a:bodyPr/>
                    <a:lstStyle/>
                    <a:p>
                      <a:endParaRPr lang="en-CA" dirty="0"/>
                    </a:p>
                  </a:txBody>
                  <a:tcPr/>
                </a:tc>
                <a:extLst>
                  <a:ext uri="{0D108BD9-81ED-4DB2-BD59-A6C34878D82A}">
                    <a16:rowId xmlns:a16="http://schemas.microsoft.com/office/drawing/2014/main" val="2375119878"/>
                  </a:ext>
                </a:extLst>
              </a:tr>
            </a:tbl>
          </a:graphicData>
        </a:graphic>
      </p:graphicFrame>
    </p:spTree>
    <p:extLst>
      <p:ext uri="{BB962C8B-B14F-4D97-AF65-F5344CB8AC3E}">
        <p14:creationId xmlns:p14="http://schemas.microsoft.com/office/powerpoint/2010/main" val="3887810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Available trigger templates</a:t>
            </a:r>
          </a:p>
        </p:txBody>
      </p:sp>
      <p:sp>
        <p:nvSpPr>
          <p:cNvPr id="3" name="Content Placeholder 2"/>
          <p:cNvSpPr>
            <a:spLocks noGrp="1"/>
          </p:cNvSpPr>
          <p:nvPr>
            <p:ph idx="1"/>
          </p:nvPr>
        </p:nvSpPr>
        <p:spPr/>
        <p:txBody>
          <a:bodyPr>
            <a:normAutofit lnSpcReduction="10000"/>
          </a:bodyPr>
          <a:lstStyle/>
          <a:p>
            <a:r>
              <a:rPr lang="en-CA" dirty="0" err="1"/>
              <a:t>BlogTrigger</a:t>
            </a:r>
            <a:endParaRPr lang="en-CA" dirty="0"/>
          </a:p>
          <a:p>
            <a:r>
              <a:rPr lang="en-CA" dirty="0" err="1"/>
              <a:t>EventHubTrigger</a:t>
            </a:r>
            <a:endParaRPr lang="en-CA" dirty="0"/>
          </a:p>
          <a:p>
            <a:r>
              <a:rPr lang="en-CA" dirty="0"/>
              <a:t>Generic </a:t>
            </a:r>
            <a:r>
              <a:rPr lang="en-CA" dirty="0" err="1"/>
              <a:t>webhook</a:t>
            </a:r>
            <a:endParaRPr lang="en-CA" dirty="0"/>
          </a:p>
          <a:p>
            <a:r>
              <a:rPr lang="en-CA" dirty="0"/>
              <a:t>GitHub </a:t>
            </a:r>
            <a:r>
              <a:rPr lang="en-CA" dirty="0" err="1"/>
              <a:t>webhook</a:t>
            </a:r>
            <a:endParaRPr lang="en-CA" dirty="0"/>
          </a:p>
          <a:p>
            <a:r>
              <a:rPr lang="en-CA" dirty="0" err="1"/>
              <a:t>HttpTrigger</a:t>
            </a:r>
            <a:r>
              <a:rPr lang="en-CA" dirty="0"/>
              <a:t>*</a:t>
            </a:r>
          </a:p>
          <a:p>
            <a:r>
              <a:rPr lang="en-CA" dirty="0" err="1"/>
              <a:t>QueueTrigger</a:t>
            </a:r>
            <a:endParaRPr lang="en-CA" dirty="0"/>
          </a:p>
          <a:p>
            <a:r>
              <a:rPr lang="en-CA" dirty="0" err="1"/>
              <a:t>ServiceBusQueueTrigger</a:t>
            </a:r>
            <a:endParaRPr lang="en-CA" dirty="0"/>
          </a:p>
          <a:p>
            <a:r>
              <a:rPr lang="en-CA" dirty="0" err="1"/>
              <a:t>ServiceBusTopicTrigger</a:t>
            </a:r>
            <a:endParaRPr lang="en-CA" dirty="0"/>
          </a:p>
          <a:p>
            <a:r>
              <a:rPr lang="en-CA" dirty="0" err="1"/>
              <a:t>TimerTrigger</a:t>
            </a:r>
            <a:endParaRPr lang="en-CA" dirty="0"/>
          </a:p>
        </p:txBody>
      </p:sp>
      <p:sp>
        <p:nvSpPr>
          <p:cNvPr id="4" name="Rectangle 3"/>
          <p:cNvSpPr/>
          <p:nvPr/>
        </p:nvSpPr>
        <p:spPr>
          <a:xfrm>
            <a:off x="5625548" y="3112461"/>
            <a:ext cx="6096000" cy="646331"/>
          </a:xfrm>
          <a:prstGeom prst="rect">
            <a:avLst/>
          </a:prstGeom>
        </p:spPr>
        <p:txBody>
          <a:bodyPr>
            <a:spAutoFit/>
          </a:bodyPr>
          <a:lstStyle/>
          <a:p>
            <a:r>
              <a:rPr lang="en-CA" dirty="0"/>
              <a:t>* Every function type with the exception of the </a:t>
            </a:r>
            <a:r>
              <a:rPr lang="en-CA" dirty="0" err="1"/>
              <a:t>HttpTrigger</a:t>
            </a:r>
            <a:r>
              <a:rPr lang="en-CA" dirty="0"/>
              <a:t> type will require a storage account.</a:t>
            </a:r>
          </a:p>
        </p:txBody>
      </p:sp>
    </p:spTree>
    <p:extLst>
      <p:ext uri="{BB962C8B-B14F-4D97-AF65-F5344CB8AC3E}">
        <p14:creationId xmlns:p14="http://schemas.microsoft.com/office/powerpoint/2010/main" val="3664994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Triggers and bindings</a:t>
            </a:r>
          </a:p>
        </p:txBody>
      </p:sp>
      <p:sp>
        <p:nvSpPr>
          <p:cNvPr id="3" name="Content Placeholder 2"/>
          <p:cNvSpPr>
            <a:spLocks noGrp="1"/>
          </p:cNvSpPr>
          <p:nvPr>
            <p:ph idx="1"/>
          </p:nvPr>
        </p:nvSpPr>
        <p:spPr>
          <a:xfrm>
            <a:off x="838200" y="1825625"/>
            <a:ext cx="6278217" cy="3753540"/>
          </a:xfrm>
        </p:spPr>
        <p:txBody>
          <a:bodyPr/>
          <a:lstStyle/>
          <a:p>
            <a:r>
              <a:rPr lang="en-CA" dirty="0"/>
              <a:t>A function can have any number of input and output bindings but can only have a single trigger binding.</a:t>
            </a:r>
          </a:p>
          <a:p>
            <a:r>
              <a:rPr lang="en-CA" dirty="0"/>
              <a:t>The following is a list of different triggers and their available bindings:</a:t>
            </a:r>
          </a:p>
        </p:txBody>
      </p:sp>
      <p:pic>
        <p:nvPicPr>
          <p:cNvPr id="4" name="Picture 3"/>
          <p:cNvPicPr>
            <a:picLocks noChangeAspect="1"/>
          </p:cNvPicPr>
          <p:nvPr/>
        </p:nvPicPr>
        <p:blipFill>
          <a:blip r:embed="rId2"/>
          <a:stretch>
            <a:fillRect/>
          </a:stretch>
        </p:blipFill>
        <p:spPr>
          <a:xfrm>
            <a:off x="7358983" y="1565455"/>
            <a:ext cx="4457929" cy="3740342"/>
          </a:xfrm>
          <a:prstGeom prst="rect">
            <a:avLst/>
          </a:prstGeom>
        </p:spPr>
      </p:pic>
    </p:spTree>
    <p:extLst>
      <p:ext uri="{BB962C8B-B14F-4D97-AF65-F5344CB8AC3E}">
        <p14:creationId xmlns:p14="http://schemas.microsoft.com/office/powerpoint/2010/main" val="2992354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Securing your Azure Functions</a:t>
            </a:r>
          </a:p>
        </p:txBody>
      </p:sp>
      <p:sp>
        <p:nvSpPr>
          <p:cNvPr id="3" name="Content Placeholder 2"/>
          <p:cNvSpPr>
            <a:spLocks noGrp="1"/>
          </p:cNvSpPr>
          <p:nvPr>
            <p:ph idx="1"/>
          </p:nvPr>
        </p:nvSpPr>
        <p:spPr/>
        <p:txBody>
          <a:bodyPr/>
          <a:lstStyle/>
          <a:p>
            <a:r>
              <a:rPr lang="en-CA" dirty="0" err="1"/>
              <a:t>HttpTriggers</a:t>
            </a:r>
            <a:r>
              <a:rPr lang="en-CA" dirty="0"/>
              <a:t> can be protected by OAuth providers such as:</a:t>
            </a:r>
          </a:p>
          <a:p>
            <a:pPr lvl="1"/>
            <a:r>
              <a:rPr lang="en-CA" dirty="0"/>
              <a:t>Azure Active Directory</a:t>
            </a:r>
          </a:p>
          <a:p>
            <a:pPr lvl="1"/>
            <a:r>
              <a:rPr lang="en-CA" dirty="0"/>
              <a:t>Microsoft Account</a:t>
            </a:r>
          </a:p>
          <a:p>
            <a:pPr lvl="1"/>
            <a:r>
              <a:rPr lang="en-CA" dirty="0"/>
              <a:t>Facebook</a:t>
            </a:r>
          </a:p>
          <a:p>
            <a:pPr lvl="1"/>
            <a:r>
              <a:rPr lang="en-CA" dirty="0"/>
              <a:t>Google</a:t>
            </a:r>
          </a:p>
          <a:p>
            <a:pPr lvl="1"/>
            <a:r>
              <a:rPr lang="en-CA" dirty="0"/>
              <a:t>Twitter</a:t>
            </a:r>
          </a:p>
        </p:txBody>
      </p:sp>
    </p:spTree>
    <p:extLst>
      <p:ext uri="{BB962C8B-B14F-4D97-AF65-F5344CB8AC3E}">
        <p14:creationId xmlns:p14="http://schemas.microsoft.com/office/powerpoint/2010/main" val="315205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Visual Studio Tools for Azure Functions</a:t>
            </a:r>
          </a:p>
        </p:txBody>
      </p:sp>
      <p:sp>
        <p:nvSpPr>
          <p:cNvPr id="3" name="Content Placeholder 2"/>
          <p:cNvSpPr>
            <a:spLocks noGrp="1"/>
          </p:cNvSpPr>
          <p:nvPr>
            <p:ph idx="1"/>
          </p:nvPr>
        </p:nvSpPr>
        <p:spPr/>
        <p:txBody>
          <a:bodyPr/>
          <a:lstStyle/>
          <a:p>
            <a:r>
              <a:rPr lang="en-CA" dirty="0"/>
              <a:t>Provides local development and tooling experience</a:t>
            </a:r>
          </a:p>
          <a:p>
            <a:r>
              <a:rPr lang="en-CA" dirty="0"/>
              <a:t>Remote debugging is supported </a:t>
            </a:r>
          </a:p>
          <a:p>
            <a:r>
              <a:rPr lang="en-CA" dirty="0"/>
              <a:t>Running locally is handled by the Azure Functions CLI</a:t>
            </a:r>
          </a:p>
          <a:p>
            <a:r>
              <a:rPr lang="en-CA" dirty="0"/>
              <a:t>Provides publish to Azure</a:t>
            </a:r>
          </a:p>
        </p:txBody>
      </p:sp>
    </p:spTree>
    <p:extLst>
      <p:ext uri="{BB962C8B-B14F-4D97-AF65-F5344CB8AC3E}">
        <p14:creationId xmlns:p14="http://schemas.microsoft.com/office/powerpoint/2010/main" val="2881207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Approach to building functions</a:t>
            </a:r>
          </a:p>
        </p:txBody>
      </p:sp>
      <p:sp>
        <p:nvSpPr>
          <p:cNvPr id="3" name="Content Placeholder 2"/>
          <p:cNvSpPr>
            <a:spLocks noGrp="1"/>
          </p:cNvSpPr>
          <p:nvPr>
            <p:ph idx="1"/>
          </p:nvPr>
        </p:nvSpPr>
        <p:spPr/>
        <p:txBody>
          <a:bodyPr/>
          <a:lstStyle/>
          <a:p>
            <a:pPr marL="0" indent="0">
              <a:buNone/>
            </a:pPr>
            <a:r>
              <a:rPr lang="en-CA" dirty="0"/>
              <a:t>When building your Azure Functions consider this…</a:t>
            </a:r>
          </a:p>
          <a:p>
            <a:endParaRPr lang="en-CA" dirty="0"/>
          </a:p>
          <a:p>
            <a:pPr marL="457200" lvl="1" indent="0">
              <a:buNone/>
            </a:pPr>
            <a:r>
              <a:rPr lang="en-CA" dirty="0"/>
              <a:t>“A key to realizing the full value is to write only the  smallest unit of logic to do a single scope of work and to keep the dependencies to a minimum.”</a:t>
            </a:r>
          </a:p>
          <a:p>
            <a:pPr marL="457200" lvl="1" indent="0">
              <a:buNone/>
            </a:pPr>
            <a:endParaRPr lang="en-CA" dirty="0"/>
          </a:p>
          <a:p>
            <a:pPr marL="457200" lvl="1" indent="0">
              <a:buNone/>
            </a:pPr>
            <a:r>
              <a:rPr lang="en-CA" dirty="0"/>
              <a:t>– Joseph Fultz and Darren </a:t>
            </a:r>
            <a:r>
              <a:rPr lang="en-CA" dirty="0" err="1"/>
              <a:t>Brust</a:t>
            </a:r>
            <a:r>
              <a:rPr lang="en-CA" dirty="0"/>
              <a:t>, MSDN Magazine</a:t>
            </a:r>
          </a:p>
        </p:txBody>
      </p:sp>
    </p:spTree>
    <p:extLst>
      <p:ext uri="{BB962C8B-B14F-4D97-AF65-F5344CB8AC3E}">
        <p14:creationId xmlns:p14="http://schemas.microsoft.com/office/powerpoint/2010/main" val="1333065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Best practices</a:t>
            </a:r>
          </a:p>
        </p:txBody>
      </p:sp>
      <p:sp>
        <p:nvSpPr>
          <p:cNvPr id="3" name="Content Placeholder 2"/>
          <p:cNvSpPr>
            <a:spLocks noGrp="1"/>
          </p:cNvSpPr>
          <p:nvPr>
            <p:ph idx="1"/>
          </p:nvPr>
        </p:nvSpPr>
        <p:spPr/>
        <p:txBody>
          <a:bodyPr/>
          <a:lstStyle/>
          <a:p>
            <a:r>
              <a:rPr lang="en-CA" dirty="0"/>
              <a:t>Functions should “do one thing”</a:t>
            </a:r>
          </a:p>
          <a:p>
            <a:r>
              <a:rPr lang="en-CA" dirty="0"/>
              <a:t>Functions should be idempotent</a:t>
            </a:r>
          </a:p>
          <a:p>
            <a:r>
              <a:rPr lang="en-CA" dirty="0"/>
              <a:t>Functions should finish as quickly as possible</a:t>
            </a:r>
          </a:p>
        </p:txBody>
      </p:sp>
    </p:spTree>
    <p:extLst>
      <p:ext uri="{BB962C8B-B14F-4D97-AF65-F5344CB8AC3E}">
        <p14:creationId xmlns:p14="http://schemas.microsoft.com/office/powerpoint/2010/main" val="2121215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17973" y="2885348"/>
            <a:ext cx="9142631" cy="769441"/>
          </a:xfrm>
          <a:prstGeom prst="rect">
            <a:avLst/>
          </a:prstGeom>
        </p:spPr>
        <p:txBody>
          <a:bodyPr wrap="none">
            <a:spAutoFit/>
          </a:bodyPr>
          <a:lstStyle/>
          <a:p>
            <a:r>
              <a:rPr lang="en-CA" sz="4400" dirty="0"/>
              <a:t>Common scenarios for Azure Functions</a:t>
            </a:r>
          </a:p>
        </p:txBody>
      </p:sp>
    </p:spTree>
    <p:extLst>
      <p:ext uri="{BB962C8B-B14F-4D97-AF65-F5344CB8AC3E}">
        <p14:creationId xmlns:p14="http://schemas.microsoft.com/office/powerpoint/2010/main" val="3409898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Timer-based processing</a:t>
            </a:r>
          </a:p>
        </p:txBody>
      </p:sp>
      <p:sp>
        <p:nvSpPr>
          <p:cNvPr id="3" name="Content Placeholder 2"/>
          <p:cNvSpPr>
            <a:spLocks noGrp="1"/>
          </p:cNvSpPr>
          <p:nvPr>
            <p:ph idx="1"/>
          </p:nvPr>
        </p:nvSpPr>
        <p:spPr/>
        <p:txBody>
          <a:bodyPr/>
          <a:lstStyle/>
          <a:p>
            <a:pPr marL="0" indent="0">
              <a:buNone/>
            </a:pPr>
            <a:r>
              <a:rPr lang="en-CA" dirty="0"/>
              <a:t>Azure Functions supports an event based on a timer using CRON job syntax.</a:t>
            </a:r>
          </a:p>
          <a:p>
            <a:pPr marL="0" indent="0">
              <a:buNone/>
            </a:pPr>
            <a:endParaRPr lang="en-CA" dirty="0"/>
          </a:p>
        </p:txBody>
      </p:sp>
      <p:pic>
        <p:nvPicPr>
          <p:cNvPr id="4" name="Picture 3"/>
          <p:cNvPicPr>
            <a:picLocks noChangeAspect="1"/>
          </p:cNvPicPr>
          <p:nvPr/>
        </p:nvPicPr>
        <p:blipFill>
          <a:blip r:embed="rId2"/>
          <a:stretch>
            <a:fillRect/>
          </a:stretch>
        </p:blipFill>
        <p:spPr>
          <a:xfrm>
            <a:off x="2188083" y="3640295"/>
            <a:ext cx="7086964" cy="1949550"/>
          </a:xfrm>
          <a:prstGeom prst="rect">
            <a:avLst/>
          </a:prstGeom>
        </p:spPr>
      </p:pic>
    </p:spTree>
    <p:extLst>
      <p:ext uri="{BB962C8B-B14F-4D97-AF65-F5344CB8AC3E}">
        <p14:creationId xmlns:p14="http://schemas.microsoft.com/office/powerpoint/2010/main" val="3579012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Azure service event processing</a:t>
            </a:r>
          </a:p>
        </p:txBody>
      </p:sp>
      <p:sp>
        <p:nvSpPr>
          <p:cNvPr id="3" name="Content Placeholder 2"/>
          <p:cNvSpPr>
            <a:spLocks noGrp="1"/>
          </p:cNvSpPr>
          <p:nvPr>
            <p:ph idx="1"/>
          </p:nvPr>
        </p:nvSpPr>
        <p:spPr/>
        <p:txBody>
          <a:bodyPr/>
          <a:lstStyle/>
          <a:p>
            <a:pPr marL="0" indent="0">
              <a:buNone/>
            </a:pPr>
            <a:r>
              <a:rPr lang="en-CA" dirty="0"/>
              <a:t>Azure Functions supports triggering an event based on an activity in an Azure service.</a:t>
            </a:r>
          </a:p>
        </p:txBody>
      </p:sp>
      <p:pic>
        <p:nvPicPr>
          <p:cNvPr id="4" name="Picture 3"/>
          <p:cNvPicPr>
            <a:picLocks noChangeAspect="1"/>
          </p:cNvPicPr>
          <p:nvPr/>
        </p:nvPicPr>
        <p:blipFill>
          <a:blip r:embed="rId2"/>
          <a:stretch>
            <a:fillRect/>
          </a:stretch>
        </p:blipFill>
        <p:spPr>
          <a:xfrm>
            <a:off x="2385494" y="3395940"/>
            <a:ext cx="6718645" cy="2597283"/>
          </a:xfrm>
          <a:prstGeom prst="rect">
            <a:avLst/>
          </a:prstGeom>
        </p:spPr>
      </p:pic>
    </p:spTree>
    <p:extLst>
      <p:ext uri="{BB962C8B-B14F-4D97-AF65-F5344CB8AC3E}">
        <p14:creationId xmlns:p14="http://schemas.microsoft.com/office/powerpoint/2010/main" val="1265801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SaaS event processing</a:t>
            </a:r>
          </a:p>
        </p:txBody>
      </p:sp>
      <p:sp>
        <p:nvSpPr>
          <p:cNvPr id="3" name="Content Placeholder 2"/>
          <p:cNvSpPr>
            <a:spLocks noGrp="1"/>
          </p:cNvSpPr>
          <p:nvPr>
            <p:ph idx="1"/>
          </p:nvPr>
        </p:nvSpPr>
        <p:spPr/>
        <p:txBody>
          <a:bodyPr/>
          <a:lstStyle/>
          <a:p>
            <a:pPr marL="0" indent="0">
              <a:buNone/>
            </a:pPr>
            <a:r>
              <a:rPr lang="en-CA" dirty="0"/>
              <a:t>Azure Functions supports triggers based on activity in a SaaS service.</a:t>
            </a:r>
          </a:p>
        </p:txBody>
      </p:sp>
      <p:pic>
        <p:nvPicPr>
          <p:cNvPr id="4" name="Picture 3"/>
          <p:cNvPicPr>
            <a:picLocks noChangeAspect="1"/>
          </p:cNvPicPr>
          <p:nvPr/>
        </p:nvPicPr>
        <p:blipFill>
          <a:blip r:embed="rId2"/>
          <a:stretch>
            <a:fillRect/>
          </a:stretch>
        </p:blipFill>
        <p:spPr>
          <a:xfrm>
            <a:off x="2752553" y="3130621"/>
            <a:ext cx="6686894" cy="2584583"/>
          </a:xfrm>
          <a:prstGeom prst="rect">
            <a:avLst/>
          </a:prstGeom>
        </p:spPr>
      </p:pic>
    </p:spTree>
    <p:extLst>
      <p:ext uri="{BB962C8B-B14F-4D97-AF65-F5344CB8AC3E}">
        <p14:creationId xmlns:p14="http://schemas.microsoft.com/office/powerpoint/2010/main" val="3581828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Server-less web application architectures</a:t>
            </a:r>
          </a:p>
        </p:txBody>
      </p:sp>
      <p:sp>
        <p:nvSpPr>
          <p:cNvPr id="3" name="Content Placeholder 2"/>
          <p:cNvSpPr>
            <a:spLocks noGrp="1"/>
          </p:cNvSpPr>
          <p:nvPr>
            <p:ph idx="1"/>
          </p:nvPr>
        </p:nvSpPr>
        <p:spPr/>
        <p:txBody>
          <a:bodyPr/>
          <a:lstStyle/>
          <a:p>
            <a:pPr marL="0" indent="0">
              <a:buNone/>
            </a:pPr>
            <a:r>
              <a:rPr lang="en-CA" dirty="0"/>
              <a:t>Azure Functions can power a single page app.</a:t>
            </a:r>
          </a:p>
        </p:txBody>
      </p:sp>
      <p:pic>
        <p:nvPicPr>
          <p:cNvPr id="4" name="Picture 3"/>
          <p:cNvPicPr>
            <a:picLocks noChangeAspect="1"/>
          </p:cNvPicPr>
          <p:nvPr/>
        </p:nvPicPr>
        <p:blipFill>
          <a:blip r:embed="rId2"/>
          <a:stretch>
            <a:fillRect/>
          </a:stretch>
        </p:blipFill>
        <p:spPr>
          <a:xfrm>
            <a:off x="2190549" y="2225613"/>
            <a:ext cx="7810901" cy="2406774"/>
          </a:xfrm>
          <a:prstGeom prst="rect">
            <a:avLst/>
          </a:prstGeom>
        </p:spPr>
      </p:pic>
    </p:spTree>
    <p:extLst>
      <p:ext uri="{BB962C8B-B14F-4D97-AF65-F5344CB8AC3E}">
        <p14:creationId xmlns:p14="http://schemas.microsoft.com/office/powerpoint/2010/main" val="2526879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Serve-less mobile back-ends</a:t>
            </a:r>
          </a:p>
        </p:txBody>
      </p:sp>
      <p:sp>
        <p:nvSpPr>
          <p:cNvPr id="3" name="Content Placeholder 2"/>
          <p:cNvSpPr>
            <a:spLocks noGrp="1"/>
          </p:cNvSpPr>
          <p:nvPr>
            <p:ph idx="1"/>
          </p:nvPr>
        </p:nvSpPr>
        <p:spPr/>
        <p:txBody>
          <a:bodyPr/>
          <a:lstStyle/>
          <a:p>
            <a:pPr marL="0" indent="0">
              <a:buNone/>
            </a:pPr>
            <a:r>
              <a:rPr lang="en-CA" dirty="0"/>
              <a:t>A mobile backend can be just a set of HTTP APIs that are called from a mobile client using the </a:t>
            </a:r>
            <a:r>
              <a:rPr lang="en-CA" dirty="0" err="1"/>
              <a:t>WebHook</a:t>
            </a:r>
            <a:r>
              <a:rPr lang="en-CA" dirty="0"/>
              <a:t> URL.</a:t>
            </a:r>
          </a:p>
        </p:txBody>
      </p:sp>
      <p:pic>
        <p:nvPicPr>
          <p:cNvPr id="4" name="Picture 3"/>
          <p:cNvPicPr>
            <a:picLocks noChangeAspect="1"/>
          </p:cNvPicPr>
          <p:nvPr/>
        </p:nvPicPr>
        <p:blipFill>
          <a:blip r:embed="rId2"/>
          <a:stretch>
            <a:fillRect/>
          </a:stretch>
        </p:blipFill>
        <p:spPr>
          <a:xfrm>
            <a:off x="2774637" y="3379111"/>
            <a:ext cx="6788499" cy="2127359"/>
          </a:xfrm>
          <a:prstGeom prst="rect">
            <a:avLst/>
          </a:prstGeom>
        </p:spPr>
      </p:pic>
    </p:spTree>
    <p:extLst>
      <p:ext uri="{BB962C8B-B14F-4D97-AF65-F5344CB8AC3E}">
        <p14:creationId xmlns:p14="http://schemas.microsoft.com/office/powerpoint/2010/main" val="3962909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Real-time stream processing</a:t>
            </a:r>
          </a:p>
        </p:txBody>
      </p:sp>
      <p:sp>
        <p:nvSpPr>
          <p:cNvPr id="3" name="Content Placeholder 2"/>
          <p:cNvSpPr>
            <a:spLocks noGrp="1"/>
          </p:cNvSpPr>
          <p:nvPr>
            <p:ph idx="1"/>
          </p:nvPr>
        </p:nvSpPr>
        <p:spPr/>
        <p:txBody>
          <a:bodyPr/>
          <a:lstStyle/>
          <a:p>
            <a:pPr marL="0" indent="0">
              <a:buNone/>
            </a:pPr>
            <a:r>
              <a:rPr lang="en-CA" dirty="0"/>
              <a:t>Azure Functions can power an </a:t>
            </a:r>
            <a:r>
              <a:rPr lang="en-CA" dirty="0" err="1"/>
              <a:t>IoT</a:t>
            </a:r>
            <a:r>
              <a:rPr lang="en-CA" dirty="0"/>
              <a:t> Stream Analytics app.</a:t>
            </a:r>
          </a:p>
        </p:txBody>
      </p:sp>
      <p:pic>
        <p:nvPicPr>
          <p:cNvPr id="4" name="Picture 3"/>
          <p:cNvPicPr>
            <a:picLocks noChangeAspect="1"/>
          </p:cNvPicPr>
          <p:nvPr/>
        </p:nvPicPr>
        <p:blipFill>
          <a:blip r:embed="rId2"/>
          <a:stretch>
            <a:fillRect/>
          </a:stretch>
        </p:blipFill>
        <p:spPr>
          <a:xfrm>
            <a:off x="1988710" y="3201586"/>
            <a:ext cx="8585641" cy="2190863"/>
          </a:xfrm>
          <a:prstGeom prst="rect">
            <a:avLst/>
          </a:prstGeom>
        </p:spPr>
      </p:pic>
    </p:spTree>
    <p:extLst>
      <p:ext uri="{BB962C8B-B14F-4D97-AF65-F5344CB8AC3E}">
        <p14:creationId xmlns:p14="http://schemas.microsoft.com/office/powerpoint/2010/main" val="2446235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Real-time bot messaging</a:t>
            </a:r>
          </a:p>
        </p:txBody>
      </p:sp>
      <p:sp>
        <p:nvSpPr>
          <p:cNvPr id="3" name="Content Placeholder 2"/>
          <p:cNvSpPr>
            <a:spLocks noGrp="1"/>
          </p:cNvSpPr>
          <p:nvPr>
            <p:ph idx="1"/>
          </p:nvPr>
        </p:nvSpPr>
        <p:spPr/>
        <p:txBody>
          <a:bodyPr/>
          <a:lstStyle/>
          <a:p>
            <a:pPr marL="0" indent="0">
              <a:buNone/>
            </a:pPr>
            <a:r>
              <a:rPr lang="en-CA" dirty="0"/>
              <a:t>Azure Functions can be used to customize the behavior of a bot using a </a:t>
            </a:r>
            <a:r>
              <a:rPr lang="en-CA" dirty="0" err="1"/>
              <a:t>WebHook</a:t>
            </a:r>
            <a:r>
              <a:rPr lang="en-CA" dirty="0"/>
              <a:t>.</a:t>
            </a:r>
          </a:p>
        </p:txBody>
      </p:sp>
      <p:pic>
        <p:nvPicPr>
          <p:cNvPr id="4" name="Picture 3"/>
          <p:cNvPicPr>
            <a:picLocks noChangeAspect="1"/>
          </p:cNvPicPr>
          <p:nvPr/>
        </p:nvPicPr>
        <p:blipFill>
          <a:blip r:embed="rId2"/>
          <a:stretch>
            <a:fillRect/>
          </a:stretch>
        </p:blipFill>
        <p:spPr>
          <a:xfrm>
            <a:off x="3692401" y="3048486"/>
            <a:ext cx="4807197" cy="2616334"/>
          </a:xfrm>
          <a:prstGeom prst="rect">
            <a:avLst/>
          </a:prstGeom>
        </p:spPr>
      </p:pic>
    </p:spTree>
    <p:extLst>
      <p:ext uri="{BB962C8B-B14F-4D97-AF65-F5344CB8AC3E}">
        <p14:creationId xmlns:p14="http://schemas.microsoft.com/office/powerpoint/2010/main" val="1153392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Pricing</a:t>
            </a:r>
          </a:p>
        </p:txBody>
      </p:sp>
      <p:sp>
        <p:nvSpPr>
          <p:cNvPr id="3" name="Content Placeholder 2"/>
          <p:cNvSpPr>
            <a:spLocks noGrp="1"/>
          </p:cNvSpPr>
          <p:nvPr>
            <p:ph idx="1"/>
          </p:nvPr>
        </p:nvSpPr>
        <p:spPr/>
        <p:txBody>
          <a:bodyPr/>
          <a:lstStyle/>
          <a:p>
            <a:r>
              <a:rPr lang="en-CA" dirty="0"/>
              <a:t>No upfront cost</a:t>
            </a:r>
          </a:p>
          <a:p>
            <a:r>
              <a:rPr lang="en-CA" dirty="0"/>
              <a:t>No termination fees</a:t>
            </a:r>
          </a:p>
          <a:p>
            <a:r>
              <a:rPr lang="en-CA" dirty="0"/>
              <a:t>Pay only for what you use</a:t>
            </a:r>
          </a:p>
        </p:txBody>
      </p:sp>
      <p:sp>
        <p:nvSpPr>
          <p:cNvPr id="4" name="Rectangle 3"/>
          <p:cNvSpPr/>
          <p:nvPr/>
        </p:nvSpPr>
        <p:spPr>
          <a:xfrm>
            <a:off x="838199" y="3922140"/>
            <a:ext cx="10836965" cy="1200329"/>
          </a:xfrm>
          <a:prstGeom prst="rect">
            <a:avLst/>
          </a:prstGeom>
        </p:spPr>
        <p:txBody>
          <a:bodyPr wrap="square">
            <a:spAutoFit/>
          </a:bodyPr>
          <a:lstStyle/>
          <a:p>
            <a:r>
              <a:rPr lang="en-CA" sz="2400" dirty="0"/>
              <a:t>Only pay for the time your code is running. You’ll be charged based on the number of resources your Azure Functions needs, and only for as long as it takes your code to execute.</a:t>
            </a:r>
          </a:p>
        </p:txBody>
      </p:sp>
    </p:spTree>
    <p:extLst>
      <p:ext uri="{BB962C8B-B14F-4D97-AF65-F5344CB8AC3E}">
        <p14:creationId xmlns:p14="http://schemas.microsoft.com/office/powerpoint/2010/main" val="3493793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Benefits</a:t>
            </a:r>
          </a:p>
        </p:txBody>
      </p:sp>
      <p:sp>
        <p:nvSpPr>
          <p:cNvPr id="3" name="Content Placeholder 2"/>
          <p:cNvSpPr>
            <a:spLocks noGrp="1"/>
          </p:cNvSpPr>
          <p:nvPr>
            <p:ph idx="1"/>
          </p:nvPr>
        </p:nvSpPr>
        <p:spPr/>
        <p:txBody>
          <a:bodyPr/>
          <a:lstStyle/>
          <a:p>
            <a:r>
              <a:rPr lang="en-CA" dirty="0"/>
              <a:t>Focus ion code and not managing infrastructure.</a:t>
            </a:r>
          </a:p>
          <a:p>
            <a:r>
              <a:rPr lang="en-CA" dirty="0"/>
              <a:t>Reduced time to market</a:t>
            </a:r>
          </a:p>
          <a:p>
            <a:r>
              <a:rPr lang="en-CA" dirty="0"/>
              <a:t>Lower total cost of ownership</a:t>
            </a:r>
          </a:p>
          <a:p>
            <a:r>
              <a:rPr lang="en-CA" dirty="0"/>
              <a:t>Pay per execution</a:t>
            </a:r>
          </a:p>
        </p:txBody>
      </p:sp>
    </p:spTree>
    <p:extLst>
      <p:ext uri="{BB962C8B-B14F-4D97-AF65-F5344CB8AC3E}">
        <p14:creationId xmlns:p14="http://schemas.microsoft.com/office/powerpoint/2010/main" val="3440496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800</Words>
  <Application>Microsoft Macintosh PowerPoint</Application>
  <PresentationFormat>Widescreen</PresentationFormat>
  <Paragraphs>116</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Intro to Azure Functions</vt:lpstr>
      <vt:lpstr>Azure server-less compute</vt:lpstr>
      <vt:lpstr>What is Azure Functions?</vt:lpstr>
      <vt:lpstr>What is Azure Functions (cont’d)</vt:lpstr>
      <vt:lpstr>Azure Functions architecture</vt:lpstr>
      <vt:lpstr>Features of Azure Functions</vt:lpstr>
      <vt:lpstr>Supported languages and tools</vt:lpstr>
      <vt:lpstr>What can I do with Azure Functions?</vt:lpstr>
      <vt:lpstr>Integrations</vt:lpstr>
      <vt:lpstr>Available trigger templates</vt:lpstr>
      <vt:lpstr>Triggers and bindings</vt:lpstr>
      <vt:lpstr>Securing your Azure Functions</vt:lpstr>
      <vt:lpstr>Visual Studio Tools for Azure Functions</vt:lpstr>
      <vt:lpstr>Approach to building functions</vt:lpstr>
      <vt:lpstr>Best practices</vt:lpstr>
      <vt:lpstr>PowerPoint Presentation</vt:lpstr>
      <vt:lpstr>Timer-based processing</vt:lpstr>
      <vt:lpstr>Azure service event processing</vt:lpstr>
      <vt:lpstr>SaaS event processing</vt:lpstr>
      <vt:lpstr>Server-less web application architectures</vt:lpstr>
      <vt:lpstr>Serve-less mobile back-ends</vt:lpstr>
      <vt:lpstr>Real-time stream processing</vt:lpstr>
      <vt:lpstr>Real-time bot messaging</vt:lpstr>
      <vt:lpstr>Pricing</vt:lpstr>
      <vt:lpstr>Benefits</vt:lpstr>
    </vt:vector>
  </TitlesOfParts>
  <Company>BCIT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Azure Functions</dc:title>
  <dc:creator>Medhat Elmasry</dc:creator>
  <cp:lastModifiedBy>Medhat Elmasry</cp:lastModifiedBy>
  <cp:revision>11</cp:revision>
  <dcterms:created xsi:type="dcterms:W3CDTF">2021-03-01T19:57:55Z</dcterms:created>
  <dcterms:modified xsi:type="dcterms:W3CDTF">2023-10-09T19:41:37Z</dcterms:modified>
</cp:coreProperties>
</file>