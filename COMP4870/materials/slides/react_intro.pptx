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6"/>
    <p:sldMasterId id="2147483776" r:id="rId7"/>
    <p:sldMasterId id="2147483779" r:id="rId8"/>
  </p:sldMasterIdLst>
  <p:notesMasterIdLst>
    <p:notesMasterId r:id="rId27"/>
  </p:notesMasterIdLst>
  <p:sldIdLst>
    <p:sldId id="259" r:id="rId9"/>
    <p:sldId id="256" r:id="rId10"/>
    <p:sldId id="300" r:id="rId11"/>
    <p:sldId id="301" r:id="rId12"/>
    <p:sldId id="264" r:id="rId13"/>
    <p:sldId id="265" r:id="rId14"/>
    <p:sldId id="286" r:id="rId15"/>
    <p:sldId id="284" r:id="rId16"/>
    <p:sldId id="292" r:id="rId17"/>
    <p:sldId id="282" r:id="rId18"/>
    <p:sldId id="268" r:id="rId19"/>
    <p:sldId id="293" r:id="rId20"/>
    <p:sldId id="294" r:id="rId21"/>
    <p:sldId id="295" r:id="rId22"/>
    <p:sldId id="296" r:id="rId23"/>
    <p:sldId id="297" r:id="rId24"/>
    <p:sldId id="298" r:id="rId25"/>
    <p:sldId id="299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99FF99"/>
    <a:srgbClr val="FFFFFF"/>
    <a:srgbClr val="000099"/>
    <a:srgbClr val="33CC33"/>
    <a:srgbClr val="CCFFCC"/>
    <a:srgbClr val="CCFF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902FB1-A92B-844C-BF0A-CA6BA41EA6C1}" v="1" dt="2026-01-30T15:36:50.920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9155" autoAdjust="0"/>
  </p:normalViewPr>
  <p:slideViewPr>
    <p:cSldViewPr>
      <p:cViewPr varScale="1">
        <p:scale>
          <a:sx n="98" d="100"/>
          <a:sy n="98" d="100"/>
        </p:scale>
        <p:origin x="223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9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2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microsoft.com/office/2016/11/relationships/changesInfo" Target="changesInfos/changesInfo1.xml"/><Relationship Id="rId5" Type="http://schemas.openxmlformats.org/officeDocument/2006/relationships/customXml" Target="../customXml/item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dhat Elmasry" userId="405e238c19f61b9e" providerId="LiveId" clId="{FDECEA60-4432-5C1E-B4FA-7BC519CADCB5}"/>
    <pc:docChg chg="custSel modSld">
      <pc:chgData name="Medhat Elmasry" userId="405e238c19f61b9e" providerId="LiveId" clId="{FDECEA60-4432-5C1E-B4FA-7BC519CADCB5}" dt="2026-01-30T15:46:25.292" v="73" actId="13926"/>
      <pc:docMkLst>
        <pc:docMk/>
      </pc:docMkLst>
      <pc:sldChg chg="modSp mod">
        <pc:chgData name="Medhat Elmasry" userId="405e238c19f61b9e" providerId="LiveId" clId="{FDECEA60-4432-5C1E-B4FA-7BC519CADCB5}" dt="2026-01-27T15:24:55.401" v="58" actId="20577"/>
        <pc:sldMkLst>
          <pc:docMk/>
          <pc:sldMk cId="0" sldId="265"/>
        </pc:sldMkLst>
        <pc:spChg chg="mod">
          <ac:chgData name="Medhat Elmasry" userId="405e238c19f61b9e" providerId="LiveId" clId="{FDECEA60-4432-5C1E-B4FA-7BC519CADCB5}" dt="2026-01-27T15:24:55.401" v="58" actId="20577"/>
          <ac:spMkLst>
            <pc:docMk/>
            <pc:sldMk cId="0" sldId="265"/>
            <ac:spMk id="6149" creationId="{00000000-0000-0000-0000-000000000000}"/>
          </ac:spMkLst>
        </pc:spChg>
      </pc:sldChg>
      <pc:sldChg chg="modSp mod">
        <pc:chgData name="Medhat Elmasry" userId="405e238c19f61b9e" providerId="LiveId" clId="{FDECEA60-4432-5C1E-B4FA-7BC519CADCB5}" dt="2026-01-30T15:44:56.370" v="70" actId="20577"/>
        <pc:sldMkLst>
          <pc:docMk/>
          <pc:sldMk cId="0" sldId="282"/>
        </pc:sldMkLst>
        <pc:spChg chg="mod">
          <ac:chgData name="Medhat Elmasry" userId="405e238c19f61b9e" providerId="LiveId" clId="{FDECEA60-4432-5C1E-B4FA-7BC519CADCB5}" dt="2026-01-30T15:44:56.370" v="70" actId="20577"/>
          <ac:spMkLst>
            <pc:docMk/>
            <pc:sldMk cId="0" sldId="282"/>
            <ac:spMk id="11269" creationId="{00000000-0000-0000-0000-000000000000}"/>
          </ac:spMkLst>
        </pc:spChg>
      </pc:sldChg>
      <pc:sldChg chg="modSp mod">
        <pc:chgData name="Medhat Elmasry" userId="405e238c19f61b9e" providerId="LiveId" clId="{FDECEA60-4432-5C1E-B4FA-7BC519CADCB5}" dt="2026-01-30T15:46:25.292" v="73" actId="13926"/>
        <pc:sldMkLst>
          <pc:docMk/>
          <pc:sldMk cId="948266533" sldId="296"/>
        </pc:sldMkLst>
        <pc:spChg chg="mod">
          <ac:chgData name="Medhat Elmasry" userId="405e238c19f61b9e" providerId="LiveId" clId="{FDECEA60-4432-5C1E-B4FA-7BC519CADCB5}" dt="2026-01-30T15:46:25.292" v="73" actId="13926"/>
          <ac:spMkLst>
            <pc:docMk/>
            <pc:sldMk cId="948266533" sldId="296"/>
            <ac:spMk id="4" creationId="{00000000-0000-0000-0000-000000000000}"/>
          </ac:spMkLst>
        </pc:spChg>
      </pc:sldChg>
      <pc:sldChg chg="modSp mod">
        <pc:chgData name="Medhat Elmasry" userId="405e238c19f61b9e" providerId="LiveId" clId="{FDECEA60-4432-5C1E-B4FA-7BC519CADCB5}" dt="2026-01-30T15:37:23.952" v="67" actId="20577"/>
        <pc:sldMkLst>
          <pc:docMk/>
          <pc:sldMk cId="3861967451" sldId="300"/>
        </pc:sldMkLst>
        <pc:spChg chg="mod">
          <ac:chgData name="Medhat Elmasry" userId="405e238c19f61b9e" providerId="LiveId" clId="{FDECEA60-4432-5C1E-B4FA-7BC519CADCB5}" dt="2026-01-30T15:37:23.952" v="67" actId="20577"/>
          <ac:spMkLst>
            <pc:docMk/>
            <pc:sldMk cId="3861967451" sldId="30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70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70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AD3546A-7610-4CC6-9365-FAB79141D2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3544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Eve Porcello</a:t>
            </a:r>
          </a:p>
          <a:p>
            <a:r>
              <a:rPr lang="en-CA" dirty="0"/>
              <a:t>https://www.linkedin.com/learning/learning-react-js-5/using-create-react-app?contextUrn=urn%3Ali%3AlyndaLearningPath%3A593715e0498e9e9be7fb8506&amp;u=2097252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D3546A-7610-4CC6-9365-FAB79141D28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195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bg>
      <p:bgPr>
        <a:blipFill dpi="0" rotWithShape="1">
          <a:blip r:embed="rId2" cstate="print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3"/>
            <a:ext cx="4114800" cy="2129814"/>
          </a:xfrm>
        </p:spPr>
        <p:txBody>
          <a:bodyPr/>
          <a:lstStyle>
            <a:lvl1pPr marL="339976" indent="-339976">
              <a:lnSpc>
                <a:spcPct val="90000"/>
              </a:lnSpc>
              <a:defRPr sz="2800"/>
            </a:lvl1pPr>
            <a:lvl2pPr marL="673338" indent="-325424">
              <a:lnSpc>
                <a:spcPct val="90000"/>
              </a:lnSpc>
              <a:defRPr sz="2400"/>
            </a:lvl2pPr>
            <a:lvl3pPr marL="953785" indent="-288384">
              <a:lnSpc>
                <a:spcPct val="90000"/>
              </a:lnSpc>
              <a:defRPr sz="2000"/>
            </a:lvl3pPr>
            <a:lvl4pPr marL="1227618" indent="-273833">
              <a:lnSpc>
                <a:spcPct val="90000"/>
              </a:lnSpc>
              <a:defRPr sz="1800"/>
            </a:lvl4pPr>
            <a:lvl5pPr marL="1516002" indent="-280447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3"/>
            <a:ext cx="4114800" cy="2129814"/>
          </a:xfrm>
        </p:spPr>
        <p:txBody>
          <a:bodyPr/>
          <a:lstStyle>
            <a:lvl1pPr marL="347914" indent="-347914">
              <a:lnSpc>
                <a:spcPct val="90000"/>
              </a:lnSpc>
              <a:defRPr sz="2800"/>
            </a:lvl1pPr>
            <a:lvl2pPr marL="673338" indent="-339976">
              <a:lnSpc>
                <a:spcPct val="90000"/>
              </a:lnSpc>
              <a:defRPr sz="2400"/>
            </a:lvl2pPr>
            <a:lvl3pPr marL="961722" indent="-302936">
              <a:lnSpc>
                <a:spcPct val="90000"/>
              </a:lnSpc>
              <a:defRPr sz="2000"/>
            </a:lvl3pPr>
            <a:lvl4pPr marL="1227618" indent="-265896">
              <a:lnSpc>
                <a:spcPct val="90000"/>
              </a:lnSpc>
              <a:defRPr sz="1800"/>
            </a:lvl4pPr>
            <a:lvl5pPr marL="1516002" indent="-273833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1553"/>
            <a:ext cx="4114800" cy="6924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5"/>
            <a:ext cx="4114800" cy="1537344"/>
          </a:xfrm>
        </p:spPr>
        <p:txBody>
          <a:bodyPr/>
          <a:lstStyle>
            <a:lvl1pPr marL="281770" indent="-281770">
              <a:defRPr sz="2300"/>
            </a:lvl1pPr>
            <a:lvl2pPr marL="562218" indent="-265896">
              <a:defRPr sz="2000"/>
            </a:lvl2pPr>
            <a:lvl3pPr marL="813562" indent="-243407">
              <a:defRPr sz="1800"/>
            </a:lvl3pPr>
            <a:lvl4pPr marL="1050354" indent="-228856">
              <a:defRPr sz="1700"/>
            </a:lvl4pPr>
            <a:lvl5pPr marL="1279210" indent="-206367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411553"/>
            <a:ext cx="4117019" cy="6924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117974" cy="1537344"/>
          </a:xfrm>
        </p:spPr>
        <p:txBody>
          <a:bodyPr/>
          <a:lstStyle>
            <a:lvl1pPr marL="296321" indent="-296321">
              <a:defRPr sz="2300"/>
            </a:lvl1pPr>
            <a:lvl2pPr marL="570155" indent="-273833">
              <a:defRPr sz="2000"/>
            </a:lvl2pPr>
            <a:lvl3pPr marL="821499" indent="-244730">
              <a:defRPr sz="1800"/>
            </a:lvl3pPr>
            <a:lvl4pPr marL="1050354" indent="-236793">
              <a:defRPr sz="1700"/>
            </a:lvl4pPr>
            <a:lvl5pPr marL="1279210" indent="-220919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bg bwMode="ltGray">
      <p:bgPr>
        <a:blipFill dpi="0" rotWithShape="1">
          <a:blip r:embed="rId2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53"/>
            <a:ext cx="8382000" cy="2200602"/>
          </a:xfr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1pPr>
            <a:lvl2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2pPr>
            <a:lvl3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3pPr>
            <a:lvl4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4pPr>
            <a:lvl5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53"/>
            <a:ext cx="8382000" cy="2200602"/>
          </a:xfr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1pPr>
            <a:lvl2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2pPr>
            <a:lvl3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3pPr>
            <a:lvl4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4pPr>
            <a:lvl5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0" y="6238875"/>
            <a:ext cx="9144001" cy="619125"/>
          </a:xfrm>
          <a:solidFill>
            <a:srgbClr val="FFFF99"/>
          </a:solidFill>
        </p:spPr>
        <p:txBody>
          <a:bodyPr wrap="square" lIns="152394" tIns="76197" rIns="152394" bIns="76197" anchor="b" anchorCtr="0">
            <a:noAutofit/>
          </a:bodyPr>
          <a:lstStyle>
            <a:lvl1pPr algn="r">
              <a:buFont typeface="Arial" pitchFamily="34" charset="0"/>
              <a:buNone/>
              <a:defRPr>
                <a:solidFill>
                  <a:srgbClr val="000000"/>
                </a:solidFill>
                <a:effectLst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mo, Video etc. &quot;special&quot; slides">
    <p:bg>
      <p:bgPr>
        <a:blipFill dpi="0" rotWithShape="1">
          <a:blip r:embed="rId2" cstate="print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763000" cy="6413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04800" y="990600"/>
            <a:ext cx="8610600" cy="51054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32"/>
          <p:cNvSpPr>
            <a:spLocks noGrp="1" noChangeArrowheads="1"/>
          </p:cNvSpPr>
          <p:nvPr>
            <p:ph type="dt" sz="half" idx="10"/>
          </p:nvPr>
        </p:nvSpPr>
        <p:spPr>
          <a:xfrm>
            <a:off x="304800" y="6313488"/>
            <a:ext cx="1828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3"/>
          <p:cNvSpPr>
            <a:spLocks noGrp="1" noChangeArrowheads="1"/>
          </p:cNvSpPr>
          <p:nvPr>
            <p:ph type="ftr" sz="quarter" idx="11"/>
          </p:nvPr>
        </p:nvSpPr>
        <p:spPr>
          <a:xfrm>
            <a:off x="2209800" y="6313488"/>
            <a:ext cx="46482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Comp4870: Intranet Planning &amp; Dev.</a:t>
            </a:r>
          </a:p>
        </p:txBody>
      </p:sp>
      <p:sp>
        <p:nvSpPr>
          <p:cNvPr id="6" name="Rectangle 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34200" y="6313488"/>
            <a:ext cx="19812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01 - </a:t>
            </a:r>
            <a:fld id="{E890A1C7-4271-4F11-8EAA-AD8A71B2F5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randomBar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Comp4870: Intranet Planning &amp; Dev.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11" name="Rectangle 10"/>
          <p:cNvSpPr/>
          <p:nvPr/>
        </p:nvSpPr>
        <p:spPr>
          <a:xfrm>
            <a:off x="1" y="6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51882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1575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3702732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e for slides with Softwar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22313" y="1905000"/>
            <a:ext cx="8040688" cy="22098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w_0000_Layer Comp 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752813" y="439137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34" name="Rectangle 33"/>
          <p:cNvSpPr/>
          <p:nvPr/>
        </p:nvSpPr>
        <p:spPr>
          <a:xfrm flipH="1">
            <a:off x="4752814" y="5328104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5" name="Rectangle 34"/>
          <p:cNvSpPr/>
          <p:nvPr/>
        </p:nvSpPr>
        <p:spPr>
          <a:xfrm flipH="1">
            <a:off x="4299183" y="5325273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6" name="Rectangle 35"/>
          <p:cNvSpPr/>
          <p:nvPr/>
        </p:nvSpPr>
        <p:spPr>
          <a:xfrm flipH="1">
            <a:off x="4504979" y="4995642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754145" y="957582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3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96597" y="3957947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42397109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_0001_Layer Comp 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882166" y="546949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>
            <a:off x="8492364" y="5436445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>
            <a:off x="8492364" y="5106782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882167" y="957582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2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24620" y="3957947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1586" y="543687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00917110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_0004_Layer Comp 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882166" y="546949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>
            <a:off x="8492364" y="5436445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7" name="Rectangle 16"/>
          <p:cNvSpPr/>
          <p:nvPr/>
        </p:nvSpPr>
        <p:spPr>
          <a:xfrm>
            <a:off x="8492364" y="5106782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882167" y="957582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24620" y="3957947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1586" y="543687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13661958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w_0001_Layer Comp 2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" t="10272" r="17057" b="7457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52" y="449235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12" name="Rectangle 11"/>
          <p:cNvSpPr/>
          <p:nvPr/>
        </p:nvSpPr>
        <p:spPr>
          <a:xfrm flipH="1">
            <a:off x="658353" y="5338203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 flipH="1">
            <a:off x="204722" y="5335371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 flipH="1">
            <a:off x="410517" y="5005741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59027" y="869447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54" y="3884501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43194115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SC12_Sam_001_16x9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0"/>
            <a:ext cx="9141291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309337" y="546949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1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09337" y="957582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51791" y="3957947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Rectangle 10"/>
          <p:cNvSpPr/>
          <p:nvPr/>
        </p:nvSpPr>
        <p:spPr>
          <a:xfrm flipH="1">
            <a:off x="5309337" y="5435916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Rectangle 11"/>
          <p:cNvSpPr/>
          <p:nvPr/>
        </p:nvSpPr>
        <p:spPr>
          <a:xfrm flipH="1">
            <a:off x="4855707" y="5433085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 flipH="1">
            <a:off x="5061503" y="5103454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698008030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w_0002_Layer Comp 3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0" r="847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3066" y="408297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13" name="Rectangle 12"/>
          <p:cNvSpPr/>
          <p:nvPr/>
        </p:nvSpPr>
        <p:spPr>
          <a:xfrm flipH="1">
            <a:off x="653067" y="5297264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 flipH="1">
            <a:off x="199436" y="5294433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 flipH="1">
            <a:off x="405232" y="4964802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59027" y="869447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54" y="3884501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891471718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_0003_Layer Comp 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233581" y="327541"/>
            <a:ext cx="3184052" cy="516795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33582" y="1734558"/>
            <a:ext cx="3184050" cy="1954348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3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  <p:sp>
        <p:nvSpPr>
          <p:cNvPr id="3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74225" y="4706299"/>
            <a:ext cx="2902766" cy="572695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72689" y="5567949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2" name="Rectangle 31"/>
          <p:cNvSpPr/>
          <p:nvPr/>
        </p:nvSpPr>
        <p:spPr>
          <a:xfrm>
            <a:off x="8472689" y="5238286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3" name="Rectangle 32"/>
          <p:cNvSpPr/>
          <p:nvPr/>
        </p:nvSpPr>
        <p:spPr>
          <a:xfrm>
            <a:off x="7611117" y="5568517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53744789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27067" y="619519"/>
            <a:ext cx="7302500" cy="36307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1027068" y="1794192"/>
            <a:ext cx="7301768" cy="1107016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35072" y="2902660"/>
            <a:ext cx="6993764" cy="559473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643" y="4323286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>
            <a:off x="778221" y="3993656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>
            <a:off x="1027068" y="4323507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641507570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5768D-597F-444B-9A31-18D8449AA4CF}" type="datetime1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13311" y="2544586"/>
            <a:ext cx="7826044" cy="1469857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540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divider page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18102" y="4023362"/>
            <a:ext cx="7320135" cy="419605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23560339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91C6F-EFA8-46E8-BCB7-BE83D7CA91F7}" type="datetime1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13311" y="2544586"/>
            <a:ext cx="7826044" cy="1469857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540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divider page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18102" y="4023362"/>
            <a:ext cx="7320135" cy="419605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908706705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CBEFB-FBB2-43EC-819E-C1995C229489}" type="datetime1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13311" y="2544586"/>
            <a:ext cx="7826044" cy="1469857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540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divider page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18102" y="4023362"/>
            <a:ext cx="7320135" cy="419605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3932484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146838" y="455928"/>
            <a:ext cx="5644598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9" name="Rectangle 8"/>
          <p:cNvSpPr/>
          <p:nvPr/>
        </p:nvSpPr>
        <p:spPr>
          <a:xfrm>
            <a:off x="2693207" y="5409001"/>
            <a:ext cx="398869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3146838" y="540900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1" name="Picture 10" descr="WIN11_Sarah_01_PPT.jp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32" b="-232"/>
          <a:stretch/>
        </p:blipFill>
        <p:spPr>
          <a:xfrm>
            <a:off x="356017" y="1687908"/>
            <a:ext cx="2743200" cy="36576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146840" y="902181"/>
            <a:ext cx="4380725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headline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44440" y="2915885"/>
            <a:ext cx="3885285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249876551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146838" y="455928"/>
            <a:ext cx="5644598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9" name="Rectangle 8"/>
          <p:cNvSpPr/>
          <p:nvPr/>
        </p:nvSpPr>
        <p:spPr>
          <a:xfrm>
            <a:off x="2693207" y="5409001"/>
            <a:ext cx="398869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3146838" y="540900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179" y="1683559"/>
            <a:ext cx="2739318" cy="3652424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146840" y="902181"/>
            <a:ext cx="4380725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headline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44440" y="2915885"/>
            <a:ext cx="3885285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806215798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146838" y="455928"/>
            <a:ext cx="5644598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2693207" y="5409001"/>
            <a:ext cx="398869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3146838" y="540900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8018" y="1687908"/>
            <a:ext cx="2734056" cy="3645408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146840" y="902181"/>
            <a:ext cx="4380725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headline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44440" y="2915885"/>
            <a:ext cx="3885285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764235180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146838" y="455928"/>
            <a:ext cx="5644598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2693207" y="5409001"/>
            <a:ext cx="398869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3146838" y="540900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146840" y="902181"/>
            <a:ext cx="4380725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headline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44440" y="2915885"/>
            <a:ext cx="3885285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935" y="1690573"/>
            <a:ext cx="2729723" cy="364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62407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65E5-D49D-488B-953C-8D72A2115E0A}" type="datetime1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20842"/>
            <a:ext cx="8229600" cy="490532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046477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82296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5BB4-6839-4F7D-B1DB-ED40FD8DB602}" type="datetime1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1250970452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A0416-FC3C-4D8F-A2B6-C0424F15D7C3}" type="datetime1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036775870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A94B8-74E1-4FD5-B9F4-CB262C43468F}" type="datetime1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544888610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Comp4870: Intranet Planning &amp; Dev.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9132829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D6318-EE40-48FD-B84D-0821338283C1}" type="datetime1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034682646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5"/>
            <a:ext cx="4040188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30" y="1535115"/>
            <a:ext cx="4041775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2174875"/>
            <a:ext cx="4041775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66DA-406B-4F27-B199-A4D44B5544E0}" type="datetime1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774653320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5"/>
            <a:ext cx="4040188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30" y="1535115"/>
            <a:ext cx="4041775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2174875"/>
            <a:ext cx="4041775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061E2-E31F-4DAF-A1E3-8E72CD07C689}" type="datetime1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491469497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35103"/>
            <a:ext cx="5111750" cy="46910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3"/>
            <a:ext cx="3008313" cy="46910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0FC41-CC29-413B-B475-E22B8620836E}" type="datetime1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771402009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35103"/>
            <a:ext cx="5111750" cy="46910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3"/>
            <a:ext cx="3008313" cy="46910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67C0-6C15-4F65-B4D1-7C420B23675E}" type="datetime1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011480739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374775"/>
            <a:ext cx="5486400" cy="4114800"/>
          </a:xfrm>
        </p:spPr>
        <p:txBody>
          <a:bodyPr/>
          <a:lstStyle>
            <a:lvl1pPr marL="0" indent="0">
              <a:buNone/>
              <a:defRPr sz="240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570541"/>
            <a:ext cx="5486400" cy="4746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F870E-468C-47D4-83F1-4BBAE04CEBED}" type="datetime1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113257301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374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570541"/>
            <a:ext cx="5486400" cy="4746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2294F-77DC-420B-BC77-5A5D9746E316}" type="datetime1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633064143"/>
      </p:ext>
    </p:extLst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9515" y="1837269"/>
            <a:ext cx="2447925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1936035" y="3833295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350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3C197-BFD1-4D64-BB08-8012D6A3FFC4}" type="datetime1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/>
          <p:cNvSpPr/>
          <p:nvPr/>
        </p:nvSpPr>
        <p:spPr bwMode="auto">
          <a:xfrm>
            <a:off x="449292" y="3819118"/>
            <a:ext cx="1409346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449292" y="1827674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936033" y="1836715"/>
            <a:ext cx="1409346" cy="1875452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b="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6007100" y="1841373"/>
            <a:ext cx="2661894" cy="384822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64" y="1826686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1942032" y="1826686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007100" y="1841372"/>
            <a:ext cx="2661894" cy="383621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1942032" y="382387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49263" y="3818469"/>
            <a:ext cx="14097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6" name="Rectangle 25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4144066597"/>
      </p:ext>
    </p:extLst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9515" y="1837269"/>
            <a:ext cx="2447925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1936035" y="3833295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350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651C4-5CC1-49C0-A1E3-C3A1981755A1}" type="datetime1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/>
          <p:cNvSpPr/>
          <p:nvPr/>
        </p:nvSpPr>
        <p:spPr bwMode="auto">
          <a:xfrm>
            <a:off x="449292" y="3819118"/>
            <a:ext cx="1409346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449292" y="1827674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936033" y="1836715"/>
            <a:ext cx="1409346" cy="1875452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b="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6007100" y="1841373"/>
            <a:ext cx="2661894" cy="384822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57202" y="281943"/>
            <a:ext cx="8244357" cy="582841"/>
          </a:xfrm>
        </p:spPr>
        <p:txBody>
          <a:bodyPr vert="horz" lIns="91440" tIns="0" rIns="91440" bIns="45720" rtlCol="0" anchor="t" anchorCtr="0">
            <a:noAutofit/>
          </a:bodyPr>
          <a:lstStyle>
            <a:lvl1pPr>
              <a:defRPr lang="en-US" b="0" dirty="0">
                <a:solidFill>
                  <a:srgbClr val="0072C6"/>
                </a:solidFill>
              </a:defRPr>
            </a:lvl1pPr>
          </a:lstStyle>
          <a:p>
            <a:pPr lvl="0"/>
            <a:r>
              <a:rPr lang="en-US" dirty="0"/>
              <a:t>title of text slide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64" y="1826686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1942032" y="1826686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007100" y="1841372"/>
            <a:ext cx="2661894" cy="383621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1942032" y="382387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49263" y="3818469"/>
            <a:ext cx="14097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</p:spTree>
    <p:extLst>
      <p:ext uri="{BB962C8B-B14F-4D97-AF65-F5344CB8AC3E}">
        <p14:creationId xmlns:p14="http://schemas.microsoft.com/office/powerpoint/2010/main" val="3965526145"/>
      </p:ext>
    </p:extLst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1701" y="1841373"/>
            <a:ext cx="2247900" cy="385319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E0AC9-E131-4B5D-86D9-149A03CD6B9E}" type="datetime1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1936035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49292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3" y="1841375"/>
            <a:ext cx="2894881" cy="1861753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5777167" y="1841373"/>
            <a:ext cx="2913008" cy="3853197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93" y="3819119"/>
            <a:ext cx="1409347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1936035" y="381911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5777167" y="1841373"/>
            <a:ext cx="2913008" cy="385319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449291" y="1841374"/>
            <a:ext cx="2894881" cy="186175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552185042"/>
      </p:ext>
    </p:extLst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1701" y="1841373"/>
            <a:ext cx="2247900" cy="385319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B3D1-9C0C-4794-AA64-A33FBE08A51B}" type="datetime1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1936035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49292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3" y="1841375"/>
            <a:ext cx="2894881" cy="1861753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5777167" y="1841373"/>
            <a:ext cx="2913008" cy="3853197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93" y="3819119"/>
            <a:ext cx="1409347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1936035" y="381911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5777167" y="1841373"/>
            <a:ext cx="2913008" cy="385319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449291" y="1841374"/>
            <a:ext cx="2894881" cy="186175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1958425244"/>
      </p:ext>
    </p:extLst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30805" y="1833539"/>
            <a:ext cx="3742728" cy="385785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5862-C215-4E95-92B2-D9BAE5EF8781}" type="datetime1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7253403" y="1855348"/>
            <a:ext cx="1409346" cy="185682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7253403" y="3819117"/>
            <a:ext cx="1409346" cy="187618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2" y="1836717"/>
            <a:ext cx="1409346" cy="385785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936035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936033" y="1836715"/>
            <a:ext cx="1409346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1939650" y="3819118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1936035" y="1836717"/>
            <a:ext cx="14097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7259400" y="1842601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7259400" y="381708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455205" y="1834684"/>
            <a:ext cx="1403350" cy="38598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1866826344"/>
      </p:ext>
    </p:extLst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30805" y="1833539"/>
            <a:ext cx="3742728" cy="385785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37278-374E-4751-A05F-60A4BD131932}" type="datetime1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7253403" y="1855348"/>
            <a:ext cx="1409346" cy="185682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7253403" y="3819117"/>
            <a:ext cx="1409346" cy="187618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2" y="1836717"/>
            <a:ext cx="1409346" cy="385785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936035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936033" y="1836715"/>
            <a:ext cx="1409346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1939650" y="3819118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1936035" y="1836717"/>
            <a:ext cx="14097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7259400" y="1842601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7259400" y="381708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455205" y="1834684"/>
            <a:ext cx="1403350" cy="38598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1588487561"/>
      </p:ext>
    </p:extLst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1951517" y="1856585"/>
            <a:ext cx="4286250" cy="3804979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D2BBE-4F35-41B0-B8FE-6919D2F5576E}" type="datetime1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468045" y="1856583"/>
            <a:ext cx="1409346" cy="1855584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68047" y="3806419"/>
            <a:ext cx="1409346" cy="185916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6321104" y="1856582"/>
            <a:ext cx="2374900" cy="3809003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65533" y="3806421"/>
            <a:ext cx="1403350" cy="186027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67691" y="1856583"/>
            <a:ext cx="1409700" cy="1855584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6321104" y="1856583"/>
            <a:ext cx="2374900" cy="38064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036649199"/>
      </p:ext>
    </p:extLst>
  </p:cSld>
  <p:clrMapOvr>
    <a:masterClrMapping/>
  </p:clrMapOvr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1951517" y="1856585"/>
            <a:ext cx="4286250" cy="3804979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7E77E-94E6-4BED-81F4-7874A0191B24}" type="datetime1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468045" y="1856583"/>
            <a:ext cx="1409346" cy="1855584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68047" y="3806419"/>
            <a:ext cx="1409346" cy="185916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6321104" y="1856582"/>
            <a:ext cx="2374900" cy="3809003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65533" y="3806421"/>
            <a:ext cx="1403350" cy="186027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67691" y="1856583"/>
            <a:ext cx="1409700" cy="1855584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6321104" y="1856583"/>
            <a:ext cx="2374900" cy="38064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576806690"/>
      </p:ext>
    </p:extLst>
  </p:cSld>
  <p:clrMapOvr>
    <a:masterClrMapping/>
  </p:clrMapOvr>
  <p:hf sldNum="0"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FF44-CACF-4E76-A58D-D0628EB55756}" type="datetime1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468045" y="1856583"/>
            <a:ext cx="1409346" cy="1855584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74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68047" y="3806418"/>
            <a:ext cx="1409346" cy="1870668"/>
          </a:xfrm>
          <a:prstGeom prst="rect">
            <a:avLst/>
          </a:prstGeom>
          <a:solidFill>
            <a:srgbClr val="00529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959164" y="1868083"/>
            <a:ext cx="6728214" cy="380900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41B3DC"/>
              </a:buClr>
              <a:buSzTx/>
              <a:buFont typeface="Arial" pitchFamily="34" charset="0"/>
              <a:buNone/>
              <a:tabLst/>
              <a:defRPr/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68045" y="1852515"/>
            <a:ext cx="1403350" cy="1859168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68050" y="3804719"/>
            <a:ext cx="1409345" cy="1872369"/>
          </a:xfrm>
          <a:solidFill>
            <a:srgbClr val="0072C6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959164" y="1868083"/>
            <a:ext cx="6728214" cy="3797504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4170188345"/>
      </p:ext>
    </p:extLst>
  </p:cSld>
  <p:clrMapOvr>
    <a:masterClrMapping/>
  </p:clrMapOvr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7565-76E0-4063-952F-22E1C4CEA4E0}" type="datetime1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468045" y="1856583"/>
            <a:ext cx="1409346" cy="1855584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74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68047" y="3806422"/>
            <a:ext cx="1409346" cy="1856153"/>
          </a:xfrm>
          <a:prstGeom prst="rect">
            <a:avLst/>
          </a:prstGeom>
          <a:solidFill>
            <a:srgbClr val="00529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959164" y="1853569"/>
            <a:ext cx="6728214" cy="380900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41B3DC"/>
              </a:buClr>
              <a:buSzTx/>
              <a:buFont typeface="Arial" pitchFamily="34" charset="0"/>
              <a:buNone/>
              <a:tabLst/>
              <a:defRPr/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68045" y="1853567"/>
            <a:ext cx="1403350" cy="1858600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68047" y="3806420"/>
            <a:ext cx="1409345" cy="1856153"/>
          </a:xfrm>
          <a:solidFill>
            <a:srgbClr val="0072C6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959164" y="1868083"/>
            <a:ext cx="6728214" cy="3797504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739160191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9882" y="1830468"/>
            <a:ext cx="2447925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E185F-5957-4B7B-A01B-50AA0559DB2E}" type="datetime1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6007100" y="1828802"/>
            <a:ext cx="2661894" cy="1874325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49292" y="1828802"/>
            <a:ext cx="2894936" cy="187432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2" y="3819121"/>
            <a:ext cx="1409346" cy="1870483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936035" y="3819122"/>
            <a:ext cx="1409346" cy="1870481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6007100" y="3819122"/>
            <a:ext cx="2661894" cy="187048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92" y="1825645"/>
            <a:ext cx="2894936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48938" y="3818469"/>
            <a:ext cx="1409700" cy="18711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6007100" y="1825645"/>
            <a:ext cx="2661894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07100" y="3819121"/>
            <a:ext cx="2661894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1936037" y="3819121"/>
            <a:ext cx="140819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302623423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9882" y="1830468"/>
            <a:ext cx="2447925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88F4F-C858-4A4C-B79F-358B7C08A490}" type="datetime1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6007100" y="1828802"/>
            <a:ext cx="2661894" cy="1874325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49292" y="1828802"/>
            <a:ext cx="2894936" cy="187432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2" y="3819121"/>
            <a:ext cx="1409346" cy="1870483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936035" y="3819122"/>
            <a:ext cx="1409346" cy="1870481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6007100" y="3819122"/>
            <a:ext cx="2661894" cy="187048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92" y="1825645"/>
            <a:ext cx="2894936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48938" y="3818469"/>
            <a:ext cx="1409700" cy="18711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6007100" y="1825645"/>
            <a:ext cx="2661894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07100" y="3819121"/>
            <a:ext cx="2661894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1936037" y="3819121"/>
            <a:ext cx="140819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4284455172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3"/>
            <a:ext cx="8382000" cy="2210863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678774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se for slides with Softwar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22313" y="1905000"/>
            <a:ext cx="8040688" cy="22098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966343"/>
      </p:ext>
    </p:extLst>
  </p:cSld>
  <p:clrMapOvr>
    <a:masterClrMapping/>
  </p:clrMapOvr>
  <p:transition>
    <p:fade/>
  </p:transition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6"/>
            <a:ext cx="4114800" cy="2129815"/>
          </a:xfrm>
        </p:spPr>
        <p:txBody>
          <a:bodyPr/>
          <a:lstStyle>
            <a:lvl1pPr marL="191237" indent="-191237">
              <a:lnSpc>
                <a:spcPct val="90000"/>
              </a:lnSpc>
              <a:defRPr sz="1575"/>
            </a:lvl1pPr>
            <a:lvl2pPr marL="378753" indent="-183051">
              <a:lnSpc>
                <a:spcPct val="90000"/>
              </a:lnSpc>
              <a:defRPr sz="1350"/>
            </a:lvl2pPr>
            <a:lvl3pPr marL="536504" indent="-162216">
              <a:lnSpc>
                <a:spcPct val="90000"/>
              </a:lnSpc>
              <a:defRPr sz="1125"/>
            </a:lvl3pPr>
            <a:lvl4pPr marL="690536" indent="-154031">
              <a:lnSpc>
                <a:spcPct val="90000"/>
              </a:lnSpc>
              <a:defRPr sz="1013"/>
            </a:lvl4pPr>
            <a:lvl5pPr marL="852752" indent="-157751">
              <a:lnSpc>
                <a:spcPct val="90000"/>
              </a:lnSpc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6"/>
            <a:ext cx="4114800" cy="2129815"/>
          </a:xfrm>
        </p:spPr>
        <p:txBody>
          <a:bodyPr/>
          <a:lstStyle>
            <a:lvl1pPr marL="195702" indent="-195702">
              <a:lnSpc>
                <a:spcPct val="90000"/>
              </a:lnSpc>
              <a:defRPr sz="1575"/>
            </a:lvl1pPr>
            <a:lvl2pPr marL="378753" indent="-191237">
              <a:lnSpc>
                <a:spcPct val="90000"/>
              </a:lnSpc>
              <a:defRPr sz="1350"/>
            </a:lvl2pPr>
            <a:lvl3pPr marL="540969" indent="-170402">
              <a:lnSpc>
                <a:spcPct val="90000"/>
              </a:lnSpc>
              <a:defRPr sz="1125"/>
            </a:lvl3pPr>
            <a:lvl4pPr marL="690536" indent="-149567">
              <a:lnSpc>
                <a:spcPct val="90000"/>
              </a:lnSpc>
              <a:defRPr sz="1013"/>
            </a:lvl4pPr>
            <a:lvl5pPr marL="852752" indent="-154031">
              <a:lnSpc>
                <a:spcPct val="90000"/>
              </a:lnSpc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247122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blipFill dpi="0" rotWithShape="1">
          <a:blip r:embed="rId2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1" y="1905002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405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50" y="4344990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675281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03488158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1"/>
            <a:ext cx="8534400" cy="7016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04800" y="1143000"/>
            <a:ext cx="8534400" cy="50292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286500"/>
            <a:ext cx="4953000" cy="4572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Comp4870: Intranet Planning &amp; Dev.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39001" y="6286500"/>
            <a:ext cx="1685924" cy="457200"/>
          </a:xfrm>
          <a:prstGeom prst="rect">
            <a:avLst/>
          </a:prstGeom>
        </p:spPr>
        <p:txBody>
          <a:bodyPr/>
          <a:lstStyle>
            <a:lvl1pPr>
              <a:defRPr sz="1200" dirty="0" smtClean="0"/>
            </a:lvl1pPr>
          </a:lstStyle>
          <a:p>
            <a:pPr>
              <a:defRPr/>
            </a:pPr>
            <a:r>
              <a:rPr lang="en-US"/>
              <a:t>01 - </a:t>
            </a:r>
            <a:fld id="{E890A1C7-4271-4F11-8EAA-AD8A71B2F55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40230"/>
      </p:ext>
    </p:extLst>
  </p:cSld>
  <p:clrMapOvr>
    <a:masterClrMapping/>
  </p:clrMapOvr>
  <p:transition>
    <p:wip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0650"/>
            <a:ext cx="8763000" cy="6413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990600"/>
            <a:ext cx="4229100" cy="5105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990600"/>
            <a:ext cx="4229100" cy="5105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9"/>
          <p:cNvSpPr>
            <a:spLocks noGrp="1" noChangeArrowheads="1"/>
          </p:cNvSpPr>
          <p:nvPr>
            <p:ph type="dt" sz="half" idx="10"/>
          </p:nvPr>
        </p:nvSpPr>
        <p:spPr>
          <a:xfrm>
            <a:off x="41910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152400" y="6245225"/>
            <a:ext cx="38100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COMP3870 - Advanced ASP.NET with C#</a:t>
            </a:r>
            <a:endParaRPr lang="en-US" dirty="0"/>
          </a:p>
        </p:txBody>
      </p:sp>
      <p:sp>
        <p:nvSpPr>
          <p:cNvPr id="7" name="Rectangle 7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/>
              <a:t>04a - </a:t>
            </a:r>
            <a:fld id="{AB554BD2-52CF-4835-9603-7F616683C2E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849143"/>
      </p:ext>
    </p:extLst>
  </p:cSld>
  <p:clrMapOvr>
    <a:masterClrMapping/>
  </p:clrMapOvr>
  <p:transition>
    <p:wipe dir="r"/>
  </p:transition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30045" y="1411552"/>
            <a:ext cx="7672003" cy="2053960"/>
          </a:xfrm>
        </p:spPr>
        <p:txBody>
          <a:bodyPr/>
          <a:lstStyle>
            <a:lvl1pPr>
              <a:lnSpc>
                <a:spcPct val="78000"/>
              </a:lnSpc>
              <a:defRPr/>
            </a:lvl1pPr>
            <a:lvl2pPr>
              <a:lnSpc>
                <a:spcPct val="78000"/>
              </a:lnSpc>
              <a:defRPr/>
            </a:lvl2pPr>
            <a:lvl3pPr>
              <a:lnSpc>
                <a:spcPct val="78000"/>
              </a:lnSpc>
              <a:defRPr/>
            </a:lvl3pPr>
            <a:lvl4pPr>
              <a:lnSpc>
                <a:spcPct val="78000"/>
              </a:lnSpc>
              <a:defRPr/>
            </a:lvl4pPr>
            <a:lvl5pPr>
              <a:lnSpc>
                <a:spcPct val="78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387054" y="152400"/>
            <a:ext cx="8375946" cy="60939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823038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313007"/>
            <a:ext cx="8458200" cy="914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defRPr sz="3000" spc="-113" baseline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42900" y="1519304"/>
            <a:ext cx="8458200" cy="50292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90000"/>
              </a:lnSpc>
              <a:buFont typeface="Arial" pitchFamily="34" charset="0"/>
              <a:buChar char="•"/>
              <a:defRPr sz="2400" spc="-113" baseline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>
              <a:lnSpc>
                <a:spcPct val="90000"/>
              </a:lnSpc>
              <a:buFont typeface="Arial" pitchFamily="34" charset="0"/>
              <a:buChar char="•"/>
              <a:defRPr sz="2100" spc="-113" baseline="0">
                <a:solidFill>
                  <a:schemeClr val="tx1"/>
                </a:solidFill>
                <a:latin typeface="Segoe WP SemiLight" pitchFamily="34" charset="0"/>
                <a:ea typeface="Segoe UI" pitchFamily="34" charset="0"/>
                <a:cs typeface="Segoe UI" pitchFamily="34" charset="0"/>
              </a:defRPr>
            </a:lvl2pPr>
            <a:lvl3pPr>
              <a:lnSpc>
                <a:spcPct val="90000"/>
              </a:lnSpc>
              <a:buFont typeface="Arial" pitchFamily="34" charset="0"/>
              <a:buChar char="•"/>
              <a:defRPr sz="1800" spc="-113" baseline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>
              <a:lnSpc>
                <a:spcPct val="90000"/>
              </a:lnSpc>
              <a:buFont typeface="Arial" pitchFamily="34" charset="0"/>
              <a:buChar char="•"/>
              <a:defRPr sz="1200" baseline="0">
                <a:solidFill>
                  <a:schemeClr val="tx2"/>
                </a:solidFill>
              </a:defRPr>
            </a:lvl4pPr>
            <a:lvl5pPr>
              <a:lnSpc>
                <a:spcPct val="90000"/>
              </a:lnSpc>
              <a:buFont typeface="Arial" pitchFamily="34" charset="0"/>
              <a:buChar char="•"/>
              <a:defRPr sz="105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3743014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26" Type="http://schemas.openxmlformats.org/officeDocument/2006/relationships/slideLayout" Target="../slideLayouts/slideLayout41.xml"/><Relationship Id="rId39" Type="http://schemas.openxmlformats.org/officeDocument/2006/relationships/slideLayout" Target="../slideLayouts/slideLayout54.xml"/><Relationship Id="rId21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49.xml"/><Relationship Id="rId42" Type="http://schemas.openxmlformats.org/officeDocument/2006/relationships/slideLayout" Target="../slideLayouts/slideLayout57.xml"/><Relationship Id="rId47" Type="http://schemas.openxmlformats.org/officeDocument/2006/relationships/slideLayout" Target="../slideLayouts/slideLayout62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39.xml"/><Relationship Id="rId32" Type="http://schemas.openxmlformats.org/officeDocument/2006/relationships/slideLayout" Target="../slideLayouts/slideLayout47.xml"/><Relationship Id="rId37" Type="http://schemas.openxmlformats.org/officeDocument/2006/relationships/slideLayout" Target="../slideLayouts/slideLayout52.xml"/><Relationship Id="rId40" Type="http://schemas.openxmlformats.org/officeDocument/2006/relationships/slideLayout" Target="../slideLayouts/slideLayout55.xml"/><Relationship Id="rId45" Type="http://schemas.openxmlformats.org/officeDocument/2006/relationships/slideLayout" Target="../slideLayouts/slideLayout60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23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43.xml"/><Relationship Id="rId36" Type="http://schemas.openxmlformats.org/officeDocument/2006/relationships/slideLayout" Target="../slideLayouts/slideLayout51.xml"/><Relationship Id="rId49" Type="http://schemas.openxmlformats.org/officeDocument/2006/relationships/theme" Target="../theme/theme3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31" Type="http://schemas.openxmlformats.org/officeDocument/2006/relationships/slideLayout" Target="../slideLayouts/slideLayout46.xml"/><Relationship Id="rId44" Type="http://schemas.openxmlformats.org/officeDocument/2006/relationships/slideLayout" Target="../slideLayouts/slideLayout59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5.xml"/><Relationship Id="rId35" Type="http://schemas.openxmlformats.org/officeDocument/2006/relationships/slideLayout" Target="../slideLayouts/slideLayout50.xml"/><Relationship Id="rId43" Type="http://schemas.openxmlformats.org/officeDocument/2006/relationships/slideLayout" Target="../slideLayouts/slideLayout58.xml"/><Relationship Id="rId48" Type="http://schemas.openxmlformats.org/officeDocument/2006/relationships/slideLayout" Target="../slideLayouts/slideLayout63.xml"/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5" Type="http://schemas.openxmlformats.org/officeDocument/2006/relationships/slideLayout" Target="../slideLayouts/slideLayout40.xml"/><Relationship Id="rId33" Type="http://schemas.openxmlformats.org/officeDocument/2006/relationships/slideLayout" Target="../slideLayouts/slideLayout48.xml"/><Relationship Id="rId38" Type="http://schemas.openxmlformats.org/officeDocument/2006/relationships/slideLayout" Target="../slideLayouts/slideLayout53.xml"/><Relationship Id="rId4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35.xml"/><Relationship Id="rId41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8" r:id="rId14"/>
  </p:sldLayoutIdLst>
  <p:transition>
    <p:fade/>
  </p:transition>
  <p:hf sldNum="0" hdr="0" ftr="0" dt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8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8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8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8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ite rectangle.png"/>
          <p:cNvPicPr>
            <a:picLocks noChangeAspect="1"/>
          </p:cNvPicPr>
          <p:nvPr/>
        </p:nvPicPr>
        <p:blipFill>
          <a:blip r:embed="rId4" cstate="print"/>
          <a:srcRect b="10453"/>
          <a:stretch>
            <a:fillRect/>
          </a:stretch>
        </p:blipFill>
        <p:spPr>
          <a:xfrm>
            <a:off x="0" y="1299706"/>
            <a:ext cx="9144000" cy="555829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2" y="1905000"/>
            <a:ext cx="8040688" cy="2108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transition>
    <p:fade/>
  </p:transition>
  <p:hf sldNum="0" hdr="0" ftr="0" dt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25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0" indent="0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30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1pPr>
      <a:lvl2pPr marL="384954" indent="-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8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2pPr>
      <a:lvl3pPr marL="761970" indent="-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3pPr>
      <a:lvl4pPr marL="1094009" indent="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4pPr>
      <a:lvl5pPr marL="1426047" indent="0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3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COMP3870 - Advanced ASP.NET with C#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CA"/>
              <a:t>04a - </a:t>
            </a:r>
            <a:fld id="{AB554BD2-52CF-4835-9603-7F616683C2E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906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  <p:sldLayoutId id="2147483797" r:id="rId18"/>
    <p:sldLayoutId id="2147483798" r:id="rId19"/>
    <p:sldLayoutId id="2147483799" r:id="rId20"/>
    <p:sldLayoutId id="2147483800" r:id="rId21"/>
    <p:sldLayoutId id="2147483801" r:id="rId22"/>
    <p:sldLayoutId id="2147483802" r:id="rId23"/>
    <p:sldLayoutId id="2147483803" r:id="rId24"/>
    <p:sldLayoutId id="2147483804" r:id="rId25"/>
    <p:sldLayoutId id="2147483805" r:id="rId26"/>
    <p:sldLayoutId id="2147483806" r:id="rId27"/>
    <p:sldLayoutId id="2147483807" r:id="rId28"/>
    <p:sldLayoutId id="2147483808" r:id="rId29"/>
    <p:sldLayoutId id="2147483809" r:id="rId30"/>
    <p:sldLayoutId id="2147483810" r:id="rId31"/>
    <p:sldLayoutId id="2147483811" r:id="rId32"/>
    <p:sldLayoutId id="2147483812" r:id="rId33"/>
    <p:sldLayoutId id="2147483813" r:id="rId34"/>
    <p:sldLayoutId id="2147483814" r:id="rId35"/>
    <p:sldLayoutId id="2147483815" r:id="rId36"/>
    <p:sldLayoutId id="2147483816" r:id="rId37"/>
    <p:sldLayoutId id="2147483817" r:id="rId38"/>
    <p:sldLayoutId id="2147483818" r:id="rId39"/>
    <p:sldLayoutId id="2147483819" r:id="rId40"/>
    <p:sldLayoutId id="2147483820" r:id="rId41"/>
    <p:sldLayoutId id="2147483821" r:id="rId42"/>
    <p:sldLayoutId id="2147483822" r:id="rId43"/>
    <p:sldLayoutId id="2147483823" r:id="rId44"/>
    <p:sldLayoutId id="2147483824" r:id="rId45"/>
    <p:sldLayoutId id="2147483825" r:id="rId46"/>
    <p:sldLayoutId id="2147483826" r:id="rId47"/>
    <p:sldLayoutId id="2147483827" r:id="rId48"/>
  </p:sldLayoutIdLst>
  <p:transition>
    <p:fade/>
  </p:transition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100" kern="1200" cap="none" baseline="0">
          <a:solidFill>
            <a:schemeClr val="tx1"/>
          </a:solidFill>
          <a:latin typeface="Segoe Light"/>
          <a:ea typeface="Segoe UI" pitchFamily="34" charset="0"/>
          <a:cs typeface="Segoe Light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Clr>
          <a:srgbClr val="0072C6"/>
        </a:buClr>
        <a:buFont typeface="Arial"/>
        <a:buChar char="•"/>
        <a:defRPr lang="en-US" sz="21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557213" indent="-214313" algn="l" defTabSz="342900" rtl="0" eaLnBrk="1" latinLnBrk="0" hangingPunct="1">
        <a:spcBef>
          <a:spcPts val="300"/>
        </a:spcBef>
        <a:buClr>
          <a:srgbClr val="0072C6"/>
        </a:buClr>
        <a:buSzPct val="70000"/>
        <a:buFont typeface="Courier New" pitchFamily="49" charset="0"/>
        <a:buChar char="o"/>
        <a:defRPr lang="en-US" sz="18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7250" indent="-171450" algn="l" defTabSz="342900" rtl="0" eaLnBrk="1" latinLnBrk="0" hangingPunct="1">
        <a:spcBef>
          <a:spcPct val="20000"/>
        </a:spcBef>
        <a:buClr>
          <a:srgbClr val="0072C6"/>
        </a:buClr>
        <a:buFont typeface="Wingdings" pitchFamily="2" charset="2"/>
        <a:buChar char="§"/>
        <a:defRPr lang="en-US" sz="15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00150" indent="-171450" algn="l" defTabSz="342900" rtl="0" eaLnBrk="1" latinLnBrk="0" hangingPunct="1">
        <a:spcBef>
          <a:spcPct val="20000"/>
        </a:spcBef>
        <a:buClr>
          <a:srgbClr val="0072C6"/>
        </a:buClr>
        <a:buFont typeface="Arial"/>
        <a:buChar char="–"/>
        <a:defRPr lang="en-US" sz="12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3050" indent="-171450" algn="l" defTabSz="342900" rtl="0" eaLnBrk="1" latinLnBrk="0" hangingPunct="1">
        <a:spcBef>
          <a:spcPct val="20000"/>
        </a:spcBef>
        <a:buClr>
          <a:srgbClr val="0072C6"/>
        </a:buClr>
        <a:buFont typeface="Arial"/>
        <a:buChar char="»"/>
        <a:defRPr lang="en-US" sz="1200" b="0" i="0" kern="1200" dirty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js.org/" TargetMode="External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r>
              <a:rPr lang="en-CA" dirty="0"/>
              <a:t> to React.js</a:t>
            </a:r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Medhat Elmasry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React.js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It is a library for creating user interfaces.</a:t>
            </a:r>
          </a:p>
          <a:p>
            <a:r>
              <a:rPr lang="en-US" dirty="0"/>
              <a:t>Created by Facebook</a:t>
            </a:r>
          </a:p>
          <a:p>
            <a:r>
              <a:rPr lang="en-US" dirty="0"/>
              <a:t>Open-sourced in 2013</a:t>
            </a:r>
          </a:p>
          <a:p>
            <a:r>
              <a:rPr lang="en-US" dirty="0"/>
              <a:t>Component architecture</a:t>
            </a:r>
          </a:p>
          <a:p>
            <a:r>
              <a:rPr lang="en-US" dirty="0"/>
              <a:t>React Native used for developing apps for Android and iOS</a:t>
            </a:r>
          </a:p>
          <a:p>
            <a:r>
              <a:rPr lang="en-US" dirty="0"/>
              <a:t>React docs: </a:t>
            </a:r>
            <a:r>
              <a:rPr lang="en-US" dirty="0">
                <a:hlinkClick r:id="rId2"/>
              </a:rPr>
              <a:t>https://reactjs.org</a:t>
            </a:r>
            <a:endParaRPr lang="en-US" dirty="0"/>
          </a:p>
          <a:p>
            <a:r>
              <a:rPr lang="en-US" dirty="0"/>
              <a:t>Used by:</a:t>
            </a:r>
          </a:p>
          <a:p>
            <a:pPr lvl="1"/>
            <a:r>
              <a:rPr lang="en-US" dirty="0"/>
              <a:t>Twitter</a:t>
            </a:r>
          </a:p>
          <a:p>
            <a:pPr lvl="1"/>
            <a:r>
              <a:rPr lang="en-US" dirty="0"/>
              <a:t>Netflix</a:t>
            </a:r>
          </a:p>
          <a:p>
            <a:pPr lvl="1"/>
            <a:r>
              <a:rPr lang="en-US" dirty="0"/>
              <a:t>Microsoft</a:t>
            </a:r>
          </a:p>
          <a:p>
            <a:pPr lvl="1"/>
            <a:r>
              <a:rPr lang="en-US" dirty="0"/>
              <a:t>Facebook (of course)</a:t>
            </a:r>
          </a:p>
          <a:p>
            <a:pPr lvl="1"/>
            <a:r>
              <a:rPr lang="en-US" dirty="0"/>
              <a:t>and many, many, many more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Create React App</a:t>
            </a:r>
          </a:p>
          <a:p>
            <a:pPr lvl="1"/>
            <a:r>
              <a:rPr lang="en-CA" sz="1600" dirty="0" err="1">
                <a:latin typeface="Lucida Console" panose="020B0609040504020204" pitchFamily="49" charset="0"/>
              </a:rPr>
              <a:t>npm</a:t>
            </a:r>
            <a:r>
              <a:rPr lang="en-CA" sz="1600" dirty="0">
                <a:latin typeface="Lucida Console" panose="020B0609040504020204" pitchFamily="49" charset="0"/>
              </a:rPr>
              <a:t> create </a:t>
            </a:r>
            <a:r>
              <a:rPr lang="en-CA" sz="1600" dirty="0" err="1">
                <a:latin typeface="Lucida Console" panose="020B0609040504020204" pitchFamily="49" charset="0"/>
              </a:rPr>
              <a:t>vite@latest</a:t>
            </a:r>
            <a:r>
              <a:rPr lang="en-CA" sz="1600" dirty="0">
                <a:latin typeface="Lucida Console" panose="020B0609040504020204" pitchFamily="49" charset="0"/>
              </a:rPr>
              <a:t> hello-react-</a:t>
            </a:r>
            <a:r>
              <a:rPr lang="en-CA" sz="1600" dirty="0" err="1">
                <a:latin typeface="Lucida Console" panose="020B0609040504020204" pitchFamily="49" charset="0"/>
              </a:rPr>
              <a:t>ts</a:t>
            </a:r>
            <a:r>
              <a:rPr lang="en-CA" sz="1600" dirty="0">
                <a:latin typeface="Lucida Console" panose="020B0609040504020204" pitchFamily="49" charset="0"/>
              </a:rPr>
              <a:t> -- --template react-</a:t>
            </a:r>
            <a:r>
              <a:rPr lang="en-CA" sz="1600" dirty="0" err="1">
                <a:latin typeface="Lucida Console" panose="020B0609040504020204" pitchFamily="49" charset="0"/>
              </a:rPr>
              <a:t>ts</a:t>
            </a:r>
            <a:endParaRPr lang="en-CA" sz="1600" dirty="0">
              <a:latin typeface="Lucida Console" panose="020B0609040504020204" pitchFamily="49" charset="0"/>
            </a:endParaRPr>
          </a:p>
          <a:p>
            <a:pPr lvl="1"/>
            <a:r>
              <a:rPr lang="en-CA" sz="1600" dirty="0">
                <a:latin typeface="Lucida Console" panose="020B0609040504020204" pitchFamily="49" charset="0"/>
              </a:rPr>
              <a:t>cd hello-react</a:t>
            </a:r>
          </a:p>
          <a:p>
            <a:pPr lvl="1"/>
            <a:r>
              <a:rPr lang="en-CA" sz="1600" dirty="0">
                <a:latin typeface="Lucida Console" panose="020B0609040504020204" pitchFamily="49" charset="0"/>
              </a:rPr>
              <a:t>npm start</a:t>
            </a:r>
          </a:p>
          <a:p>
            <a:endParaRPr lang="en-CA" dirty="0"/>
          </a:p>
          <a:p>
            <a:r>
              <a:rPr lang="en-CA" dirty="0"/>
              <a:t>https://codesandbox.io</a:t>
            </a:r>
          </a:p>
          <a:p>
            <a:r>
              <a:rPr lang="en-CA" dirty="0"/>
              <a:t>Server rendered site with node: Next.js</a:t>
            </a:r>
          </a:p>
          <a:p>
            <a:r>
              <a:rPr lang="en-CA" dirty="0"/>
              <a:t>Static content-oriented site: Gatsby</a:t>
            </a:r>
          </a:p>
          <a:p>
            <a:r>
              <a:rPr lang="en-CA" dirty="0"/>
              <a:t>Native apps: React Native with Expo</a:t>
            </a:r>
          </a:p>
        </p:txBody>
      </p:sp>
    </p:spTree>
    <p:extLst>
      <p:ext uri="{BB962C8B-B14F-4D97-AF65-F5344CB8AC3E}">
        <p14:creationId xmlns:p14="http://schemas.microsoft.com/office/powerpoint/2010/main" val="3861967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610B3-ED62-FB48-AF07-09DD686BA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26128-D5BC-D34A-BDAC-665888094B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Install into Google Chrome</a:t>
            </a:r>
          </a:p>
          <a:p>
            <a:pPr lvl="1"/>
            <a:r>
              <a:rPr lang="en-CA" dirty="0"/>
              <a:t>Simply google “React Developer Tools” </a:t>
            </a:r>
          </a:p>
          <a:p>
            <a:r>
              <a:rPr lang="en-US" dirty="0"/>
              <a:t>Add ‘pause;’ in code to simulate a breakpoint</a:t>
            </a:r>
          </a:p>
          <a:p>
            <a:r>
              <a:rPr lang="en-US" dirty="0"/>
              <a:t>F12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console.log</a:t>
            </a:r>
            <a:r>
              <a:rPr lang="en-US" dirty="0"/>
              <a:t>();</a:t>
            </a:r>
          </a:p>
          <a:p>
            <a:pPr lvl="1"/>
            <a:r>
              <a:rPr lang="en-US" dirty="0"/>
              <a:t>Look at network tab </a:t>
            </a:r>
          </a:p>
          <a:p>
            <a:r>
              <a:rPr lang="en-US"/>
              <a:t>Postman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440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MV* frameworks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1881" y="990600"/>
            <a:ext cx="3429000" cy="6096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CA" dirty="0">
                <a:latin typeface="+mj-lt"/>
              </a:rPr>
              <a:t>Separation of Concerns.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38200" y="1981200"/>
            <a:ext cx="1752600" cy="23622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981200"/>
            <a:ext cx="1752600" cy="23622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8200" y="1994598"/>
            <a:ext cx="1752600" cy="23622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ModelView</a:t>
            </a:r>
            <a:endParaRPr lang="en-CA" dirty="0"/>
          </a:p>
        </p:txBody>
      </p:sp>
      <p:sp>
        <p:nvSpPr>
          <p:cNvPr id="8" name="Rounded Rectangle 7"/>
          <p:cNvSpPr/>
          <p:nvPr/>
        </p:nvSpPr>
        <p:spPr>
          <a:xfrm>
            <a:off x="6553200" y="1997947"/>
            <a:ext cx="1752600" cy="23622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4419600"/>
            <a:ext cx="1066800" cy="6096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CA" dirty="0">
                <a:latin typeface="+mj-lt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400" y="4419600"/>
            <a:ext cx="1600200" cy="6096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CA" dirty="0">
                <a:latin typeface="+mj-lt"/>
              </a:rPr>
              <a:t>Tailored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7162" y="4419600"/>
            <a:ext cx="1708638" cy="6096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CA" dirty="0">
                <a:latin typeface="+mj-lt"/>
              </a:rPr>
              <a:t>Display Logic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1782" y="4419600"/>
            <a:ext cx="1708638" cy="6096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CA" dirty="0">
                <a:latin typeface="+mj-lt"/>
              </a:rPr>
              <a:t>Templates (HTML)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components, not templates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Components are the building blocks of React.js</a:t>
            </a:r>
          </a:p>
          <a:p>
            <a:r>
              <a:rPr lang="en-US" dirty="0"/>
              <a:t>You can think of a component as a collection of HTML, CSS and JS</a:t>
            </a:r>
          </a:p>
          <a:p>
            <a:r>
              <a:rPr lang="en-US" dirty="0"/>
              <a:t>Components can be written in pure JavaScript or JSX</a:t>
            </a:r>
          </a:p>
          <a:p>
            <a:r>
              <a:rPr lang="en-US" dirty="0"/>
              <a:t>Components can also be written in TypeScript or TSX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JavaScript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312041" y="1066800"/>
            <a:ext cx="2971800" cy="4572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CA" dirty="0">
                <a:latin typeface="+mj-lt"/>
              </a:rPr>
              <a:t>Creating the UI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2590800"/>
            <a:ext cx="86106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400" dirty="0" err="1">
                <a:latin typeface="Lucida Console" panose="020B0609040504020204" pitchFamily="49" charset="0"/>
              </a:rPr>
              <a:t>var</a:t>
            </a:r>
            <a:r>
              <a:rPr lang="en-CA" sz="1400" dirty="0">
                <a:latin typeface="Lucida Console" panose="020B0609040504020204" pitchFamily="49" charset="0"/>
              </a:rPr>
              <a:t> child1 = </a:t>
            </a:r>
            <a:r>
              <a:rPr lang="en-CA" sz="1400" dirty="0" err="1">
                <a:latin typeface="Lucida Console" panose="020B0609040504020204" pitchFamily="49" charset="0"/>
              </a:rPr>
              <a:t>React.createElement</a:t>
            </a:r>
            <a:r>
              <a:rPr lang="en-CA" sz="1400" dirty="0">
                <a:latin typeface="Lucida Console" panose="020B0609040504020204" pitchFamily="49" charset="0"/>
              </a:rPr>
              <a:t>('li', null, 'First Text Content');</a:t>
            </a:r>
          </a:p>
          <a:p>
            <a:r>
              <a:rPr lang="en-CA" sz="1400" dirty="0" err="1">
                <a:latin typeface="Lucida Console" panose="020B0609040504020204" pitchFamily="49" charset="0"/>
              </a:rPr>
              <a:t>var</a:t>
            </a:r>
            <a:r>
              <a:rPr lang="en-CA" sz="1400" dirty="0">
                <a:latin typeface="Lucida Console" panose="020B0609040504020204" pitchFamily="49" charset="0"/>
              </a:rPr>
              <a:t> child1 = </a:t>
            </a:r>
            <a:r>
              <a:rPr lang="en-CA" sz="1400" dirty="0" err="1">
                <a:latin typeface="Lucida Console" panose="020B0609040504020204" pitchFamily="49" charset="0"/>
              </a:rPr>
              <a:t>React.createElement</a:t>
            </a:r>
            <a:r>
              <a:rPr lang="en-CA" sz="1400" dirty="0">
                <a:latin typeface="Lucida Console" panose="020B0609040504020204" pitchFamily="49" charset="0"/>
              </a:rPr>
              <a:t>('li', null, 'second Text Content');</a:t>
            </a:r>
          </a:p>
          <a:p>
            <a:endParaRPr lang="en-CA" sz="1400" dirty="0">
              <a:latin typeface="Lucida Console" panose="020B0609040504020204" pitchFamily="49" charset="0"/>
            </a:endParaRPr>
          </a:p>
          <a:p>
            <a:r>
              <a:rPr lang="en-CA" sz="1400" dirty="0" err="1">
                <a:latin typeface="Lucida Console" panose="020B0609040504020204" pitchFamily="49" charset="0"/>
              </a:rPr>
              <a:t>var</a:t>
            </a:r>
            <a:r>
              <a:rPr lang="en-CA" sz="1400" dirty="0">
                <a:latin typeface="Lucida Console" panose="020B0609040504020204" pitchFamily="49" charset="0"/>
              </a:rPr>
              <a:t> root = </a:t>
            </a:r>
            <a:r>
              <a:rPr lang="en-CA" sz="1400" dirty="0" err="1">
                <a:latin typeface="Lucida Console" panose="020B0609040504020204" pitchFamily="49" charset="0"/>
              </a:rPr>
              <a:t>React.createElement</a:t>
            </a:r>
            <a:r>
              <a:rPr lang="en-CA" sz="1400" dirty="0">
                <a:latin typeface="Lucida Console" panose="020B0609040504020204" pitchFamily="49" charset="0"/>
              </a:rPr>
              <a:t>('</a:t>
            </a:r>
            <a:r>
              <a:rPr lang="en-CA" sz="1400" dirty="0" err="1">
                <a:latin typeface="Lucida Console" panose="020B0609040504020204" pitchFamily="49" charset="0"/>
              </a:rPr>
              <a:t>ul</a:t>
            </a:r>
            <a:r>
              <a:rPr lang="en-CA" sz="1400" dirty="0">
                <a:latin typeface="Lucida Console" panose="020B0609040504020204" pitchFamily="49" charset="0"/>
              </a:rPr>
              <a:t>', {</a:t>
            </a:r>
            <a:r>
              <a:rPr lang="en-CA" sz="1400" dirty="0" err="1">
                <a:latin typeface="Lucida Console" panose="020B0609040504020204" pitchFamily="49" charset="0"/>
              </a:rPr>
              <a:t>className</a:t>
            </a:r>
            <a:r>
              <a:rPr lang="en-CA" sz="1400" dirty="0">
                <a:latin typeface="Lucida Console" panose="020B0609040504020204" pitchFamily="49" charset="0"/>
              </a:rPr>
              <a:t>: 'my-list', child1, child 2);</a:t>
            </a:r>
          </a:p>
          <a:p>
            <a:endParaRPr lang="en-CA" sz="1400" dirty="0">
              <a:latin typeface="Lucida Console" panose="020B0609040504020204" pitchFamily="49" charset="0"/>
            </a:endParaRPr>
          </a:p>
          <a:p>
            <a:r>
              <a:rPr lang="en-CA" sz="1400" dirty="0" err="1">
                <a:latin typeface="Lucida Console" panose="020B0609040504020204" pitchFamily="49" charset="0"/>
              </a:rPr>
              <a:t>React.render</a:t>
            </a:r>
            <a:r>
              <a:rPr lang="en-CA" sz="1400" dirty="0">
                <a:latin typeface="Lucida Console" panose="020B0609040504020204" pitchFamily="49" charset="0"/>
              </a:rPr>
              <a:t>(root, </a:t>
            </a:r>
            <a:r>
              <a:rPr lang="en-CA" sz="1400" dirty="0" err="1">
                <a:latin typeface="Lucida Console" panose="020B0609040504020204" pitchFamily="49" charset="0"/>
              </a:rPr>
              <a:t>document.getElementById</a:t>
            </a:r>
            <a:r>
              <a:rPr lang="en-CA" sz="1400" dirty="0">
                <a:latin typeface="Lucida Console" panose="020B0609040504020204" pitchFamily="49" charset="0"/>
              </a:rPr>
              <a:t>('example'));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JSX (JavaScript XML)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690063"/>
            <a:ext cx="62484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400" dirty="0">
                <a:latin typeface="Lucida Console" panose="020B0609040504020204" pitchFamily="49" charset="0"/>
              </a:rPr>
              <a:t>import React from 'react';</a:t>
            </a:r>
          </a:p>
          <a:p>
            <a:r>
              <a:rPr lang="en-CA" sz="1400" dirty="0" err="1">
                <a:latin typeface="Lucida Console" panose="020B0609040504020204" pitchFamily="49" charset="0"/>
              </a:rPr>
              <a:t>const</a:t>
            </a:r>
            <a:r>
              <a:rPr lang="en-CA" sz="1400" dirty="0">
                <a:latin typeface="Lucida Console" panose="020B0609040504020204" pitchFamily="49" charset="0"/>
              </a:rPr>
              <a:t> </a:t>
            </a:r>
            <a:r>
              <a:rPr lang="en-CA" sz="1400" dirty="0" err="1">
                <a:latin typeface="Lucida Console" panose="020B0609040504020204" pitchFamily="49" charset="0"/>
              </a:rPr>
              <a:t>HomePage</a:t>
            </a:r>
            <a:r>
              <a:rPr lang="en-CA" sz="1400" dirty="0">
                <a:latin typeface="Lucida Console" panose="020B0609040504020204" pitchFamily="49" charset="0"/>
              </a:rPr>
              <a:t> = () =&gt; {</a:t>
            </a:r>
          </a:p>
          <a:p>
            <a:r>
              <a:rPr lang="en-CA" sz="1400" dirty="0">
                <a:latin typeface="Lucida Console" panose="020B0609040504020204" pitchFamily="49" charset="0"/>
              </a:rPr>
              <a:t>    </a:t>
            </a:r>
          </a:p>
          <a:p>
            <a:r>
              <a:rPr lang="en-CA" sz="1400" dirty="0">
                <a:latin typeface="Lucida Console" panose="020B0609040504020204" pitchFamily="49" charset="0"/>
              </a:rPr>
              <a:t>    </a:t>
            </a:r>
          </a:p>
          <a:p>
            <a:r>
              <a:rPr lang="en-CA" sz="1400" dirty="0">
                <a:latin typeface="Lucida Console" panose="020B0609040504020204" pitchFamily="49" charset="0"/>
              </a:rPr>
              <a:t>    return(</a:t>
            </a:r>
          </a:p>
          <a:p>
            <a:r>
              <a:rPr lang="en-CA" sz="1400" dirty="0">
                <a:latin typeface="Lucida Console" panose="020B0609040504020204" pitchFamily="49" charset="0"/>
              </a:rPr>
              <a:t>        &lt;</a:t>
            </a:r>
            <a:r>
              <a:rPr lang="en-CA" sz="1400" dirty="0" err="1">
                <a:latin typeface="Lucida Console" panose="020B0609040504020204" pitchFamily="49" charset="0"/>
              </a:rPr>
              <a:t>React.Fragment</a:t>
            </a:r>
            <a:r>
              <a:rPr lang="en-CA" sz="14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CA" sz="1400" dirty="0">
                <a:latin typeface="Lucida Console" panose="020B0609040504020204" pitchFamily="49" charset="0"/>
              </a:rPr>
              <a:t>            &lt;h1&gt;This is the Home Page.&lt;/h1&gt;</a:t>
            </a:r>
          </a:p>
          <a:p>
            <a:r>
              <a:rPr lang="en-CA" sz="1400" dirty="0">
                <a:latin typeface="Lucida Console" panose="020B0609040504020204" pitchFamily="49" charset="0"/>
              </a:rPr>
              <a:t>        &lt;/</a:t>
            </a:r>
            <a:r>
              <a:rPr lang="en-CA" sz="1400" dirty="0" err="1">
                <a:latin typeface="Lucida Console" panose="020B0609040504020204" pitchFamily="49" charset="0"/>
              </a:rPr>
              <a:t>React.Fragment</a:t>
            </a:r>
            <a:r>
              <a:rPr lang="en-CA" sz="14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CA" sz="1400" dirty="0">
                <a:latin typeface="Lucida Console" panose="020B0609040504020204" pitchFamily="49" charset="0"/>
              </a:rPr>
              <a:t>    );</a:t>
            </a:r>
          </a:p>
          <a:p>
            <a:r>
              <a:rPr lang="en-CA" sz="1400" dirty="0">
                <a:latin typeface="Lucida Console" panose="020B0609040504020204" pitchFamily="49" charset="0"/>
              </a:rPr>
              <a:t>}</a:t>
            </a:r>
          </a:p>
          <a:p>
            <a:r>
              <a:rPr lang="en-CA" sz="1400" dirty="0">
                <a:latin typeface="Lucida Console" panose="020B0609040504020204" pitchFamily="49" charset="0"/>
              </a:rPr>
              <a:t>export default </a:t>
            </a:r>
            <a:r>
              <a:rPr lang="en-CA" sz="1400" dirty="0" err="1">
                <a:latin typeface="Lucida Console" panose="020B0609040504020204" pitchFamily="49" charset="0"/>
              </a:rPr>
              <a:t>HomePage</a:t>
            </a:r>
            <a:r>
              <a:rPr lang="en-CA" sz="1400" dirty="0">
                <a:latin typeface="Lucida Console" panose="020B0609040504020204" pitchFamily="49" charset="0"/>
              </a:rPr>
              <a:t>;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React.js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You avoid expensive DOM operations</a:t>
            </a:r>
          </a:p>
          <a:p>
            <a:r>
              <a:rPr lang="en-CA" dirty="0"/>
              <a:t>Minimize access to the DOM</a:t>
            </a:r>
          </a:p>
          <a:p>
            <a:r>
              <a:rPr lang="en-CA" dirty="0"/>
              <a:t>Update elements offline before inserting to the DOM</a:t>
            </a:r>
          </a:p>
        </p:txBody>
      </p:sp>
    </p:spTree>
    <p:extLst>
      <p:ext uri="{BB962C8B-B14F-4D97-AF65-F5344CB8AC3E}">
        <p14:creationId xmlns:p14="http://schemas.microsoft.com/office/powerpoint/2010/main" val="105719994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React.js virtual DOM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Re-render everything on every update? It sounds expensive, but it is not</a:t>
            </a:r>
          </a:p>
          <a:p>
            <a:endParaRPr lang="en-US" dirty="0"/>
          </a:p>
          <a:p>
            <a:r>
              <a:rPr lang="en-US" dirty="0"/>
              <a:t>React creates an in-memory data structure cache, computes the resulting differences, then updates the browser’s displaying DOM efficiently:</a:t>
            </a:r>
          </a:p>
          <a:p>
            <a:pPr lvl="1"/>
            <a:r>
              <a:rPr lang="en-US" dirty="0"/>
              <a:t>Create lightweight description of component UI</a:t>
            </a:r>
          </a:p>
          <a:p>
            <a:pPr lvl="1"/>
            <a:r>
              <a:rPr lang="en-US" dirty="0"/>
              <a:t>Diff it with the old</a:t>
            </a:r>
          </a:p>
          <a:p>
            <a:pPr lvl="1"/>
            <a:r>
              <a:rPr lang="en-US" dirty="0"/>
              <a:t>Compute minimal set of changes to apply to the DOM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 of virtual DOM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Clean</a:t>
            </a:r>
          </a:p>
          <a:p>
            <a:pPr lvl="1"/>
            <a:r>
              <a:rPr lang="en-US" dirty="0"/>
              <a:t>Clear and descriptive programming model</a:t>
            </a:r>
          </a:p>
          <a:p>
            <a:r>
              <a:rPr lang="en-US" dirty="0"/>
              <a:t>Fast</a:t>
            </a:r>
          </a:p>
          <a:p>
            <a:pPr lvl="1"/>
            <a:r>
              <a:rPr lang="en-US" dirty="0"/>
              <a:t>Optimized DOM updates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Creating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73741" y="2667000"/>
            <a:ext cx="6248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dirty="0" err="1">
                <a:latin typeface="Lucida Console" panose="020B0609040504020204" pitchFamily="49" charset="0"/>
              </a:rPr>
              <a:t>var</a:t>
            </a:r>
            <a:r>
              <a:rPr lang="en-CA" sz="2400" dirty="0">
                <a:latin typeface="Lucida Console" panose="020B0609040504020204" pitchFamily="49" charset="0"/>
              </a:rPr>
              <a:t> Header = </a:t>
            </a:r>
            <a:r>
              <a:rPr lang="en-CA" sz="2400" dirty="0" err="1">
                <a:latin typeface="Lucida Console" panose="020B0609040504020204" pitchFamily="49" charset="0"/>
              </a:rPr>
              <a:t>React.createClass</a:t>
            </a:r>
            <a:r>
              <a:rPr lang="en-CA" sz="2400" dirty="0">
                <a:latin typeface="Lucida Console" panose="020B0609040504020204" pitchFamily="49" charset="0"/>
              </a:rPr>
              <a:t>({</a:t>
            </a:r>
          </a:p>
          <a:p>
            <a:r>
              <a:rPr lang="en-CA" sz="2400" dirty="0">
                <a:latin typeface="Lucida Console" panose="020B0609040504020204" pitchFamily="49" charset="0"/>
              </a:rPr>
              <a:t>  render: function() {</a:t>
            </a:r>
          </a:p>
          <a:p>
            <a:r>
              <a:rPr lang="en-CA" sz="2400" dirty="0">
                <a:latin typeface="Lucida Console" panose="020B0609040504020204" pitchFamily="49" charset="0"/>
              </a:rPr>
              <a:t>    &lt;h1&gt;Teams List&lt;/h1&gt;</a:t>
            </a:r>
          </a:p>
          <a:p>
            <a:r>
              <a:rPr lang="en-CA" sz="2400" dirty="0">
                <a:latin typeface="Lucida Console" panose="020B0609040504020204" pitchFamily="49" charset="0"/>
              </a:rPr>
              <a:t>  }</a:t>
            </a:r>
          </a:p>
          <a:p>
            <a:r>
              <a:rPr lang="en-CA" sz="2400" dirty="0">
                <a:latin typeface="Lucida Console" panose="020B060904050402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854026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Component rendering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Value returned from </a:t>
            </a:r>
            <a:r>
              <a:rPr lang="en-CA" i="1" dirty="0"/>
              <a:t>render() </a:t>
            </a:r>
            <a:r>
              <a:rPr lang="en-CA" dirty="0"/>
              <a:t>method is not a DOM node</a:t>
            </a:r>
          </a:p>
          <a:p>
            <a:r>
              <a:rPr lang="en-CA" dirty="0"/>
              <a:t>It is a lightweight description of the UI</a:t>
            </a:r>
          </a:p>
          <a:p>
            <a:r>
              <a:rPr lang="en-CA" dirty="0"/>
              <a:t>It is diffed with the current description to perform the minimum set of changes</a:t>
            </a:r>
          </a:p>
        </p:txBody>
      </p:sp>
    </p:spTree>
    <p:extLst>
      <p:ext uri="{BB962C8B-B14F-4D97-AF65-F5344CB8AC3E}">
        <p14:creationId xmlns:p14="http://schemas.microsoft.com/office/powerpoint/2010/main" val="3762592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Parent-to-child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Properties passed to children by parent are accessible with </a:t>
            </a:r>
            <a:r>
              <a:rPr lang="en-CA" dirty="0" err="1"/>
              <a:t>this.props</a:t>
            </a:r>
            <a:endParaRPr lang="en-CA" dirty="0"/>
          </a:p>
          <a:p>
            <a:r>
              <a:rPr lang="en-CA" dirty="0"/>
              <a:t>Properties are immutable</a:t>
            </a:r>
          </a:p>
          <a:p>
            <a:pPr lvl="1"/>
            <a:r>
              <a:rPr lang="en-CA" dirty="0"/>
              <a:t>Once you instantiate the object, you cannot change its properties</a:t>
            </a:r>
          </a:p>
        </p:txBody>
      </p:sp>
    </p:spTree>
    <p:extLst>
      <p:ext uri="{BB962C8B-B14F-4D97-AF65-F5344CB8AC3E}">
        <p14:creationId xmlns:p14="http://schemas.microsoft.com/office/powerpoint/2010/main" val="2972205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52500" y="2274838"/>
            <a:ext cx="7239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800" dirty="0">
                <a:latin typeface="Lucida Console" panose="020B0609040504020204" pitchFamily="49" charset="0"/>
              </a:rPr>
              <a:t>import React from 'react';</a:t>
            </a:r>
          </a:p>
          <a:p>
            <a:endParaRPr lang="en-CA" sz="1800" dirty="0">
              <a:latin typeface="Lucida Console" panose="020B0609040504020204" pitchFamily="49" charset="0"/>
            </a:endParaRPr>
          </a:p>
          <a:p>
            <a:r>
              <a:rPr lang="en-CA" sz="1800" dirty="0">
                <a:latin typeface="Lucida Console" panose="020B0609040504020204" pitchFamily="49" charset="0"/>
              </a:rPr>
              <a:t>const </a:t>
            </a:r>
            <a:r>
              <a:rPr lang="en-CA" sz="1800" dirty="0" err="1">
                <a:latin typeface="Lucida Console" panose="020B0609040504020204" pitchFamily="49" charset="0"/>
              </a:rPr>
              <a:t>HomePage</a:t>
            </a:r>
            <a:r>
              <a:rPr lang="en-CA" sz="1800" dirty="0">
                <a:latin typeface="Lucida Console" panose="020B0609040504020204" pitchFamily="49" charset="0"/>
              </a:rPr>
              <a:t> = () =&gt; (</a:t>
            </a:r>
          </a:p>
          <a:p>
            <a:r>
              <a:rPr lang="en-CA" sz="1800" dirty="0">
                <a:latin typeface="Lucida Console" panose="020B0609040504020204" pitchFamily="49" charset="0"/>
              </a:rPr>
              <a:t>  &lt;</a:t>
            </a:r>
            <a:r>
              <a:rPr lang="en-CA" sz="1800" dirty="0" err="1">
                <a:latin typeface="Lucida Console" panose="020B0609040504020204" pitchFamily="49" charset="0"/>
              </a:rPr>
              <a:t>React.Fragment</a:t>
            </a:r>
            <a:r>
              <a:rPr lang="en-CA" sz="18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CA" sz="1800" dirty="0">
                <a:latin typeface="Lucida Console" panose="020B0609040504020204" pitchFamily="49" charset="0"/>
              </a:rPr>
              <a:t>     &lt;div&gt;</a:t>
            </a:r>
          </a:p>
          <a:p>
            <a:r>
              <a:rPr lang="en-CA" sz="1800" dirty="0">
                <a:latin typeface="Lucida Console" panose="020B0609040504020204" pitchFamily="49" charset="0"/>
              </a:rPr>
              <a:t>      </a:t>
            </a:r>
            <a:r>
              <a:rPr lang="en-CA" sz="1800" dirty="0">
                <a:highlight>
                  <a:srgbClr val="FFFF00"/>
                </a:highlight>
                <a:latin typeface="Lucida Console" panose="020B0609040504020204" pitchFamily="49" charset="0"/>
              </a:rPr>
              <a:t>&lt;Header title="Teams List" /&gt;</a:t>
            </a:r>
          </a:p>
          <a:p>
            <a:r>
              <a:rPr lang="en-CA" sz="1800" dirty="0">
                <a:latin typeface="Lucida Console" panose="020B0609040504020204" pitchFamily="49" charset="0"/>
              </a:rPr>
              <a:t>      </a:t>
            </a:r>
            <a:r>
              <a:rPr lang="en-CA" sz="1800" dirty="0">
                <a:highlight>
                  <a:srgbClr val="FFFF00"/>
                </a:highlight>
                <a:latin typeface="Lucida Console" panose="020B0609040504020204" pitchFamily="49" charset="0"/>
              </a:rPr>
              <a:t>&lt;</a:t>
            </a:r>
            <a:r>
              <a:rPr lang="en-CA" sz="1800" dirty="0" err="1">
                <a:highlight>
                  <a:srgbClr val="FFFF00"/>
                </a:highlight>
                <a:latin typeface="Lucida Console" panose="020B0609040504020204" pitchFamily="49" charset="0"/>
              </a:rPr>
              <a:t>SearchBar</a:t>
            </a:r>
            <a:r>
              <a:rPr lang="en-CA" sz="1800" dirty="0">
                <a:highlight>
                  <a:srgbClr val="FFFF00"/>
                </a:highlight>
                <a:latin typeface="Lucida Console" panose="020B0609040504020204" pitchFamily="49" charset="0"/>
              </a:rPr>
              <a:t> /&gt;</a:t>
            </a:r>
          </a:p>
          <a:p>
            <a:r>
              <a:rPr lang="en-CA" sz="1800" dirty="0">
                <a:latin typeface="Lucida Console" panose="020B0609040504020204" pitchFamily="49" charset="0"/>
              </a:rPr>
              <a:t>      </a:t>
            </a:r>
            <a:r>
              <a:rPr lang="en-CA" sz="1800" dirty="0">
                <a:highlight>
                  <a:srgbClr val="FFFF00"/>
                </a:highlight>
                <a:latin typeface="Lucida Console" panose="020B0609040504020204" pitchFamily="49" charset="0"/>
              </a:rPr>
              <a:t>&lt;</a:t>
            </a:r>
            <a:r>
              <a:rPr lang="en-CA" sz="1800" dirty="0" err="1">
                <a:highlight>
                  <a:srgbClr val="FFFF00"/>
                </a:highlight>
                <a:latin typeface="Lucida Console" panose="020B0609040504020204" pitchFamily="49" charset="0"/>
              </a:rPr>
              <a:t>TeamsList</a:t>
            </a:r>
            <a:r>
              <a:rPr lang="en-CA" sz="1800" dirty="0">
                <a:highlight>
                  <a:srgbClr val="FFFF00"/>
                </a:highlight>
                <a:latin typeface="Lucida Console" panose="020B0609040504020204" pitchFamily="49" charset="0"/>
              </a:rPr>
              <a:t> /&gt;</a:t>
            </a:r>
          </a:p>
          <a:p>
            <a:r>
              <a:rPr lang="en-CA" sz="1800" dirty="0">
                <a:latin typeface="Lucida Console" panose="020B0609040504020204" pitchFamily="49" charset="0"/>
              </a:rPr>
              <a:t>    &lt;/div&gt;  </a:t>
            </a:r>
          </a:p>
          <a:p>
            <a:r>
              <a:rPr lang="en-CA" sz="1800" dirty="0">
                <a:latin typeface="Lucida Console" panose="020B0609040504020204" pitchFamily="49" charset="0"/>
              </a:rPr>
              <a:t>  &lt;/</a:t>
            </a:r>
            <a:r>
              <a:rPr lang="en-CA" sz="1800" dirty="0" err="1">
                <a:latin typeface="Lucida Console" panose="020B0609040504020204" pitchFamily="49" charset="0"/>
              </a:rPr>
              <a:t>React.Fragment</a:t>
            </a:r>
            <a:r>
              <a:rPr lang="en-CA" sz="18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CA" sz="1800" dirty="0">
                <a:latin typeface="Lucida Console" panose="020B0609040504020204" pitchFamily="49" charset="0"/>
              </a:rPr>
              <a:t>);</a:t>
            </a:r>
          </a:p>
          <a:p>
            <a:r>
              <a:rPr lang="en-CA" sz="1800" dirty="0">
                <a:latin typeface="Lucida Console" panose="020B0609040504020204" pitchFamily="49" charset="0"/>
              </a:rPr>
              <a:t>export default </a:t>
            </a:r>
            <a:r>
              <a:rPr lang="en-CA" sz="1800" dirty="0" err="1">
                <a:latin typeface="Lucida Console" panose="020B0609040504020204" pitchFamily="49" charset="0"/>
              </a:rPr>
              <a:t>HomePage</a:t>
            </a:r>
            <a:r>
              <a:rPr lang="en-CA" sz="1800" dirty="0">
                <a:latin typeface="Lucida Console" panose="020B06090405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48266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Child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990600" y="2613392"/>
            <a:ext cx="6705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dirty="0">
                <a:latin typeface="Lucida Console" panose="020B0609040504020204" pitchFamily="49" charset="0"/>
              </a:rPr>
              <a:t>import React from 'react';</a:t>
            </a:r>
          </a:p>
          <a:p>
            <a:endParaRPr lang="en-CA" sz="2400" dirty="0">
              <a:latin typeface="Lucida Console" panose="020B0609040504020204" pitchFamily="49" charset="0"/>
            </a:endParaRPr>
          </a:p>
          <a:p>
            <a:r>
              <a:rPr lang="en-CA" sz="2400" dirty="0">
                <a:latin typeface="Lucida Console" panose="020B0609040504020204" pitchFamily="49" charset="0"/>
              </a:rPr>
              <a:t>const Header = (param) =&gt; (</a:t>
            </a:r>
          </a:p>
          <a:p>
            <a:r>
              <a:rPr lang="en-CA" sz="2400" dirty="0">
                <a:latin typeface="Lucida Console" panose="020B0609040504020204" pitchFamily="49" charset="0"/>
              </a:rPr>
              <a:t>  &lt;</a:t>
            </a:r>
            <a:r>
              <a:rPr lang="en-CA" sz="2400" dirty="0" err="1">
                <a:latin typeface="Lucida Console" panose="020B0609040504020204" pitchFamily="49" charset="0"/>
              </a:rPr>
              <a:t>React.Fragment</a:t>
            </a:r>
            <a:r>
              <a:rPr lang="en-CA" sz="24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CA" sz="2400" dirty="0">
                <a:latin typeface="Lucida Console" panose="020B0609040504020204" pitchFamily="49" charset="0"/>
              </a:rPr>
              <a:t>     &lt;h1&gt;</a:t>
            </a:r>
            <a:r>
              <a:rPr lang="en-CA" sz="2400" dirty="0" err="1">
                <a:latin typeface="Lucida Console" panose="020B0609040504020204" pitchFamily="49" charset="0"/>
              </a:rPr>
              <a:t>param.title</a:t>
            </a:r>
            <a:r>
              <a:rPr lang="en-CA" sz="2400" dirty="0">
                <a:latin typeface="Lucida Console" panose="020B0609040504020204" pitchFamily="49" charset="0"/>
              </a:rPr>
              <a:t>&lt;/h1&gt;  </a:t>
            </a:r>
          </a:p>
          <a:p>
            <a:r>
              <a:rPr lang="en-CA" sz="2400" dirty="0">
                <a:latin typeface="Lucida Console" panose="020B0609040504020204" pitchFamily="49" charset="0"/>
              </a:rPr>
              <a:t>  &lt;/</a:t>
            </a:r>
            <a:r>
              <a:rPr lang="en-CA" sz="2400" dirty="0" err="1">
                <a:latin typeface="Lucida Console" panose="020B0609040504020204" pitchFamily="49" charset="0"/>
              </a:rPr>
              <a:t>React.Fragment</a:t>
            </a:r>
            <a:r>
              <a:rPr lang="en-CA" sz="24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CA" sz="2400" dirty="0">
                <a:latin typeface="Lucida Console" panose="020B0609040504020204" pitchFamily="49" charset="0"/>
              </a:rPr>
              <a:t>);</a:t>
            </a:r>
          </a:p>
          <a:p>
            <a:r>
              <a:rPr lang="en-CA" sz="2400" dirty="0">
                <a:latin typeface="Lucida Console" panose="020B0609040504020204" pitchFamily="49" charset="0"/>
              </a:rPr>
              <a:t>export default Header;</a:t>
            </a:r>
          </a:p>
        </p:txBody>
      </p:sp>
    </p:spTree>
    <p:extLst>
      <p:ext uri="{BB962C8B-B14F-4D97-AF65-F5344CB8AC3E}">
        <p14:creationId xmlns:p14="http://schemas.microsoft.com/office/powerpoint/2010/main" val="1127473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State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20842"/>
            <a:ext cx="8229600" cy="1217558"/>
          </a:xfrm>
        </p:spPr>
        <p:txBody>
          <a:bodyPr/>
          <a:lstStyle/>
          <a:p>
            <a:r>
              <a:rPr lang="en-CA" dirty="0"/>
              <a:t>Like properties, state affects how a component behaves and renders. Unlike properties, there is no way to define how state should be applied to components via JSX.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157447"/>
              </p:ext>
            </p:extLst>
          </p:nvPr>
        </p:nvGraphicFramePr>
        <p:xfrm>
          <a:off x="609600" y="2855769"/>
          <a:ext cx="8077200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480945777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1237206681"/>
                    </a:ext>
                  </a:extLst>
                </a:gridCol>
              </a:tblGrid>
              <a:tr h="362816">
                <a:tc>
                  <a:txBody>
                    <a:bodyPr/>
                    <a:lstStyle/>
                    <a:p>
                      <a:r>
                        <a:rPr lang="en-CA" sz="2000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653285"/>
                  </a:ext>
                </a:extLst>
              </a:tr>
              <a:tr h="362816">
                <a:tc>
                  <a:txBody>
                    <a:bodyPr/>
                    <a:lstStyle/>
                    <a:p>
                      <a:r>
                        <a:rPr lang="en-CA" sz="2000" dirty="0"/>
                        <a:t>Properties are defined when components are created, whether by JSX or pure JavaScript.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State, on the other hand, is only seen on the inside of component definitions.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208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803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Setting initial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295400"/>
            <a:ext cx="82296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600" dirty="0">
                <a:latin typeface="Lucida Console" panose="020B0609040504020204" pitchFamily="49" charset="0"/>
              </a:rPr>
              <a:t>import { </a:t>
            </a:r>
            <a:r>
              <a:rPr lang="en-CA" sz="1600" dirty="0" err="1">
                <a:latin typeface="Lucida Console" panose="020B0609040504020204" pitchFamily="49" charset="0"/>
              </a:rPr>
              <a:t>useState</a:t>
            </a:r>
            <a:r>
              <a:rPr lang="en-CA" sz="1600" dirty="0">
                <a:latin typeface="Lucida Console" panose="020B0609040504020204" pitchFamily="49" charset="0"/>
              </a:rPr>
              <a:t> } from 'react';</a:t>
            </a:r>
          </a:p>
          <a:p>
            <a:endParaRPr lang="en-CA" sz="1600" dirty="0">
              <a:latin typeface="Lucida Console" panose="020B0609040504020204" pitchFamily="49" charset="0"/>
            </a:endParaRPr>
          </a:p>
          <a:p>
            <a:r>
              <a:rPr lang="en-CA" sz="1600" dirty="0" err="1">
                <a:latin typeface="Lucida Console" panose="020B0609040504020204" pitchFamily="49" charset="0"/>
              </a:rPr>
              <a:t>const</a:t>
            </a:r>
            <a:r>
              <a:rPr lang="en-CA" sz="1600" dirty="0">
                <a:latin typeface="Lucida Console" panose="020B0609040504020204" pitchFamily="49" charset="0"/>
              </a:rPr>
              <a:t> </a:t>
            </a:r>
            <a:r>
              <a:rPr lang="en-CA" sz="1600" dirty="0" err="1">
                <a:latin typeface="Lucida Console" panose="020B0609040504020204" pitchFamily="49" charset="0"/>
              </a:rPr>
              <a:t>TeamDetailPage</a:t>
            </a:r>
            <a:r>
              <a:rPr lang="en-CA" sz="1600" dirty="0">
                <a:latin typeface="Lucida Console" panose="020B0609040504020204" pitchFamily="49" charset="0"/>
              </a:rPr>
              <a:t> = ({ match }) =&gt; {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</a:t>
            </a:r>
            <a:r>
              <a:rPr lang="en-CA" sz="1600" dirty="0" err="1">
                <a:latin typeface="Lucida Console" panose="020B0609040504020204" pitchFamily="49" charset="0"/>
              </a:rPr>
              <a:t>const</a:t>
            </a:r>
            <a:r>
              <a:rPr lang="en-CA" sz="1600" dirty="0">
                <a:latin typeface="Lucida Console" panose="020B0609040504020204" pitchFamily="49" charset="0"/>
              </a:rPr>
              <a:t> id = match.params.id;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</a:t>
            </a:r>
            <a:r>
              <a:rPr lang="en-CA" sz="1600" dirty="0" err="1">
                <a:latin typeface="Lucida Console" panose="020B0609040504020204" pitchFamily="49" charset="0"/>
              </a:rPr>
              <a:t>const</a:t>
            </a:r>
            <a:r>
              <a:rPr lang="en-CA" sz="1600" dirty="0">
                <a:latin typeface="Lucida Console" panose="020B0609040504020204" pitchFamily="49" charset="0"/>
              </a:rPr>
              <a:t> [</a:t>
            </a:r>
            <a:r>
              <a:rPr lang="en-CA" sz="1600" dirty="0" err="1">
                <a:latin typeface="Lucida Console" panose="020B0609040504020204" pitchFamily="49" charset="0"/>
              </a:rPr>
              <a:t>teamInfo</a:t>
            </a:r>
            <a:r>
              <a:rPr lang="en-CA" sz="1600" dirty="0">
                <a:latin typeface="Lucida Console" panose="020B0609040504020204" pitchFamily="49" charset="0"/>
              </a:rPr>
              <a:t>, </a:t>
            </a:r>
            <a:r>
              <a:rPr lang="en-CA" sz="1600" dirty="0" err="1">
                <a:latin typeface="Lucida Console" panose="020B0609040504020204" pitchFamily="49" charset="0"/>
              </a:rPr>
              <a:t>setTeamInfo</a:t>
            </a:r>
            <a:r>
              <a:rPr lang="en-CA" sz="1600" dirty="0">
                <a:latin typeface="Lucida Console" panose="020B0609040504020204" pitchFamily="49" charset="0"/>
              </a:rPr>
              <a:t>] = </a:t>
            </a:r>
            <a:r>
              <a:rPr lang="en-CA" sz="1600" dirty="0" err="1">
                <a:latin typeface="Lucida Console" panose="020B0609040504020204" pitchFamily="49" charset="0"/>
              </a:rPr>
              <a:t>useState</a:t>
            </a:r>
            <a:r>
              <a:rPr lang="en-CA" sz="1600" dirty="0">
                <a:latin typeface="Lucida Console" panose="020B0609040504020204" pitchFamily="49" charset="0"/>
              </a:rPr>
              <a:t>({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  id: 23,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  </a:t>
            </a:r>
            <a:r>
              <a:rPr lang="en-CA" sz="1600" dirty="0" err="1">
                <a:latin typeface="Lucida Console" panose="020B0609040504020204" pitchFamily="49" charset="0"/>
              </a:rPr>
              <a:t>teamName</a:t>
            </a:r>
            <a:r>
              <a:rPr lang="en-CA" sz="1600" dirty="0">
                <a:latin typeface="Lucida Console" panose="020B0609040504020204" pitchFamily="49" charset="0"/>
              </a:rPr>
              <a:t>: 'Canucks',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  city: 'Vancouver'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});</a:t>
            </a:r>
          </a:p>
          <a:p>
            <a:endParaRPr lang="en-CA" sz="1600" dirty="0">
              <a:latin typeface="Lucida Console" panose="020B0609040504020204" pitchFamily="49" charset="0"/>
            </a:endParaRPr>
          </a:p>
          <a:p>
            <a:r>
              <a:rPr lang="en-CA" sz="1600" dirty="0">
                <a:latin typeface="Lucida Console" panose="020B0609040504020204" pitchFamily="49" charset="0"/>
              </a:rPr>
              <a:t>    return (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    &lt;</a:t>
            </a:r>
            <a:r>
              <a:rPr lang="en-CA" sz="1600" dirty="0" err="1">
                <a:latin typeface="Lucida Console" panose="020B0609040504020204" pitchFamily="49" charset="0"/>
              </a:rPr>
              <a:t>React.Fragment</a:t>
            </a:r>
            <a:r>
              <a:rPr lang="en-CA" sz="16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      &lt;div&gt;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        &lt;p&gt;Team Name: {</a:t>
            </a:r>
            <a:r>
              <a:rPr lang="en-CA" sz="1600" dirty="0" err="1">
                <a:latin typeface="Lucida Console" panose="020B0609040504020204" pitchFamily="49" charset="0"/>
              </a:rPr>
              <a:t>teamInfo.teamName</a:t>
            </a:r>
            <a:r>
              <a:rPr lang="en-CA" sz="1600" dirty="0">
                <a:latin typeface="Lucida Console" panose="020B0609040504020204" pitchFamily="49" charset="0"/>
              </a:rPr>
              <a:t>} &lt;/p&gt;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        &lt;p&gt;Team City: {</a:t>
            </a:r>
            <a:r>
              <a:rPr lang="en-CA" sz="1600" dirty="0" err="1">
                <a:latin typeface="Lucida Console" panose="020B0609040504020204" pitchFamily="49" charset="0"/>
              </a:rPr>
              <a:t>teamInfo.city</a:t>
            </a:r>
            <a:r>
              <a:rPr lang="en-CA" sz="1600" dirty="0">
                <a:latin typeface="Lucida Console" panose="020B0609040504020204" pitchFamily="49" charset="0"/>
              </a:rPr>
              <a:t>} &lt;/p&gt;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      &lt;/div&gt;          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    &lt;/</a:t>
            </a:r>
            <a:r>
              <a:rPr lang="en-CA" sz="1600" dirty="0" err="1">
                <a:latin typeface="Lucida Console" panose="020B0609040504020204" pitchFamily="49" charset="0"/>
              </a:rPr>
              <a:t>React.Fragment</a:t>
            </a:r>
            <a:r>
              <a:rPr lang="en-CA" sz="16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    );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}</a:t>
            </a:r>
          </a:p>
          <a:p>
            <a:r>
              <a:rPr lang="en-CA" sz="1600" dirty="0">
                <a:latin typeface="Lucida Console" panose="020B0609040504020204" pitchFamily="49" charset="0"/>
              </a:rPr>
              <a:t>export default </a:t>
            </a:r>
            <a:r>
              <a:rPr lang="en-CA" sz="1600" dirty="0" err="1">
                <a:latin typeface="Lucida Console" panose="020B0609040504020204" pitchFamily="49" charset="0"/>
              </a:rPr>
              <a:t>TeamDetailPage</a:t>
            </a:r>
            <a:r>
              <a:rPr lang="en-CA" sz="1600" dirty="0">
                <a:latin typeface="Lucida Console" panose="020B06090405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419841219"/>
      </p:ext>
    </p:extLst>
  </p:cSld>
  <p:clrMapOvr>
    <a:masterClrMapping/>
  </p:clrMapOvr>
</p:sld>
</file>

<file path=ppt/theme/theme1.xml><?xml version="1.0" encoding="utf-8"?>
<a:theme xmlns:a="http://schemas.openxmlformats.org/drawingml/2006/main" name="Sample presentation slides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White with Courier font for code slides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FF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09728" tIns="54864" rIns="109728" bIns="54864" numCol="1" rtlCol="0" anchor="ctr" anchorCtr="0" compatLnSpc="1">
        <a:prstTxWarp prst="textNoShape">
          <a:avLst/>
        </a:prstTxWarp>
      </a:bodyPr>
      <a:lstStyle>
        <a:defPPr marL="0" marR="0" indent="0" algn="ctr" defTabSz="10969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800" b="0" i="0" u="none" strike="noStrike" cap="none" normalizeH="0" baseline="0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DPE_Blue_PowerPoint_msp_v5 noIcon">
  <a:themeElements>
    <a:clrScheme name="Microsoft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FFB900"/>
      </a:accent1>
      <a:accent2>
        <a:srgbClr val="FF8C00"/>
      </a:accent2>
      <a:accent3>
        <a:srgbClr val="EB3C00"/>
      </a:accent3>
      <a:accent4>
        <a:srgbClr val="6DC2E9"/>
      </a:accent4>
      <a:accent5>
        <a:srgbClr val="00BCF2"/>
      </a:accent5>
      <a:accent6>
        <a:srgbClr val="0072C6"/>
      </a:accent6>
      <a:hlink>
        <a:srgbClr val="4C4C4C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rmAutofit/>
      </a:bodyPr>
      <a:lstStyle>
        <a:defPPr>
          <a:defRPr dirty="0" smtClean="0"/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>
  <documentManagement>
    <_dlc_DocId xmlns="c05f4a5d-d16b-44c8-8293-b90880d90e50">K2RP32A6R2C4-181-164</_dlc_DocId>
    <_dlc_DocIdUrl xmlns="c05f4a5d-d16b-44c8-8293-b90880d90e50">
      <Url>https://share.cas.bcit.ca/instructors/medhat/4870/13/_layouts/DocIdRedir.aspx?ID=K2RP32A6R2C4-181-164</Url>
      <Description>K2RP32A6R2C4-181-164</Description>
    </_dlc_DocIdUrl>
    <_dlc_DocIdPersistId xmlns="c05f4a5d-d16b-44c8-8293-b90880d90e50">false</_dlc_DocIdPersistI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LongProperties xmlns="http://schemas.microsoft.com/office/2006/metadata/longProperties"/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6100B53BEBC34089DF91FE3CB12594" ma:contentTypeVersion="0" ma:contentTypeDescription="Create a new document." ma:contentTypeScope="" ma:versionID="51b8e921e2e34903bb95176a63aa9374">
  <xsd:schema xmlns:xsd="http://www.w3.org/2001/XMLSchema" xmlns:xs="http://www.w3.org/2001/XMLSchema" xmlns:p="http://schemas.microsoft.com/office/2006/metadata/properties" xmlns:ns2="c05f4a5d-d16b-44c8-8293-b90880d90e50" targetNamespace="http://schemas.microsoft.com/office/2006/metadata/properties" ma:root="true" ma:fieldsID="1ce2d374ff67cd642228679a79cc4210" ns2:_="">
    <xsd:import namespace="c05f4a5d-d16b-44c8-8293-b90880d90e50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5f4a5d-d16b-44c8-8293-b90880d90e5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4B22D5-7CF6-4AB4-95BD-EFDFAE722BD4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5f4a5d-d16b-44c8-8293-b90880d90e50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3B3C79B-771D-4EB4-B260-2669CFFE1E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E53B74-43F2-41E9-96B8-A895D46CDBA5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8CA668B6-11E8-43A9-B1CB-D018D007F931}">
  <ds:schemaRefs>
    <ds:schemaRef ds:uri="http://schemas.microsoft.com/office/2006/metadata/longProperties"/>
  </ds:schemaRefs>
</ds:datastoreItem>
</file>

<file path=customXml/itemProps5.xml><?xml version="1.0" encoding="utf-8"?>
<ds:datastoreItem xmlns:ds="http://schemas.openxmlformats.org/officeDocument/2006/customXml" ds:itemID="{023D797F-31E7-4AA0-AE54-CCE9B5A34F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5f4a5d-d16b-44c8-8293-b90880d90e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Title of Presentation</Template>
  <TotalTime>3795</TotalTime>
  <Words>827</Words>
  <Application>Microsoft Macintosh PowerPoint</Application>
  <PresentationFormat>On-screen Show (4:3)</PresentationFormat>
  <Paragraphs>153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Arial</vt:lpstr>
      <vt:lpstr>Calibri</vt:lpstr>
      <vt:lpstr>Courier New</vt:lpstr>
      <vt:lpstr>Lucida Console</vt:lpstr>
      <vt:lpstr>Segoe Light</vt:lpstr>
      <vt:lpstr>Segoe UI</vt:lpstr>
      <vt:lpstr>Segoe WP SemiLight</vt:lpstr>
      <vt:lpstr>Times New Roman</vt:lpstr>
      <vt:lpstr>Wingdings</vt:lpstr>
      <vt:lpstr>Sample presentation slides</vt:lpstr>
      <vt:lpstr>White with Courier font for code slides</vt:lpstr>
      <vt:lpstr>DPE_Blue_PowerPoint_msp_v5 noIcon</vt:lpstr>
      <vt:lpstr>Introduction to React.js</vt:lpstr>
      <vt:lpstr>What is React.js</vt:lpstr>
      <vt:lpstr>Getting started</vt:lpstr>
      <vt:lpstr>Debug</vt:lpstr>
      <vt:lpstr>Traditional MV* frameworks</vt:lpstr>
      <vt:lpstr>Building components, not templates</vt:lpstr>
      <vt:lpstr>Pure JavaScript</vt:lpstr>
      <vt:lpstr>JSX (JavaScript XML)</vt:lpstr>
      <vt:lpstr>Benefits of React.js</vt:lpstr>
      <vt:lpstr>React.js virtual DOM</vt:lpstr>
      <vt:lpstr>Benefit of virtual DOM</vt:lpstr>
      <vt:lpstr>Creating components</vt:lpstr>
      <vt:lpstr>Component rendering</vt:lpstr>
      <vt:lpstr>Data Flow</vt:lpstr>
      <vt:lpstr>Parent</vt:lpstr>
      <vt:lpstr>Child</vt:lpstr>
      <vt:lpstr>State object</vt:lpstr>
      <vt:lpstr>Setting initial state</vt:lpstr>
    </vt:vector>
  </TitlesOfParts>
  <Company>BCIT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Lecture:- Course introduction</dc:title>
  <dc:subject>COMP  4570</dc:subject>
  <dc:creator>Medhat Elmasry</dc:creator>
  <cp:lastModifiedBy>Medhat Elmasry</cp:lastModifiedBy>
  <cp:revision>336</cp:revision>
  <cp:lastPrinted>1601-01-01T00:00:00Z</cp:lastPrinted>
  <dcterms:created xsi:type="dcterms:W3CDTF">2001-04-12T09:11:56Z</dcterms:created>
  <dcterms:modified xsi:type="dcterms:W3CDTF">2026-01-30T15:46:25Z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xd_Signature">
    <vt:lpwstr/>
  </property>
  <property fmtid="{D5CDD505-2E9C-101B-9397-08002B2CF9AE}" pid="4" name="TemplateUrl">
    <vt:lpwstr/>
  </property>
  <property fmtid="{D5CDD505-2E9C-101B-9397-08002B2CF9AE}" pid="5" name="xd_ProgID">
    <vt:lpwstr/>
  </property>
  <property fmtid="{D5CDD505-2E9C-101B-9397-08002B2CF9AE}" pid="6" name="_dlc_DocIdItemGuid">
    <vt:lpwstr>5de91d5d-a62a-42f0-9503-0c114f1a9c3d</vt:lpwstr>
  </property>
  <property fmtid="{D5CDD505-2E9C-101B-9397-08002B2CF9AE}" pid="7" name="ContentTypeId">
    <vt:lpwstr>0x010100516100B53BEBC34089DF91FE3CB12594</vt:lpwstr>
  </property>
  <property fmtid="{D5CDD505-2E9C-101B-9397-08002B2CF9AE}" pid="8" name="Order">
    <vt:r8>16400</vt:r8>
  </property>
</Properties>
</file>