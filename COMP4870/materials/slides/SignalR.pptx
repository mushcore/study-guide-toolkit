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1" r:id="rId5"/>
  </p:sldMasterIdLst>
  <p:notesMasterIdLst>
    <p:notesMasterId r:id="rId25"/>
  </p:notesMasterIdLst>
  <p:sldIdLst>
    <p:sldId id="256" r:id="rId6"/>
    <p:sldId id="379" r:id="rId7"/>
    <p:sldId id="267" r:id="rId8"/>
    <p:sldId id="359" r:id="rId9"/>
    <p:sldId id="378" r:id="rId10"/>
    <p:sldId id="361" r:id="rId11"/>
    <p:sldId id="362" r:id="rId12"/>
    <p:sldId id="363" r:id="rId13"/>
    <p:sldId id="380" r:id="rId14"/>
    <p:sldId id="309" r:id="rId15"/>
    <p:sldId id="352" r:id="rId16"/>
    <p:sldId id="377" r:id="rId17"/>
    <p:sldId id="355" r:id="rId18"/>
    <p:sldId id="356" r:id="rId19"/>
    <p:sldId id="353" r:id="rId20"/>
    <p:sldId id="372" r:id="rId21"/>
    <p:sldId id="373" r:id="rId22"/>
    <p:sldId id="374" r:id="rId23"/>
    <p:sldId id="375" r:id="rId2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1" autoAdjust="0"/>
    <p:restoredTop sz="83124" autoAdjust="0"/>
  </p:normalViewPr>
  <p:slideViewPr>
    <p:cSldViewPr>
      <p:cViewPr varScale="1">
        <p:scale>
          <a:sx n="53" d="100"/>
          <a:sy n="53" d="100"/>
        </p:scale>
        <p:origin x="143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E665CDD5-ABB2-44BF-A561-72D7DD2F2430}"/>
    <pc:docChg chg="custSel modSld">
      <pc:chgData name="Medhat Elmasry" userId="405e238c19f61b9e" providerId="LiveId" clId="{E665CDD5-ABB2-44BF-A561-72D7DD2F2430}" dt="2024-10-17T20:04:30.166" v="2" actId="1036"/>
      <pc:docMkLst>
        <pc:docMk/>
      </pc:docMkLst>
      <pc:sldChg chg="modSp mod">
        <pc:chgData name="Medhat Elmasry" userId="405e238c19f61b9e" providerId="LiveId" clId="{E665CDD5-ABB2-44BF-A561-72D7DD2F2430}" dt="2024-10-17T20:03:56.135" v="0" actId="20577"/>
        <pc:sldMkLst>
          <pc:docMk/>
          <pc:sldMk cId="4221101361" sldId="352"/>
        </pc:sldMkLst>
        <pc:spChg chg="mod">
          <ac:chgData name="Medhat Elmasry" userId="405e238c19f61b9e" providerId="LiveId" clId="{E665CDD5-ABB2-44BF-A561-72D7DD2F2430}" dt="2024-10-17T20:03:56.135" v="0" actId="20577"/>
          <ac:spMkLst>
            <pc:docMk/>
            <pc:sldMk cId="4221101361" sldId="352"/>
            <ac:spMk id="3" creationId="{00000000-0000-0000-0000-000000000000}"/>
          </ac:spMkLst>
        </pc:spChg>
      </pc:sldChg>
      <pc:sldChg chg="modSp mod">
        <pc:chgData name="Medhat Elmasry" userId="405e238c19f61b9e" providerId="LiveId" clId="{E665CDD5-ABB2-44BF-A561-72D7DD2F2430}" dt="2024-10-17T20:04:30.166" v="2" actId="1036"/>
        <pc:sldMkLst>
          <pc:docMk/>
          <pc:sldMk cId="1538765574" sldId="355"/>
        </pc:sldMkLst>
        <pc:spChg chg="mod">
          <ac:chgData name="Medhat Elmasry" userId="405e238c19f61b9e" providerId="LiveId" clId="{E665CDD5-ABB2-44BF-A561-72D7DD2F2430}" dt="2024-10-17T20:04:30.166" v="2" actId="1036"/>
          <ac:spMkLst>
            <pc:docMk/>
            <pc:sldMk cId="1538765574" sldId="355"/>
            <ac:spMk id="3" creationId="{00000000-0000-0000-0000-000000000000}"/>
          </ac:spMkLst>
        </pc:spChg>
      </pc:sldChg>
    </pc:docChg>
  </pc:docChgLst>
  <pc:docChgLst>
    <pc:chgData name="Medhat Elmasry" userId="405e238c19f61b9e" providerId="LiveId" clId="{E0465488-57A2-4FC1-B991-83AA775358AA}"/>
    <pc:docChg chg="custSel delSld modSld">
      <pc:chgData name="Medhat Elmasry" userId="405e238c19f61b9e" providerId="LiveId" clId="{E0465488-57A2-4FC1-B991-83AA775358AA}" dt="2019-04-01T22:20:00.174" v="68" actId="20577"/>
      <pc:docMkLst>
        <pc:docMk/>
      </pc:docMkLst>
      <pc:sldChg chg="modSp">
        <pc:chgData name="Medhat Elmasry" userId="405e238c19f61b9e" providerId="LiveId" clId="{E0465488-57A2-4FC1-B991-83AA775358AA}" dt="2019-04-01T18:37:16.626" v="63" actId="20577"/>
        <pc:sldMkLst>
          <pc:docMk/>
          <pc:sldMk cId="1538712967" sldId="309"/>
        </pc:sldMkLst>
        <pc:spChg chg="mod">
          <ac:chgData name="Medhat Elmasry" userId="405e238c19f61b9e" providerId="LiveId" clId="{E0465488-57A2-4FC1-B991-83AA775358AA}" dt="2019-04-01T18:37:16.626" v="63" actId="20577"/>
          <ac:spMkLst>
            <pc:docMk/>
            <pc:sldMk cId="1538712967" sldId="309"/>
            <ac:spMk id="3" creationId="{00000000-0000-0000-0000-000000000000}"/>
          </ac:spMkLst>
        </pc:spChg>
      </pc:sldChg>
      <pc:sldChg chg="del">
        <pc:chgData name="Medhat Elmasry" userId="405e238c19f61b9e" providerId="LiveId" clId="{E0465488-57A2-4FC1-B991-83AA775358AA}" dt="2019-04-01T18:32:43.056" v="0" actId="2696"/>
        <pc:sldMkLst>
          <pc:docMk/>
          <pc:sldMk cId="1865888090" sldId="351"/>
        </pc:sldMkLst>
      </pc:sldChg>
      <pc:sldChg chg="modSp">
        <pc:chgData name="Medhat Elmasry" userId="405e238c19f61b9e" providerId="LiveId" clId="{E0465488-57A2-4FC1-B991-83AA775358AA}" dt="2019-04-01T22:20:00.174" v="68" actId="20577"/>
        <pc:sldMkLst>
          <pc:docMk/>
          <pc:sldMk cId="1538765574" sldId="355"/>
        </pc:sldMkLst>
        <pc:spChg chg="mod">
          <ac:chgData name="Medhat Elmasry" userId="405e238c19f61b9e" providerId="LiveId" clId="{E0465488-57A2-4FC1-B991-83AA775358AA}" dt="2019-04-01T22:20:00.174" v="68" actId="20577"/>
          <ac:spMkLst>
            <pc:docMk/>
            <pc:sldMk cId="1538765574" sldId="355"/>
            <ac:spMk id="3" creationId="{00000000-0000-0000-0000-000000000000}"/>
          </ac:spMkLst>
        </pc:spChg>
      </pc:sldChg>
      <pc:sldChg chg="modSp">
        <pc:chgData name="Medhat Elmasry" userId="405e238c19f61b9e" providerId="LiveId" clId="{E0465488-57A2-4FC1-B991-83AA775358AA}" dt="2019-04-01T18:35:50.494" v="32" actId="20577"/>
        <pc:sldMkLst>
          <pc:docMk/>
          <pc:sldMk cId="2693879462" sldId="363"/>
        </pc:sldMkLst>
        <pc:spChg chg="mod">
          <ac:chgData name="Medhat Elmasry" userId="405e238c19f61b9e" providerId="LiveId" clId="{E0465488-57A2-4FC1-B991-83AA775358AA}" dt="2019-04-01T18:35:50.494" v="32" actId="20577"/>
          <ac:spMkLst>
            <pc:docMk/>
            <pc:sldMk cId="2693879462" sldId="363"/>
            <ac:spMk id="6" creationId="{00000000-0000-0000-0000-000000000000}"/>
          </ac:spMkLst>
        </pc:spChg>
      </pc:sldChg>
      <pc:sldChg chg="del">
        <pc:chgData name="Medhat Elmasry" userId="405e238c19f61b9e" providerId="LiveId" clId="{E0465488-57A2-4FC1-B991-83AA775358AA}" dt="2019-04-01T18:37:55.108" v="64" actId="2696"/>
        <pc:sldMkLst>
          <pc:docMk/>
          <pc:sldMk cId="4136674947" sldId="364"/>
        </pc:sldMkLst>
      </pc:sldChg>
      <pc:sldChg chg="del">
        <pc:chgData name="Medhat Elmasry" userId="405e238c19f61b9e" providerId="LiveId" clId="{E0465488-57A2-4FC1-B991-83AA775358AA}" dt="2019-04-01T18:38:17.615" v="66" actId="2696"/>
        <pc:sldMkLst>
          <pc:docMk/>
          <pc:sldMk cId="2125641777" sldId="365"/>
        </pc:sldMkLst>
      </pc:sldChg>
      <pc:sldChg chg="del">
        <pc:chgData name="Medhat Elmasry" userId="405e238c19f61b9e" providerId="LiveId" clId="{E0465488-57A2-4FC1-B991-83AA775358AA}" dt="2019-04-01T18:38:06.439" v="65" actId="2696"/>
        <pc:sldMkLst>
          <pc:docMk/>
          <pc:sldMk cId="771105042" sldId="376"/>
        </pc:sldMkLst>
      </pc:sldChg>
      <pc:sldChg chg="delSp modSp">
        <pc:chgData name="Medhat Elmasry" userId="405e238c19f61b9e" providerId="LiveId" clId="{E0465488-57A2-4FC1-B991-83AA775358AA}" dt="2019-04-01T18:34:39.863" v="12" actId="478"/>
        <pc:sldMkLst>
          <pc:docMk/>
          <pc:sldMk cId="3672841897" sldId="378"/>
        </pc:sldMkLst>
        <pc:spChg chg="del mod">
          <ac:chgData name="Medhat Elmasry" userId="405e238c19f61b9e" providerId="LiveId" clId="{E0465488-57A2-4FC1-B991-83AA775358AA}" dt="2019-04-01T18:34:39.863" v="12" actId="478"/>
          <ac:spMkLst>
            <pc:docMk/>
            <pc:sldMk cId="3672841897" sldId="378"/>
            <ac:spMk id="2" creationId="{00000000-0000-0000-0000-000000000000}"/>
          </ac:spMkLst>
        </pc:spChg>
        <pc:graphicFrameChg chg="mod">
          <ac:chgData name="Medhat Elmasry" userId="405e238c19f61b9e" providerId="LiveId" clId="{E0465488-57A2-4FC1-B991-83AA775358AA}" dt="2019-04-01T18:33:59.098" v="11" actId="20577"/>
          <ac:graphicFrameMkLst>
            <pc:docMk/>
            <pc:sldMk cId="3672841897" sldId="378"/>
            <ac:graphicFrameMk id="7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8CEA7-B2BD-4ACF-8D82-F73A1342D83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33E51-0D08-438D-B5BD-C3A1D3DD4ADD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Hub</a:t>
          </a:r>
        </a:p>
      </dgm:t>
    </dgm:pt>
    <dgm:pt modelId="{70CABB1F-29C1-4C98-9E67-B5A468A3DE78}" type="parTrans" cxnId="{DDD3F0B6-B613-4043-8A73-227E078F3B3F}">
      <dgm:prSet/>
      <dgm:spPr/>
      <dgm:t>
        <a:bodyPr/>
        <a:lstStyle/>
        <a:p>
          <a:endParaRPr lang="en-US"/>
        </a:p>
      </dgm:t>
    </dgm:pt>
    <dgm:pt modelId="{DE0C9512-9F92-4511-92D4-8435DDD63542}" type="sibTrans" cxnId="{DDD3F0B6-B613-4043-8A73-227E078F3B3F}">
      <dgm:prSet/>
      <dgm:spPr/>
      <dgm:t>
        <a:bodyPr/>
        <a:lstStyle/>
        <a:p>
          <a:endParaRPr lang="en-US"/>
        </a:p>
      </dgm:t>
    </dgm:pt>
    <dgm:pt modelId="{ADB11D41-8D0C-4517-8D2B-793853208968}">
      <dgm:prSet phldrT="[Text]" custT="1"/>
      <dgm:spPr>
        <a:ln>
          <a:solidFill>
            <a:srgbClr val="0070C0"/>
          </a:solidFill>
        </a:ln>
      </dgm:spPr>
      <dgm:t>
        <a:bodyPr/>
        <a:lstStyle/>
        <a:p>
          <a:r>
            <a:rPr lang="en-US" sz="1800" dirty="0"/>
            <a:t>A more high-level pipeline that allows your client and server to call methods on each other directly</a:t>
          </a:r>
        </a:p>
      </dgm:t>
    </dgm:pt>
    <dgm:pt modelId="{B284259E-B8D2-410B-B2D8-50E5007966B0}" type="parTrans" cxnId="{1EB3D3B6-9E13-43F2-A29F-A7583BBE7304}">
      <dgm:prSet/>
      <dgm:spPr/>
      <dgm:t>
        <a:bodyPr/>
        <a:lstStyle/>
        <a:p>
          <a:endParaRPr lang="en-US"/>
        </a:p>
      </dgm:t>
    </dgm:pt>
    <dgm:pt modelId="{C8EE6FA2-7D59-4129-BB58-3FCA59F6F394}" type="sibTrans" cxnId="{1EB3D3B6-9E13-43F2-A29F-A7583BBE7304}">
      <dgm:prSet/>
      <dgm:spPr/>
      <dgm:t>
        <a:bodyPr/>
        <a:lstStyle/>
        <a:p>
          <a:endParaRPr lang="en-US"/>
        </a:p>
      </dgm:t>
    </dgm:pt>
    <dgm:pt modelId="{B8BA02A1-85F2-4EB0-BB46-22F740ED7244}" type="pres">
      <dgm:prSet presAssocID="{0B88CEA7-B2BD-4ACF-8D82-F73A1342D835}" presName="linear" presStyleCnt="0">
        <dgm:presLayoutVars>
          <dgm:dir/>
          <dgm:animLvl val="lvl"/>
          <dgm:resizeHandles val="exact"/>
        </dgm:presLayoutVars>
      </dgm:prSet>
      <dgm:spPr/>
    </dgm:pt>
    <dgm:pt modelId="{7EC699C3-4645-4091-BCB3-1091E37A5322}" type="pres">
      <dgm:prSet presAssocID="{68533E51-0D08-438D-B5BD-C3A1D3DD4ADD}" presName="parentLin" presStyleCnt="0"/>
      <dgm:spPr/>
    </dgm:pt>
    <dgm:pt modelId="{79C2B6F6-1996-49E7-8B2F-A3816411A0BA}" type="pres">
      <dgm:prSet presAssocID="{68533E51-0D08-438D-B5BD-C3A1D3DD4ADD}" presName="parentLeftMargin" presStyleLbl="node1" presStyleIdx="0" presStyleCnt="1"/>
      <dgm:spPr/>
    </dgm:pt>
    <dgm:pt modelId="{5786D555-E37D-4653-8CD4-A1F5956330D6}" type="pres">
      <dgm:prSet presAssocID="{68533E51-0D08-438D-B5BD-C3A1D3DD4AD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9D7961A-D905-4D5E-8A96-B4F72CE197EF}" type="pres">
      <dgm:prSet presAssocID="{68533E51-0D08-438D-B5BD-C3A1D3DD4ADD}" presName="negativeSpace" presStyleCnt="0"/>
      <dgm:spPr/>
    </dgm:pt>
    <dgm:pt modelId="{174E648F-DD57-4F97-BCE8-9F8CA1255E2B}" type="pres">
      <dgm:prSet presAssocID="{68533E51-0D08-438D-B5BD-C3A1D3DD4AD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16290419-557F-4370-920C-5FFAA3B33060}" type="presOf" srcId="{68533E51-0D08-438D-B5BD-C3A1D3DD4ADD}" destId="{5786D555-E37D-4653-8CD4-A1F5956330D6}" srcOrd="1" destOrd="0" presId="urn:microsoft.com/office/officeart/2005/8/layout/list1"/>
    <dgm:cxn modelId="{AB462019-55E2-41E4-9580-8753FB194D83}" type="presOf" srcId="{0B88CEA7-B2BD-4ACF-8D82-F73A1342D835}" destId="{B8BA02A1-85F2-4EB0-BB46-22F740ED7244}" srcOrd="0" destOrd="0" presId="urn:microsoft.com/office/officeart/2005/8/layout/list1"/>
    <dgm:cxn modelId="{638E909B-A86D-4C70-AF02-2DEB96265BF9}" type="presOf" srcId="{ADB11D41-8D0C-4517-8D2B-793853208968}" destId="{174E648F-DD57-4F97-BCE8-9F8CA1255E2B}" srcOrd="0" destOrd="0" presId="urn:microsoft.com/office/officeart/2005/8/layout/list1"/>
    <dgm:cxn modelId="{FEF7DCB3-81DF-443A-A7A4-E264B4C6B717}" type="presOf" srcId="{68533E51-0D08-438D-B5BD-C3A1D3DD4ADD}" destId="{79C2B6F6-1996-49E7-8B2F-A3816411A0BA}" srcOrd="0" destOrd="0" presId="urn:microsoft.com/office/officeart/2005/8/layout/list1"/>
    <dgm:cxn modelId="{1EB3D3B6-9E13-43F2-A29F-A7583BBE7304}" srcId="{68533E51-0D08-438D-B5BD-C3A1D3DD4ADD}" destId="{ADB11D41-8D0C-4517-8D2B-793853208968}" srcOrd="0" destOrd="0" parTransId="{B284259E-B8D2-410B-B2D8-50E5007966B0}" sibTransId="{C8EE6FA2-7D59-4129-BB58-3FCA59F6F394}"/>
    <dgm:cxn modelId="{DDD3F0B6-B613-4043-8A73-227E078F3B3F}" srcId="{0B88CEA7-B2BD-4ACF-8D82-F73A1342D835}" destId="{68533E51-0D08-438D-B5BD-C3A1D3DD4ADD}" srcOrd="0" destOrd="0" parTransId="{70CABB1F-29C1-4C98-9E67-B5A468A3DE78}" sibTransId="{DE0C9512-9F92-4511-92D4-8435DDD63542}"/>
    <dgm:cxn modelId="{2E28232B-77F6-4632-A906-9372B723D90E}" type="presParOf" srcId="{B8BA02A1-85F2-4EB0-BB46-22F740ED7244}" destId="{7EC699C3-4645-4091-BCB3-1091E37A5322}" srcOrd="0" destOrd="0" presId="urn:microsoft.com/office/officeart/2005/8/layout/list1"/>
    <dgm:cxn modelId="{593EAF4B-6E1C-4FBF-999B-F168AD445AFA}" type="presParOf" srcId="{7EC699C3-4645-4091-BCB3-1091E37A5322}" destId="{79C2B6F6-1996-49E7-8B2F-A3816411A0BA}" srcOrd="0" destOrd="0" presId="urn:microsoft.com/office/officeart/2005/8/layout/list1"/>
    <dgm:cxn modelId="{2C007282-7C37-4ABC-9783-FE61D4D78696}" type="presParOf" srcId="{7EC699C3-4645-4091-BCB3-1091E37A5322}" destId="{5786D555-E37D-4653-8CD4-A1F5956330D6}" srcOrd="1" destOrd="0" presId="urn:microsoft.com/office/officeart/2005/8/layout/list1"/>
    <dgm:cxn modelId="{51EB9BD6-A584-49E0-AC90-5C5A190E25B1}" type="presParOf" srcId="{B8BA02A1-85F2-4EB0-BB46-22F740ED7244}" destId="{39D7961A-D905-4D5E-8A96-B4F72CE197EF}" srcOrd="1" destOrd="0" presId="urn:microsoft.com/office/officeart/2005/8/layout/list1"/>
    <dgm:cxn modelId="{3941A5CF-A459-4D72-A93A-EE67B58A04C7}" type="presParOf" srcId="{B8BA02A1-85F2-4EB0-BB46-22F740ED7244}" destId="{174E648F-DD57-4F97-BCE8-9F8CA1255E2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988717-777F-4797-9560-BB8A7EF78142}" type="doc">
      <dgm:prSet loTypeId="urn:microsoft.com/office/officeart/2005/8/layout/arrow2" loCatId="process" qsTypeId="urn:microsoft.com/office/officeart/2005/8/quickstyle/simple1" qsCatId="simple" csTypeId="urn:microsoft.com/office/officeart/2005/8/colors/accent0_3" csCatId="mainScheme" phldr="1"/>
      <dgm:spPr/>
    </dgm:pt>
    <dgm:pt modelId="{F02264A3-E2EE-4AC3-AEC6-504C4B057BAD}">
      <dgm:prSet phldrT="[Text]"/>
      <dgm:spPr/>
      <dgm:t>
        <a:bodyPr/>
        <a:lstStyle/>
        <a:p>
          <a:r>
            <a:rPr lang="en-US"/>
            <a:t>Long Polling</a:t>
          </a:r>
          <a:endParaRPr lang="en-US" dirty="0"/>
        </a:p>
      </dgm:t>
    </dgm:pt>
    <dgm:pt modelId="{AB194AC6-D055-44B4-988F-E19D8EFCD1B8}" type="parTrans" cxnId="{CA646D2B-6FE3-43C6-B7F6-A861AFD6013A}">
      <dgm:prSet/>
      <dgm:spPr/>
      <dgm:t>
        <a:bodyPr/>
        <a:lstStyle/>
        <a:p>
          <a:endParaRPr lang="en-US"/>
        </a:p>
      </dgm:t>
    </dgm:pt>
    <dgm:pt modelId="{8E5A67FC-30C0-467B-AF1D-080B6ADEF8C3}" type="sibTrans" cxnId="{CA646D2B-6FE3-43C6-B7F6-A861AFD6013A}">
      <dgm:prSet/>
      <dgm:spPr/>
      <dgm:t>
        <a:bodyPr/>
        <a:lstStyle/>
        <a:p>
          <a:endParaRPr lang="en-US"/>
        </a:p>
      </dgm:t>
    </dgm:pt>
    <dgm:pt modelId="{628398C6-E3B6-422F-8FBD-74ADBD783C82}">
      <dgm:prSet phldrT="[Text]"/>
      <dgm:spPr/>
      <dgm:t>
        <a:bodyPr/>
        <a:lstStyle/>
        <a:p>
          <a:r>
            <a:rPr lang="en-US"/>
            <a:t>Forever Frames</a:t>
          </a:r>
          <a:endParaRPr lang="en-US" dirty="0"/>
        </a:p>
      </dgm:t>
    </dgm:pt>
    <dgm:pt modelId="{94232122-4E09-43D3-800F-E9146F82E580}" type="parTrans" cxnId="{44B6514D-EF3C-43E9-93A1-D06D40E4563E}">
      <dgm:prSet/>
      <dgm:spPr/>
      <dgm:t>
        <a:bodyPr/>
        <a:lstStyle/>
        <a:p>
          <a:endParaRPr lang="en-US"/>
        </a:p>
      </dgm:t>
    </dgm:pt>
    <dgm:pt modelId="{C9176D7B-39E8-4E5A-A3F0-70704D49F941}" type="sibTrans" cxnId="{44B6514D-EF3C-43E9-93A1-D06D40E4563E}">
      <dgm:prSet/>
      <dgm:spPr/>
      <dgm:t>
        <a:bodyPr/>
        <a:lstStyle/>
        <a:p>
          <a:endParaRPr lang="en-US"/>
        </a:p>
      </dgm:t>
    </dgm:pt>
    <dgm:pt modelId="{906D2CCC-9E42-4009-B66B-FC49ECF678B3}">
      <dgm:prSet phldrT="[Text]"/>
      <dgm:spPr/>
      <dgm:t>
        <a:bodyPr/>
        <a:lstStyle/>
        <a:p>
          <a:r>
            <a:rPr lang="en-US"/>
            <a:t>Server Sent Events</a:t>
          </a:r>
          <a:endParaRPr lang="en-US" dirty="0"/>
        </a:p>
      </dgm:t>
    </dgm:pt>
    <dgm:pt modelId="{47A2451F-744C-4E8E-A681-DF599BA125BE}" type="parTrans" cxnId="{5F35F6CE-92BE-4522-B9CA-82593E57E21E}">
      <dgm:prSet/>
      <dgm:spPr/>
      <dgm:t>
        <a:bodyPr/>
        <a:lstStyle/>
        <a:p>
          <a:endParaRPr lang="en-US"/>
        </a:p>
      </dgm:t>
    </dgm:pt>
    <dgm:pt modelId="{E76F715F-B808-4581-A6ED-C8F898BA3168}" type="sibTrans" cxnId="{5F35F6CE-92BE-4522-B9CA-82593E57E21E}">
      <dgm:prSet/>
      <dgm:spPr/>
      <dgm:t>
        <a:bodyPr/>
        <a:lstStyle/>
        <a:p>
          <a:endParaRPr lang="en-US"/>
        </a:p>
      </dgm:t>
    </dgm:pt>
    <dgm:pt modelId="{FB25CB88-D0E9-4B3B-A840-98509C823001}">
      <dgm:prSet phldrT="[Text]"/>
      <dgm:spPr/>
      <dgm:t>
        <a:bodyPr/>
        <a:lstStyle/>
        <a:p>
          <a:r>
            <a:rPr lang="en-US"/>
            <a:t>Web Sockets</a:t>
          </a:r>
          <a:endParaRPr lang="en-US" dirty="0"/>
        </a:p>
      </dgm:t>
    </dgm:pt>
    <dgm:pt modelId="{F609127F-286D-4060-B6F1-3A722340E52B}" type="parTrans" cxnId="{9F3BA15D-1229-4F58-A35A-CB83D697B0A6}">
      <dgm:prSet/>
      <dgm:spPr/>
      <dgm:t>
        <a:bodyPr/>
        <a:lstStyle/>
        <a:p>
          <a:endParaRPr lang="en-US"/>
        </a:p>
      </dgm:t>
    </dgm:pt>
    <dgm:pt modelId="{37253A79-0569-4660-B389-7099221DB7E4}" type="sibTrans" cxnId="{9F3BA15D-1229-4F58-A35A-CB83D697B0A6}">
      <dgm:prSet/>
      <dgm:spPr/>
      <dgm:t>
        <a:bodyPr/>
        <a:lstStyle/>
        <a:p>
          <a:endParaRPr lang="en-US"/>
        </a:p>
      </dgm:t>
    </dgm:pt>
    <dgm:pt modelId="{7726A229-4354-4F0A-91B7-37E93A176B3C}" type="pres">
      <dgm:prSet presAssocID="{8D988717-777F-4797-9560-BB8A7EF78142}" presName="arrowDiagram" presStyleCnt="0">
        <dgm:presLayoutVars>
          <dgm:chMax val="5"/>
          <dgm:dir/>
          <dgm:resizeHandles val="exact"/>
        </dgm:presLayoutVars>
      </dgm:prSet>
      <dgm:spPr/>
    </dgm:pt>
    <dgm:pt modelId="{9780364F-DAB2-4569-95C8-4FF25ED31BA8}" type="pres">
      <dgm:prSet presAssocID="{8D988717-777F-4797-9560-BB8A7EF78142}" presName="arrow" presStyleLbl="bgShp" presStyleIdx="0" presStyleCnt="1"/>
      <dgm:spPr/>
    </dgm:pt>
    <dgm:pt modelId="{6CF452C3-43C4-4ED8-9E70-EDD05949340E}" type="pres">
      <dgm:prSet presAssocID="{8D988717-777F-4797-9560-BB8A7EF78142}" presName="arrowDiagram4" presStyleCnt="0"/>
      <dgm:spPr/>
    </dgm:pt>
    <dgm:pt modelId="{5E10B001-5007-4EED-B2F5-6DA2D8943C72}" type="pres">
      <dgm:prSet presAssocID="{F02264A3-E2EE-4AC3-AEC6-504C4B057BAD}" presName="bullet4a" presStyleLbl="node1" presStyleIdx="0" presStyleCnt="4"/>
      <dgm:spPr>
        <a:solidFill>
          <a:srgbClr val="0070C0"/>
        </a:solidFill>
      </dgm:spPr>
    </dgm:pt>
    <dgm:pt modelId="{D18E6E86-A669-4A2C-9E23-F03F45ED4370}" type="pres">
      <dgm:prSet presAssocID="{F02264A3-E2EE-4AC3-AEC6-504C4B057BAD}" presName="textBox4a" presStyleLbl="revTx" presStyleIdx="0" presStyleCnt="4">
        <dgm:presLayoutVars>
          <dgm:bulletEnabled val="1"/>
        </dgm:presLayoutVars>
      </dgm:prSet>
      <dgm:spPr/>
    </dgm:pt>
    <dgm:pt modelId="{314E5524-C4E9-40AE-B923-43854ECB959D}" type="pres">
      <dgm:prSet presAssocID="{628398C6-E3B6-422F-8FBD-74ADBD783C82}" presName="bullet4b" presStyleLbl="node1" presStyleIdx="1" presStyleCnt="4"/>
      <dgm:spPr>
        <a:solidFill>
          <a:srgbClr val="0070C0"/>
        </a:solidFill>
      </dgm:spPr>
    </dgm:pt>
    <dgm:pt modelId="{F823A30D-D60C-4F0E-8BB3-92E2B6408E58}" type="pres">
      <dgm:prSet presAssocID="{628398C6-E3B6-422F-8FBD-74ADBD783C82}" presName="textBox4b" presStyleLbl="revTx" presStyleIdx="1" presStyleCnt="4">
        <dgm:presLayoutVars>
          <dgm:bulletEnabled val="1"/>
        </dgm:presLayoutVars>
      </dgm:prSet>
      <dgm:spPr/>
    </dgm:pt>
    <dgm:pt modelId="{4AD552D1-E21A-4290-AB00-C68E38E22D1A}" type="pres">
      <dgm:prSet presAssocID="{906D2CCC-9E42-4009-B66B-FC49ECF678B3}" presName="bullet4c" presStyleLbl="node1" presStyleIdx="2" presStyleCnt="4"/>
      <dgm:spPr>
        <a:solidFill>
          <a:srgbClr val="0070C0"/>
        </a:solidFill>
      </dgm:spPr>
    </dgm:pt>
    <dgm:pt modelId="{6F901ED6-9CB8-426B-B47B-4163C726B088}" type="pres">
      <dgm:prSet presAssocID="{906D2CCC-9E42-4009-B66B-FC49ECF678B3}" presName="textBox4c" presStyleLbl="revTx" presStyleIdx="2" presStyleCnt="4">
        <dgm:presLayoutVars>
          <dgm:bulletEnabled val="1"/>
        </dgm:presLayoutVars>
      </dgm:prSet>
      <dgm:spPr/>
    </dgm:pt>
    <dgm:pt modelId="{8BBA28EF-3953-4EC8-8642-CE2A62822D0B}" type="pres">
      <dgm:prSet presAssocID="{FB25CB88-D0E9-4B3B-A840-98509C823001}" presName="bullet4d" presStyleLbl="node1" presStyleIdx="3" presStyleCnt="4"/>
      <dgm:spPr>
        <a:solidFill>
          <a:srgbClr val="0070C0"/>
        </a:solidFill>
      </dgm:spPr>
    </dgm:pt>
    <dgm:pt modelId="{35169B2D-B78D-4BAF-B933-4C04BE2C8904}" type="pres">
      <dgm:prSet presAssocID="{FB25CB88-D0E9-4B3B-A840-98509C823001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FEAF691B-F05D-40BC-9A71-1B4E13567759}" type="presOf" srcId="{8D988717-777F-4797-9560-BB8A7EF78142}" destId="{7726A229-4354-4F0A-91B7-37E93A176B3C}" srcOrd="0" destOrd="0" presId="urn:microsoft.com/office/officeart/2005/8/layout/arrow2"/>
    <dgm:cxn modelId="{CA646D2B-6FE3-43C6-B7F6-A861AFD6013A}" srcId="{8D988717-777F-4797-9560-BB8A7EF78142}" destId="{F02264A3-E2EE-4AC3-AEC6-504C4B057BAD}" srcOrd="0" destOrd="0" parTransId="{AB194AC6-D055-44B4-988F-E19D8EFCD1B8}" sibTransId="{8E5A67FC-30C0-467B-AF1D-080B6ADEF8C3}"/>
    <dgm:cxn modelId="{9F3BA15D-1229-4F58-A35A-CB83D697B0A6}" srcId="{8D988717-777F-4797-9560-BB8A7EF78142}" destId="{FB25CB88-D0E9-4B3B-A840-98509C823001}" srcOrd="3" destOrd="0" parTransId="{F609127F-286D-4060-B6F1-3A722340E52B}" sibTransId="{37253A79-0569-4660-B389-7099221DB7E4}"/>
    <dgm:cxn modelId="{5FABAF43-8160-4048-AB8A-AF7F74469579}" type="presOf" srcId="{906D2CCC-9E42-4009-B66B-FC49ECF678B3}" destId="{6F901ED6-9CB8-426B-B47B-4163C726B088}" srcOrd="0" destOrd="0" presId="urn:microsoft.com/office/officeart/2005/8/layout/arrow2"/>
    <dgm:cxn modelId="{A7689F4C-7B46-4E16-975E-BA41DE6A3C7C}" type="presOf" srcId="{FB25CB88-D0E9-4B3B-A840-98509C823001}" destId="{35169B2D-B78D-4BAF-B933-4C04BE2C8904}" srcOrd="0" destOrd="0" presId="urn:microsoft.com/office/officeart/2005/8/layout/arrow2"/>
    <dgm:cxn modelId="{44B6514D-EF3C-43E9-93A1-D06D40E4563E}" srcId="{8D988717-777F-4797-9560-BB8A7EF78142}" destId="{628398C6-E3B6-422F-8FBD-74ADBD783C82}" srcOrd="1" destOrd="0" parTransId="{94232122-4E09-43D3-800F-E9146F82E580}" sibTransId="{C9176D7B-39E8-4E5A-A3F0-70704D49F941}"/>
    <dgm:cxn modelId="{E25A37C4-FF79-48CD-8B35-8FC4F71283A9}" type="presOf" srcId="{F02264A3-E2EE-4AC3-AEC6-504C4B057BAD}" destId="{D18E6E86-A669-4A2C-9E23-F03F45ED4370}" srcOrd="0" destOrd="0" presId="urn:microsoft.com/office/officeart/2005/8/layout/arrow2"/>
    <dgm:cxn modelId="{5F35F6CE-92BE-4522-B9CA-82593E57E21E}" srcId="{8D988717-777F-4797-9560-BB8A7EF78142}" destId="{906D2CCC-9E42-4009-B66B-FC49ECF678B3}" srcOrd="2" destOrd="0" parTransId="{47A2451F-744C-4E8E-A681-DF599BA125BE}" sibTransId="{E76F715F-B808-4581-A6ED-C8F898BA3168}"/>
    <dgm:cxn modelId="{D9C32BDF-1B12-4AD1-9D66-3F6F46C264A6}" type="presOf" srcId="{628398C6-E3B6-422F-8FBD-74ADBD783C82}" destId="{F823A30D-D60C-4F0E-8BB3-92E2B6408E58}" srcOrd="0" destOrd="0" presId="urn:microsoft.com/office/officeart/2005/8/layout/arrow2"/>
    <dgm:cxn modelId="{DC25B42C-4228-4261-829F-C90CF6F687FC}" type="presParOf" srcId="{7726A229-4354-4F0A-91B7-37E93A176B3C}" destId="{9780364F-DAB2-4569-95C8-4FF25ED31BA8}" srcOrd="0" destOrd="0" presId="urn:microsoft.com/office/officeart/2005/8/layout/arrow2"/>
    <dgm:cxn modelId="{4E47CA48-1EFE-42EC-8BF1-7DB46BC1BFEA}" type="presParOf" srcId="{7726A229-4354-4F0A-91B7-37E93A176B3C}" destId="{6CF452C3-43C4-4ED8-9E70-EDD05949340E}" srcOrd="1" destOrd="0" presId="urn:microsoft.com/office/officeart/2005/8/layout/arrow2"/>
    <dgm:cxn modelId="{A2BDE8AF-CB8D-4A4D-A382-4D7326B9CA77}" type="presParOf" srcId="{6CF452C3-43C4-4ED8-9E70-EDD05949340E}" destId="{5E10B001-5007-4EED-B2F5-6DA2D8943C72}" srcOrd="0" destOrd="0" presId="urn:microsoft.com/office/officeart/2005/8/layout/arrow2"/>
    <dgm:cxn modelId="{ABCAC6BE-9293-4830-BC2E-B23C03E90D46}" type="presParOf" srcId="{6CF452C3-43C4-4ED8-9E70-EDD05949340E}" destId="{D18E6E86-A669-4A2C-9E23-F03F45ED4370}" srcOrd="1" destOrd="0" presId="urn:microsoft.com/office/officeart/2005/8/layout/arrow2"/>
    <dgm:cxn modelId="{8BA5D2EE-EAE6-45F9-8645-DCB0C7583947}" type="presParOf" srcId="{6CF452C3-43C4-4ED8-9E70-EDD05949340E}" destId="{314E5524-C4E9-40AE-B923-43854ECB959D}" srcOrd="2" destOrd="0" presId="urn:microsoft.com/office/officeart/2005/8/layout/arrow2"/>
    <dgm:cxn modelId="{52B42925-7D2C-4BFD-BB79-67C2C70E60FB}" type="presParOf" srcId="{6CF452C3-43C4-4ED8-9E70-EDD05949340E}" destId="{F823A30D-D60C-4F0E-8BB3-92E2B6408E58}" srcOrd="3" destOrd="0" presId="urn:microsoft.com/office/officeart/2005/8/layout/arrow2"/>
    <dgm:cxn modelId="{1DBE3238-3CEE-4840-8F68-521AD65AB8DA}" type="presParOf" srcId="{6CF452C3-43C4-4ED8-9E70-EDD05949340E}" destId="{4AD552D1-E21A-4290-AB00-C68E38E22D1A}" srcOrd="4" destOrd="0" presId="urn:microsoft.com/office/officeart/2005/8/layout/arrow2"/>
    <dgm:cxn modelId="{5E811372-DFA8-4746-903C-5923A3E60F85}" type="presParOf" srcId="{6CF452C3-43C4-4ED8-9E70-EDD05949340E}" destId="{6F901ED6-9CB8-426B-B47B-4163C726B088}" srcOrd="5" destOrd="0" presId="urn:microsoft.com/office/officeart/2005/8/layout/arrow2"/>
    <dgm:cxn modelId="{AC629BB9-3A23-4445-835E-B45DE530A22A}" type="presParOf" srcId="{6CF452C3-43C4-4ED8-9E70-EDD05949340E}" destId="{8BBA28EF-3953-4EC8-8642-CE2A62822D0B}" srcOrd="6" destOrd="0" presId="urn:microsoft.com/office/officeart/2005/8/layout/arrow2"/>
    <dgm:cxn modelId="{7A3B23DC-C63B-4521-81A8-69C98B980EC4}" type="presParOf" srcId="{6CF452C3-43C4-4ED8-9E70-EDD05949340E}" destId="{35169B2D-B78D-4BAF-B933-4C04BE2C8904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E648F-DD57-4F97-BCE8-9F8CA1255E2B}">
      <dsp:nvSpPr>
        <dsp:cNvPr id="0" name=""/>
        <dsp:cNvSpPr/>
      </dsp:nvSpPr>
      <dsp:spPr>
        <a:xfrm>
          <a:off x="0" y="1465918"/>
          <a:ext cx="8643937" cy="19963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0866" tIns="1353820" rIns="67086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more high-level pipeline that allows your client and server to call methods on each other directly</a:t>
          </a:r>
        </a:p>
      </dsp:txBody>
      <dsp:txXfrm>
        <a:off x="0" y="1465918"/>
        <a:ext cx="8643937" cy="1996312"/>
      </dsp:txXfrm>
    </dsp:sp>
    <dsp:sp modelId="{5786D555-E37D-4653-8CD4-A1F5956330D6}">
      <dsp:nvSpPr>
        <dsp:cNvPr id="0" name=""/>
        <dsp:cNvSpPr/>
      </dsp:nvSpPr>
      <dsp:spPr>
        <a:xfrm>
          <a:off x="432196" y="506518"/>
          <a:ext cx="6050755" cy="1918800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704" tIns="0" rIns="228704" bIns="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Hub</a:t>
          </a:r>
        </a:p>
      </dsp:txBody>
      <dsp:txXfrm>
        <a:off x="525864" y="600186"/>
        <a:ext cx="5863419" cy="1731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0364F-DAB2-4569-95C8-4FF25ED31BA8}">
      <dsp:nvSpPr>
        <dsp:cNvPr id="0" name=""/>
        <dsp:cNvSpPr/>
      </dsp:nvSpPr>
      <dsp:spPr>
        <a:xfrm>
          <a:off x="0" y="35362"/>
          <a:ext cx="6736737" cy="4210460"/>
        </a:xfrm>
        <a:prstGeom prst="swooshArrow">
          <a:avLst>
            <a:gd name="adj1" fmla="val 25000"/>
            <a:gd name="adj2" fmla="val 25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0B001-5007-4EED-B2F5-6DA2D8943C72}">
      <dsp:nvSpPr>
        <dsp:cNvPr id="0" name=""/>
        <dsp:cNvSpPr/>
      </dsp:nvSpPr>
      <dsp:spPr>
        <a:xfrm>
          <a:off x="663568" y="3166260"/>
          <a:ext cx="154944" cy="154944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E6E86-A669-4A2C-9E23-F03F45ED4370}">
      <dsp:nvSpPr>
        <dsp:cNvPr id="0" name=""/>
        <dsp:cNvSpPr/>
      </dsp:nvSpPr>
      <dsp:spPr>
        <a:xfrm>
          <a:off x="741041" y="3243733"/>
          <a:ext cx="1151982" cy="1002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02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Long Polling</a:t>
          </a:r>
          <a:endParaRPr lang="en-US" sz="2900" kern="1200" dirty="0"/>
        </a:p>
      </dsp:txBody>
      <dsp:txXfrm>
        <a:off x="741041" y="3243733"/>
        <a:ext cx="1151982" cy="1002089"/>
      </dsp:txXfrm>
    </dsp:sp>
    <dsp:sp modelId="{314E5524-C4E9-40AE-B923-43854ECB959D}">
      <dsp:nvSpPr>
        <dsp:cNvPr id="0" name=""/>
        <dsp:cNvSpPr/>
      </dsp:nvSpPr>
      <dsp:spPr>
        <a:xfrm>
          <a:off x="1758288" y="2186907"/>
          <a:ext cx="269469" cy="269469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3A30D-D60C-4F0E-8BB3-92E2B6408E58}">
      <dsp:nvSpPr>
        <dsp:cNvPr id="0" name=""/>
        <dsp:cNvSpPr/>
      </dsp:nvSpPr>
      <dsp:spPr>
        <a:xfrm>
          <a:off x="1893023" y="2321642"/>
          <a:ext cx="1414714" cy="1924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786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Forever Frames</a:t>
          </a:r>
          <a:endParaRPr lang="en-US" sz="2900" kern="1200" dirty="0"/>
        </a:p>
      </dsp:txBody>
      <dsp:txXfrm>
        <a:off x="1893023" y="2321642"/>
        <a:ext cx="1414714" cy="1924180"/>
      </dsp:txXfrm>
    </dsp:sp>
    <dsp:sp modelId="{4AD552D1-E21A-4290-AB00-C68E38E22D1A}">
      <dsp:nvSpPr>
        <dsp:cNvPr id="0" name=""/>
        <dsp:cNvSpPr/>
      </dsp:nvSpPr>
      <dsp:spPr>
        <a:xfrm>
          <a:off x="3156161" y="1465234"/>
          <a:ext cx="357047" cy="357047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01ED6-9CB8-426B-B47B-4163C726B088}">
      <dsp:nvSpPr>
        <dsp:cNvPr id="0" name=""/>
        <dsp:cNvSpPr/>
      </dsp:nvSpPr>
      <dsp:spPr>
        <a:xfrm>
          <a:off x="3334684" y="1643758"/>
          <a:ext cx="1414714" cy="2602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192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Server Sent Events</a:t>
          </a:r>
          <a:endParaRPr lang="en-US" sz="2900" kern="1200" dirty="0"/>
        </a:p>
      </dsp:txBody>
      <dsp:txXfrm>
        <a:off x="3334684" y="1643758"/>
        <a:ext cx="1414714" cy="2602064"/>
      </dsp:txXfrm>
    </dsp:sp>
    <dsp:sp modelId="{8BBA28EF-3953-4EC8-8642-CE2A62822D0B}">
      <dsp:nvSpPr>
        <dsp:cNvPr id="0" name=""/>
        <dsp:cNvSpPr/>
      </dsp:nvSpPr>
      <dsp:spPr>
        <a:xfrm>
          <a:off x="4678663" y="987768"/>
          <a:ext cx="478308" cy="478308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69B2D-B78D-4BAF-B933-4C04BE2C8904}">
      <dsp:nvSpPr>
        <dsp:cNvPr id="0" name=""/>
        <dsp:cNvSpPr/>
      </dsp:nvSpPr>
      <dsp:spPr>
        <a:xfrm>
          <a:off x="4917818" y="1226922"/>
          <a:ext cx="1414714" cy="301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446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Web Sockets</a:t>
          </a:r>
          <a:endParaRPr lang="en-US" sz="2900" kern="1200" dirty="0"/>
        </a:p>
      </dsp:txBody>
      <dsp:txXfrm>
        <a:off x="4917818" y="1226922"/>
        <a:ext cx="1414714" cy="3018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B2C53EDC-CD28-42A5-8C8E-204ED3F356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552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115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C53EDC-CD28-42A5-8C8E-204ED3F356C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54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12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Project &gt;&gt;</a:t>
            </a:r>
            <a:r>
              <a:rPr lang="en-US" baseline="0" dirty="0"/>
              <a:t> Web &gt;&gt; Empty Web Application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Install-package </a:t>
            </a:r>
            <a:r>
              <a:rPr lang="en-US" dirty="0" err="1"/>
              <a:t>SignalR.Sample</a:t>
            </a:r>
            <a:endParaRPr lang="en-US" dirty="0"/>
          </a:p>
          <a:p>
            <a:endParaRPr lang="en-US" dirty="0"/>
          </a:p>
          <a:p>
            <a:r>
              <a:rPr lang="en-US" dirty="0"/>
              <a:t>Install-Package </a:t>
            </a:r>
            <a:r>
              <a:rPr lang="en-US" dirty="0" err="1"/>
              <a:t>Microsoft.AspNet.SignalR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C53EDC-CD28-42A5-8C8E-204ED3F356C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0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8C67A6-C0E7-47DF-97C2-CA9B112753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82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54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49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04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50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_0000_Layer Comp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52813" y="43913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34" name="Rectangle 33"/>
          <p:cNvSpPr/>
          <p:nvPr/>
        </p:nvSpPr>
        <p:spPr>
          <a:xfrm flipH="1">
            <a:off x="4752814" y="532810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5" name="Rectangle 34"/>
          <p:cNvSpPr/>
          <p:nvPr/>
        </p:nvSpPr>
        <p:spPr>
          <a:xfrm flipH="1">
            <a:off x="4299183" y="532527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6" name="Rectangle 35"/>
          <p:cNvSpPr/>
          <p:nvPr/>
        </p:nvSpPr>
        <p:spPr>
          <a:xfrm flipH="1">
            <a:off x="4504979" y="499564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145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96597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043781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1_Layer Comp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24620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2293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7" name="Rectangle 16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40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81600" y="397370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24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89579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1_Layer Comp 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10272" r="17057" b="7457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52" y="449235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2" name="Rectangle 11"/>
          <p:cNvSpPr/>
          <p:nvPr/>
        </p:nvSpPr>
        <p:spPr>
          <a:xfrm flipH="1">
            <a:off x="658353" y="5338203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204722" y="5335371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410517" y="5005741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970331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C12_Sam_001_16x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129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09337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0933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51791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5309337" y="5435916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 flipH="1">
            <a:off x="4855707" y="543308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5061503" y="5103454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16802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2_Layer Comp 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r="847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066" y="40829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3" name="Rectangle 12"/>
          <p:cNvSpPr/>
          <p:nvPr/>
        </p:nvSpPr>
        <p:spPr>
          <a:xfrm flipH="1">
            <a:off x="653067" y="529726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199436" y="529443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 flipH="1">
            <a:off x="405232" y="496480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665224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0003_Layer Comp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233581" y="327541"/>
            <a:ext cx="3184052" cy="516795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33582" y="1734558"/>
            <a:ext cx="3184050" cy="1954348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3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74225" y="4706299"/>
            <a:ext cx="2902766" cy="572695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2689" y="5567949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2" name="Rectangle 31"/>
          <p:cNvSpPr/>
          <p:nvPr/>
        </p:nvSpPr>
        <p:spPr>
          <a:xfrm>
            <a:off x="8472689" y="523828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/>
          <p:cNvSpPr/>
          <p:nvPr/>
        </p:nvSpPr>
        <p:spPr>
          <a:xfrm>
            <a:off x="7611117" y="556851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505234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27067" y="619519"/>
            <a:ext cx="7302500" cy="36307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027068" y="1794192"/>
            <a:ext cx="7301768" cy="1107016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35072" y="2902660"/>
            <a:ext cx="6993764" cy="559473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643" y="4323286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778221" y="399365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027068" y="432350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7922833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5768D-597F-444B-9A31-18D8449AA4CF}" type="datetime1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13517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91C6F-EFA8-46E8-BCB7-BE83D7CA91F7}" type="datetime1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455466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CBEFB-FBB2-43EC-819E-C1995C229489}" type="datetime1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615198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33400" y="3810000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32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754676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 descr="WIN11_Sarah_01_PP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32" b="-232"/>
          <a:stretch/>
        </p:blipFill>
        <p:spPr>
          <a:xfrm>
            <a:off x="356017" y="1687908"/>
            <a:ext cx="2743200" cy="3657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208423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179" y="1683559"/>
            <a:ext cx="2739318" cy="365242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5583960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18" y="1687908"/>
            <a:ext cx="2734056" cy="36454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446140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935" y="1690573"/>
            <a:ext cx="2729723" cy="36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668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65E5-D49D-488B-953C-8D72A2115E0A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32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8229600" cy="49053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 dirty="0" smtClean="0"/>
            </a:lvl1pPr>
            <a:lvl2pPr>
              <a:defRPr lang="en-US" sz="24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0258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8229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5BB4-6839-4F7D-B1DB-ED40FD8DB602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59556748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0416-FC3C-4D8F-A2B6-C0424F15D7C3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7792003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94B8-74E1-4FD5-B9F4-CB262C43468F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8030493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BAB4-895E-4208-A8FC-7DF1CD2B69DD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32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82202501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6318-EE40-48FD-B84D-0821338283C1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56653337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66DA-406B-4F27-B199-A4D44B5544E0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62029737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061E2-E31F-4DAF-A1E3-8E72CD07C689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74694838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FC41-CC29-413B-B475-E22B8620836E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1675487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67C0-6C15-4F65-B4D1-7C420B23675E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68178753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870E-468C-47D4-83F1-4BBAE04CEBED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24195188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294F-77DC-420B-BC77-5A5D9746E316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14763757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197-BFD1-4D64-BB08-8012D6A3FFC4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6" name="Rectangle 25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114306742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651C4-5CC1-49C0-A1E3-C3A1981755A1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2" y="281943"/>
            <a:ext cx="8244357" cy="582841"/>
          </a:xfrm>
        </p:spPr>
        <p:txBody>
          <a:bodyPr vert="horz" lIns="91440" tIns="0" rIns="91440" bIns="45720" rtlCol="0" anchor="t" anchorCtr="0">
            <a:noAutofit/>
          </a:bodyPr>
          <a:lstStyle>
            <a:lvl1pPr>
              <a:defRPr lang="en-US" b="0" dirty="0">
                <a:solidFill>
                  <a:srgbClr val="0072C6"/>
                </a:solidFill>
              </a:defRPr>
            </a:lvl1pPr>
          </a:lstStyle>
          <a:p>
            <a:pPr lvl="0"/>
            <a:r>
              <a:rPr lang="en-US" dirty="0"/>
              <a:t>title of text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220286435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0AC9-E131-4B5D-86D9-149A03CD6B9E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758105031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B3D1-9C0C-4794-AA64-A33FBE08A51B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727881600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5862-C215-4E95-92B2-D9BAE5EF8781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6576867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37278-374E-4751-A05F-60A4BD131932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628147496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2BBE-4F35-41B0-B8FE-6919D2F5576E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6903377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7E77E-94E6-4BED-81F4-7874A0191B24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6953819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FF44-CACF-4E76-A58D-D0628EB55756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8"/>
            <a:ext cx="1409346" cy="1870668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68083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2515"/>
            <a:ext cx="1403350" cy="1859168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50" y="3804719"/>
            <a:ext cx="1409345" cy="1872369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40126990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7565-76E0-4063-952F-22E1C4CEA4E0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22"/>
            <a:ext cx="1409346" cy="1856153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53569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3567"/>
            <a:ext cx="1403350" cy="1858600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47" y="3806420"/>
            <a:ext cx="1409345" cy="1856153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248675990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85F-5957-4B7B-A01B-50AA0559DB2E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611903695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88F4F-C858-4A4C-B79F-358B7C08A490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110778132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3"/>
            <a:ext cx="8382000" cy="2210863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35302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74918"/>
      </p:ext>
    </p:extLst>
  </p:cSld>
  <p:clrMapOvr>
    <a:masterClrMapping/>
  </p:clrMapOvr>
  <p:transition>
    <p:fade/>
  </p:transition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6"/>
            <a:ext cx="4114800" cy="2129815"/>
          </a:xfrm>
        </p:spPr>
        <p:txBody>
          <a:bodyPr/>
          <a:lstStyle>
            <a:lvl1pPr marL="191237" indent="-191237">
              <a:lnSpc>
                <a:spcPct val="90000"/>
              </a:lnSpc>
              <a:defRPr sz="1575"/>
            </a:lvl1pPr>
            <a:lvl2pPr marL="378753" indent="-183051">
              <a:lnSpc>
                <a:spcPct val="90000"/>
              </a:lnSpc>
              <a:defRPr sz="1350"/>
            </a:lvl2pPr>
            <a:lvl3pPr marL="536504" indent="-162216">
              <a:lnSpc>
                <a:spcPct val="90000"/>
              </a:lnSpc>
              <a:defRPr sz="1125"/>
            </a:lvl3pPr>
            <a:lvl4pPr marL="690536" indent="-154031">
              <a:lnSpc>
                <a:spcPct val="90000"/>
              </a:lnSpc>
              <a:defRPr sz="1013"/>
            </a:lvl4pPr>
            <a:lvl5pPr marL="852752" indent="-15775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6"/>
            <a:ext cx="4114800" cy="2129815"/>
          </a:xfrm>
        </p:spPr>
        <p:txBody>
          <a:bodyPr/>
          <a:lstStyle>
            <a:lvl1pPr marL="195702" indent="-195702">
              <a:lnSpc>
                <a:spcPct val="90000"/>
              </a:lnSpc>
              <a:defRPr sz="1575"/>
            </a:lvl1pPr>
            <a:lvl2pPr marL="378753" indent="-191237">
              <a:lnSpc>
                <a:spcPct val="90000"/>
              </a:lnSpc>
              <a:defRPr sz="1350"/>
            </a:lvl2pPr>
            <a:lvl3pPr marL="540969" indent="-170402">
              <a:lnSpc>
                <a:spcPct val="90000"/>
              </a:lnSpc>
              <a:defRPr sz="1125"/>
            </a:lvl3pPr>
            <a:lvl4pPr marL="690536" indent="-149567">
              <a:lnSpc>
                <a:spcPct val="90000"/>
              </a:lnSpc>
              <a:defRPr sz="1013"/>
            </a:lvl4pPr>
            <a:lvl5pPr marL="852752" indent="-15403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117904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1" y="1905002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50" y="4344990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0944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150334"/>
      </p:ext>
    </p:extLst>
  </p:cSld>
  <p:clrMapOvr>
    <a:masterClrMapping/>
  </p:clrMapOvr>
  <p:transition>
    <p:fade/>
  </p:transition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1"/>
            <a:ext cx="8534400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E7D11901-920F-40E9-9358-02F7474122C6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86500"/>
            <a:ext cx="4953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1" y="6286500"/>
            <a:ext cx="1685924" cy="457200"/>
          </a:xfrm>
          <a:prstGeom prst="rect">
            <a:avLst/>
          </a:prstGeom>
        </p:spPr>
        <p:txBody>
          <a:bodyPr/>
          <a:lstStyle>
            <a:lvl1pPr>
              <a:defRPr sz="1200" dirty="0" smtClean="0"/>
            </a:lvl1pPr>
          </a:lstStyle>
          <a:p>
            <a:pPr>
              <a:defRPr/>
            </a:pPr>
            <a:r>
              <a:rPr lang="en-US"/>
              <a:t>01d - </a:t>
            </a:r>
            <a:fld id="{04A82B7A-E402-484D-99B9-22764C3DB7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57556"/>
      </p:ext>
    </p:extLst>
  </p:cSld>
  <p:clrMapOvr>
    <a:masterClrMapping/>
  </p:clrMapOvr>
  <p:transition>
    <p:wipe/>
  </p:transition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0650"/>
            <a:ext cx="8763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xfrm>
            <a:off x="41910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1668A-1010-49A7-9CD6-33C50EDB010F}" type="datetime1">
              <a:rPr lang="en-US" smtClean="0"/>
              <a:t>10/17/2024</a:t>
            </a:fld>
            <a:endParaRPr lang="en-CA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152400" y="6245225"/>
            <a:ext cx="3810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11a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13798"/>
      </p:ext>
    </p:extLst>
  </p:cSld>
  <p:clrMapOvr>
    <a:masterClrMapping/>
  </p:clrMapOvr>
  <p:transition>
    <p:wipe dir="r"/>
  </p:transition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30045" y="1411552"/>
            <a:ext cx="7672003" cy="2053960"/>
          </a:xfrm>
        </p:spPr>
        <p:txBody>
          <a:bodyPr/>
          <a:lstStyle>
            <a:lvl1pPr>
              <a:lnSpc>
                <a:spcPct val="78000"/>
              </a:lnSpc>
              <a:defRPr/>
            </a:lvl1pPr>
            <a:lvl2pPr>
              <a:lnSpc>
                <a:spcPct val="78000"/>
              </a:lnSpc>
              <a:defRPr/>
            </a:lvl2pPr>
            <a:lvl3pPr>
              <a:lnSpc>
                <a:spcPct val="78000"/>
              </a:lnSpc>
              <a:defRPr/>
            </a:lvl3pPr>
            <a:lvl4pPr>
              <a:lnSpc>
                <a:spcPct val="78000"/>
              </a:lnSpc>
              <a:defRPr/>
            </a:lvl4pPr>
            <a:lvl5pPr>
              <a:lnSpc>
                <a:spcPct val="78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387054" y="152400"/>
            <a:ext cx="8375946" cy="6093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49428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16396" y="34711"/>
            <a:ext cx="8458200" cy="914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000" spc="-113" baseline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16396" y="1143000"/>
            <a:ext cx="8458200" cy="533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90000"/>
              </a:lnSpc>
              <a:buFont typeface="Arial" pitchFamily="34" charset="0"/>
              <a:buChar char="•"/>
              <a:defRPr sz="24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lnSpc>
                <a:spcPct val="90000"/>
              </a:lnSpc>
              <a:buFont typeface="Arial" pitchFamily="34" charset="0"/>
              <a:buChar char="•"/>
              <a:defRPr sz="21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WP SemiLight" pitchFamily="34" charset="0"/>
                <a:ea typeface="Segoe UI" pitchFamily="34" charset="0"/>
                <a:cs typeface="Segoe UI" pitchFamily="34" charset="0"/>
              </a:defRPr>
            </a:lvl2pPr>
            <a:lvl3pPr>
              <a:lnSpc>
                <a:spcPct val="90000"/>
              </a:lnSpc>
              <a:buFont typeface="Arial" pitchFamily="34" charset="0"/>
              <a:buChar char="•"/>
              <a:defRPr sz="18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lnSpc>
                <a:spcPct val="90000"/>
              </a:lnSpc>
              <a:buFont typeface="Arial" pitchFamily="34" charset="0"/>
              <a:buChar char="•"/>
              <a:defRPr sz="1200" baseline="0"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buFont typeface="Arial" pitchFamily="34" charset="0"/>
              <a:buChar char="•"/>
              <a:defRPr sz="10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665668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pPr>
              <a:defRPr/>
            </a:pPr>
            <a:fld id="{B8C0579B-B76E-4EE1-8210-7345AF863B8F}" type="datetime1">
              <a:rPr lang="en-US" smtClean="0"/>
              <a:t>10/17/2024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86500"/>
            <a:ext cx="4953000" cy="4572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1" y="6286500"/>
            <a:ext cx="1685924" cy="457200"/>
          </a:xfrm>
          <a:prstGeom prst="rect">
            <a:avLst/>
          </a:prstGeom>
        </p:spPr>
        <p:txBody>
          <a:bodyPr/>
          <a:lstStyle>
            <a:lvl1pPr>
              <a:defRPr sz="1600" dirty="0" smtClean="0">
                <a:latin typeface="+mj-lt"/>
              </a:defRPr>
            </a:lvl1pPr>
          </a:lstStyle>
          <a:p>
            <a:pPr>
              <a:defRPr/>
            </a:pPr>
            <a:r>
              <a:rPr lang="en-CA" dirty="0"/>
              <a:t>11a - </a:t>
            </a:r>
            <a:fld id="{BFBD0CE7-AF06-4436-9696-3D133052222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508516"/>
      </p:ext>
    </p:extLst>
  </p:cSld>
  <p:clrMapOvr>
    <a:masterClrMapping/>
  </p:clrMapOvr>
  <p:transition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38460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101668A-1010-49A7-9CD6-33C50EDB010F}" type="datetime1">
              <a:rPr lang="en-US" smtClean="0"/>
              <a:t>10/17/2024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/>
              <a:t>11a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51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  <p:sldLayoutId id="2147483938" r:id="rId17"/>
    <p:sldLayoutId id="2147483939" r:id="rId18"/>
    <p:sldLayoutId id="2147483940" r:id="rId19"/>
    <p:sldLayoutId id="2147483941" r:id="rId20"/>
    <p:sldLayoutId id="2147483942" r:id="rId21"/>
    <p:sldLayoutId id="2147483943" r:id="rId22"/>
    <p:sldLayoutId id="2147483944" r:id="rId23"/>
    <p:sldLayoutId id="2147483945" r:id="rId24"/>
    <p:sldLayoutId id="2147483946" r:id="rId25"/>
    <p:sldLayoutId id="2147483947" r:id="rId26"/>
    <p:sldLayoutId id="2147483948" r:id="rId27"/>
    <p:sldLayoutId id="2147483949" r:id="rId28"/>
    <p:sldLayoutId id="2147483950" r:id="rId29"/>
    <p:sldLayoutId id="2147483951" r:id="rId30"/>
    <p:sldLayoutId id="2147483952" r:id="rId31"/>
    <p:sldLayoutId id="2147483953" r:id="rId32"/>
    <p:sldLayoutId id="2147483954" r:id="rId33"/>
    <p:sldLayoutId id="2147483955" r:id="rId34"/>
    <p:sldLayoutId id="2147483956" r:id="rId35"/>
    <p:sldLayoutId id="2147483957" r:id="rId36"/>
    <p:sldLayoutId id="2147483958" r:id="rId37"/>
    <p:sldLayoutId id="2147483959" r:id="rId38"/>
    <p:sldLayoutId id="2147483960" r:id="rId39"/>
    <p:sldLayoutId id="2147483961" r:id="rId40"/>
    <p:sldLayoutId id="2147483962" r:id="rId41"/>
    <p:sldLayoutId id="2147483963" r:id="rId42"/>
    <p:sldLayoutId id="2147483964" r:id="rId43"/>
    <p:sldLayoutId id="2147483965" r:id="rId44"/>
    <p:sldLayoutId id="2147483966" r:id="rId45"/>
    <p:sldLayoutId id="2147483967" r:id="rId46"/>
    <p:sldLayoutId id="2147483968" r:id="rId47"/>
    <p:sldLayoutId id="2147483970" r:id="rId48"/>
    <p:sldLayoutId id="2147483971" r:id="rId49"/>
    <p:sldLayoutId id="2147483972" r:id="rId50"/>
  </p:sldLayoutIdLst>
  <p:transition>
    <p:fade/>
  </p:transition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kern="1200" cap="none" baseline="0">
          <a:solidFill>
            <a:schemeClr val="tx1"/>
          </a:solidFill>
          <a:latin typeface="Segoe Light"/>
          <a:ea typeface="Segoe UI" pitchFamily="34" charset="0"/>
          <a:cs typeface="Segoe Light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•"/>
        <a:defRPr lang="en-US" sz="21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557213" indent="-214313" algn="l" defTabSz="342900" rtl="0" eaLnBrk="1" latinLnBrk="0" hangingPunct="1">
        <a:spcBef>
          <a:spcPts val="300"/>
        </a:spcBef>
        <a:buClr>
          <a:srgbClr val="0072C6"/>
        </a:buClr>
        <a:buSzPct val="70000"/>
        <a:buFont typeface="Courier New" pitchFamily="49" charset="0"/>
        <a:buChar char="o"/>
        <a:defRPr lang="en-US" sz="18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0072C6"/>
        </a:buClr>
        <a:buFont typeface="Wingdings" pitchFamily="2" charset="2"/>
        <a:buChar char="§"/>
        <a:defRPr lang="en-US" sz="15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–"/>
        <a:defRPr lang="en-US" sz="12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»"/>
        <a:defRPr lang="en-US" sz="1200" b="0" i="0" kern="1200" dirty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SignalR</a:t>
            </a:r>
            <a:br>
              <a:rPr lang="en-US" dirty="0"/>
            </a:br>
            <a:endParaRPr 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Medhat </a:t>
            </a:r>
            <a:r>
              <a:rPr lang="en-US" dirty="0" err="1"/>
              <a:t>Elmasry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923925" y="1905000"/>
            <a:ext cx="8220075" cy="34480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fontAlgn="ctr">
              <a:buNone/>
            </a:pPr>
            <a:r>
              <a:rPr lang="en-US" sz="4950"/>
              <a:t>Any sufficiently advanced </a:t>
            </a:r>
            <a:r>
              <a:rPr lang="en-US" sz="4950">
                <a:solidFill>
                  <a:schemeClr val="accent1"/>
                </a:solidFill>
              </a:rPr>
              <a:t>technology</a:t>
            </a:r>
            <a:r>
              <a:rPr lang="en-US" sz="4950"/>
              <a:t> is </a:t>
            </a:r>
            <a:r>
              <a:rPr lang="en-US" sz="4950">
                <a:solidFill>
                  <a:schemeClr val="accent1"/>
                </a:solidFill>
              </a:rPr>
              <a:t>indistinguishable</a:t>
            </a:r>
            <a:r>
              <a:rPr lang="en-US" sz="4950"/>
              <a:t> from </a:t>
            </a:r>
            <a:r>
              <a:rPr lang="en-US" sz="4950">
                <a:solidFill>
                  <a:schemeClr val="accent1"/>
                </a:solidFill>
              </a:rPr>
              <a:t>magic </a:t>
            </a:r>
            <a:r>
              <a:rPr lang="en-US" sz="4950"/>
              <a:t>– Arthur C. Clarke</a:t>
            </a:r>
            <a:endParaRPr lang="en-US" sz="4950" dirty="0"/>
          </a:p>
        </p:txBody>
      </p:sp>
    </p:spTree>
    <p:extLst>
      <p:ext uri="{BB962C8B-B14F-4D97-AF65-F5344CB8AC3E}">
        <p14:creationId xmlns:p14="http://schemas.microsoft.com/office/powerpoint/2010/main" val="373162573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Introducing SignalR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Abstraction over transports</a:t>
            </a:r>
          </a:p>
          <a:p>
            <a:r>
              <a:rPr lang="en-US"/>
              <a:t>Events instead of task/async</a:t>
            </a:r>
          </a:p>
          <a:p>
            <a:r>
              <a:rPr lang="en-US"/>
              <a:t>Connection Management</a:t>
            </a:r>
          </a:p>
          <a:p>
            <a:r>
              <a:rPr lang="en-US"/>
              <a:t>Broadcast to all, target specific group, or target specific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8724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SignalR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i="1" dirty="0" err="1"/>
              <a:t>SignalR</a:t>
            </a:r>
            <a:r>
              <a:rPr lang="en-US" dirty="0"/>
              <a:t> is a series of </a:t>
            </a:r>
            <a:r>
              <a:rPr lang="en-US" i="1" dirty="0"/>
              <a:t>abstractions</a:t>
            </a:r>
            <a:r>
              <a:rPr lang="en-US" dirty="0"/>
              <a:t> around various methods of providing </a:t>
            </a:r>
            <a:r>
              <a:rPr lang="en-US" i="1" dirty="0"/>
              <a:t>persistent HTTP connections</a:t>
            </a:r>
            <a:r>
              <a:rPr lang="en-US" dirty="0"/>
              <a:t> distributed as </a:t>
            </a:r>
            <a:r>
              <a:rPr lang="en-US" i="1" dirty="0"/>
              <a:t>open source </a:t>
            </a:r>
            <a:r>
              <a:rPr lang="en-US" dirty="0"/>
              <a:t>code.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</a:rPr>
              <a:t>Translated into pure English ….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 err="1"/>
              <a:t>SignalR</a:t>
            </a:r>
            <a:r>
              <a:rPr lang="en-US" dirty="0"/>
              <a:t> makes </a:t>
            </a:r>
            <a:r>
              <a:rPr lang="en-US" i="1" dirty="0"/>
              <a:t>real-time HTTP </a:t>
            </a:r>
            <a:r>
              <a:rPr lang="en-US" dirty="0"/>
              <a:t>so easy, it seems like </a:t>
            </a:r>
            <a:r>
              <a:rPr lang="en-US" i="1" dirty="0"/>
              <a:t>magic</a:t>
            </a:r>
          </a:p>
        </p:txBody>
      </p:sp>
    </p:spTree>
    <p:extLst>
      <p:ext uri="{BB962C8B-B14F-4D97-AF65-F5344CB8AC3E}">
        <p14:creationId xmlns:p14="http://schemas.microsoft.com/office/powerpoint/2010/main" val="246257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972646300"/>
              </p:ext>
            </p:extLst>
          </p:nvPr>
        </p:nvGraphicFramePr>
        <p:xfrm>
          <a:off x="500063" y="1752600"/>
          <a:ext cx="8643937" cy="3968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7284189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 bwMode="auto">
          <a:xfrm>
            <a:off x="370430" y="1122382"/>
            <a:ext cx="1828800" cy="497361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Client</a:t>
            </a:r>
          </a:p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7013795" y="1122382"/>
            <a:ext cx="1828800" cy="497361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Web</a:t>
            </a:r>
          </a:p>
          <a:p>
            <a:pPr algn="ctr"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Server</a:t>
            </a:r>
          </a:p>
        </p:txBody>
      </p:sp>
      <p:sp>
        <p:nvSpPr>
          <p:cNvPr id="8" name="Right Arrow 7"/>
          <p:cNvSpPr/>
          <p:nvPr/>
        </p:nvSpPr>
        <p:spPr bwMode="auto">
          <a:xfrm>
            <a:off x="2362200" y="1122382"/>
            <a:ext cx="4495800" cy="685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HTTP GET – Got data?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2371726" y="1808182"/>
            <a:ext cx="4495800" cy="685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HTTP GET – Got data?</a:t>
            </a:r>
          </a:p>
        </p:txBody>
      </p:sp>
      <p:sp>
        <p:nvSpPr>
          <p:cNvPr id="10" name="Right Arrow 9"/>
          <p:cNvSpPr/>
          <p:nvPr/>
        </p:nvSpPr>
        <p:spPr bwMode="auto">
          <a:xfrm>
            <a:off x="2362200" y="2507061"/>
            <a:ext cx="4495800" cy="685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HTTP GET – Got data?</a:t>
            </a:r>
          </a:p>
        </p:txBody>
      </p:sp>
      <p:sp>
        <p:nvSpPr>
          <p:cNvPr id="12" name="Right Arrow 11"/>
          <p:cNvSpPr/>
          <p:nvPr/>
        </p:nvSpPr>
        <p:spPr bwMode="auto">
          <a:xfrm>
            <a:off x="2362200" y="3954152"/>
            <a:ext cx="4495800" cy="685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HTTP GET – Got data?</a:t>
            </a:r>
          </a:p>
        </p:txBody>
      </p:sp>
      <p:sp>
        <p:nvSpPr>
          <p:cNvPr id="13" name="Right Arrow 12"/>
          <p:cNvSpPr/>
          <p:nvPr/>
        </p:nvSpPr>
        <p:spPr bwMode="auto">
          <a:xfrm>
            <a:off x="2371726" y="4691133"/>
            <a:ext cx="4495800" cy="685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HTTP GET – Got data?</a:t>
            </a:r>
          </a:p>
        </p:txBody>
      </p:sp>
      <p:sp>
        <p:nvSpPr>
          <p:cNvPr id="14" name="Right Arrow 13"/>
          <p:cNvSpPr/>
          <p:nvPr/>
        </p:nvSpPr>
        <p:spPr bwMode="auto">
          <a:xfrm>
            <a:off x="2362200" y="5410200"/>
            <a:ext cx="4495800" cy="6858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HTTP GET – Got data?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Polling</a:t>
            </a:r>
            <a:endParaRPr lang="en-US" dirty="0"/>
          </a:p>
        </p:txBody>
      </p:sp>
      <p:sp>
        <p:nvSpPr>
          <p:cNvPr id="3" name="Left Arrow 2"/>
          <p:cNvSpPr/>
          <p:nvPr/>
        </p:nvSpPr>
        <p:spPr>
          <a:xfrm>
            <a:off x="2371727" y="3238270"/>
            <a:ext cx="4495800" cy="677552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Here’s some data!</a:t>
            </a:r>
          </a:p>
        </p:txBody>
      </p:sp>
    </p:spTree>
    <p:extLst>
      <p:ext uri="{BB962C8B-B14F-4D97-AF65-F5344CB8AC3E}">
        <p14:creationId xmlns:p14="http://schemas.microsoft.com/office/powerpoint/2010/main" val="788969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 bwMode="auto">
          <a:xfrm>
            <a:off x="179538" y="1714500"/>
            <a:ext cx="1828800" cy="38481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Client</a:t>
            </a:r>
          </a:p>
          <a:p>
            <a:pPr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7391400" y="1714500"/>
            <a:ext cx="1627338" cy="38481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Web</a:t>
            </a:r>
          </a:p>
          <a:p>
            <a:pPr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Server</a:t>
            </a:r>
          </a:p>
        </p:txBody>
      </p:sp>
      <p:sp>
        <p:nvSpPr>
          <p:cNvPr id="8" name="Right Arrow 7"/>
          <p:cNvSpPr/>
          <p:nvPr/>
        </p:nvSpPr>
        <p:spPr bwMode="auto">
          <a:xfrm>
            <a:off x="2169769" y="1714500"/>
            <a:ext cx="5110304" cy="9906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I do real time, do you?</a:t>
            </a:r>
          </a:p>
        </p:txBody>
      </p:sp>
      <p:sp>
        <p:nvSpPr>
          <p:cNvPr id="2" name="Left Arrow 1"/>
          <p:cNvSpPr/>
          <p:nvPr/>
        </p:nvSpPr>
        <p:spPr bwMode="auto">
          <a:xfrm>
            <a:off x="2169769" y="2854128"/>
            <a:ext cx="5110304" cy="762000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Yep! I love real-time</a:t>
            </a:r>
          </a:p>
        </p:txBody>
      </p:sp>
      <p:sp>
        <p:nvSpPr>
          <p:cNvPr id="15" name="Right Arrow 14"/>
          <p:cNvSpPr/>
          <p:nvPr/>
        </p:nvSpPr>
        <p:spPr bwMode="auto">
          <a:xfrm>
            <a:off x="2228621" y="3616128"/>
            <a:ext cx="5051452" cy="9525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defTabSz="914099"/>
            <a:r>
              <a:rPr lang="en-US" sz="2300" b="0" dirty="0">
                <a:solidFill>
                  <a:schemeClr val="tx1"/>
                </a:solidFill>
                <a:latin typeface="Segoe" pitchFamily="34" charset="0"/>
              </a:rPr>
              <a:t>Let’s boogie!</a:t>
            </a:r>
          </a:p>
        </p:txBody>
      </p:sp>
      <p:sp>
        <p:nvSpPr>
          <p:cNvPr id="3" name="Left-Right Arrow 2"/>
          <p:cNvSpPr/>
          <p:nvPr/>
        </p:nvSpPr>
        <p:spPr bwMode="auto">
          <a:xfrm>
            <a:off x="2228621" y="4724400"/>
            <a:ext cx="5051452" cy="838200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/>
            <a:r>
              <a:rPr lang="en-US" sz="2300" b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Awesome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1879" y="0"/>
            <a:ext cx="8692121" cy="803472"/>
          </a:xfrm>
        </p:spPr>
        <p:txBody>
          <a:bodyPr/>
          <a:lstStyle/>
          <a:p>
            <a:r>
              <a:rPr lang="en-US" dirty="0"/>
              <a:t>Polling</a:t>
            </a:r>
          </a:p>
        </p:txBody>
      </p:sp>
    </p:spTree>
    <p:extLst>
      <p:ext uri="{BB962C8B-B14F-4D97-AF65-F5344CB8AC3E}">
        <p14:creationId xmlns:p14="http://schemas.microsoft.com/office/powerpoint/2010/main" val="5209535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SignalrChat</a:t>
            </a:r>
            <a:r>
              <a:rPr lang="en-US" dirty="0"/>
              <a:t> (SignalR_Core_script.docx)</a:t>
            </a:r>
          </a:p>
        </p:txBody>
      </p:sp>
    </p:spTree>
    <p:extLst>
      <p:ext uri="{BB962C8B-B14F-4D97-AF65-F5344CB8AC3E}">
        <p14:creationId xmlns:p14="http://schemas.microsoft.com/office/powerpoint/2010/main" val="269387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proxy?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Add </a:t>
            </a:r>
            <a:r>
              <a:rPr lang="en-CA" i="1" dirty="0"/>
              <a:t>/</a:t>
            </a:r>
            <a:r>
              <a:rPr lang="en-CA" i="1" dirty="0" err="1"/>
              <a:t>signalr</a:t>
            </a:r>
            <a:r>
              <a:rPr lang="en-CA" i="1" dirty="0"/>
              <a:t>/hubs </a:t>
            </a:r>
            <a:r>
              <a:rPr lang="en-CA" dirty="0"/>
              <a:t>to the URL. This is the proxy file.</a:t>
            </a:r>
          </a:p>
        </p:txBody>
      </p:sp>
    </p:spTree>
    <p:extLst>
      <p:ext uri="{BB962C8B-B14F-4D97-AF65-F5344CB8AC3E}">
        <p14:creationId xmlns:p14="http://schemas.microsoft.com/office/powerpoint/2010/main" val="31502755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SignalR</a:t>
            </a:r>
            <a:r>
              <a:rPr lang="en-US" dirty="0"/>
              <a:t> do?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Client to Server persistent connection over HTTP</a:t>
            </a:r>
          </a:p>
          <a:p>
            <a:r>
              <a:rPr lang="en-US" dirty="0"/>
              <a:t>Easily build multi-user, real-time web applications</a:t>
            </a:r>
          </a:p>
          <a:p>
            <a:r>
              <a:rPr lang="en-US" dirty="0"/>
              <a:t>Auto-negotiates transport</a:t>
            </a:r>
          </a:p>
          <a:p>
            <a:r>
              <a:rPr lang="en-US" dirty="0"/>
              <a:t>Allows server-to-client RPC (remote procedure calls)</a:t>
            </a:r>
          </a:p>
          <a:p>
            <a:r>
              <a:rPr lang="en-US" dirty="0"/>
              <a:t>Built-in </a:t>
            </a:r>
            <a:r>
              <a:rPr lang="en-US" dirty="0" err="1"/>
              <a:t>async</a:t>
            </a:r>
            <a:r>
              <a:rPr lang="en-US" dirty="0"/>
              <a:t> to scale 1000’s of connections</a:t>
            </a:r>
          </a:p>
          <a:p>
            <a:r>
              <a:rPr lang="en-US" dirty="0"/>
              <a:t>Open Source on GitHub</a:t>
            </a:r>
          </a:p>
        </p:txBody>
      </p:sp>
    </p:spTree>
    <p:extLst>
      <p:ext uri="{BB962C8B-B14F-4D97-AF65-F5344CB8AC3E}">
        <p14:creationId xmlns:p14="http://schemas.microsoft.com/office/powerpoint/2010/main" val="153871296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</a:t>
            </a:r>
            <a:r>
              <a:rPr lang="en-US" dirty="0" err="1"/>
              <a:t>SignalR</a:t>
            </a:r>
            <a:r>
              <a:rPr lang="en-US" dirty="0"/>
              <a:t>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dashboards</a:t>
            </a:r>
          </a:p>
          <a:p>
            <a:r>
              <a:rPr lang="en-US" dirty="0"/>
              <a:t>monitoring applications</a:t>
            </a:r>
          </a:p>
          <a:p>
            <a:r>
              <a:rPr lang="en-US" dirty="0"/>
              <a:t>collaborative applications (such as simultaneous editing of documents)</a:t>
            </a:r>
          </a:p>
          <a:p>
            <a:r>
              <a:rPr lang="en-US" dirty="0"/>
              <a:t>job progress updates</a:t>
            </a:r>
          </a:p>
          <a:p>
            <a:r>
              <a:rPr lang="en-US" dirty="0"/>
              <a:t>real-time forms</a:t>
            </a:r>
          </a:p>
          <a:p>
            <a:r>
              <a:rPr lang="en-US" dirty="0"/>
              <a:t>Real-time gaming </a:t>
            </a:r>
          </a:p>
          <a:p>
            <a:r>
              <a:rPr lang="en-US" dirty="0"/>
              <a:t>. . . . .</a:t>
            </a:r>
          </a:p>
        </p:txBody>
      </p:sp>
    </p:spTree>
    <p:extLst>
      <p:ext uri="{BB962C8B-B14F-4D97-AF65-F5344CB8AC3E}">
        <p14:creationId xmlns:p14="http://schemas.microsoft.com/office/powerpoint/2010/main" val="4221101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SignalR Fallback</a:t>
            </a:r>
            <a:endParaRPr lang="ru-RU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955676564"/>
              </p:ext>
            </p:extLst>
          </p:nvPr>
        </p:nvGraphicFramePr>
        <p:xfrm>
          <a:off x="1524794" y="1179287"/>
          <a:ext cx="6736737" cy="428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26272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Transports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6876"/>
            <a:ext cx="8229600" cy="4905324"/>
          </a:xfrm>
        </p:spPr>
        <p:txBody>
          <a:bodyPr/>
          <a:lstStyle/>
          <a:p>
            <a:r>
              <a:rPr lang="en-US" dirty="0"/>
              <a:t>You can determine what transport your application is using by enabling logging on your hub and opening the console window in your browser.</a:t>
            </a:r>
          </a:p>
          <a:p>
            <a:r>
              <a:rPr lang="en-US" dirty="0"/>
              <a:t>To enable logging for your hub's events in a browser, add the following command to your client application: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connection.hub.logging</a:t>
            </a:r>
            <a:r>
              <a:rPr lang="en-US" dirty="0"/>
              <a:t> = true;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765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a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Negotiating a transport takes a certain amount of time and client/server resources. </a:t>
            </a:r>
          </a:p>
          <a:p>
            <a:r>
              <a:rPr lang="en-US" dirty="0"/>
              <a:t>If the client capabilities are known, then a transport can be specified when the client connection is started. </a:t>
            </a:r>
          </a:p>
          <a:p>
            <a:r>
              <a:rPr lang="en-US" dirty="0"/>
              <a:t>The following code demonstrates starting connection using Long Polling: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5029200"/>
            <a:ext cx="693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err="1"/>
              <a:t>connection.start</a:t>
            </a:r>
            <a:r>
              <a:rPr lang="en-US" b="0" dirty="0"/>
              <a:t>({ transport: '</a:t>
            </a:r>
            <a:r>
              <a:rPr lang="en-US" b="0" dirty="0" err="1"/>
              <a:t>longPolling</a:t>
            </a:r>
            <a:r>
              <a:rPr lang="en-US" b="0" dirty="0"/>
              <a:t>' }); </a:t>
            </a:r>
          </a:p>
        </p:txBody>
      </p:sp>
    </p:spTree>
    <p:extLst>
      <p:ext uri="{BB962C8B-B14F-4D97-AF65-F5344CB8AC3E}">
        <p14:creationId xmlns:p14="http://schemas.microsoft.com/office/powerpoint/2010/main" val="20715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3962400" cy="5273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 err="1"/>
              <a:t>SignalR</a:t>
            </a:r>
            <a:r>
              <a:rPr lang="en-US" dirty="0"/>
              <a:t> provides a simple API for creating server-to-client remote procedure calls (RPC) that call </a:t>
            </a:r>
            <a:r>
              <a:rPr lang="en-US" i="1" dirty="0"/>
              <a:t>JavaScript</a:t>
            </a:r>
            <a:r>
              <a:rPr lang="en-US" dirty="0"/>
              <a:t> functions in client browsers (and other client platforms) from server-side .NET code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600200"/>
            <a:ext cx="455779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25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messages to </a:t>
            </a:r>
            <a:r>
              <a:rPr lang="en-US" dirty="0">
                <a:solidFill>
                  <a:schemeClr val="accent1"/>
                </a:solidFill>
              </a:rPr>
              <a:t>all</a:t>
            </a:r>
            <a:r>
              <a:rPr lang="en-US" dirty="0"/>
              <a:t> connected clients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72034" y="4079796"/>
            <a:ext cx="1503497" cy="1851502"/>
            <a:chOff x="731897" y="1394854"/>
            <a:chExt cx="1264205" cy="1556824"/>
          </a:xfrm>
        </p:grpSpPr>
        <p:sp>
          <p:nvSpPr>
            <p:cNvPr id="6" name="Rectangle 5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noFill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Jon</a:t>
              </a:r>
            </a:p>
          </p:txBody>
        </p:sp>
        <p:sp>
          <p:nvSpPr>
            <p:cNvPr id="8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01884" y="2251007"/>
            <a:ext cx="1503497" cy="1851502"/>
            <a:chOff x="731897" y="1394854"/>
            <a:chExt cx="1264205" cy="1556824"/>
          </a:xfrm>
        </p:grpSpPr>
        <p:sp>
          <p:nvSpPr>
            <p:cNvPr id="10" name="Rectangle 9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Scott</a:t>
              </a:r>
            </a:p>
          </p:txBody>
        </p:sp>
        <p:sp>
          <p:nvSpPr>
            <p:cNvPr id="12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401884" y="4079796"/>
            <a:ext cx="1503497" cy="1851502"/>
            <a:chOff x="731897" y="1394854"/>
            <a:chExt cx="1264205" cy="1556824"/>
          </a:xfrm>
        </p:grpSpPr>
        <p:sp>
          <p:nvSpPr>
            <p:cNvPr id="14" name="Rectangle 13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Brady</a:t>
              </a:r>
            </a:p>
          </p:txBody>
        </p:sp>
        <p:sp>
          <p:nvSpPr>
            <p:cNvPr id="16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 bwMode="auto">
          <a:xfrm>
            <a:off x="3722080" y="4021336"/>
            <a:ext cx="1633254" cy="1633253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99354">
              <a:lnSpc>
                <a:spcPct val="90000"/>
              </a:lnSpc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8"/>
          <p:cNvSpPr txBox="1">
            <a:spLocks/>
          </p:cNvSpPr>
          <p:nvPr/>
        </p:nvSpPr>
        <p:spPr>
          <a:xfrm>
            <a:off x="3814988" y="5611381"/>
            <a:ext cx="1447437" cy="387782"/>
          </a:xfrm>
          <a:prstGeom prst="rect">
            <a:avLst/>
          </a:prstGeom>
        </p:spPr>
        <p:txBody>
          <a:bodyPr vert="horz" wrap="square" lIns="109715" tIns="68572" rIns="109715" bIns="68572" rtlCol="0">
            <a:spAutoFit/>
          </a:bodyPr>
          <a:lstStyle>
            <a:lvl1pPr marL="342856" marR="0" indent="-342856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9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125" marR="0" indent="-241269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999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56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139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4711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024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335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3648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Hub</a:t>
            </a:r>
          </a:p>
        </p:txBody>
      </p:sp>
      <p:sp>
        <p:nvSpPr>
          <p:cNvPr id="20" name="Freeform 104"/>
          <p:cNvSpPr>
            <a:spLocks noEditPoints="1"/>
          </p:cNvSpPr>
          <p:nvPr/>
        </p:nvSpPr>
        <p:spPr bwMode="black">
          <a:xfrm>
            <a:off x="3937749" y="4265739"/>
            <a:ext cx="1201916" cy="1201916"/>
          </a:xfrm>
          <a:custGeom>
            <a:avLst/>
            <a:gdLst>
              <a:gd name="T0" fmla="*/ 37 w 61"/>
              <a:gd name="T1" fmla="*/ 43 h 61"/>
              <a:gd name="T2" fmla="*/ 18 w 61"/>
              <a:gd name="T3" fmla="*/ 37 h 61"/>
              <a:gd name="T4" fmla="*/ 24 w 61"/>
              <a:gd name="T5" fmla="*/ 18 h 61"/>
              <a:gd name="T6" fmla="*/ 43 w 61"/>
              <a:gd name="T7" fmla="*/ 24 h 61"/>
              <a:gd name="T8" fmla="*/ 37 w 61"/>
              <a:gd name="T9" fmla="*/ 43 h 61"/>
              <a:gd name="T10" fmla="*/ 61 w 61"/>
              <a:gd name="T11" fmla="*/ 28 h 61"/>
              <a:gd name="T12" fmla="*/ 58 w 61"/>
              <a:gd name="T13" fmla="*/ 18 h 61"/>
              <a:gd name="T14" fmla="*/ 50 w 61"/>
              <a:gd name="T15" fmla="*/ 19 h 61"/>
              <a:gd name="T16" fmla="*/ 47 w 61"/>
              <a:gd name="T17" fmla="*/ 15 h 61"/>
              <a:gd name="T18" fmla="*/ 50 w 61"/>
              <a:gd name="T19" fmla="*/ 7 h 61"/>
              <a:gd name="T20" fmla="*/ 41 w 61"/>
              <a:gd name="T21" fmla="*/ 2 h 61"/>
              <a:gd name="T22" fmla="*/ 36 w 61"/>
              <a:gd name="T23" fmla="*/ 9 h 61"/>
              <a:gd name="T24" fmla="*/ 30 w 61"/>
              <a:gd name="T25" fmla="*/ 8 h 61"/>
              <a:gd name="T26" fmla="*/ 27 w 61"/>
              <a:gd name="T27" fmla="*/ 0 h 61"/>
              <a:gd name="T28" fmla="*/ 17 w 61"/>
              <a:gd name="T29" fmla="*/ 3 h 61"/>
              <a:gd name="T30" fmla="*/ 18 w 61"/>
              <a:gd name="T31" fmla="*/ 11 h 61"/>
              <a:gd name="T32" fmla="*/ 15 w 61"/>
              <a:gd name="T33" fmla="*/ 14 h 61"/>
              <a:gd name="T34" fmla="*/ 7 w 61"/>
              <a:gd name="T35" fmla="*/ 11 h 61"/>
              <a:gd name="T36" fmla="*/ 2 w 61"/>
              <a:gd name="T37" fmla="*/ 20 h 61"/>
              <a:gd name="T38" fmla="*/ 8 w 61"/>
              <a:gd name="T39" fmla="*/ 25 h 61"/>
              <a:gd name="T40" fmla="*/ 7 w 61"/>
              <a:gd name="T41" fmla="*/ 30 h 61"/>
              <a:gd name="T42" fmla="*/ 0 w 61"/>
              <a:gd name="T43" fmla="*/ 33 h 61"/>
              <a:gd name="T44" fmla="*/ 2 w 61"/>
              <a:gd name="T45" fmla="*/ 43 h 61"/>
              <a:gd name="T46" fmla="*/ 11 w 61"/>
              <a:gd name="T47" fmla="*/ 42 h 61"/>
              <a:gd name="T48" fmla="*/ 14 w 61"/>
              <a:gd name="T49" fmla="*/ 47 h 61"/>
              <a:gd name="T50" fmla="*/ 11 w 61"/>
              <a:gd name="T51" fmla="*/ 54 h 61"/>
              <a:gd name="T52" fmla="*/ 20 w 61"/>
              <a:gd name="T53" fmla="*/ 59 h 61"/>
              <a:gd name="T54" fmla="*/ 25 w 61"/>
              <a:gd name="T55" fmla="*/ 53 h 61"/>
              <a:gd name="T56" fmla="*/ 30 w 61"/>
              <a:gd name="T57" fmla="*/ 53 h 61"/>
              <a:gd name="T58" fmla="*/ 33 w 61"/>
              <a:gd name="T59" fmla="*/ 61 h 61"/>
              <a:gd name="T60" fmla="*/ 43 w 61"/>
              <a:gd name="T61" fmla="*/ 58 h 61"/>
              <a:gd name="T62" fmla="*/ 42 w 61"/>
              <a:gd name="T63" fmla="*/ 50 h 61"/>
              <a:gd name="T64" fmla="*/ 46 w 61"/>
              <a:gd name="T65" fmla="*/ 47 h 61"/>
              <a:gd name="T66" fmla="*/ 54 w 61"/>
              <a:gd name="T67" fmla="*/ 50 h 61"/>
              <a:gd name="T68" fmla="*/ 59 w 61"/>
              <a:gd name="T69" fmla="*/ 41 h 61"/>
              <a:gd name="T70" fmla="*/ 52 w 61"/>
              <a:gd name="T71" fmla="*/ 36 h 61"/>
              <a:gd name="T72" fmla="*/ 53 w 61"/>
              <a:gd name="T73" fmla="*/ 31 h 61"/>
              <a:gd name="T74" fmla="*/ 61 w 61"/>
              <a:gd name="T75" fmla="*/ 28 h 61"/>
              <a:gd name="T76" fmla="*/ 28 w 61"/>
              <a:gd name="T77" fmla="*/ 26 h 61"/>
              <a:gd name="T78" fmla="*/ 26 w 61"/>
              <a:gd name="T79" fmla="*/ 33 h 61"/>
              <a:gd name="T80" fmla="*/ 33 w 61"/>
              <a:gd name="T81" fmla="*/ 35 h 61"/>
              <a:gd name="T82" fmla="*/ 35 w 61"/>
              <a:gd name="T83" fmla="*/ 28 h 61"/>
              <a:gd name="T84" fmla="*/ 28 w 61"/>
              <a:gd name="T85" fmla="*/ 26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1" h="61">
                <a:moveTo>
                  <a:pt x="37" y="43"/>
                </a:moveTo>
                <a:cubicBezTo>
                  <a:pt x="30" y="47"/>
                  <a:pt x="21" y="44"/>
                  <a:pt x="18" y="37"/>
                </a:cubicBezTo>
                <a:cubicBezTo>
                  <a:pt x="14" y="30"/>
                  <a:pt x="17" y="21"/>
                  <a:pt x="24" y="18"/>
                </a:cubicBezTo>
                <a:cubicBezTo>
                  <a:pt x="31" y="14"/>
                  <a:pt x="39" y="17"/>
                  <a:pt x="43" y="24"/>
                </a:cubicBezTo>
                <a:cubicBezTo>
                  <a:pt x="47" y="31"/>
                  <a:pt x="44" y="40"/>
                  <a:pt x="37" y="43"/>
                </a:cubicBezTo>
                <a:moveTo>
                  <a:pt x="61" y="28"/>
                </a:moveTo>
                <a:cubicBezTo>
                  <a:pt x="58" y="18"/>
                  <a:pt x="58" y="18"/>
                  <a:pt x="58" y="18"/>
                </a:cubicBezTo>
                <a:cubicBezTo>
                  <a:pt x="50" y="19"/>
                  <a:pt x="50" y="19"/>
                  <a:pt x="50" y="19"/>
                </a:cubicBezTo>
                <a:cubicBezTo>
                  <a:pt x="49" y="17"/>
                  <a:pt x="48" y="16"/>
                  <a:pt x="47" y="15"/>
                </a:cubicBezTo>
                <a:cubicBezTo>
                  <a:pt x="50" y="7"/>
                  <a:pt x="50" y="7"/>
                  <a:pt x="50" y="7"/>
                </a:cubicBezTo>
                <a:cubicBezTo>
                  <a:pt x="41" y="2"/>
                  <a:pt x="41" y="2"/>
                  <a:pt x="41" y="2"/>
                </a:cubicBezTo>
                <a:cubicBezTo>
                  <a:pt x="36" y="9"/>
                  <a:pt x="36" y="9"/>
                  <a:pt x="36" y="9"/>
                </a:cubicBezTo>
                <a:cubicBezTo>
                  <a:pt x="34" y="8"/>
                  <a:pt x="32" y="8"/>
                  <a:pt x="30" y="8"/>
                </a:cubicBezTo>
                <a:cubicBezTo>
                  <a:pt x="27" y="0"/>
                  <a:pt x="27" y="0"/>
                  <a:pt x="2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2"/>
                  <a:pt x="16" y="13"/>
                  <a:pt x="15" y="14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20"/>
                  <a:pt x="2" y="20"/>
                  <a:pt x="2" y="20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7"/>
                  <a:pt x="7" y="28"/>
                  <a:pt x="7" y="30"/>
                </a:cubicBezTo>
                <a:cubicBezTo>
                  <a:pt x="0" y="33"/>
                  <a:pt x="0" y="33"/>
                  <a:pt x="0" y="33"/>
                </a:cubicBezTo>
                <a:cubicBezTo>
                  <a:pt x="2" y="43"/>
                  <a:pt x="2" y="43"/>
                  <a:pt x="2" y="43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4"/>
                  <a:pt x="13" y="45"/>
                  <a:pt x="14" y="47"/>
                </a:cubicBezTo>
                <a:cubicBezTo>
                  <a:pt x="11" y="54"/>
                  <a:pt x="11" y="54"/>
                  <a:pt x="11" y="54"/>
                </a:cubicBezTo>
                <a:cubicBezTo>
                  <a:pt x="20" y="59"/>
                  <a:pt x="20" y="59"/>
                  <a:pt x="20" y="59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8" y="53"/>
                  <a:pt x="30" y="53"/>
                </a:cubicBezTo>
                <a:cubicBezTo>
                  <a:pt x="33" y="61"/>
                  <a:pt x="33" y="61"/>
                  <a:pt x="33" y="61"/>
                </a:cubicBezTo>
                <a:cubicBezTo>
                  <a:pt x="43" y="58"/>
                  <a:pt x="43" y="58"/>
                  <a:pt x="43" y="58"/>
                </a:cubicBezTo>
                <a:cubicBezTo>
                  <a:pt x="42" y="50"/>
                  <a:pt x="42" y="50"/>
                  <a:pt x="42" y="50"/>
                </a:cubicBezTo>
                <a:cubicBezTo>
                  <a:pt x="44" y="49"/>
                  <a:pt x="45" y="48"/>
                  <a:pt x="46" y="47"/>
                </a:cubicBezTo>
                <a:cubicBezTo>
                  <a:pt x="54" y="50"/>
                  <a:pt x="54" y="50"/>
                  <a:pt x="54" y="50"/>
                </a:cubicBezTo>
                <a:cubicBezTo>
                  <a:pt x="59" y="41"/>
                  <a:pt x="59" y="41"/>
                  <a:pt x="59" y="41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4"/>
                  <a:pt x="53" y="33"/>
                  <a:pt x="53" y="31"/>
                </a:cubicBezTo>
                <a:lnTo>
                  <a:pt x="61" y="28"/>
                </a:lnTo>
                <a:close/>
                <a:moveTo>
                  <a:pt x="28" y="26"/>
                </a:moveTo>
                <a:cubicBezTo>
                  <a:pt x="25" y="27"/>
                  <a:pt x="24" y="30"/>
                  <a:pt x="26" y="33"/>
                </a:cubicBezTo>
                <a:cubicBezTo>
                  <a:pt x="27" y="35"/>
                  <a:pt x="30" y="36"/>
                  <a:pt x="33" y="35"/>
                </a:cubicBezTo>
                <a:cubicBezTo>
                  <a:pt x="35" y="34"/>
                  <a:pt x="36" y="31"/>
                  <a:pt x="35" y="28"/>
                </a:cubicBezTo>
                <a:cubicBezTo>
                  <a:pt x="34" y="26"/>
                  <a:pt x="31" y="25"/>
                  <a:pt x="28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9950" tIns="34975" rIns="69950" bIns="34975" numCol="1" anchor="t" anchorCtr="0" compatLnSpc="1">
            <a:prstTxWarp prst="textNoShape">
              <a:avLst/>
            </a:prstTxWarp>
          </a:bodyPr>
          <a:lstStyle/>
          <a:p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21" name="Naslov 3"/>
          <p:cNvSpPr txBox="1">
            <a:spLocks/>
          </p:cNvSpPr>
          <p:nvPr/>
        </p:nvSpPr>
        <p:spPr>
          <a:xfrm>
            <a:off x="1172034" y="2567026"/>
            <a:ext cx="3788283" cy="740952"/>
          </a:xfrm>
          <a:prstGeom prst="rect">
            <a:avLst/>
          </a:prstGeom>
        </p:spPr>
        <p:txBody>
          <a:bodyPr vert="horz" wrap="square" lIns="68580" tIns="34290" rIns="68580" bIns="3429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sl-SI" sz="3200" b="0" kern="1200" cap="none" spc="-100" baseline="0" dirty="0">
                <a:ln w="3175">
                  <a:noFill/>
                </a:ln>
                <a:solidFill>
                  <a:srgbClr val="0070C0"/>
                </a:soli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Clients.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</a:t>
            </a: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doWork</a:t>
            </a:r>
            <a:r>
              <a:rPr lang="en-US" sz="24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395014" y="487917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351149" y="4989047"/>
            <a:ext cx="2105736" cy="1313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633362" y="486993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538707" y="3071388"/>
            <a:ext cx="2188958" cy="16557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6747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Sending messages to the calling client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72034" y="4079796"/>
            <a:ext cx="1503497" cy="1851502"/>
            <a:chOff x="731897" y="1394854"/>
            <a:chExt cx="1264205" cy="1556824"/>
          </a:xfrm>
        </p:grpSpPr>
        <p:sp>
          <p:nvSpPr>
            <p:cNvPr id="6" name="Rectangle 5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Jon</a:t>
              </a:r>
            </a:p>
          </p:txBody>
        </p:sp>
        <p:sp>
          <p:nvSpPr>
            <p:cNvPr id="8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01884" y="2251007"/>
            <a:ext cx="1503497" cy="1851502"/>
            <a:chOff x="731897" y="1394854"/>
            <a:chExt cx="1264205" cy="1556824"/>
          </a:xfrm>
        </p:grpSpPr>
        <p:sp>
          <p:nvSpPr>
            <p:cNvPr id="10" name="Rectangle 9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Scott</a:t>
              </a:r>
            </a:p>
          </p:txBody>
        </p:sp>
        <p:sp>
          <p:nvSpPr>
            <p:cNvPr id="12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401884" y="4079796"/>
            <a:ext cx="1503497" cy="1851502"/>
            <a:chOff x="731897" y="1394854"/>
            <a:chExt cx="1264205" cy="1556824"/>
          </a:xfrm>
        </p:grpSpPr>
        <p:sp>
          <p:nvSpPr>
            <p:cNvPr id="14" name="Rectangle 13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Brady</a:t>
              </a:r>
            </a:p>
          </p:txBody>
        </p:sp>
        <p:sp>
          <p:nvSpPr>
            <p:cNvPr id="16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 bwMode="auto">
          <a:xfrm>
            <a:off x="3722080" y="4021336"/>
            <a:ext cx="1633254" cy="1633253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99354">
              <a:lnSpc>
                <a:spcPct val="90000"/>
              </a:lnSpc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8"/>
          <p:cNvSpPr txBox="1">
            <a:spLocks/>
          </p:cNvSpPr>
          <p:nvPr/>
        </p:nvSpPr>
        <p:spPr>
          <a:xfrm>
            <a:off x="3814988" y="5611381"/>
            <a:ext cx="1447437" cy="387782"/>
          </a:xfrm>
          <a:prstGeom prst="rect">
            <a:avLst/>
          </a:prstGeom>
        </p:spPr>
        <p:txBody>
          <a:bodyPr vert="horz" wrap="square" lIns="109715" tIns="68572" rIns="109715" bIns="68572" rtlCol="0">
            <a:spAutoFit/>
          </a:bodyPr>
          <a:lstStyle>
            <a:lvl1pPr marL="342856" marR="0" indent="-342856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9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125" marR="0" indent="-241269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999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56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139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4711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024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335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3648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Hub</a:t>
            </a:r>
          </a:p>
        </p:txBody>
      </p:sp>
      <p:sp>
        <p:nvSpPr>
          <p:cNvPr id="20" name="Freeform 104"/>
          <p:cNvSpPr>
            <a:spLocks noEditPoints="1"/>
          </p:cNvSpPr>
          <p:nvPr/>
        </p:nvSpPr>
        <p:spPr bwMode="black">
          <a:xfrm>
            <a:off x="3937749" y="4265739"/>
            <a:ext cx="1201916" cy="1201916"/>
          </a:xfrm>
          <a:custGeom>
            <a:avLst/>
            <a:gdLst>
              <a:gd name="T0" fmla="*/ 37 w 61"/>
              <a:gd name="T1" fmla="*/ 43 h 61"/>
              <a:gd name="T2" fmla="*/ 18 w 61"/>
              <a:gd name="T3" fmla="*/ 37 h 61"/>
              <a:gd name="T4" fmla="*/ 24 w 61"/>
              <a:gd name="T5" fmla="*/ 18 h 61"/>
              <a:gd name="T6" fmla="*/ 43 w 61"/>
              <a:gd name="T7" fmla="*/ 24 h 61"/>
              <a:gd name="T8" fmla="*/ 37 w 61"/>
              <a:gd name="T9" fmla="*/ 43 h 61"/>
              <a:gd name="T10" fmla="*/ 61 w 61"/>
              <a:gd name="T11" fmla="*/ 28 h 61"/>
              <a:gd name="T12" fmla="*/ 58 w 61"/>
              <a:gd name="T13" fmla="*/ 18 h 61"/>
              <a:gd name="T14" fmla="*/ 50 w 61"/>
              <a:gd name="T15" fmla="*/ 19 h 61"/>
              <a:gd name="T16" fmla="*/ 47 w 61"/>
              <a:gd name="T17" fmla="*/ 15 h 61"/>
              <a:gd name="T18" fmla="*/ 50 w 61"/>
              <a:gd name="T19" fmla="*/ 7 h 61"/>
              <a:gd name="T20" fmla="*/ 41 w 61"/>
              <a:gd name="T21" fmla="*/ 2 h 61"/>
              <a:gd name="T22" fmla="*/ 36 w 61"/>
              <a:gd name="T23" fmla="*/ 9 h 61"/>
              <a:gd name="T24" fmla="*/ 30 w 61"/>
              <a:gd name="T25" fmla="*/ 8 h 61"/>
              <a:gd name="T26" fmla="*/ 27 w 61"/>
              <a:gd name="T27" fmla="*/ 0 h 61"/>
              <a:gd name="T28" fmla="*/ 17 w 61"/>
              <a:gd name="T29" fmla="*/ 3 h 61"/>
              <a:gd name="T30" fmla="*/ 18 w 61"/>
              <a:gd name="T31" fmla="*/ 11 h 61"/>
              <a:gd name="T32" fmla="*/ 15 w 61"/>
              <a:gd name="T33" fmla="*/ 14 h 61"/>
              <a:gd name="T34" fmla="*/ 7 w 61"/>
              <a:gd name="T35" fmla="*/ 11 h 61"/>
              <a:gd name="T36" fmla="*/ 2 w 61"/>
              <a:gd name="T37" fmla="*/ 20 h 61"/>
              <a:gd name="T38" fmla="*/ 8 w 61"/>
              <a:gd name="T39" fmla="*/ 25 h 61"/>
              <a:gd name="T40" fmla="*/ 7 w 61"/>
              <a:gd name="T41" fmla="*/ 30 h 61"/>
              <a:gd name="T42" fmla="*/ 0 w 61"/>
              <a:gd name="T43" fmla="*/ 33 h 61"/>
              <a:gd name="T44" fmla="*/ 2 w 61"/>
              <a:gd name="T45" fmla="*/ 43 h 61"/>
              <a:gd name="T46" fmla="*/ 11 w 61"/>
              <a:gd name="T47" fmla="*/ 42 h 61"/>
              <a:gd name="T48" fmla="*/ 14 w 61"/>
              <a:gd name="T49" fmla="*/ 47 h 61"/>
              <a:gd name="T50" fmla="*/ 11 w 61"/>
              <a:gd name="T51" fmla="*/ 54 h 61"/>
              <a:gd name="T52" fmla="*/ 20 w 61"/>
              <a:gd name="T53" fmla="*/ 59 h 61"/>
              <a:gd name="T54" fmla="*/ 25 w 61"/>
              <a:gd name="T55" fmla="*/ 53 h 61"/>
              <a:gd name="T56" fmla="*/ 30 w 61"/>
              <a:gd name="T57" fmla="*/ 53 h 61"/>
              <a:gd name="T58" fmla="*/ 33 w 61"/>
              <a:gd name="T59" fmla="*/ 61 h 61"/>
              <a:gd name="T60" fmla="*/ 43 w 61"/>
              <a:gd name="T61" fmla="*/ 58 h 61"/>
              <a:gd name="T62" fmla="*/ 42 w 61"/>
              <a:gd name="T63" fmla="*/ 50 h 61"/>
              <a:gd name="T64" fmla="*/ 46 w 61"/>
              <a:gd name="T65" fmla="*/ 47 h 61"/>
              <a:gd name="T66" fmla="*/ 54 w 61"/>
              <a:gd name="T67" fmla="*/ 50 h 61"/>
              <a:gd name="T68" fmla="*/ 59 w 61"/>
              <a:gd name="T69" fmla="*/ 41 h 61"/>
              <a:gd name="T70" fmla="*/ 52 w 61"/>
              <a:gd name="T71" fmla="*/ 36 h 61"/>
              <a:gd name="T72" fmla="*/ 53 w 61"/>
              <a:gd name="T73" fmla="*/ 31 h 61"/>
              <a:gd name="T74" fmla="*/ 61 w 61"/>
              <a:gd name="T75" fmla="*/ 28 h 61"/>
              <a:gd name="T76" fmla="*/ 28 w 61"/>
              <a:gd name="T77" fmla="*/ 26 h 61"/>
              <a:gd name="T78" fmla="*/ 26 w 61"/>
              <a:gd name="T79" fmla="*/ 33 h 61"/>
              <a:gd name="T80" fmla="*/ 33 w 61"/>
              <a:gd name="T81" fmla="*/ 35 h 61"/>
              <a:gd name="T82" fmla="*/ 35 w 61"/>
              <a:gd name="T83" fmla="*/ 28 h 61"/>
              <a:gd name="T84" fmla="*/ 28 w 61"/>
              <a:gd name="T85" fmla="*/ 26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1" h="61">
                <a:moveTo>
                  <a:pt x="37" y="43"/>
                </a:moveTo>
                <a:cubicBezTo>
                  <a:pt x="30" y="47"/>
                  <a:pt x="21" y="44"/>
                  <a:pt x="18" y="37"/>
                </a:cubicBezTo>
                <a:cubicBezTo>
                  <a:pt x="14" y="30"/>
                  <a:pt x="17" y="21"/>
                  <a:pt x="24" y="18"/>
                </a:cubicBezTo>
                <a:cubicBezTo>
                  <a:pt x="31" y="14"/>
                  <a:pt x="39" y="17"/>
                  <a:pt x="43" y="24"/>
                </a:cubicBezTo>
                <a:cubicBezTo>
                  <a:pt x="47" y="31"/>
                  <a:pt x="44" y="40"/>
                  <a:pt x="37" y="43"/>
                </a:cubicBezTo>
                <a:moveTo>
                  <a:pt x="61" y="28"/>
                </a:moveTo>
                <a:cubicBezTo>
                  <a:pt x="58" y="18"/>
                  <a:pt x="58" y="18"/>
                  <a:pt x="58" y="18"/>
                </a:cubicBezTo>
                <a:cubicBezTo>
                  <a:pt x="50" y="19"/>
                  <a:pt x="50" y="19"/>
                  <a:pt x="50" y="19"/>
                </a:cubicBezTo>
                <a:cubicBezTo>
                  <a:pt x="49" y="17"/>
                  <a:pt x="48" y="16"/>
                  <a:pt x="47" y="15"/>
                </a:cubicBezTo>
                <a:cubicBezTo>
                  <a:pt x="50" y="7"/>
                  <a:pt x="50" y="7"/>
                  <a:pt x="50" y="7"/>
                </a:cubicBezTo>
                <a:cubicBezTo>
                  <a:pt x="41" y="2"/>
                  <a:pt x="41" y="2"/>
                  <a:pt x="41" y="2"/>
                </a:cubicBezTo>
                <a:cubicBezTo>
                  <a:pt x="36" y="9"/>
                  <a:pt x="36" y="9"/>
                  <a:pt x="36" y="9"/>
                </a:cubicBezTo>
                <a:cubicBezTo>
                  <a:pt x="34" y="8"/>
                  <a:pt x="32" y="8"/>
                  <a:pt x="30" y="8"/>
                </a:cubicBezTo>
                <a:cubicBezTo>
                  <a:pt x="27" y="0"/>
                  <a:pt x="27" y="0"/>
                  <a:pt x="2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2"/>
                  <a:pt x="16" y="13"/>
                  <a:pt x="15" y="14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20"/>
                  <a:pt x="2" y="20"/>
                  <a:pt x="2" y="20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7"/>
                  <a:pt x="7" y="28"/>
                  <a:pt x="7" y="30"/>
                </a:cubicBezTo>
                <a:cubicBezTo>
                  <a:pt x="0" y="33"/>
                  <a:pt x="0" y="33"/>
                  <a:pt x="0" y="33"/>
                </a:cubicBezTo>
                <a:cubicBezTo>
                  <a:pt x="2" y="43"/>
                  <a:pt x="2" y="43"/>
                  <a:pt x="2" y="43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4"/>
                  <a:pt x="13" y="45"/>
                  <a:pt x="14" y="47"/>
                </a:cubicBezTo>
                <a:cubicBezTo>
                  <a:pt x="11" y="54"/>
                  <a:pt x="11" y="54"/>
                  <a:pt x="11" y="54"/>
                </a:cubicBezTo>
                <a:cubicBezTo>
                  <a:pt x="20" y="59"/>
                  <a:pt x="20" y="59"/>
                  <a:pt x="20" y="59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8" y="53"/>
                  <a:pt x="30" y="53"/>
                </a:cubicBezTo>
                <a:cubicBezTo>
                  <a:pt x="33" y="61"/>
                  <a:pt x="33" y="61"/>
                  <a:pt x="33" y="61"/>
                </a:cubicBezTo>
                <a:cubicBezTo>
                  <a:pt x="43" y="58"/>
                  <a:pt x="43" y="58"/>
                  <a:pt x="43" y="58"/>
                </a:cubicBezTo>
                <a:cubicBezTo>
                  <a:pt x="42" y="50"/>
                  <a:pt x="42" y="50"/>
                  <a:pt x="42" y="50"/>
                </a:cubicBezTo>
                <a:cubicBezTo>
                  <a:pt x="44" y="49"/>
                  <a:pt x="45" y="48"/>
                  <a:pt x="46" y="47"/>
                </a:cubicBezTo>
                <a:cubicBezTo>
                  <a:pt x="54" y="50"/>
                  <a:pt x="54" y="50"/>
                  <a:pt x="54" y="50"/>
                </a:cubicBezTo>
                <a:cubicBezTo>
                  <a:pt x="59" y="41"/>
                  <a:pt x="59" y="41"/>
                  <a:pt x="59" y="41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4"/>
                  <a:pt x="53" y="33"/>
                  <a:pt x="53" y="31"/>
                </a:cubicBezTo>
                <a:lnTo>
                  <a:pt x="61" y="28"/>
                </a:lnTo>
                <a:close/>
                <a:moveTo>
                  <a:pt x="28" y="26"/>
                </a:moveTo>
                <a:cubicBezTo>
                  <a:pt x="25" y="27"/>
                  <a:pt x="24" y="30"/>
                  <a:pt x="26" y="33"/>
                </a:cubicBezTo>
                <a:cubicBezTo>
                  <a:pt x="27" y="35"/>
                  <a:pt x="30" y="36"/>
                  <a:pt x="33" y="35"/>
                </a:cubicBezTo>
                <a:cubicBezTo>
                  <a:pt x="35" y="34"/>
                  <a:pt x="36" y="31"/>
                  <a:pt x="35" y="28"/>
                </a:cubicBezTo>
                <a:cubicBezTo>
                  <a:pt x="34" y="26"/>
                  <a:pt x="31" y="25"/>
                  <a:pt x="28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9950" tIns="34975" rIns="69950" bIns="34975" numCol="1" anchor="t" anchorCtr="0" compatLnSpc="1">
            <a:prstTxWarp prst="textNoShape">
              <a:avLst/>
            </a:prstTxWarp>
          </a:bodyPr>
          <a:lstStyle/>
          <a:p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21" name="Naslov 3"/>
          <p:cNvSpPr txBox="1">
            <a:spLocks/>
          </p:cNvSpPr>
          <p:nvPr/>
        </p:nvSpPr>
        <p:spPr>
          <a:xfrm>
            <a:off x="1172034" y="2567026"/>
            <a:ext cx="3788283" cy="740952"/>
          </a:xfrm>
          <a:prstGeom prst="rect">
            <a:avLst/>
          </a:prstGeom>
        </p:spPr>
        <p:txBody>
          <a:bodyPr vert="horz" wrap="square" lIns="68580" tIns="34290" rIns="68580" bIns="3429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sl-SI" sz="3200" b="0" kern="1200" cap="none" spc="-100" baseline="0" dirty="0">
                <a:ln w="3175">
                  <a:noFill/>
                </a:ln>
                <a:solidFill>
                  <a:srgbClr val="0070C0"/>
                </a:soli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Clients.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Caller</a:t>
            </a: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doWork</a:t>
            </a:r>
            <a:r>
              <a:rPr lang="en-US" sz="24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395014" y="487917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2351149" y="4989047"/>
            <a:ext cx="2105736" cy="1313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43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messages to </a:t>
            </a:r>
            <a:r>
              <a:rPr lang="en-US" dirty="0">
                <a:solidFill>
                  <a:schemeClr val="accent1"/>
                </a:solidFill>
              </a:rPr>
              <a:t>other </a:t>
            </a:r>
            <a:r>
              <a:rPr lang="en-US" dirty="0"/>
              <a:t>connected clients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72034" y="4079796"/>
            <a:ext cx="1503497" cy="1851502"/>
            <a:chOff x="731897" y="1394854"/>
            <a:chExt cx="1264205" cy="1556824"/>
          </a:xfrm>
        </p:grpSpPr>
        <p:sp>
          <p:nvSpPr>
            <p:cNvPr id="6" name="Rectangle 5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Jon</a:t>
              </a:r>
            </a:p>
          </p:txBody>
        </p:sp>
        <p:sp>
          <p:nvSpPr>
            <p:cNvPr id="8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01884" y="2251007"/>
            <a:ext cx="1503497" cy="1851502"/>
            <a:chOff x="731897" y="1394854"/>
            <a:chExt cx="1264205" cy="1556824"/>
          </a:xfrm>
        </p:grpSpPr>
        <p:sp>
          <p:nvSpPr>
            <p:cNvPr id="10" name="Rectangle 9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Scott</a:t>
              </a:r>
            </a:p>
          </p:txBody>
        </p:sp>
        <p:sp>
          <p:nvSpPr>
            <p:cNvPr id="12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401884" y="4079796"/>
            <a:ext cx="1503497" cy="1851502"/>
            <a:chOff x="731897" y="1394854"/>
            <a:chExt cx="1264205" cy="1556824"/>
          </a:xfrm>
        </p:grpSpPr>
        <p:sp>
          <p:nvSpPr>
            <p:cNvPr id="14" name="Rectangle 13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Brady</a:t>
              </a:r>
            </a:p>
          </p:txBody>
        </p:sp>
        <p:sp>
          <p:nvSpPr>
            <p:cNvPr id="16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 bwMode="auto">
          <a:xfrm>
            <a:off x="3722080" y="4021336"/>
            <a:ext cx="1633254" cy="1633253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99354">
              <a:lnSpc>
                <a:spcPct val="90000"/>
              </a:lnSpc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8"/>
          <p:cNvSpPr txBox="1">
            <a:spLocks/>
          </p:cNvSpPr>
          <p:nvPr/>
        </p:nvSpPr>
        <p:spPr>
          <a:xfrm>
            <a:off x="3814988" y="5611381"/>
            <a:ext cx="1447437" cy="387782"/>
          </a:xfrm>
          <a:prstGeom prst="rect">
            <a:avLst/>
          </a:prstGeom>
        </p:spPr>
        <p:txBody>
          <a:bodyPr vert="horz" wrap="square" lIns="109715" tIns="68572" rIns="109715" bIns="68572" rtlCol="0">
            <a:spAutoFit/>
          </a:bodyPr>
          <a:lstStyle>
            <a:lvl1pPr marL="342856" marR="0" indent="-342856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9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125" marR="0" indent="-241269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999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56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139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4711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024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335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3648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Hub</a:t>
            </a:r>
          </a:p>
        </p:txBody>
      </p:sp>
      <p:sp>
        <p:nvSpPr>
          <p:cNvPr id="20" name="Freeform 104"/>
          <p:cNvSpPr>
            <a:spLocks noEditPoints="1"/>
          </p:cNvSpPr>
          <p:nvPr/>
        </p:nvSpPr>
        <p:spPr bwMode="black">
          <a:xfrm>
            <a:off x="3937749" y="4265739"/>
            <a:ext cx="1201916" cy="1201916"/>
          </a:xfrm>
          <a:custGeom>
            <a:avLst/>
            <a:gdLst>
              <a:gd name="T0" fmla="*/ 37 w 61"/>
              <a:gd name="T1" fmla="*/ 43 h 61"/>
              <a:gd name="T2" fmla="*/ 18 w 61"/>
              <a:gd name="T3" fmla="*/ 37 h 61"/>
              <a:gd name="T4" fmla="*/ 24 w 61"/>
              <a:gd name="T5" fmla="*/ 18 h 61"/>
              <a:gd name="T6" fmla="*/ 43 w 61"/>
              <a:gd name="T7" fmla="*/ 24 h 61"/>
              <a:gd name="T8" fmla="*/ 37 w 61"/>
              <a:gd name="T9" fmla="*/ 43 h 61"/>
              <a:gd name="T10" fmla="*/ 61 w 61"/>
              <a:gd name="T11" fmla="*/ 28 h 61"/>
              <a:gd name="T12" fmla="*/ 58 w 61"/>
              <a:gd name="T13" fmla="*/ 18 h 61"/>
              <a:gd name="T14" fmla="*/ 50 w 61"/>
              <a:gd name="T15" fmla="*/ 19 h 61"/>
              <a:gd name="T16" fmla="*/ 47 w 61"/>
              <a:gd name="T17" fmla="*/ 15 h 61"/>
              <a:gd name="T18" fmla="*/ 50 w 61"/>
              <a:gd name="T19" fmla="*/ 7 h 61"/>
              <a:gd name="T20" fmla="*/ 41 w 61"/>
              <a:gd name="T21" fmla="*/ 2 h 61"/>
              <a:gd name="T22" fmla="*/ 36 w 61"/>
              <a:gd name="T23" fmla="*/ 9 h 61"/>
              <a:gd name="T24" fmla="*/ 30 w 61"/>
              <a:gd name="T25" fmla="*/ 8 h 61"/>
              <a:gd name="T26" fmla="*/ 27 w 61"/>
              <a:gd name="T27" fmla="*/ 0 h 61"/>
              <a:gd name="T28" fmla="*/ 17 w 61"/>
              <a:gd name="T29" fmla="*/ 3 h 61"/>
              <a:gd name="T30" fmla="*/ 18 w 61"/>
              <a:gd name="T31" fmla="*/ 11 h 61"/>
              <a:gd name="T32" fmla="*/ 15 w 61"/>
              <a:gd name="T33" fmla="*/ 14 h 61"/>
              <a:gd name="T34" fmla="*/ 7 w 61"/>
              <a:gd name="T35" fmla="*/ 11 h 61"/>
              <a:gd name="T36" fmla="*/ 2 w 61"/>
              <a:gd name="T37" fmla="*/ 20 h 61"/>
              <a:gd name="T38" fmla="*/ 8 w 61"/>
              <a:gd name="T39" fmla="*/ 25 h 61"/>
              <a:gd name="T40" fmla="*/ 7 w 61"/>
              <a:gd name="T41" fmla="*/ 30 h 61"/>
              <a:gd name="T42" fmla="*/ 0 w 61"/>
              <a:gd name="T43" fmla="*/ 33 h 61"/>
              <a:gd name="T44" fmla="*/ 2 w 61"/>
              <a:gd name="T45" fmla="*/ 43 h 61"/>
              <a:gd name="T46" fmla="*/ 11 w 61"/>
              <a:gd name="T47" fmla="*/ 42 h 61"/>
              <a:gd name="T48" fmla="*/ 14 w 61"/>
              <a:gd name="T49" fmla="*/ 47 h 61"/>
              <a:gd name="T50" fmla="*/ 11 w 61"/>
              <a:gd name="T51" fmla="*/ 54 h 61"/>
              <a:gd name="T52" fmla="*/ 20 w 61"/>
              <a:gd name="T53" fmla="*/ 59 h 61"/>
              <a:gd name="T54" fmla="*/ 25 w 61"/>
              <a:gd name="T55" fmla="*/ 53 h 61"/>
              <a:gd name="T56" fmla="*/ 30 w 61"/>
              <a:gd name="T57" fmla="*/ 53 h 61"/>
              <a:gd name="T58" fmla="*/ 33 w 61"/>
              <a:gd name="T59" fmla="*/ 61 h 61"/>
              <a:gd name="T60" fmla="*/ 43 w 61"/>
              <a:gd name="T61" fmla="*/ 58 h 61"/>
              <a:gd name="T62" fmla="*/ 42 w 61"/>
              <a:gd name="T63" fmla="*/ 50 h 61"/>
              <a:gd name="T64" fmla="*/ 46 w 61"/>
              <a:gd name="T65" fmla="*/ 47 h 61"/>
              <a:gd name="T66" fmla="*/ 54 w 61"/>
              <a:gd name="T67" fmla="*/ 50 h 61"/>
              <a:gd name="T68" fmla="*/ 59 w 61"/>
              <a:gd name="T69" fmla="*/ 41 h 61"/>
              <a:gd name="T70" fmla="*/ 52 w 61"/>
              <a:gd name="T71" fmla="*/ 36 h 61"/>
              <a:gd name="T72" fmla="*/ 53 w 61"/>
              <a:gd name="T73" fmla="*/ 31 h 61"/>
              <a:gd name="T74" fmla="*/ 61 w 61"/>
              <a:gd name="T75" fmla="*/ 28 h 61"/>
              <a:gd name="T76" fmla="*/ 28 w 61"/>
              <a:gd name="T77" fmla="*/ 26 h 61"/>
              <a:gd name="T78" fmla="*/ 26 w 61"/>
              <a:gd name="T79" fmla="*/ 33 h 61"/>
              <a:gd name="T80" fmla="*/ 33 w 61"/>
              <a:gd name="T81" fmla="*/ 35 h 61"/>
              <a:gd name="T82" fmla="*/ 35 w 61"/>
              <a:gd name="T83" fmla="*/ 28 h 61"/>
              <a:gd name="T84" fmla="*/ 28 w 61"/>
              <a:gd name="T85" fmla="*/ 26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1" h="61">
                <a:moveTo>
                  <a:pt x="37" y="43"/>
                </a:moveTo>
                <a:cubicBezTo>
                  <a:pt x="30" y="47"/>
                  <a:pt x="21" y="44"/>
                  <a:pt x="18" y="37"/>
                </a:cubicBezTo>
                <a:cubicBezTo>
                  <a:pt x="14" y="30"/>
                  <a:pt x="17" y="21"/>
                  <a:pt x="24" y="18"/>
                </a:cubicBezTo>
                <a:cubicBezTo>
                  <a:pt x="31" y="14"/>
                  <a:pt x="39" y="17"/>
                  <a:pt x="43" y="24"/>
                </a:cubicBezTo>
                <a:cubicBezTo>
                  <a:pt x="47" y="31"/>
                  <a:pt x="44" y="40"/>
                  <a:pt x="37" y="43"/>
                </a:cubicBezTo>
                <a:moveTo>
                  <a:pt x="61" y="28"/>
                </a:moveTo>
                <a:cubicBezTo>
                  <a:pt x="58" y="18"/>
                  <a:pt x="58" y="18"/>
                  <a:pt x="58" y="18"/>
                </a:cubicBezTo>
                <a:cubicBezTo>
                  <a:pt x="50" y="19"/>
                  <a:pt x="50" y="19"/>
                  <a:pt x="50" y="19"/>
                </a:cubicBezTo>
                <a:cubicBezTo>
                  <a:pt x="49" y="17"/>
                  <a:pt x="48" y="16"/>
                  <a:pt x="47" y="15"/>
                </a:cubicBezTo>
                <a:cubicBezTo>
                  <a:pt x="50" y="7"/>
                  <a:pt x="50" y="7"/>
                  <a:pt x="50" y="7"/>
                </a:cubicBezTo>
                <a:cubicBezTo>
                  <a:pt x="41" y="2"/>
                  <a:pt x="41" y="2"/>
                  <a:pt x="41" y="2"/>
                </a:cubicBezTo>
                <a:cubicBezTo>
                  <a:pt x="36" y="9"/>
                  <a:pt x="36" y="9"/>
                  <a:pt x="36" y="9"/>
                </a:cubicBezTo>
                <a:cubicBezTo>
                  <a:pt x="34" y="8"/>
                  <a:pt x="32" y="8"/>
                  <a:pt x="30" y="8"/>
                </a:cubicBezTo>
                <a:cubicBezTo>
                  <a:pt x="27" y="0"/>
                  <a:pt x="27" y="0"/>
                  <a:pt x="2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2"/>
                  <a:pt x="16" y="13"/>
                  <a:pt x="15" y="14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20"/>
                  <a:pt x="2" y="20"/>
                  <a:pt x="2" y="20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7"/>
                  <a:pt x="7" y="28"/>
                  <a:pt x="7" y="30"/>
                </a:cubicBezTo>
                <a:cubicBezTo>
                  <a:pt x="0" y="33"/>
                  <a:pt x="0" y="33"/>
                  <a:pt x="0" y="33"/>
                </a:cubicBezTo>
                <a:cubicBezTo>
                  <a:pt x="2" y="43"/>
                  <a:pt x="2" y="43"/>
                  <a:pt x="2" y="43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4"/>
                  <a:pt x="13" y="45"/>
                  <a:pt x="14" y="47"/>
                </a:cubicBezTo>
                <a:cubicBezTo>
                  <a:pt x="11" y="54"/>
                  <a:pt x="11" y="54"/>
                  <a:pt x="11" y="54"/>
                </a:cubicBezTo>
                <a:cubicBezTo>
                  <a:pt x="20" y="59"/>
                  <a:pt x="20" y="59"/>
                  <a:pt x="20" y="59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8" y="53"/>
                  <a:pt x="30" y="53"/>
                </a:cubicBezTo>
                <a:cubicBezTo>
                  <a:pt x="33" y="61"/>
                  <a:pt x="33" y="61"/>
                  <a:pt x="33" y="61"/>
                </a:cubicBezTo>
                <a:cubicBezTo>
                  <a:pt x="43" y="58"/>
                  <a:pt x="43" y="58"/>
                  <a:pt x="43" y="58"/>
                </a:cubicBezTo>
                <a:cubicBezTo>
                  <a:pt x="42" y="50"/>
                  <a:pt x="42" y="50"/>
                  <a:pt x="42" y="50"/>
                </a:cubicBezTo>
                <a:cubicBezTo>
                  <a:pt x="44" y="49"/>
                  <a:pt x="45" y="48"/>
                  <a:pt x="46" y="47"/>
                </a:cubicBezTo>
                <a:cubicBezTo>
                  <a:pt x="54" y="50"/>
                  <a:pt x="54" y="50"/>
                  <a:pt x="54" y="50"/>
                </a:cubicBezTo>
                <a:cubicBezTo>
                  <a:pt x="59" y="41"/>
                  <a:pt x="59" y="41"/>
                  <a:pt x="59" y="41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4"/>
                  <a:pt x="53" y="33"/>
                  <a:pt x="53" y="31"/>
                </a:cubicBezTo>
                <a:lnTo>
                  <a:pt x="61" y="28"/>
                </a:lnTo>
                <a:close/>
                <a:moveTo>
                  <a:pt x="28" y="26"/>
                </a:moveTo>
                <a:cubicBezTo>
                  <a:pt x="25" y="27"/>
                  <a:pt x="24" y="30"/>
                  <a:pt x="26" y="33"/>
                </a:cubicBezTo>
                <a:cubicBezTo>
                  <a:pt x="27" y="35"/>
                  <a:pt x="30" y="36"/>
                  <a:pt x="33" y="35"/>
                </a:cubicBezTo>
                <a:cubicBezTo>
                  <a:pt x="35" y="34"/>
                  <a:pt x="36" y="31"/>
                  <a:pt x="35" y="28"/>
                </a:cubicBezTo>
                <a:cubicBezTo>
                  <a:pt x="34" y="26"/>
                  <a:pt x="31" y="25"/>
                  <a:pt x="28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9950" tIns="34975" rIns="69950" bIns="34975" numCol="1" anchor="t" anchorCtr="0" compatLnSpc="1">
            <a:prstTxWarp prst="textNoShape">
              <a:avLst/>
            </a:prstTxWarp>
          </a:bodyPr>
          <a:lstStyle/>
          <a:p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21" name="Naslov 3"/>
          <p:cNvSpPr txBox="1">
            <a:spLocks/>
          </p:cNvSpPr>
          <p:nvPr/>
        </p:nvSpPr>
        <p:spPr>
          <a:xfrm>
            <a:off x="1172034" y="2567026"/>
            <a:ext cx="3788283" cy="740952"/>
          </a:xfrm>
          <a:prstGeom prst="rect">
            <a:avLst/>
          </a:prstGeom>
        </p:spPr>
        <p:txBody>
          <a:bodyPr vert="horz" wrap="square" lIns="68580" tIns="34290" rIns="68580" bIns="3429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sl-SI" sz="3200" b="0" kern="1200" cap="none" spc="-100" baseline="0" dirty="0">
                <a:ln w="3175">
                  <a:noFill/>
                </a:ln>
                <a:solidFill>
                  <a:srgbClr val="0070C0"/>
                </a:soli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Clients.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Others</a:t>
            </a: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doWork</a:t>
            </a:r>
            <a:r>
              <a:rPr lang="en-US" sz="24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395014" y="487917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633362" y="486993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538707" y="3071388"/>
            <a:ext cx="2188958" cy="16557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659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messages to </a:t>
            </a:r>
            <a:r>
              <a:rPr lang="en-US" dirty="0">
                <a:solidFill>
                  <a:schemeClr val="accent1"/>
                </a:solidFill>
              </a:rPr>
              <a:t>specific </a:t>
            </a:r>
            <a:r>
              <a:rPr lang="en-US" dirty="0"/>
              <a:t>users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72034" y="4079796"/>
            <a:ext cx="1503497" cy="1851502"/>
            <a:chOff x="731897" y="1394854"/>
            <a:chExt cx="1264205" cy="1556824"/>
          </a:xfrm>
        </p:grpSpPr>
        <p:sp>
          <p:nvSpPr>
            <p:cNvPr id="6" name="Rectangle 5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Jon</a:t>
              </a:r>
            </a:p>
          </p:txBody>
        </p:sp>
        <p:sp>
          <p:nvSpPr>
            <p:cNvPr id="8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01884" y="2251007"/>
            <a:ext cx="1503497" cy="1851502"/>
            <a:chOff x="731897" y="1394854"/>
            <a:chExt cx="1264205" cy="1556824"/>
          </a:xfrm>
        </p:grpSpPr>
        <p:sp>
          <p:nvSpPr>
            <p:cNvPr id="10" name="Rectangle 9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Scott</a:t>
              </a:r>
            </a:p>
          </p:txBody>
        </p:sp>
        <p:sp>
          <p:nvSpPr>
            <p:cNvPr id="12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401884" y="4079796"/>
            <a:ext cx="1503497" cy="1851502"/>
            <a:chOff x="731897" y="1394854"/>
            <a:chExt cx="1264205" cy="1556824"/>
          </a:xfrm>
        </p:grpSpPr>
        <p:sp>
          <p:nvSpPr>
            <p:cNvPr id="14" name="Rectangle 13"/>
            <p:cNvSpPr/>
            <p:nvPr/>
          </p:nvSpPr>
          <p:spPr bwMode="auto">
            <a:xfrm>
              <a:off x="731897" y="1394854"/>
              <a:ext cx="1264205" cy="1264205"/>
            </a:xfrm>
            <a:prstGeom prst="rect">
              <a:avLst/>
            </a:prstGeom>
            <a:solidFill>
              <a:srgbClr val="0070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699354">
                <a:lnSpc>
                  <a:spcPct val="90000"/>
                </a:lnSpc>
              </a:pPr>
              <a:endParaRPr lang="en-US" sz="180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Text Placeholder 8"/>
            <p:cNvSpPr txBox="1">
              <a:spLocks/>
            </p:cNvSpPr>
            <p:nvPr/>
          </p:nvSpPr>
          <p:spPr>
            <a:xfrm>
              <a:off x="803812" y="2625614"/>
              <a:ext cx="1120375" cy="326064"/>
            </a:xfrm>
            <a:prstGeom prst="rect">
              <a:avLst/>
            </a:prstGeom>
          </p:spPr>
          <p:txBody>
            <a:bodyPr vert="horz" wrap="square" lIns="109715" tIns="68572" rIns="109715" bIns="68572" rtlCol="0">
              <a:spAutoFit/>
            </a:bodyPr>
            <a:lstStyle>
              <a:lvl1pPr marL="342856" marR="0" indent="-342856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39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j-lt"/>
                  <a:ea typeface="+mn-ea"/>
                  <a:cs typeface="+mn-cs"/>
                </a:defRPr>
              </a:lvl1pPr>
              <a:lvl2pPr marL="584125" marR="0" indent="-241269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4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2pPr>
              <a:lvl3pPr marL="79999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20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3pPr>
              <a:lvl4pPr marL="1028568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4pPr>
              <a:lvl5pPr marL="1257139" marR="0" indent="-228571" algn="l" defTabSz="932623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Arial" pitchFamily="34" charset="0"/>
                <a:buChar char="•"/>
                <a:tabLst/>
                <a:defRPr sz="1800" kern="1200" spc="0" baseline="0">
                  <a:gradFill>
                    <a:gsLst>
                      <a:gs pos="125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defRPr>
              </a:lvl5pPr>
              <a:lvl6pPr marL="2564711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024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335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3648" indent="-233156" algn="l" defTabSz="932623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/>
                <a:t>Brady</a:t>
              </a:r>
            </a:p>
          </p:txBody>
        </p:sp>
        <p:sp>
          <p:nvSpPr>
            <p:cNvPr id="16" name="Freeform 144"/>
            <p:cNvSpPr>
              <a:spLocks noEditPoints="1"/>
            </p:cNvSpPr>
            <p:nvPr/>
          </p:nvSpPr>
          <p:spPr bwMode="black">
            <a:xfrm>
              <a:off x="1073890" y="1547070"/>
              <a:ext cx="580216" cy="1024332"/>
            </a:xfrm>
            <a:custGeom>
              <a:avLst/>
              <a:gdLst>
                <a:gd name="T0" fmla="*/ 35 w 46"/>
                <a:gd name="T1" fmla="*/ 7 h 84"/>
                <a:gd name="T2" fmla="*/ 29 w 46"/>
                <a:gd name="T3" fmla="*/ 14 h 84"/>
                <a:gd name="T4" fmla="*/ 22 w 46"/>
                <a:gd name="T5" fmla="*/ 7 h 84"/>
                <a:gd name="T6" fmla="*/ 29 w 46"/>
                <a:gd name="T7" fmla="*/ 0 h 84"/>
                <a:gd name="T8" fmla="*/ 35 w 46"/>
                <a:gd name="T9" fmla="*/ 7 h 84"/>
                <a:gd name="T10" fmla="*/ 20 w 46"/>
                <a:gd name="T11" fmla="*/ 12 h 84"/>
                <a:gd name="T12" fmla="*/ 2 w 46"/>
                <a:gd name="T13" fmla="*/ 22 h 84"/>
                <a:gd name="T14" fmla="*/ 0 w 46"/>
                <a:gd name="T15" fmla="*/ 41 h 84"/>
                <a:gd name="T16" fmla="*/ 6 w 46"/>
                <a:gd name="T17" fmla="*/ 41 h 84"/>
                <a:gd name="T18" fmla="*/ 7 w 46"/>
                <a:gd name="T19" fmla="*/ 26 h 84"/>
                <a:gd name="T20" fmla="*/ 15 w 46"/>
                <a:gd name="T21" fmla="*/ 22 h 84"/>
                <a:gd name="T22" fmla="*/ 10 w 46"/>
                <a:gd name="T23" fmla="*/ 37 h 84"/>
                <a:gd name="T24" fmla="*/ 12 w 46"/>
                <a:gd name="T25" fmla="*/ 45 h 84"/>
                <a:gd name="T26" fmla="*/ 0 w 46"/>
                <a:gd name="T27" fmla="*/ 82 h 84"/>
                <a:gd name="T28" fmla="*/ 8 w 46"/>
                <a:gd name="T29" fmla="*/ 84 h 84"/>
                <a:gd name="T30" fmla="*/ 18 w 46"/>
                <a:gd name="T31" fmla="*/ 57 h 84"/>
                <a:gd name="T32" fmla="*/ 21 w 46"/>
                <a:gd name="T33" fmla="*/ 62 h 84"/>
                <a:gd name="T34" fmla="*/ 27 w 46"/>
                <a:gd name="T35" fmla="*/ 84 h 84"/>
                <a:gd name="T36" fmla="*/ 36 w 46"/>
                <a:gd name="T37" fmla="*/ 81 h 84"/>
                <a:gd name="T38" fmla="*/ 29 w 46"/>
                <a:gd name="T39" fmla="*/ 56 h 84"/>
                <a:gd name="T40" fmla="*/ 22 w 46"/>
                <a:gd name="T41" fmla="*/ 45 h 84"/>
                <a:gd name="T42" fmla="*/ 27 w 46"/>
                <a:gd name="T43" fmla="*/ 29 h 84"/>
                <a:gd name="T44" fmla="*/ 29 w 46"/>
                <a:gd name="T45" fmla="*/ 35 h 84"/>
                <a:gd name="T46" fmla="*/ 44 w 46"/>
                <a:gd name="T47" fmla="*/ 41 h 84"/>
                <a:gd name="T48" fmla="*/ 46 w 46"/>
                <a:gd name="T49" fmla="*/ 35 h 84"/>
                <a:gd name="T50" fmla="*/ 35 w 46"/>
                <a:gd name="T51" fmla="*/ 30 h 84"/>
                <a:gd name="T52" fmla="*/ 31 w 46"/>
                <a:gd name="T53" fmla="*/ 17 h 84"/>
                <a:gd name="T54" fmla="*/ 20 w 46"/>
                <a:gd name="T55" fmla="*/ 1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84">
                  <a:moveTo>
                    <a:pt x="35" y="7"/>
                  </a:moveTo>
                  <a:cubicBezTo>
                    <a:pt x="35" y="11"/>
                    <a:pt x="33" y="14"/>
                    <a:pt x="29" y="14"/>
                  </a:cubicBezTo>
                  <a:cubicBezTo>
                    <a:pt x="25" y="14"/>
                    <a:pt x="22" y="11"/>
                    <a:pt x="22" y="7"/>
                  </a:cubicBezTo>
                  <a:cubicBezTo>
                    <a:pt x="22" y="3"/>
                    <a:pt x="25" y="0"/>
                    <a:pt x="29" y="0"/>
                  </a:cubicBezTo>
                  <a:cubicBezTo>
                    <a:pt x="33" y="0"/>
                    <a:pt x="35" y="3"/>
                    <a:pt x="35" y="7"/>
                  </a:cubicBezTo>
                  <a:moveTo>
                    <a:pt x="20" y="1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1" y="34"/>
                    <a:pt x="10" y="37"/>
                  </a:cubicBezTo>
                  <a:cubicBezTo>
                    <a:pt x="9" y="39"/>
                    <a:pt x="11" y="43"/>
                    <a:pt x="12" y="45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1" y="17"/>
                    <a:pt x="31" y="17"/>
                    <a:pt x="31" y="17"/>
                  </a:cubicBezTo>
                  <a:lnTo>
                    <a:pt x="2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69950" tIns="34975" rIns="69950" bIns="34975" numCol="1" anchor="t" anchorCtr="0" compatLnSpc="1">
              <a:prstTxWarp prst="textNoShape">
                <a:avLst/>
              </a:prstTxWarp>
            </a:bodyPr>
            <a:lstStyle/>
            <a:p>
              <a:endParaRPr lang="en-US" sz="15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 bwMode="auto">
          <a:xfrm>
            <a:off x="3722080" y="4021336"/>
            <a:ext cx="1633254" cy="1633253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99354">
              <a:lnSpc>
                <a:spcPct val="90000"/>
              </a:lnSpc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8"/>
          <p:cNvSpPr txBox="1">
            <a:spLocks/>
          </p:cNvSpPr>
          <p:nvPr/>
        </p:nvSpPr>
        <p:spPr>
          <a:xfrm>
            <a:off x="3814988" y="5611381"/>
            <a:ext cx="1447437" cy="387782"/>
          </a:xfrm>
          <a:prstGeom prst="rect">
            <a:avLst/>
          </a:prstGeom>
        </p:spPr>
        <p:txBody>
          <a:bodyPr vert="horz" wrap="square" lIns="109715" tIns="68572" rIns="109715" bIns="68572" rtlCol="0">
            <a:spAutoFit/>
          </a:bodyPr>
          <a:lstStyle>
            <a:lvl1pPr marL="342856" marR="0" indent="-342856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9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584125" marR="0" indent="-241269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999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028568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257139" marR="0" indent="-228571" algn="l" defTabSz="93262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4711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024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335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3648" indent="-233156" algn="l" defTabSz="93262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Hub</a:t>
            </a:r>
          </a:p>
        </p:txBody>
      </p:sp>
      <p:sp>
        <p:nvSpPr>
          <p:cNvPr id="20" name="Freeform 104"/>
          <p:cNvSpPr>
            <a:spLocks noEditPoints="1"/>
          </p:cNvSpPr>
          <p:nvPr/>
        </p:nvSpPr>
        <p:spPr bwMode="black">
          <a:xfrm>
            <a:off x="3937749" y="4265739"/>
            <a:ext cx="1201916" cy="1201916"/>
          </a:xfrm>
          <a:custGeom>
            <a:avLst/>
            <a:gdLst>
              <a:gd name="T0" fmla="*/ 37 w 61"/>
              <a:gd name="T1" fmla="*/ 43 h 61"/>
              <a:gd name="T2" fmla="*/ 18 w 61"/>
              <a:gd name="T3" fmla="*/ 37 h 61"/>
              <a:gd name="T4" fmla="*/ 24 w 61"/>
              <a:gd name="T5" fmla="*/ 18 h 61"/>
              <a:gd name="T6" fmla="*/ 43 w 61"/>
              <a:gd name="T7" fmla="*/ 24 h 61"/>
              <a:gd name="T8" fmla="*/ 37 w 61"/>
              <a:gd name="T9" fmla="*/ 43 h 61"/>
              <a:gd name="T10" fmla="*/ 61 w 61"/>
              <a:gd name="T11" fmla="*/ 28 h 61"/>
              <a:gd name="T12" fmla="*/ 58 w 61"/>
              <a:gd name="T13" fmla="*/ 18 h 61"/>
              <a:gd name="T14" fmla="*/ 50 w 61"/>
              <a:gd name="T15" fmla="*/ 19 h 61"/>
              <a:gd name="T16" fmla="*/ 47 w 61"/>
              <a:gd name="T17" fmla="*/ 15 h 61"/>
              <a:gd name="T18" fmla="*/ 50 w 61"/>
              <a:gd name="T19" fmla="*/ 7 h 61"/>
              <a:gd name="T20" fmla="*/ 41 w 61"/>
              <a:gd name="T21" fmla="*/ 2 h 61"/>
              <a:gd name="T22" fmla="*/ 36 w 61"/>
              <a:gd name="T23" fmla="*/ 9 h 61"/>
              <a:gd name="T24" fmla="*/ 30 w 61"/>
              <a:gd name="T25" fmla="*/ 8 h 61"/>
              <a:gd name="T26" fmla="*/ 27 w 61"/>
              <a:gd name="T27" fmla="*/ 0 h 61"/>
              <a:gd name="T28" fmla="*/ 17 w 61"/>
              <a:gd name="T29" fmla="*/ 3 h 61"/>
              <a:gd name="T30" fmla="*/ 18 w 61"/>
              <a:gd name="T31" fmla="*/ 11 h 61"/>
              <a:gd name="T32" fmla="*/ 15 w 61"/>
              <a:gd name="T33" fmla="*/ 14 h 61"/>
              <a:gd name="T34" fmla="*/ 7 w 61"/>
              <a:gd name="T35" fmla="*/ 11 h 61"/>
              <a:gd name="T36" fmla="*/ 2 w 61"/>
              <a:gd name="T37" fmla="*/ 20 h 61"/>
              <a:gd name="T38" fmla="*/ 8 w 61"/>
              <a:gd name="T39" fmla="*/ 25 h 61"/>
              <a:gd name="T40" fmla="*/ 7 w 61"/>
              <a:gd name="T41" fmla="*/ 30 h 61"/>
              <a:gd name="T42" fmla="*/ 0 w 61"/>
              <a:gd name="T43" fmla="*/ 33 h 61"/>
              <a:gd name="T44" fmla="*/ 2 w 61"/>
              <a:gd name="T45" fmla="*/ 43 h 61"/>
              <a:gd name="T46" fmla="*/ 11 w 61"/>
              <a:gd name="T47" fmla="*/ 42 h 61"/>
              <a:gd name="T48" fmla="*/ 14 w 61"/>
              <a:gd name="T49" fmla="*/ 47 h 61"/>
              <a:gd name="T50" fmla="*/ 11 w 61"/>
              <a:gd name="T51" fmla="*/ 54 h 61"/>
              <a:gd name="T52" fmla="*/ 20 w 61"/>
              <a:gd name="T53" fmla="*/ 59 h 61"/>
              <a:gd name="T54" fmla="*/ 25 w 61"/>
              <a:gd name="T55" fmla="*/ 53 h 61"/>
              <a:gd name="T56" fmla="*/ 30 w 61"/>
              <a:gd name="T57" fmla="*/ 53 h 61"/>
              <a:gd name="T58" fmla="*/ 33 w 61"/>
              <a:gd name="T59" fmla="*/ 61 h 61"/>
              <a:gd name="T60" fmla="*/ 43 w 61"/>
              <a:gd name="T61" fmla="*/ 58 h 61"/>
              <a:gd name="T62" fmla="*/ 42 w 61"/>
              <a:gd name="T63" fmla="*/ 50 h 61"/>
              <a:gd name="T64" fmla="*/ 46 w 61"/>
              <a:gd name="T65" fmla="*/ 47 h 61"/>
              <a:gd name="T66" fmla="*/ 54 w 61"/>
              <a:gd name="T67" fmla="*/ 50 h 61"/>
              <a:gd name="T68" fmla="*/ 59 w 61"/>
              <a:gd name="T69" fmla="*/ 41 h 61"/>
              <a:gd name="T70" fmla="*/ 52 w 61"/>
              <a:gd name="T71" fmla="*/ 36 h 61"/>
              <a:gd name="T72" fmla="*/ 53 w 61"/>
              <a:gd name="T73" fmla="*/ 31 h 61"/>
              <a:gd name="T74" fmla="*/ 61 w 61"/>
              <a:gd name="T75" fmla="*/ 28 h 61"/>
              <a:gd name="T76" fmla="*/ 28 w 61"/>
              <a:gd name="T77" fmla="*/ 26 h 61"/>
              <a:gd name="T78" fmla="*/ 26 w 61"/>
              <a:gd name="T79" fmla="*/ 33 h 61"/>
              <a:gd name="T80" fmla="*/ 33 w 61"/>
              <a:gd name="T81" fmla="*/ 35 h 61"/>
              <a:gd name="T82" fmla="*/ 35 w 61"/>
              <a:gd name="T83" fmla="*/ 28 h 61"/>
              <a:gd name="T84" fmla="*/ 28 w 61"/>
              <a:gd name="T85" fmla="*/ 26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61" h="61">
                <a:moveTo>
                  <a:pt x="37" y="43"/>
                </a:moveTo>
                <a:cubicBezTo>
                  <a:pt x="30" y="47"/>
                  <a:pt x="21" y="44"/>
                  <a:pt x="18" y="37"/>
                </a:cubicBezTo>
                <a:cubicBezTo>
                  <a:pt x="14" y="30"/>
                  <a:pt x="17" y="21"/>
                  <a:pt x="24" y="18"/>
                </a:cubicBezTo>
                <a:cubicBezTo>
                  <a:pt x="31" y="14"/>
                  <a:pt x="39" y="17"/>
                  <a:pt x="43" y="24"/>
                </a:cubicBezTo>
                <a:cubicBezTo>
                  <a:pt x="47" y="31"/>
                  <a:pt x="44" y="40"/>
                  <a:pt x="37" y="43"/>
                </a:cubicBezTo>
                <a:moveTo>
                  <a:pt x="61" y="28"/>
                </a:moveTo>
                <a:cubicBezTo>
                  <a:pt x="58" y="18"/>
                  <a:pt x="58" y="18"/>
                  <a:pt x="58" y="18"/>
                </a:cubicBezTo>
                <a:cubicBezTo>
                  <a:pt x="50" y="19"/>
                  <a:pt x="50" y="19"/>
                  <a:pt x="50" y="19"/>
                </a:cubicBezTo>
                <a:cubicBezTo>
                  <a:pt x="49" y="17"/>
                  <a:pt x="48" y="16"/>
                  <a:pt x="47" y="15"/>
                </a:cubicBezTo>
                <a:cubicBezTo>
                  <a:pt x="50" y="7"/>
                  <a:pt x="50" y="7"/>
                  <a:pt x="50" y="7"/>
                </a:cubicBezTo>
                <a:cubicBezTo>
                  <a:pt x="41" y="2"/>
                  <a:pt x="41" y="2"/>
                  <a:pt x="41" y="2"/>
                </a:cubicBezTo>
                <a:cubicBezTo>
                  <a:pt x="36" y="9"/>
                  <a:pt x="36" y="9"/>
                  <a:pt x="36" y="9"/>
                </a:cubicBezTo>
                <a:cubicBezTo>
                  <a:pt x="34" y="8"/>
                  <a:pt x="32" y="8"/>
                  <a:pt x="30" y="8"/>
                </a:cubicBezTo>
                <a:cubicBezTo>
                  <a:pt x="27" y="0"/>
                  <a:pt x="27" y="0"/>
                  <a:pt x="27" y="0"/>
                </a:cubicBezTo>
                <a:cubicBezTo>
                  <a:pt x="17" y="3"/>
                  <a:pt x="17" y="3"/>
                  <a:pt x="17" y="3"/>
                </a:cubicBezTo>
                <a:cubicBezTo>
                  <a:pt x="18" y="11"/>
                  <a:pt x="18" y="11"/>
                  <a:pt x="18" y="11"/>
                </a:cubicBezTo>
                <a:cubicBezTo>
                  <a:pt x="17" y="12"/>
                  <a:pt x="16" y="13"/>
                  <a:pt x="15" y="14"/>
                </a:cubicBezTo>
                <a:cubicBezTo>
                  <a:pt x="7" y="11"/>
                  <a:pt x="7" y="11"/>
                  <a:pt x="7" y="11"/>
                </a:cubicBezTo>
                <a:cubicBezTo>
                  <a:pt x="2" y="20"/>
                  <a:pt x="2" y="20"/>
                  <a:pt x="2" y="20"/>
                </a:cubicBezTo>
                <a:cubicBezTo>
                  <a:pt x="8" y="25"/>
                  <a:pt x="8" y="25"/>
                  <a:pt x="8" y="25"/>
                </a:cubicBezTo>
                <a:cubicBezTo>
                  <a:pt x="8" y="27"/>
                  <a:pt x="7" y="28"/>
                  <a:pt x="7" y="30"/>
                </a:cubicBezTo>
                <a:cubicBezTo>
                  <a:pt x="0" y="33"/>
                  <a:pt x="0" y="33"/>
                  <a:pt x="0" y="33"/>
                </a:cubicBezTo>
                <a:cubicBezTo>
                  <a:pt x="2" y="43"/>
                  <a:pt x="2" y="43"/>
                  <a:pt x="2" y="43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4"/>
                  <a:pt x="13" y="45"/>
                  <a:pt x="14" y="47"/>
                </a:cubicBezTo>
                <a:cubicBezTo>
                  <a:pt x="11" y="54"/>
                  <a:pt x="11" y="54"/>
                  <a:pt x="11" y="54"/>
                </a:cubicBezTo>
                <a:cubicBezTo>
                  <a:pt x="20" y="59"/>
                  <a:pt x="20" y="59"/>
                  <a:pt x="20" y="59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8" y="53"/>
                  <a:pt x="30" y="53"/>
                </a:cubicBezTo>
                <a:cubicBezTo>
                  <a:pt x="33" y="61"/>
                  <a:pt x="33" y="61"/>
                  <a:pt x="33" y="61"/>
                </a:cubicBezTo>
                <a:cubicBezTo>
                  <a:pt x="43" y="58"/>
                  <a:pt x="43" y="58"/>
                  <a:pt x="43" y="58"/>
                </a:cubicBezTo>
                <a:cubicBezTo>
                  <a:pt x="42" y="50"/>
                  <a:pt x="42" y="50"/>
                  <a:pt x="42" y="50"/>
                </a:cubicBezTo>
                <a:cubicBezTo>
                  <a:pt x="44" y="49"/>
                  <a:pt x="45" y="48"/>
                  <a:pt x="46" y="47"/>
                </a:cubicBezTo>
                <a:cubicBezTo>
                  <a:pt x="54" y="50"/>
                  <a:pt x="54" y="50"/>
                  <a:pt x="54" y="50"/>
                </a:cubicBezTo>
                <a:cubicBezTo>
                  <a:pt x="59" y="41"/>
                  <a:pt x="59" y="41"/>
                  <a:pt x="59" y="41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4"/>
                  <a:pt x="53" y="33"/>
                  <a:pt x="53" y="31"/>
                </a:cubicBezTo>
                <a:lnTo>
                  <a:pt x="61" y="28"/>
                </a:lnTo>
                <a:close/>
                <a:moveTo>
                  <a:pt x="28" y="26"/>
                </a:moveTo>
                <a:cubicBezTo>
                  <a:pt x="25" y="27"/>
                  <a:pt x="24" y="30"/>
                  <a:pt x="26" y="33"/>
                </a:cubicBezTo>
                <a:cubicBezTo>
                  <a:pt x="27" y="35"/>
                  <a:pt x="30" y="36"/>
                  <a:pt x="33" y="35"/>
                </a:cubicBezTo>
                <a:cubicBezTo>
                  <a:pt x="35" y="34"/>
                  <a:pt x="36" y="31"/>
                  <a:pt x="35" y="28"/>
                </a:cubicBezTo>
                <a:cubicBezTo>
                  <a:pt x="34" y="26"/>
                  <a:pt x="31" y="25"/>
                  <a:pt x="28" y="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69950" tIns="34975" rIns="69950" bIns="34975" numCol="1" anchor="t" anchorCtr="0" compatLnSpc="1">
            <a:prstTxWarp prst="textNoShape">
              <a:avLst/>
            </a:prstTxWarp>
          </a:bodyPr>
          <a:lstStyle/>
          <a:p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21" name="Naslov 3"/>
          <p:cNvSpPr txBox="1">
            <a:spLocks/>
          </p:cNvSpPr>
          <p:nvPr/>
        </p:nvSpPr>
        <p:spPr>
          <a:xfrm>
            <a:off x="37304" y="2567026"/>
            <a:ext cx="6057744" cy="740952"/>
          </a:xfrm>
          <a:prstGeom prst="rect">
            <a:avLst/>
          </a:prstGeom>
        </p:spPr>
        <p:txBody>
          <a:bodyPr vert="horz" wrap="square" lIns="68580" tIns="34290" rIns="68580" bIns="3429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sl-SI" sz="3200" b="0" kern="1200" cap="none" spc="-100" baseline="0" dirty="0">
                <a:ln w="3175">
                  <a:noFill/>
                </a:ln>
                <a:solidFill>
                  <a:srgbClr val="0070C0"/>
                </a:soli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pPr algn="ctr"/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Clients.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(“Brady”)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400" i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doWork</a:t>
            </a:r>
            <a:r>
              <a:rPr lang="en-US" sz="24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395014" y="487917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633362" y="4869933"/>
            <a:ext cx="2088527" cy="1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6924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</p:bldLst>
  </p:timing>
</p:sld>
</file>

<file path=ppt/theme/theme1.xml><?xml version="1.0" encoding="utf-8"?>
<a:theme xmlns:a="http://schemas.openxmlformats.org/drawingml/2006/main" name="DPE_Blue_PowerPoint_msp_v5 noIcon">
  <a:themeElements>
    <a:clrScheme name="Microsof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B900"/>
      </a:accent1>
      <a:accent2>
        <a:srgbClr val="FF8C00"/>
      </a:accent2>
      <a:accent3>
        <a:srgbClr val="EB3C00"/>
      </a:accent3>
      <a:accent4>
        <a:srgbClr val="6DC2E9"/>
      </a:accent4>
      <a:accent5>
        <a:srgbClr val="00BCF2"/>
      </a:accent5>
      <a:accent6>
        <a:srgbClr val="0072C6"/>
      </a:accent6>
      <a:hlink>
        <a:srgbClr val="4C4C4C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EA97CAC667734F910DED7F230F66E4" ma:contentTypeVersion="0" ma:contentTypeDescription="Create a new document." ma:contentTypeScope="" ma:versionID="534b3fcd074d023ad3b73198264837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2868EA-B7BA-421C-9D92-80CEDFFDA3B4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38791CA-70C4-48D0-B856-43E7CE2630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3E6C917-63E9-464E-B931-03940864E026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A24E73D5-0339-435B-9160-332A57DF85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COMP-4870</Template>
  <TotalTime>37198</TotalTime>
  <Words>515</Words>
  <Application>Microsoft Office PowerPoint</Application>
  <PresentationFormat>On-screen Show (4:3)</PresentationFormat>
  <Paragraphs>111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Consolas</vt:lpstr>
      <vt:lpstr>Courier New</vt:lpstr>
      <vt:lpstr>Segoe</vt:lpstr>
      <vt:lpstr>Segoe Light</vt:lpstr>
      <vt:lpstr>Segoe UI</vt:lpstr>
      <vt:lpstr>Segoe WP SemiLight</vt:lpstr>
      <vt:lpstr>Times New Roman</vt:lpstr>
      <vt:lpstr>Wingdings</vt:lpstr>
      <vt:lpstr>DPE_Blue_PowerPoint_msp_v5 noIcon</vt:lpstr>
      <vt:lpstr>SignalR </vt:lpstr>
      <vt:lpstr>PowerPoint Presentation</vt:lpstr>
      <vt:lpstr>Introducing SignalR</vt:lpstr>
      <vt:lpstr>What is SignalR</vt:lpstr>
      <vt:lpstr>PowerPoint Presentation</vt:lpstr>
      <vt:lpstr>Polling</vt:lpstr>
      <vt:lpstr>Polling</vt:lpstr>
      <vt:lpstr>Demo</vt:lpstr>
      <vt:lpstr>Where is the proxy? </vt:lpstr>
      <vt:lpstr>What does SignalR do?</vt:lpstr>
      <vt:lpstr>Examples of SignalR apps</vt:lpstr>
      <vt:lpstr>SignalR Fallback</vt:lpstr>
      <vt:lpstr>Monitoring Transports</vt:lpstr>
      <vt:lpstr>Specifying a transport</vt:lpstr>
      <vt:lpstr>Connections</vt:lpstr>
      <vt:lpstr>Sending messages to all connected clients</vt:lpstr>
      <vt:lpstr>Sending messages to the calling client</vt:lpstr>
      <vt:lpstr>Sending messages to other connected clients</vt:lpstr>
      <vt:lpstr>Sending messages to specific users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Lecture:- WCF Data Services</dc:title>
  <dc:subject/>
  <dc:creator>Windows XP Pro</dc:creator>
  <cp:keywords/>
  <dc:description/>
  <cp:lastModifiedBy>Medhat Elmasry</cp:lastModifiedBy>
  <cp:revision>1151</cp:revision>
  <dcterms:created xsi:type="dcterms:W3CDTF">2003-03-02T21:17:43Z</dcterms:created>
  <dcterms:modified xsi:type="dcterms:W3CDTF">2024-10-17T20:04:39Z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m">
    <vt:lpwstr>Lecture: How to configure, deploy and optimize ASP.NET 2.0 web applications</vt:lpwstr>
  </property>
  <property fmtid="{D5CDD505-2E9C-101B-9397-08002B2CF9AE}" pid="4" name="xd_Signature">
    <vt:lpwstr/>
  </property>
  <property fmtid="{D5CDD505-2E9C-101B-9397-08002B2CF9AE}" pid="5" name="TemplateUrl">
    <vt:lpwstr/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Subject">
    <vt:lpwstr/>
  </property>
  <property fmtid="{D5CDD505-2E9C-101B-9397-08002B2CF9AE}" pid="9" name="Keywords">
    <vt:lpwstr/>
  </property>
  <property fmtid="{D5CDD505-2E9C-101B-9397-08002B2CF9AE}" pid="10" name="_Author">
    <vt:lpwstr>Windows XP Pro</vt:lpwstr>
  </property>
  <property fmtid="{D5CDD505-2E9C-101B-9397-08002B2CF9AE}" pid="11" name="_Category">
    <vt:lpwstr/>
  </property>
  <property fmtid="{D5CDD505-2E9C-101B-9397-08002B2CF9AE}" pid="12" name="Slides">
    <vt:lpwstr>52</vt:lpwstr>
  </property>
  <property fmtid="{D5CDD505-2E9C-101B-9397-08002B2CF9AE}" pid="13" name="Categories">
    <vt:lpwstr/>
  </property>
  <property fmtid="{D5CDD505-2E9C-101B-9397-08002B2CF9AE}" pid="14" name="Approval Level">
    <vt:lpwstr/>
  </property>
  <property fmtid="{D5CDD505-2E9C-101B-9397-08002B2CF9AE}" pid="15" name="_Comments">
    <vt:lpwstr/>
  </property>
  <property fmtid="{D5CDD505-2E9C-101B-9397-08002B2CF9AE}" pid="16" name="Assigned To">
    <vt:lpwstr/>
  </property>
  <property fmtid="{D5CDD505-2E9C-101B-9397-08002B2CF9AE}" pid="17" name="_dlc_DocIdItemGuid">
    <vt:lpwstr>655f6121-8d0f-43d1-afa0-4976f9402167</vt:lpwstr>
  </property>
  <property fmtid="{D5CDD505-2E9C-101B-9397-08002B2CF9AE}" pid="18" name="ContentTypeId">
    <vt:lpwstr>0x010100FAEA97CAC667734F910DED7F230F66E4</vt:lpwstr>
  </property>
  <property fmtid="{D5CDD505-2E9C-101B-9397-08002B2CF9AE}" pid="19" name="Order">
    <vt:r8>5400</vt:r8>
  </property>
  <property fmtid="{D5CDD505-2E9C-101B-9397-08002B2CF9AE}" pid="20" name="_SharedFileIndex">
    <vt:lpwstr/>
  </property>
</Properties>
</file>