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737" r:id="rId2"/>
    <p:sldMasterId id="2147483752" r:id="rId3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algn="l" defTabSz="9318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65138" indent="-7938" algn="l" defTabSz="9318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31863" indent="-17463" algn="l" defTabSz="9318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98588" indent="-26988" algn="l" defTabSz="9318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65313" indent="-36513" algn="l" defTabSz="9318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511DAF4-5CCE-420E-A054-DC48D7D96105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76" autoAdjust="0"/>
    <p:restoredTop sz="94660"/>
  </p:normalViewPr>
  <p:slideViewPr>
    <p:cSldViewPr snapToGrid="0">
      <p:cViewPr varScale="1">
        <p:scale>
          <a:sx n="53" d="100"/>
          <a:sy n="53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D16CE-8DE0-433E-B7EF-5245B86979FC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E6C24-D8A1-4D01-81C1-A996454A6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8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https://www.youtube.com/watch?v=oXxbB5kv9OA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BE6C24-D8A1-4D01-81C1-A996454A6A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1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w_0000_Layer Comp 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37084" y="439137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34" name="Rectangle 33"/>
          <p:cNvSpPr/>
          <p:nvPr/>
        </p:nvSpPr>
        <p:spPr>
          <a:xfrm flipH="1">
            <a:off x="6337085" y="5328105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5" name="Rectangle 34"/>
          <p:cNvSpPr/>
          <p:nvPr/>
        </p:nvSpPr>
        <p:spPr>
          <a:xfrm flipH="1">
            <a:off x="5732245" y="5325274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6" name="Rectangle 35"/>
          <p:cNvSpPr/>
          <p:nvPr/>
        </p:nvSpPr>
        <p:spPr>
          <a:xfrm flipH="1">
            <a:off x="6006639" y="4995643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338860" y="957582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presentation</a:t>
            </a:r>
            <a:endParaRPr lang="en-US" dirty="0"/>
          </a:p>
        </p:txBody>
      </p:sp>
      <p:sp>
        <p:nvSpPr>
          <p:cNvPr id="3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28797" y="3957947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57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1_Layer Comp 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09555" y="546949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11323153" y="5436446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1323153" y="5106783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09556" y="957582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presentation</a:t>
            </a:r>
            <a:endParaRPr lang="en-US" dirty="0"/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099494" y="3957947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175448" y="543687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618059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4_Layer Comp 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09555" y="546949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11323153" y="5436446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7" name="Rectangle 16"/>
          <p:cNvSpPr/>
          <p:nvPr/>
        </p:nvSpPr>
        <p:spPr>
          <a:xfrm>
            <a:off x="11323153" y="5106783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09556" y="957582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presentation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099494" y="3957947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175448" y="543687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29221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1_Layer Comp 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10272" r="17057" b="745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77803" y="449235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2" name="Rectangle 11"/>
          <p:cNvSpPr/>
          <p:nvPr/>
        </p:nvSpPr>
        <p:spPr>
          <a:xfrm flipH="1">
            <a:off x="877804" y="5338204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272964" y="5335372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547357" y="5005742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78703" y="869447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presentation</a:t>
            </a:r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7806" y="3884501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80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C12_Sam_001_16x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0"/>
            <a:ext cx="12188388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79116" y="546949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79116" y="957582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presentation</a:t>
            </a:r>
            <a:endParaRPr lang="en-US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669056" y="3957947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H="1">
            <a:off x="7079116" y="5435917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Rectangle 11"/>
          <p:cNvSpPr/>
          <p:nvPr/>
        </p:nvSpPr>
        <p:spPr>
          <a:xfrm flipH="1">
            <a:off x="6474277" y="5433086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6748671" y="5103455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683318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2_Layer Comp 3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r="8470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0755" y="408297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3" name="Rectangle 12"/>
          <p:cNvSpPr/>
          <p:nvPr/>
        </p:nvSpPr>
        <p:spPr>
          <a:xfrm flipH="1">
            <a:off x="870756" y="5297265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265916" y="5294434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 flipH="1">
            <a:off x="540310" y="4964803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78703" y="869447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presentation</a:t>
            </a:r>
            <a:endParaRPr lang="en-US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7806" y="3884501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57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_0003_Layer Comp 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978108" y="327542"/>
            <a:ext cx="4245403" cy="516795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978109" y="1734558"/>
            <a:ext cx="4245400" cy="1954348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3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</a:t>
            </a:r>
            <a:br>
              <a:rPr lang="en-US" dirty="0" smtClean="0"/>
            </a:br>
            <a:r>
              <a:rPr lang="en-US" dirty="0" smtClean="0"/>
              <a:t>presentation</a:t>
            </a:r>
            <a:endParaRPr lang="en-US" dirty="0"/>
          </a:p>
        </p:txBody>
      </p:sp>
      <p:sp>
        <p:nvSpPr>
          <p:cNvPr id="3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65633" y="4706300"/>
            <a:ext cx="3870355" cy="572695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add subtitle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11296920" y="5567950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2" name="Rectangle 31"/>
          <p:cNvSpPr/>
          <p:nvPr/>
        </p:nvSpPr>
        <p:spPr>
          <a:xfrm>
            <a:off x="11296919" y="5238287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/>
          <p:cNvSpPr/>
          <p:nvPr/>
        </p:nvSpPr>
        <p:spPr>
          <a:xfrm>
            <a:off x="10148156" y="5568518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129004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369422" y="619519"/>
            <a:ext cx="9736667" cy="36307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369424" y="1794192"/>
            <a:ext cx="9735691" cy="1107016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presentation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780096" y="2902661"/>
            <a:ext cx="9325019" cy="559473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subtitle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192" y="4323287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1037629" y="3993657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369424" y="4323508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057629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5768D-597F-444B-9A31-18D8449AA4CF}" type="datetime1">
              <a:rPr lang="en-US" smtClean="0"/>
              <a:t>10/18/2018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817748" y="2544587"/>
            <a:ext cx="10434725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divider page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90803" y="4023363"/>
            <a:ext cx="9760180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12486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91C6F-EFA8-46E8-BCB7-BE83D7CA91F7}" type="datetime1">
              <a:rPr lang="en-US" smtClean="0"/>
              <a:t>10/18/2018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817748" y="2544587"/>
            <a:ext cx="10434725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divider page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90803" y="4023363"/>
            <a:ext cx="9760180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72046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CBEFB-FBB2-43EC-819E-C1995C229489}" type="datetime1">
              <a:rPr lang="en-US" smtClean="0"/>
              <a:t>10/18/2018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7748" y="2544587"/>
            <a:ext cx="10434725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divider page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90803" y="4023363"/>
            <a:ext cx="9760180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73857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195784" y="455928"/>
            <a:ext cx="7526131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3590944" y="5409002"/>
            <a:ext cx="531825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4195784" y="540900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1" name="Picture 10" descr="WIN11_Sarah_01_PPT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32" b="-232"/>
          <a:stretch/>
        </p:blipFill>
        <p:spPr>
          <a:xfrm>
            <a:off x="474689" y="1687908"/>
            <a:ext cx="3657600" cy="3657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195787" y="902181"/>
            <a:ext cx="5840967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headline </a:t>
            </a:r>
            <a:br>
              <a:rPr lang="en-US" dirty="0" smtClean="0"/>
            </a:br>
            <a:r>
              <a:rPr lang="en-US" dirty="0" smtClean="0"/>
              <a:t>goes here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59254" y="2915885"/>
            <a:ext cx="5180380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43037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195784" y="455928"/>
            <a:ext cx="7526131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3590944" y="5409002"/>
            <a:ext cx="531825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4195784" y="540900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239" y="1683559"/>
            <a:ext cx="3652424" cy="365242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195787" y="902181"/>
            <a:ext cx="5840967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headline </a:t>
            </a:r>
            <a:br>
              <a:rPr lang="en-US" dirty="0" smtClean="0"/>
            </a:br>
            <a:r>
              <a:rPr lang="en-US" dirty="0" smtClean="0"/>
              <a:t>goes here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59254" y="2915885"/>
            <a:ext cx="5180380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531657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195784" y="455928"/>
            <a:ext cx="7526131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590944" y="5409002"/>
            <a:ext cx="531825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4195784" y="540900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357" y="1687908"/>
            <a:ext cx="3645408" cy="364540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195787" y="902181"/>
            <a:ext cx="5840967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headline </a:t>
            </a:r>
            <a:br>
              <a:rPr lang="en-US" dirty="0" smtClean="0"/>
            </a:br>
            <a:r>
              <a:rPr lang="en-US" dirty="0" smtClean="0"/>
              <a:t>goes here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59254" y="2915885"/>
            <a:ext cx="5180380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37566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195784" y="455928"/>
            <a:ext cx="7526131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590944" y="5409002"/>
            <a:ext cx="531825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4195784" y="540900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195787" y="902181"/>
            <a:ext cx="5840967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headline </a:t>
            </a:r>
            <a:br>
              <a:rPr lang="en-US" dirty="0" smtClean="0"/>
            </a:br>
            <a:r>
              <a:rPr lang="en-US" dirty="0" smtClean="0"/>
              <a:t>goes here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59254" y="2915885"/>
            <a:ext cx="5180380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add text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581" y="1690573"/>
            <a:ext cx="3639631" cy="36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772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65E5-D49D-488B-953C-8D72A2115E0A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20842"/>
            <a:ext cx="10972800" cy="490532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866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10972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5BB4-6839-4F7D-B1DB-ED40FD8DB602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706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0416-FC3C-4D8F-A2B6-C0424F15D7C3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024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94B8-74E1-4FD5-B9F4-CB262C43468F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627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Comp4870: Intranet Planning &amp; Dev.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504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6318-EE40-48FD-B84D-0821338283C1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715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6"/>
            <a:ext cx="5386917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74" y="1535116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66DA-406B-4F27-B199-A4D44B5544E0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5876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6"/>
            <a:ext cx="5386917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74" y="1535116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061E2-E31F-4DAF-A1E3-8E72CD07C689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6180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3"/>
            <a:ext cx="4011084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FC41-CC29-413B-B475-E22B8620836E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857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3"/>
            <a:ext cx="4011084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67C0-6C15-4F65-B4D1-7C420B23675E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053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374775"/>
            <a:ext cx="7315200" cy="4114800"/>
          </a:xfrm>
        </p:spPr>
        <p:txBody>
          <a:bodyPr/>
          <a:lstStyle>
            <a:lvl1pPr marL="0" indent="0">
              <a:buNone/>
              <a:defRPr sz="240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70542"/>
            <a:ext cx="73152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870E-468C-47D4-83F1-4BBAE04CEBED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611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374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70542"/>
            <a:ext cx="73152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294F-77DC-420B-BC77-5A5D9746E316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0469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99354" y="1837269"/>
            <a:ext cx="3263900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2581380" y="3833295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197-BFD1-4D64-BB08-8012D6A3FFC4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599056" y="3819118"/>
            <a:ext cx="1879128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 smtClean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599056" y="1827674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2581377" y="1836715"/>
            <a:ext cx="1879128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8009467" y="1841373"/>
            <a:ext cx="3549192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19" y="1826687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89376" y="1826687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09467" y="1841372"/>
            <a:ext cx="3549192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2589376" y="382388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599017" y="3818470"/>
            <a:ext cx="18796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6" name="Rectangle 25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1795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99354" y="1837269"/>
            <a:ext cx="3263900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2581380" y="3833295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651C4-5CC1-49C0-A1E3-C3A1981755A1}" type="datetime1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599056" y="3819118"/>
            <a:ext cx="1879128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 smtClean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599056" y="1827674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2581377" y="1836715"/>
            <a:ext cx="1879128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8009467" y="1841373"/>
            <a:ext cx="3549192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281944"/>
            <a:ext cx="10992476" cy="582841"/>
          </a:xfrm>
        </p:spPr>
        <p:txBody>
          <a:bodyPr vert="horz" lIns="91440" tIns="0" rIns="91440" bIns="45720" rtlCol="0" anchor="t" anchorCtr="0">
            <a:noAutofit/>
          </a:bodyPr>
          <a:lstStyle>
            <a:lvl1pPr>
              <a:defRPr lang="en-US" b="0" dirty="0">
                <a:solidFill>
                  <a:srgbClr val="0072C6"/>
                </a:solidFill>
              </a:defRPr>
            </a:lvl1pPr>
          </a:lstStyle>
          <a:p>
            <a:pPr lvl="0"/>
            <a:r>
              <a:rPr lang="en-US" dirty="0" smtClean="0"/>
              <a:t>title of text slide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19" y="1826687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89376" y="1826687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09467" y="1841372"/>
            <a:ext cx="3549192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2589376" y="382388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599017" y="3818470"/>
            <a:ext cx="18796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58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8935" y="1841373"/>
            <a:ext cx="29972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E0AC9-E131-4B5D-86D9-149A03CD6B9E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2581380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9056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 smtClean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8" y="1841376"/>
            <a:ext cx="385984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702889" y="1841373"/>
            <a:ext cx="3884011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58" y="3819120"/>
            <a:ext cx="1879129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81380" y="381912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702889" y="1841373"/>
            <a:ext cx="3884011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599056" y="1841375"/>
            <a:ext cx="385984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341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8935" y="1841373"/>
            <a:ext cx="29972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B3D1-9C0C-4794-AA64-A33FBE08A51B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2581380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9056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 smtClean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8" y="1841376"/>
            <a:ext cx="385984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702889" y="1841373"/>
            <a:ext cx="3884011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58" y="3819120"/>
            <a:ext cx="1879129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81380" y="381912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702889" y="1841373"/>
            <a:ext cx="3884011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599056" y="1841375"/>
            <a:ext cx="385984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065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74407" y="1833539"/>
            <a:ext cx="4990304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5862-C215-4E95-92B2-D9BAE5EF8781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9671204" y="1855349"/>
            <a:ext cx="1879128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 smtClean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671204" y="3819117"/>
            <a:ext cx="1879128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6" y="1836718"/>
            <a:ext cx="1879128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81380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581377" y="1836715"/>
            <a:ext cx="1879128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86200" y="3819119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2581380" y="1836718"/>
            <a:ext cx="18796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679200" y="1842602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679200" y="381709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606940" y="1834684"/>
            <a:ext cx="1871133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694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74407" y="1833539"/>
            <a:ext cx="4990304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37278-374E-4751-A05F-60A4BD131932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9671204" y="1855349"/>
            <a:ext cx="1879128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 smtClean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671204" y="3819117"/>
            <a:ext cx="1879128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6" y="1836718"/>
            <a:ext cx="1879128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81380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581377" y="1836715"/>
            <a:ext cx="1879128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86200" y="3819119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2581380" y="1836718"/>
            <a:ext cx="18796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679200" y="1842602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679200" y="381709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606940" y="1834684"/>
            <a:ext cx="1871133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490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2602023" y="1856586"/>
            <a:ext cx="571500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2BBE-4F35-41B0-B8FE-6919D2F5576E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624060" y="1856583"/>
            <a:ext cx="1879128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24063" y="3806419"/>
            <a:ext cx="1879128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428139" y="1856582"/>
            <a:ext cx="3166533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0711" y="3806422"/>
            <a:ext cx="1871133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623588" y="1856583"/>
            <a:ext cx="18796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428139" y="1856583"/>
            <a:ext cx="3166533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740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2602023" y="1856586"/>
            <a:ext cx="571500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7E77E-94E6-4BED-81F4-7874A0191B24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624060" y="1856583"/>
            <a:ext cx="1879128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24063" y="3806419"/>
            <a:ext cx="1879128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428139" y="1856582"/>
            <a:ext cx="3166533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0711" y="3806422"/>
            <a:ext cx="1871133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623588" y="1856583"/>
            <a:ext cx="18796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428139" y="1856583"/>
            <a:ext cx="3166533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20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FF44-CACF-4E76-A58D-D0628EB55756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624060" y="1856583"/>
            <a:ext cx="1879128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24063" y="3806418"/>
            <a:ext cx="1879128" cy="1870668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612219" y="1868083"/>
            <a:ext cx="8970952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4060" y="1852515"/>
            <a:ext cx="1871133" cy="1859168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624067" y="3804720"/>
            <a:ext cx="1879127" cy="1872369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612219" y="1868083"/>
            <a:ext cx="8970952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26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7565-76E0-4063-952F-22E1C4CEA4E0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624060" y="1856583"/>
            <a:ext cx="1879128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24063" y="3806423"/>
            <a:ext cx="1879128" cy="1856153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612219" y="1853569"/>
            <a:ext cx="8970952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 smtClea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4060" y="1853567"/>
            <a:ext cx="1871133" cy="1858600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624063" y="3806421"/>
            <a:ext cx="1879127" cy="1856153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612219" y="1868083"/>
            <a:ext cx="8970952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9067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99843" y="1830469"/>
            <a:ext cx="3263900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85F-5957-4B7B-A01B-50AA0559DB2E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8009467" y="1828803"/>
            <a:ext cx="3549192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9056" y="1828803"/>
            <a:ext cx="3859915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6" y="3819122"/>
            <a:ext cx="1879128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 smtClean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81380" y="3819123"/>
            <a:ext cx="1879128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009467" y="3819123"/>
            <a:ext cx="3549192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56" y="1825646"/>
            <a:ext cx="3859915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598584" y="3818470"/>
            <a:ext cx="18796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009467" y="1825646"/>
            <a:ext cx="3549192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009467" y="3819122"/>
            <a:ext cx="3549192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2581383" y="3819122"/>
            <a:ext cx="1877591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17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99843" y="1830469"/>
            <a:ext cx="3263900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Photo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88F4F-C858-4A4C-B79F-358B7C08A490}" type="datetime1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8009467" y="1828803"/>
            <a:ext cx="3549192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9056" y="1828803"/>
            <a:ext cx="3859915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6" y="3819122"/>
            <a:ext cx="1879128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 smtClean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81380" y="3819123"/>
            <a:ext cx="1879128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009467" y="3819123"/>
            <a:ext cx="3549192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56" y="1825646"/>
            <a:ext cx="3859915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598584" y="3818470"/>
            <a:ext cx="18796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Insert Icon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009467" y="1825646"/>
            <a:ext cx="3549192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009467" y="3819122"/>
            <a:ext cx="3549192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2581383" y="3819122"/>
            <a:ext cx="1877591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 smtClean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 smtClean="0"/>
              <a:t>title of text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458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66804"/>
            <a:ext cx="11176000" cy="2210863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64393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963084" y="1905000"/>
            <a:ext cx="10720917" cy="22098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42187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411557"/>
            <a:ext cx="5486400" cy="2129815"/>
          </a:xfrm>
        </p:spPr>
        <p:txBody>
          <a:bodyPr/>
          <a:lstStyle>
            <a:lvl1pPr marL="191237" indent="-191237">
              <a:lnSpc>
                <a:spcPct val="90000"/>
              </a:lnSpc>
              <a:defRPr sz="1575"/>
            </a:lvl1pPr>
            <a:lvl2pPr marL="378753" indent="-183051">
              <a:lnSpc>
                <a:spcPct val="90000"/>
              </a:lnSpc>
              <a:defRPr sz="1350"/>
            </a:lvl2pPr>
            <a:lvl3pPr marL="536504" indent="-162216">
              <a:lnSpc>
                <a:spcPct val="90000"/>
              </a:lnSpc>
              <a:defRPr sz="1125"/>
            </a:lvl3pPr>
            <a:lvl4pPr marL="690536" indent="-154031">
              <a:lnSpc>
                <a:spcPct val="90000"/>
              </a:lnSpc>
              <a:defRPr sz="1013"/>
            </a:lvl4pPr>
            <a:lvl5pPr marL="852752" indent="-15775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11557"/>
            <a:ext cx="5486400" cy="2129815"/>
          </a:xfrm>
        </p:spPr>
        <p:txBody>
          <a:bodyPr/>
          <a:lstStyle>
            <a:lvl1pPr marL="195702" indent="-195702">
              <a:lnSpc>
                <a:spcPct val="90000"/>
              </a:lnSpc>
              <a:defRPr sz="1575"/>
            </a:lvl1pPr>
            <a:lvl2pPr marL="378753" indent="-191237">
              <a:lnSpc>
                <a:spcPct val="90000"/>
              </a:lnSpc>
              <a:defRPr sz="1350"/>
            </a:lvl2pPr>
            <a:lvl3pPr marL="540969" indent="-170402">
              <a:lnSpc>
                <a:spcPct val="90000"/>
              </a:lnSpc>
              <a:defRPr sz="1125"/>
            </a:lvl3pPr>
            <a:lvl4pPr marL="690536" indent="-149567">
              <a:lnSpc>
                <a:spcPct val="90000"/>
              </a:lnSpc>
              <a:defRPr sz="1013"/>
            </a:lvl4pPr>
            <a:lvl5pPr marL="852752" indent="-15403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37223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3669" y="1905003"/>
            <a:ext cx="10242551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05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3667" y="4344991"/>
            <a:ext cx="10242551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598575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651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1"/>
            <a:ext cx="11379200" cy="7016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6400" y="1143000"/>
            <a:ext cx="11379200" cy="5029200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3200" y="62865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286500"/>
            <a:ext cx="6604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smtClean="0"/>
              <a:t>Comp4870: Intranet Planning &amp; Dev.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52001" y="6286500"/>
            <a:ext cx="2247899" cy="457200"/>
          </a:xfrm>
          <a:prstGeom prst="rect">
            <a:avLst/>
          </a:prstGeom>
        </p:spPr>
        <p:txBody>
          <a:bodyPr/>
          <a:lstStyle>
            <a:lvl1pPr>
              <a:defRPr sz="1200" dirty="0" smtClean="0"/>
            </a:lvl1pPr>
          </a:lstStyle>
          <a:p>
            <a:pPr>
              <a:defRPr/>
            </a:pPr>
            <a:r>
              <a:rPr lang="en-US" smtClean="0"/>
              <a:t>01 - </a:t>
            </a:r>
            <a:fld id="{E890A1C7-4271-4F11-8EAA-AD8A71B2F5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05889"/>
      </p:ext>
    </p:extLst>
  </p:cSld>
  <p:clrMapOvr>
    <a:masterClrMapping/>
  </p:clrMapOvr>
  <p:transition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0650"/>
            <a:ext cx="11684000" cy="641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990600"/>
            <a:ext cx="5638800" cy="51054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990600"/>
            <a:ext cx="5638800" cy="51054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xfrm>
            <a:off x="55880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203200" y="6245225"/>
            <a:ext cx="50800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COMP3870 - Advanced ASP.NET with C#</a:t>
            </a:r>
            <a:endParaRPr lang="en-US" dirty="0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smtClean="0"/>
              <a:t>04a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856011"/>
      </p:ext>
    </p:extLst>
  </p:cSld>
  <p:clrMapOvr>
    <a:masterClrMapping/>
  </p:clrMapOvr>
  <p:transition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973394" y="1411552"/>
            <a:ext cx="10229337" cy="2053960"/>
          </a:xfrm>
        </p:spPr>
        <p:txBody>
          <a:bodyPr/>
          <a:lstStyle>
            <a:lvl1pPr>
              <a:lnSpc>
                <a:spcPct val="78000"/>
              </a:lnSpc>
              <a:defRPr/>
            </a:lvl1pPr>
            <a:lvl2pPr>
              <a:lnSpc>
                <a:spcPct val="78000"/>
              </a:lnSpc>
              <a:defRPr/>
            </a:lvl2pPr>
            <a:lvl3pPr>
              <a:lnSpc>
                <a:spcPct val="78000"/>
              </a:lnSpc>
              <a:defRPr/>
            </a:lvl3pPr>
            <a:lvl4pPr>
              <a:lnSpc>
                <a:spcPct val="78000"/>
              </a:lnSpc>
              <a:defRPr/>
            </a:lvl4pPr>
            <a:lvl5pPr>
              <a:lnSpc>
                <a:spcPct val="78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516072" y="152400"/>
            <a:ext cx="11167928" cy="60939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902771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13007"/>
            <a:ext cx="11277600" cy="914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000" spc="-113" baseline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519304"/>
            <a:ext cx="11277600" cy="5029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90000"/>
              </a:lnSpc>
              <a:buFont typeface="Arial" pitchFamily="34" charset="0"/>
              <a:buChar char="•"/>
              <a:defRPr sz="2400" spc="-113" baseline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lnSpc>
                <a:spcPct val="90000"/>
              </a:lnSpc>
              <a:buFont typeface="Arial" pitchFamily="34" charset="0"/>
              <a:buChar char="•"/>
              <a:defRPr sz="2100" spc="-113" baseline="0">
                <a:solidFill>
                  <a:schemeClr val="tx1"/>
                </a:solidFill>
                <a:latin typeface="Segoe WP SemiLight" pitchFamily="34" charset="0"/>
                <a:ea typeface="Segoe UI" pitchFamily="34" charset="0"/>
                <a:cs typeface="Segoe UI" pitchFamily="34" charset="0"/>
              </a:defRPr>
            </a:lvl2pPr>
            <a:lvl3pPr>
              <a:lnSpc>
                <a:spcPct val="90000"/>
              </a:lnSpc>
              <a:buFont typeface="Arial" pitchFamily="34" charset="0"/>
              <a:buChar char="•"/>
              <a:defRPr sz="1800" spc="-113" baseline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lnSpc>
                <a:spcPct val="90000"/>
              </a:lnSpc>
              <a:buFont typeface="Arial" pitchFamily="34" charset="0"/>
              <a:buChar char="•"/>
              <a:defRPr sz="1200" baseline="0"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buFont typeface="Arial" pitchFamily="34" charset="0"/>
              <a:buChar char="•"/>
              <a:defRPr sz="10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1718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mo slide">
    <p:bg>
      <p:bgPr>
        <a:solidFill>
          <a:srgbClr val="00A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4082" y="3877589"/>
            <a:ext cx="9179004" cy="547458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2353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/>
          </p:nvPr>
        </p:nvSpPr>
        <p:spPr>
          <a:xfrm>
            <a:off x="526153" y="3125908"/>
            <a:ext cx="9179004" cy="751681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5294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453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9" y="207605"/>
            <a:ext cx="11151919" cy="747897"/>
          </a:xfrm>
        </p:spPr>
        <p:txBody>
          <a:bodyPr>
            <a:normAutofit/>
          </a:bodyPr>
          <a:lstStyle>
            <a:lvl1pPr>
              <a:defRPr sz="3001"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8454" y="1219200"/>
            <a:ext cx="11155093" cy="518160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1pPr>
            <a:lvl2pPr marL="512005" indent="-257244">
              <a:buFont typeface="Arial" panose="020B0604020202020204" pitchFamily="34" charset="0"/>
              <a:buChar char="•"/>
              <a:defRPr sz="200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2pPr>
            <a:lvl3pPr marL="687004" indent="-257244">
              <a:buFont typeface="Arial" panose="020B0604020202020204" pitchFamily="34" charset="0"/>
              <a:buChar char="•"/>
              <a:defRPr sz="180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3pPr>
            <a:lvl4pPr marL="856050" indent="-257244">
              <a:buFont typeface="Arial" panose="020B0604020202020204" pitchFamily="34" charset="0"/>
              <a:buChar char="•"/>
              <a:defRPr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4pPr>
            <a:lvl5pPr marL="1029860" indent="-257244">
              <a:buFont typeface="Arial" panose="020B0604020202020204" pitchFamily="34" charset="0"/>
              <a:buChar char="•"/>
              <a:defRPr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77263"/>
      </p:ext>
    </p:extLst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3667" y="1905001"/>
            <a:ext cx="10242551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3666" y="4344989"/>
            <a:ext cx="10242551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913523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bg>
      <p:bgPr>
        <a:blipFill dpi="0" rotWithShape="1">
          <a:blip r:embed="rId2" cstate="print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962732" y="2355850"/>
            <a:ext cx="10253485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</p:spTree>
    <p:extLst>
      <p:ext uri="{BB962C8B-B14F-4D97-AF65-F5344CB8AC3E}">
        <p14:creationId xmlns:p14="http://schemas.microsoft.com/office/powerpoint/2010/main" val="222112404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1411552"/>
            <a:ext cx="11176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67185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66800"/>
            <a:ext cx="11176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067229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411553"/>
            <a:ext cx="5486400" cy="1742015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11553"/>
            <a:ext cx="5486400" cy="1742015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432094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57802"/>
            <a:ext cx="5486400" cy="34624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999" y="2174875"/>
            <a:ext cx="54864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642" y="1757802"/>
            <a:ext cx="5489359" cy="346249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490632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524968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8435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384226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bg bwMode="ltGray"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283759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08000" y="1411553"/>
            <a:ext cx="11176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417968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08000" y="1411553"/>
            <a:ext cx="11176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1" y="6238876"/>
            <a:ext cx="12192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8521040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bg>
      <p:bgPr>
        <a:blipFill dpi="0" rotWithShape="1">
          <a:blip r:embed="rId2" cstate="print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962732" y="2355850"/>
            <a:ext cx="10253485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</p:spTree>
    <p:extLst>
      <p:ext uri="{BB962C8B-B14F-4D97-AF65-F5344CB8AC3E}">
        <p14:creationId xmlns:p14="http://schemas.microsoft.com/office/powerpoint/2010/main" val="2261501685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11684000" cy="6647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6400" y="990600"/>
            <a:ext cx="11480800" cy="443198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4" name="Rectangle 32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313488"/>
            <a:ext cx="2438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ftr" sz="quarter" idx="11"/>
          </p:nvPr>
        </p:nvSpPr>
        <p:spPr>
          <a:xfrm>
            <a:off x="2946400" y="6313488"/>
            <a:ext cx="6197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Comp4870: Intranet Planning &amp; Dev.</a:t>
            </a:r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45600" y="6313488"/>
            <a:ext cx="2641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01 - </a:t>
            </a:r>
            <a:fld id="{E890A1C7-4271-4F11-8EAA-AD8A71B2F5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33583"/>
      </p:ext>
    </p:extLst>
  </p:cSld>
  <p:clrMapOvr>
    <a:masterClrMapping/>
  </p:clrMapOvr>
  <p:transition>
    <p:randomBar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Comp4870: Intranet Planning &amp; Dev.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1" name="Rectangle 10"/>
          <p:cNvSpPr/>
          <p:nvPr/>
        </p:nvSpPr>
        <p:spPr>
          <a:xfrm>
            <a:off x="1" y="7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2510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1575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22826446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963084" y="1905000"/>
            <a:ext cx="10720917" cy="2108269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3238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image" Target="../media/image15.png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image" Target="../media/image14.png"/><Relationship Id="rId2" Type="http://schemas.openxmlformats.org/officeDocument/2006/relationships/slideLayout" Target="../slideLayouts/slideLayout52.xml"/><Relationship Id="rId16" Type="http://schemas.openxmlformats.org/officeDocument/2006/relationships/image" Target="../media/image13.jpeg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5.xml"/><Relationship Id="rId4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COMP3870 - Advanced ASP.NET with C#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 smtClean="0"/>
              <a:t>04a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063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  <p:sldLayoutId id="2147483729" r:id="rId43"/>
    <p:sldLayoutId id="2147483730" r:id="rId44"/>
    <p:sldLayoutId id="2147483731" r:id="rId45"/>
    <p:sldLayoutId id="2147483732" r:id="rId46"/>
    <p:sldLayoutId id="2147483733" r:id="rId47"/>
    <p:sldLayoutId id="2147483734" r:id="rId48"/>
    <p:sldLayoutId id="2147483735" r:id="rId49"/>
    <p:sldLayoutId id="2147483736" r:id="rId50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342900" rtl="0" eaLnBrk="1" latinLnBrk="0" hangingPunct="1">
        <a:spcBef>
          <a:spcPct val="0"/>
        </a:spcBef>
        <a:buNone/>
        <a:defRPr sz="2100" kern="1200" cap="none" baseline="0">
          <a:solidFill>
            <a:schemeClr val="tx1"/>
          </a:solidFill>
          <a:latin typeface="Segoe Light"/>
          <a:ea typeface="Segoe UI" pitchFamily="34" charset="0"/>
          <a:cs typeface="Segoe Light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•"/>
        <a:defRPr lang="en-US" sz="21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557213" indent="-214313" algn="l" defTabSz="342900" rtl="0" eaLnBrk="1" latinLnBrk="0" hangingPunct="1">
        <a:spcBef>
          <a:spcPts val="300"/>
        </a:spcBef>
        <a:buClr>
          <a:srgbClr val="0072C6"/>
        </a:buClr>
        <a:buSzPct val="70000"/>
        <a:buFont typeface="Courier New" pitchFamily="49" charset="0"/>
        <a:buChar char="o"/>
        <a:defRPr lang="en-US" sz="18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7250" indent="-171450" algn="l" defTabSz="342900" rtl="0" eaLnBrk="1" latinLnBrk="0" hangingPunct="1">
        <a:spcBef>
          <a:spcPct val="20000"/>
        </a:spcBef>
        <a:buClr>
          <a:srgbClr val="0072C6"/>
        </a:buClr>
        <a:buFont typeface="Wingdings" pitchFamily="2" charset="2"/>
        <a:buChar char="§"/>
        <a:defRPr lang="en-US" sz="15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–"/>
        <a:defRPr lang="en-US" sz="12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30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»"/>
        <a:defRPr lang="en-US" sz="1200" b="0" i="0" kern="1200" dirty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0" y="230189"/>
            <a:ext cx="11176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412876"/>
            <a:ext cx="11176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3166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  <p:transition>
    <p:fade/>
  </p:transition>
  <p:hf sldNum="0"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rectangle.png"/>
          <p:cNvPicPr>
            <a:picLocks noChangeAspect="1"/>
          </p:cNvPicPr>
          <p:nvPr/>
        </p:nvPicPr>
        <p:blipFill>
          <a:blip r:embed="rId4" cstate="print"/>
          <a:srcRect b="10453"/>
          <a:stretch>
            <a:fillRect/>
          </a:stretch>
        </p:blipFill>
        <p:spPr>
          <a:xfrm>
            <a:off x="0" y="1299706"/>
            <a:ext cx="12192000" cy="555829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0" y="230189"/>
            <a:ext cx="11176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3" y="1905001"/>
            <a:ext cx="10720917" cy="2108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451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</p:sldLayoutIdLst>
  <p:transition>
    <p:fade/>
  </p:transition>
  <p:hf sldNum="0"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25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954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1970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4009" indent="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6047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jwtbuilder.jamiekurtz.com/" TargetMode="External"/><Relationship Id="rId2" Type="http://schemas.openxmlformats.org/officeDocument/2006/relationships/hyperlink" Target="http://jwt.io/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base64decode.org/" TargetMode="External"/><Relationship Id="rId5" Type="http://schemas.openxmlformats.org/officeDocument/2006/relationships/hyperlink" Target="https://www.base64encode.org/" TargetMode="External"/><Relationship Id="rId4" Type="http://schemas.openxmlformats.org/officeDocument/2006/relationships/hyperlink" Target="http://kjur.github.io/jsjws/tool_jw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Introducing JWT (JSON Web Token)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Medhat Elmasry</a:t>
            </a:r>
          </a:p>
        </p:txBody>
      </p:sp>
    </p:spTree>
    <p:extLst>
      <p:ext uri="{BB962C8B-B14F-4D97-AF65-F5344CB8AC3E}">
        <p14:creationId xmlns:p14="http://schemas.microsoft.com/office/powerpoint/2010/main" val="413895441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JWT – JSON Web Token</a:t>
            </a:r>
          </a:p>
          <a:p>
            <a:r>
              <a:rPr lang="en-CA" dirty="0"/>
              <a:t>Open standard for passing claims (security information) between two parties</a:t>
            </a:r>
          </a:p>
          <a:p>
            <a:r>
              <a:rPr lang="en-CA" dirty="0"/>
              <a:t>Self-contained: carries all the information necessary within itself</a:t>
            </a:r>
          </a:p>
          <a:p>
            <a:r>
              <a:rPr lang="en-CA" dirty="0"/>
              <a:t>JSON object on its own</a:t>
            </a:r>
          </a:p>
          <a:p>
            <a:r>
              <a:rPr lang="en-CA" dirty="0"/>
              <a:t>Mainly used in web applications (or services)</a:t>
            </a:r>
          </a:p>
          <a:p>
            <a:r>
              <a:rPr lang="en-CA" dirty="0"/>
              <a:t>Can be used in JavaScript, Node.js, Java, .NET, Python, PHP, Ruby, etc.</a:t>
            </a:r>
          </a:p>
          <a:p>
            <a:r>
              <a:rPr lang="en-CA" dirty="0"/>
              <a:t>Can be used/passed as part of URL (query string), from body parameter, cookie or HTTP Header</a:t>
            </a:r>
          </a:p>
          <a:p>
            <a:r>
              <a:rPr lang="en-CA" dirty="0"/>
              <a:t>Great for single sign-on context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894893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-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18455" y="1219200"/>
            <a:ext cx="5619868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Three sections separated with dots</a:t>
            </a:r>
          </a:p>
          <a:p>
            <a:pPr lvl="1"/>
            <a:r>
              <a:rPr lang="en-US" dirty="0"/>
              <a:t>Header, payload and signature</a:t>
            </a:r>
          </a:p>
          <a:p>
            <a:pPr lvl="1"/>
            <a:r>
              <a:rPr lang="en-US" dirty="0"/>
              <a:t>All as base64 encoded</a:t>
            </a:r>
          </a:p>
          <a:p>
            <a:r>
              <a:rPr lang="en-US" dirty="0"/>
              <a:t>Header – usually contains 2 parts, in the form of JSON</a:t>
            </a:r>
          </a:p>
          <a:p>
            <a:pPr lvl="1"/>
            <a:r>
              <a:rPr lang="en-US" dirty="0" err="1"/>
              <a:t>typ</a:t>
            </a:r>
            <a:r>
              <a:rPr lang="en-US" dirty="0"/>
              <a:t> – should be JWT</a:t>
            </a:r>
          </a:p>
          <a:p>
            <a:pPr lvl="1"/>
            <a:r>
              <a:rPr lang="en-US" dirty="0" err="1"/>
              <a:t>alg</a:t>
            </a:r>
            <a:r>
              <a:rPr lang="en-US" dirty="0"/>
              <a:t> – hashing algorithm (HS256, RS512, ES384 etc.)</a:t>
            </a:r>
          </a:p>
          <a:p>
            <a:r>
              <a:rPr lang="en-US" dirty="0"/>
              <a:t>Payload – contains:</a:t>
            </a:r>
          </a:p>
          <a:p>
            <a:pPr lvl="1"/>
            <a:r>
              <a:rPr lang="en-US" dirty="0"/>
              <a:t>The information we need to transmit</a:t>
            </a:r>
          </a:p>
          <a:p>
            <a:pPr lvl="1"/>
            <a:r>
              <a:rPr lang="en-US" dirty="0"/>
              <a:t>The information related to token itself</a:t>
            </a:r>
          </a:p>
          <a:p>
            <a:pPr lvl="1"/>
            <a:r>
              <a:rPr lang="en-US" dirty="0"/>
              <a:t>Information is JSON representation of claims (key : value)</a:t>
            </a:r>
          </a:p>
          <a:p>
            <a:r>
              <a:rPr lang="en-US" dirty="0"/>
              <a:t>Signature</a:t>
            </a:r>
          </a:p>
          <a:p>
            <a:pPr lvl="1"/>
            <a:r>
              <a:rPr lang="en-US" dirty="0"/>
              <a:t>A hash of header and payload using a secret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994400" y="1416143"/>
            <a:ext cx="5676768" cy="878355"/>
            <a:chOff x="5994400" y="1088765"/>
            <a:chExt cx="5676768" cy="878355"/>
          </a:xfrm>
        </p:grpSpPr>
        <p:sp>
          <p:nvSpPr>
            <p:cNvPr id="4" name="Rectangle 3"/>
            <p:cNvSpPr/>
            <p:nvPr/>
          </p:nvSpPr>
          <p:spPr>
            <a:xfrm>
              <a:off x="5994400" y="1525600"/>
              <a:ext cx="1659467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abcabcabc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8004239" y="1525599"/>
              <a:ext cx="1659467" cy="36933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pqrpqrpqr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011701" y="1525599"/>
              <a:ext cx="1659467" cy="36933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hijhijhij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523065" y="1136123"/>
              <a:ext cx="609600" cy="83099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569104" y="1136123"/>
              <a:ext cx="609600" cy="83099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54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75104" y="1094712"/>
              <a:ext cx="109805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header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43131" y="1088765"/>
              <a:ext cx="124886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payload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093429" y="1088765"/>
              <a:ext cx="147001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signature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165388" y="2612718"/>
            <a:ext cx="1761555" cy="984885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{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"</a:t>
            </a:r>
            <a:r>
              <a:rPr lang="en-US" sz="1600" dirty="0" err="1">
                <a:solidFill>
                  <a:schemeClr val="tx2"/>
                </a:solidFill>
              </a:rPr>
              <a:t>typ</a:t>
            </a:r>
            <a:r>
              <a:rPr lang="en-US" sz="1600" dirty="0">
                <a:solidFill>
                  <a:schemeClr val="tx2"/>
                </a:solidFill>
              </a:rPr>
              <a:t>": "JWT",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"</a:t>
            </a:r>
            <a:r>
              <a:rPr lang="en-US" sz="1600" dirty="0" err="1">
                <a:solidFill>
                  <a:schemeClr val="tx2"/>
                </a:solidFill>
              </a:rPr>
              <a:t>alg</a:t>
            </a:r>
            <a:r>
              <a:rPr lang="en-US" sz="1600" dirty="0">
                <a:solidFill>
                  <a:schemeClr val="tx2"/>
                </a:solidFill>
              </a:rPr>
              <a:t>": "HS256"</a:t>
            </a:r>
          </a:p>
          <a:p>
            <a:r>
              <a:rPr lang="en-US" sz="1600" dirty="0">
                <a:solidFill>
                  <a:schemeClr val="tx2"/>
                </a:solidFill>
              </a:rPr>
              <a:t>}</a:t>
            </a:r>
          </a:p>
        </p:txBody>
      </p:sp>
      <p:cxnSp>
        <p:nvCxnSpPr>
          <p:cNvPr id="15" name="Straight Arrow Connector 14"/>
          <p:cNvCxnSpPr>
            <a:cxnSpLocks/>
            <a:stCxn id="13" idx="0"/>
            <a:endCxn id="4" idx="2"/>
          </p:cNvCxnSpPr>
          <p:nvPr/>
        </p:nvCxnSpPr>
        <p:spPr>
          <a:xfrm flipH="1" flipV="1">
            <a:off x="6824134" y="2222310"/>
            <a:ext cx="222032" cy="390408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24516" y="3758886"/>
            <a:ext cx="1809680" cy="1261884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{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"</a:t>
            </a:r>
            <a:r>
              <a:rPr lang="en-US" sz="1600" dirty="0" err="1">
                <a:solidFill>
                  <a:schemeClr val="tx2"/>
                </a:solidFill>
              </a:rPr>
              <a:t>iss</a:t>
            </a:r>
            <a:r>
              <a:rPr lang="en-US" sz="1600" dirty="0">
                <a:solidFill>
                  <a:schemeClr val="tx2"/>
                </a:solidFill>
              </a:rPr>
              <a:t>": "HSBC",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"name": "John",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"admin": false</a:t>
            </a:r>
          </a:p>
          <a:p>
            <a:r>
              <a:rPr lang="en-US" sz="1600" dirty="0">
                <a:solidFill>
                  <a:schemeClr val="tx2"/>
                </a:solidFill>
              </a:rPr>
              <a:t>}</a:t>
            </a:r>
          </a:p>
        </p:txBody>
      </p:sp>
      <p:cxnSp>
        <p:nvCxnSpPr>
          <p:cNvPr id="20" name="Straight Arrow Connector 19"/>
          <p:cNvCxnSpPr>
            <a:cxnSpLocks/>
            <a:stCxn id="18" idx="3"/>
            <a:endCxn id="5" idx="2"/>
          </p:cNvCxnSpPr>
          <p:nvPr/>
        </p:nvCxnSpPr>
        <p:spPr>
          <a:xfrm flipV="1">
            <a:off x="8034196" y="2222309"/>
            <a:ext cx="799777" cy="2167519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24516" y="5133248"/>
            <a:ext cx="2144890" cy="1508105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400" dirty="0" err="1">
                <a:solidFill>
                  <a:schemeClr val="tx2"/>
                </a:solidFill>
              </a:rPr>
              <a:t>iss</a:t>
            </a:r>
            <a:r>
              <a:rPr lang="en-US" sz="1400" dirty="0">
                <a:solidFill>
                  <a:schemeClr val="tx2"/>
                </a:solidFill>
              </a:rPr>
              <a:t> - issuer</a:t>
            </a:r>
          </a:p>
          <a:p>
            <a:r>
              <a:rPr lang="en-US" sz="1400" dirty="0">
                <a:solidFill>
                  <a:schemeClr val="tx2"/>
                </a:solidFill>
              </a:rPr>
              <a:t>sub - subject</a:t>
            </a:r>
          </a:p>
          <a:p>
            <a:r>
              <a:rPr lang="en-US" sz="1400" dirty="0" err="1">
                <a:solidFill>
                  <a:schemeClr val="tx2"/>
                </a:solidFill>
              </a:rPr>
              <a:t>aud</a:t>
            </a:r>
            <a:r>
              <a:rPr lang="en-US" sz="1400" dirty="0">
                <a:solidFill>
                  <a:schemeClr val="tx2"/>
                </a:solidFill>
              </a:rPr>
              <a:t> - audience</a:t>
            </a:r>
          </a:p>
          <a:p>
            <a:r>
              <a:rPr lang="en-US" sz="1400" dirty="0" err="1">
                <a:solidFill>
                  <a:schemeClr val="tx2"/>
                </a:solidFill>
              </a:rPr>
              <a:t>exp</a:t>
            </a:r>
            <a:r>
              <a:rPr lang="en-US" sz="1400" dirty="0">
                <a:solidFill>
                  <a:schemeClr val="tx2"/>
                </a:solidFill>
              </a:rPr>
              <a:t> - expiration time</a:t>
            </a:r>
          </a:p>
          <a:p>
            <a:r>
              <a:rPr lang="en-US" sz="1400" dirty="0" err="1">
                <a:solidFill>
                  <a:schemeClr val="tx2"/>
                </a:solidFill>
              </a:rPr>
              <a:t>nbf</a:t>
            </a:r>
            <a:r>
              <a:rPr lang="en-US" sz="1400" dirty="0">
                <a:solidFill>
                  <a:schemeClr val="tx2"/>
                </a:solidFill>
              </a:rPr>
              <a:t> - not before</a:t>
            </a:r>
          </a:p>
          <a:p>
            <a:r>
              <a:rPr lang="en-US" sz="1400" dirty="0" err="1">
                <a:solidFill>
                  <a:schemeClr val="tx2"/>
                </a:solidFill>
              </a:rPr>
              <a:t>iat</a:t>
            </a:r>
            <a:r>
              <a:rPr lang="en-US" sz="1400" dirty="0">
                <a:solidFill>
                  <a:schemeClr val="tx2"/>
                </a:solidFill>
              </a:rPr>
              <a:t> - issued at</a:t>
            </a:r>
          </a:p>
          <a:p>
            <a:r>
              <a:rPr lang="en-US" sz="1400" dirty="0" err="1">
                <a:solidFill>
                  <a:schemeClr val="tx2"/>
                </a:solidFill>
              </a:rPr>
              <a:t>jti</a:t>
            </a:r>
            <a:r>
              <a:rPr lang="en-US" sz="1400" dirty="0">
                <a:solidFill>
                  <a:schemeClr val="tx2"/>
                </a:solidFill>
              </a:rPr>
              <a:t> - JWT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6667" y="3891315"/>
            <a:ext cx="3658791" cy="984885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var</a:t>
            </a:r>
            <a:r>
              <a:rPr lang="en-US" sz="1600" dirty="0">
                <a:solidFill>
                  <a:schemeClr val="tx2"/>
                </a:solidFill>
              </a:rPr>
              <a:t> s = base64Encode(header)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+ "."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+ base64Encode(payload);</a:t>
            </a:r>
          </a:p>
          <a:p>
            <a:r>
              <a:rPr lang="en-US" sz="1600" dirty="0" err="1">
                <a:solidFill>
                  <a:schemeClr val="tx2"/>
                </a:solidFill>
              </a:rPr>
              <a:t>var</a:t>
            </a:r>
            <a:r>
              <a:rPr lang="en-US" sz="1600" dirty="0">
                <a:solidFill>
                  <a:schemeClr val="tx2"/>
                </a:solidFill>
              </a:rPr>
              <a:t> signature = hashAlgHs256(s, 'secret');</a:t>
            </a:r>
          </a:p>
        </p:txBody>
      </p:sp>
      <p:cxnSp>
        <p:nvCxnSpPr>
          <p:cNvPr id="36" name="Straight Arrow Connector 35"/>
          <p:cNvCxnSpPr>
            <a:cxnSpLocks/>
            <a:stCxn id="30" idx="0"/>
            <a:endCxn id="6" idx="2"/>
          </p:cNvCxnSpPr>
          <p:nvPr/>
        </p:nvCxnSpPr>
        <p:spPr>
          <a:xfrm flipV="1">
            <a:off x="10296063" y="2222309"/>
            <a:ext cx="545372" cy="1669006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5926775" y="1170700"/>
            <a:ext cx="22578" cy="5663120"/>
          </a:xfrm>
          <a:prstGeom prst="line">
            <a:avLst/>
          </a:prstGeom>
          <a:ln>
            <a:headEnd type="none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020528" y="5641078"/>
            <a:ext cx="2551068" cy="492443"/>
          </a:xfrm>
          <a:prstGeom prst="rect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r>
              <a:rPr lang="en-US" sz="1600" dirty="0" err="1">
                <a:solidFill>
                  <a:schemeClr val="tx2"/>
                </a:solidFill>
              </a:rPr>
              <a:t>var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jwt</a:t>
            </a:r>
            <a:r>
              <a:rPr lang="en-US" sz="1600" dirty="0">
                <a:solidFill>
                  <a:schemeClr val="tx2"/>
                </a:solidFill>
              </a:rPr>
              <a:t> = s + "." </a:t>
            </a:r>
          </a:p>
          <a:p>
            <a:r>
              <a:rPr lang="en-US" sz="1600" dirty="0">
                <a:solidFill>
                  <a:schemeClr val="tx2"/>
                </a:solidFill>
              </a:rPr>
              <a:t>+ base64Encode(signature);</a:t>
            </a:r>
          </a:p>
        </p:txBody>
      </p:sp>
    </p:spTree>
    <p:extLst>
      <p:ext uri="{BB962C8B-B14F-4D97-AF65-F5344CB8AC3E}">
        <p14:creationId xmlns:p14="http://schemas.microsoft.com/office/powerpoint/2010/main" val="3530961227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– in the real world</a:t>
            </a:r>
          </a:p>
        </p:txBody>
      </p:sp>
      <p:sp>
        <p:nvSpPr>
          <p:cNvPr id="4" name="Rectangle: Rounded Corners 3"/>
          <p:cNvSpPr/>
          <p:nvPr/>
        </p:nvSpPr>
        <p:spPr>
          <a:xfrm>
            <a:off x="519248" y="1063879"/>
            <a:ext cx="1911435" cy="2109869"/>
          </a:xfrm>
          <a:prstGeom prst="round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Client /</a:t>
            </a:r>
          </a:p>
          <a:p>
            <a:r>
              <a:rPr lang="en-US" dirty="0">
                <a:solidFill>
                  <a:schemeClr val="bg2"/>
                </a:solidFill>
              </a:rPr>
              <a:t>Consumer /</a:t>
            </a:r>
          </a:p>
          <a:p>
            <a:r>
              <a:rPr lang="en-US" dirty="0">
                <a:solidFill>
                  <a:schemeClr val="bg2"/>
                </a:solidFill>
              </a:rPr>
              <a:t>App</a:t>
            </a:r>
          </a:p>
        </p:txBody>
      </p:sp>
      <p:sp>
        <p:nvSpPr>
          <p:cNvPr id="5" name="Rectangle: Rounded Corners 4"/>
          <p:cNvSpPr/>
          <p:nvPr/>
        </p:nvSpPr>
        <p:spPr>
          <a:xfrm>
            <a:off x="9792182" y="1028163"/>
            <a:ext cx="1878986" cy="2145585"/>
          </a:xfrm>
          <a:prstGeom prst="roundRect">
            <a:avLst/>
          </a:prstGeom>
          <a:solidFill>
            <a:srgbClr val="0070C0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r"/>
            <a:r>
              <a:rPr lang="en-US" dirty="0">
                <a:solidFill>
                  <a:schemeClr val="bg2"/>
                </a:solidFill>
              </a:rPr>
              <a:t>Server /</a:t>
            </a:r>
          </a:p>
          <a:p>
            <a:pPr algn="r"/>
            <a:r>
              <a:rPr lang="en-US" dirty="0">
                <a:solidFill>
                  <a:schemeClr val="bg2"/>
                </a:solidFill>
              </a:rPr>
              <a:t>Service</a:t>
            </a:r>
          </a:p>
          <a:p>
            <a:pPr algn="r"/>
            <a:r>
              <a:rPr lang="en-US" dirty="0">
                <a:solidFill>
                  <a:schemeClr val="bg2"/>
                </a:solidFill>
              </a:rPr>
              <a:t>App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430683" y="984107"/>
            <a:ext cx="7361499" cy="519351"/>
            <a:chOff x="2430683" y="984107"/>
            <a:chExt cx="7361499" cy="519351"/>
          </a:xfrm>
        </p:grpSpPr>
        <p:cxnSp>
          <p:nvCxnSpPr>
            <p:cNvPr id="7" name="Straight Arrow Connector 6"/>
            <p:cNvCxnSpPr>
              <a:cxnSpLocks/>
            </p:cNvCxnSpPr>
            <p:nvPr/>
          </p:nvCxnSpPr>
          <p:spPr>
            <a:xfrm>
              <a:off x="2430683" y="1250066"/>
              <a:ext cx="7361499" cy="11575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708476" y="984107"/>
              <a:ext cx="497711" cy="51935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70392" y="3421204"/>
            <a:ext cx="3757597" cy="553998"/>
            <a:chOff x="270392" y="3084823"/>
            <a:chExt cx="3757597" cy="553998"/>
          </a:xfrm>
        </p:grpSpPr>
        <p:sp>
          <p:nvSpPr>
            <p:cNvPr id="12" name="Oval 11"/>
            <p:cNvSpPr/>
            <p:nvPr/>
          </p:nvSpPr>
          <p:spPr>
            <a:xfrm>
              <a:off x="270392" y="3116530"/>
              <a:ext cx="497711" cy="51935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3377" y="3084823"/>
              <a:ext cx="3194612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Request token (by providing credentials</a:t>
              </a:r>
            </a:p>
          </p:txBody>
        </p:sp>
      </p:grpSp>
      <p:sp>
        <p:nvSpPr>
          <p:cNvPr id="16" name="Oval 15"/>
          <p:cNvSpPr/>
          <p:nvPr/>
        </p:nvSpPr>
        <p:spPr>
          <a:xfrm>
            <a:off x="9821119" y="1063879"/>
            <a:ext cx="497711" cy="5193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191175" y="3435587"/>
            <a:ext cx="3757597" cy="553998"/>
            <a:chOff x="270392" y="3084823"/>
            <a:chExt cx="3757597" cy="553998"/>
          </a:xfrm>
        </p:grpSpPr>
        <p:sp>
          <p:nvSpPr>
            <p:cNvPr id="18" name="Oval 17"/>
            <p:cNvSpPr/>
            <p:nvPr/>
          </p:nvSpPr>
          <p:spPr>
            <a:xfrm>
              <a:off x="270392" y="3116530"/>
              <a:ext cx="497711" cy="51935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33377" y="3084823"/>
              <a:ext cx="3194612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Check credentials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Create token (JWT)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204835" y="4243954"/>
            <a:ext cx="3757597" cy="553998"/>
            <a:chOff x="270392" y="3084823"/>
            <a:chExt cx="3757597" cy="553998"/>
          </a:xfrm>
        </p:grpSpPr>
        <p:sp>
          <p:nvSpPr>
            <p:cNvPr id="21" name="Oval 20"/>
            <p:cNvSpPr/>
            <p:nvPr/>
          </p:nvSpPr>
          <p:spPr>
            <a:xfrm>
              <a:off x="270392" y="3116530"/>
              <a:ext cx="497711" cy="51935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33377" y="3084823"/>
              <a:ext cx="3194612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Send JWT to client (or error if not authenticated)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459620" y="1477280"/>
            <a:ext cx="7361499" cy="519351"/>
            <a:chOff x="2430683" y="990390"/>
            <a:chExt cx="7361499" cy="519351"/>
          </a:xfrm>
        </p:grpSpPr>
        <p:cxnSp>
          <p:nvCxnSpPr>
            <p:cNvPr id="24" name="Straight Arrow Connector 23"/>
            <p:cNvCxnSpPr>
              <a:cxnSpLocks/>
            </p:cNvCxnSpPr>
            <p:nvPr/>
          </p:nvCxnSpPr>
          <p:spPr>
            <a:xfrm>
              <a:off x="2430683" y="1250066"/>
              <a:ext cx="7361499" cy="11575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8979060" y="990390"/>
              <a:ext cx="497711" cy="51935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</p:grpSp>
      <p:sp>
        <p:nvSpPr>
          <p:cNvPr id="26" name="Oval 25"/>
          <p:cNvSpPr/>
          <p:nvPr/>
        </p:nvSpPr>
        <p:spPr>
          <a:xfrm>
            <a:off x="1924290" y="1461192"/>
            <a:ext cx="497711" cy="51935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62991" y="4151143"/>
            <a:ext cx="3757597" cy="1107996"/>
            <a:chOff x="270392" y="3084823"/>
            <a:chExt cx="3757597" cy="1107996"/>
          </a:xfrm>
        </p:grpSpPr>
        <p:sp>
          <p:nvSpPr>
            <p:cNvPr id="28" name="Oval 27"/>
            <p:cNvSpPr/>
            <p:nvPr/>
          </p:nvSpPr>
          <p:spPr>
            <a:xfrm>
              <a:off x="270392" y="3116530"/>
              <a:ext cx="497711" cy="51935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4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3377" y="3084823"/>
              <a:ext cx="3194612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Verify token (optional)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Extract information for app usage (optional)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Persist token (at client-side)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459620" y="1978773"/>
            <a:ext cx="7361499" cy="519351"/>
            <a:chOff x="2430683" y="984107"/>
            <a:chExt cx="7361499" cy="519351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>
            <a:xfrm>
              <a:off x="2430683" y="1250066"/>
              <a:ext cx="7361499" cy="11575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2708476" y="984107"/>
              <a:ext cx="497711" cy="51935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/>
                <a:t>5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63798" y="5435080"/>
            <a:ext cx="3757597" cy="553998"/>
            <a:chOff x="270392" y="3084823"/>
            <a:chExt cx="3757597" cy="553998"/>
          </a:xfrm>
        </p:grpSpPr>
        <p:sp>
          <p:nvSpPr>
            <p:cNvPr id="34" name="Oval 33"/>
            <p:cNvSpPr/>
            <p:nvPr/>
          </p:nvSpPr>
          <p:spPr>
            <a:xfrm>
              <a:off x="270392" y="3116530"/>
              <a:ext cx="497711" cy="519351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5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3377" y="3084823"/>
              <a:ext cx="3194612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Use same (persisted) token for subsequent calls to server</a:t>
              </a:r>
            </a:p>
          </p:txBody>
        </p:sp>
      </p:grpSp>
      <p:sp>
        <p:nvSpPr>
          <p:cNvPr id="36" name="Oval 35"/>
          <p:cNvSpPr/>
          <p:nvPr/>
        </p:nvSpPr>
        <p:spPr>
          <a:xfrm>
            <a:off x="9824013" y="1906778"/>
            <a:ext cx="497711" cy="5193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6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2459619" y="2509086"/>
            <a:ext cx="7361499" cy="519351"/>
            <a:chOff x="2430683" y="990390"/>
            <a:chExt cx="7361499" cy="519351"/>
          </a:xfrm>
        </p:grpSpPr>
        <p:cxnSp>
          <p:nvCxnSpPr>
            <p:cNvPr id="38" name="Straight Arrow Connector 37"/>
            <p:cNvCxnSpPr>
              <a:cxnSpLocks/>
            </p:cNvCxnSpPr>
            <p:nvPr/>
          </p:nvCxnSpPr>
          <p:spPr>
            <a:xfrm>
              <a:off x="2430683" y="1250066"/>
              <a:ext cx="7361499" cy="11575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8979060" y="990390"/>
              <a:ext cx="497711" cy="51935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204835" y="5017675"/>
            <a:ext cx="3757597" cy="553998"/>
            <a:chOff x="270392" y="3084823"/>
            <a:chExt cx="3757597" cy="553998"/>
          </a:xfrm>
        </p:grpSpPr>
        <p:sp>
          <p:nvSpPr>
            <p:cNvPr id="41" name="Oval 40"/>
            <p:cNvSpPr/>
            <p:nvPr/>
          </p:nvSpPr>
          <p:spPr>
            <a:xfrm>
              <a:off x="270392" y="3116530"/>
              <a:ext cx="497711" cy="51935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6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3377" y="3084823"/>
              <a:ext cx="3194612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Verify token for all subsequent requests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8191175" y="5749040"/>
            <a:ext cx="3757597" cy="553998"/>
            <a:chOff x="270392" y="3084823"/>
            <a:chExt cx="3757597" cy="553998"/>
          </a:xfrm>
        </p:grpSpPr>
        <p:sp>
          <p:nvSpPr>
            <p:cNvPr id="44" name="Oval 43"/>
            <p:cNvSpPr/>
            <p:nvPr/>
          </p:nvSpPr>
          <p:spPr>
            <a:xfrm>
              <a:off x="270392" y="3116530"/>
              <a:ext cx="497711" cy="51935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7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33377" y="3084823"/>
              <a:ext cx="3194612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</a:rPr>
                <a:t>If valid token, respond with results – else, return error.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582533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97163" y="1563259"/>
            <a:ext cx="10972800" cy="4525963"/>
          </a:xfrm>
        </p:spPr>
        <p:txBody>
          <a:bodyPr/>
          <a:lstStyle/>
          <a:p>
            <a:r>
              <a:rPr lang="en-US" dirty="0"/>
              <a:t>Verify JWT</a:t>
            </a:r>
          </a:p>
          <a:p>
            <a:pPr lvl="1"/>
            <a:r>
              <a:rPr lang="en-US">
                <a:hlinkClick r:id="rId2"/>
              </a:rPr>
              <a:t>http://jwt.io</a:t>
            </a:r>
            <a:endParaRPr lang="en-US"/>
          </a:p>
          <a:p>
            <a:r>
              <a:rPr lang="en-US" smtClean="0"/>
              <a:t>Create </a:t>
            </a:r>
            <a:r>
              <a:rPr lang="en-US" dirty="0"/>
              <a:t>JWT</a:t>
            </a:r>
          </a:p>
          <a:p>
            <a:pPr lvl="1"/>
            <a:r>
              <a:rPr lang="en-US" dirty="0">
                <a:hlinkClick r:id="rId3"/>
              </a:rPr>
              <a:t>http://jwtbuilder.jamiekurtz.com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http://kjur.github.io/jsjws/tool_jwt.html</a:t>
            </a:r>
            <a:endParaRPr lang="en-US" dirty="0"/>
          </a:p>
          <a:p>
            <a:r>
              <a:rPr lang="en-US" dirty="0" smtClean="0"/>
              <a:t>Base64 </a:t>
            </a:r>
            <a:r>
              <a:rPr lang="en-US" dirty="0"/>
              <a:t>encode / decode</a:t>
            </a:r>
          </a:p>
          <a:p>
            <a:pPr lvl="1"/>
            <a:r>
              <a:rPr lang="en-US" dirty="0">
                <a:hlinkClick r:id="rId5"/>
              </a:rPr>
              <a:t>https://www.base64encode.org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https://www.base64decode.org</a:t>
            </a:r>
            <a:endParaRPr lang="en-US" dirty="0"/>
          </a:p>
          <a:p>
            <a:endParaRPr lang="en-US" dirty="0"/>
          </a:p>
          <a:p>
            <a:endParaRPr lang="en-CA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- helpful links to test online</a:t>
            </a:r>
          </a:p>
        </p:txBody>
      </p:sp>
    </p:spTree>
    <p:extLst>
      <p:ext uri="{BB962C8B-B14F-4D97-AF65-F5344CB8AC3E}">
        <p14:creationId xmlns:p14="http://schemas.microsoft.com/office/powerpoint/2010/main" val="107453139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PE_Blue_PowerPoint_msp_v5 noIcon">
  <a:themeElements>
    <a:clrScheme name="Microsoft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B900"/>
      </a:accent1>
      <a:accent2>
        <a:srgbClr val="FF8C00"/>
      </a:accent2>
      <a:accent3>
        <a:srgbClr val="EB3C00"/>
      </a:accent3>
      <a:accent4>
        <a:srgbClr val="6DC2E9"/>
      </a:accent4>
      <a:accent5>
        <a:srgbClr val="00BCF2"/>
      </a:accent5>
      <a:accent6>
        <a:srgbClr val="0072C6"/>
      </a:accent6>
      <a:hlink>
        <a:srgbClr val="4C4C4C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Sample presentation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White with Courier font for code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PE">
    <a:dk1>
      <a:srgbClr val="000000"/>
    </a:dk1>
    <a:lt1>
      <a:srgbClr val="FFFFFF"/>
    </a:lt1>
    <a:dk2>
      <a:srgbClr val="0072C6"/>
    </a:dk2>
    <a:lt2>
      <a:srgbClr val="61DDFF"/>
    </a:lt2>
    <a:accent1>
      <a:srgbClr val="00BCF2"/>
    </a:accent1>
    <a:accent2>
      <a:srgbClr val="7FBA00"/>
    </a:accent2>
    <a:accent3>
      <a:srgbClr val="FF8C00"/>
    </a:accent3>
    <a:accent4>
      <a:srgbClr val="B4009E"/>
    </a:accent4>
    <a:accent5>
      <a:srgbClr val="55D455"/>
    </a:accent5>
    <a:accent6>
      <a:srgbClr val="FFB900"/>
    </a:accent6>
    <a:hlink>
      <a:srgbClr val="003963"/>
    </a:hlink>
    <a:folHlink>
      <a:srgbClr val="0072C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express</Template>
  <TotalTime>157</TotalTime>
  <Words>414</Words>
  <Application>Microsoft Office PowerPoint</Application>
  <PresentationFormat>Widescreen</PresentationFormat>
  <Paragraphs>96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Segoe Light</vt:lpstr>
      <vt:lpstr>Segoe UI</vt:lpstr>
      <vt:lpstr>Segoe UI Light</vt:lpstr>
      <vt:lpstr>Segoe WP SemiLight</vt:lpstr>
      <vt:lpstr>Wingdings</vt:lpstr>
      <vt:lpstr>DPE_Blue_PowerPoint_msp_v5 noIcon</vt:lpstr>
      <vt:lpstr>Sample presentation slides</vt:lpstr>
      <vt:lpstr>White with Courier font for code slides</vt:lpstr>
      <vt:lpstr>Introducing JWT (JSON Web Token)</vt:lpstr>
      <vt:lpstr>JWT - Introduction</vt:lpstr>
      <vt:lpstr>JWT - structure</vt:lpstr>
      <vt:lpstr>JWT – in the real world</vt:lpstr>
      <vt:lpstr>JWT - helpful links to test online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Medhat Elmasry</dc:creator>
  <cp:lastModifiedBy>Medhat Elmasry</cp:lastModifiedBy>
  <cp:revision>12</cp:revision>
  <dcterms:created xsi:type="dcterms:W3CDTF">2017-02-21T18:08:53Z</dcterms:created>
  <dcterms:modified xsi:type="dcterms:W3CDTF">2018-10-19T00:24:26Z</dcterms:modified>
</cp:coreProperties>
</file>