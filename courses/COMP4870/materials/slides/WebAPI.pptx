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8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0919584" y="441326"/>
            <a:ext cx="703476" cy="24447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803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100EFCDA-94B5-4529-89F9-A2D5AA184E4F}" type="slidenum">
              <a:rPr lang="en-CA" smtClean="0"/>
              <a:t>‹#›</a:t>
            </a:fld>
            <a:endParaRPr lang="en-CA"/>
          </a:p>
        </p:txBody>
      </p:sp>
      <p:sp>
        <p:nvSpPr>
          <p:cNvPr id="2" name="Oval 1"/>
          <p:cNvSpPr/>
          <p:nvPr/>
        </p:nvSpPr>
        <p:spPr>
          <a:xfrm>
            <a:off x="3139127" y="2540523"/>
            <a:ext cx="1998483" cy="1987966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/>
          <p:cNvSpPr/>
          <p:nvPr/>
        </p:nvSpPr>
        <p:spPr>
          <a:xfrm>
            <a:off x="9339902" y="3267948"/>
            <a:ext cx="535937" cy="533117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/>
          <p:cNvSpPr/>
          <p:nvPr/>
        </p:nvSpPr>
        <p:spPr>
          <a:xfrm>
            <a:off x="1526768" y="3429000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1104900" y="1979630"/>
            <a:ext cx="10668000" cy="2969443"/>
          </a:xfrm>
          <a:prstGeom prst="rect">
            <a:avLst/>
          </a:prstGeom>
          <a:effectLst/>
        </p:spPr>
        <p:txBody>
          <a:bodyPr tIns="0" bIns="91440" anchor="ctr" anchorCtr="0"/>
          <a:lstStyle>
            <a:lvl1pPr algn="ctr">
              <a:lnSpc>
                <a:spcPct val="150000"/>
              </a:lnSpc>
              <a:defRPr sz="11499" kern="3000" spc="2000" baseline="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0" name="Oval 9"/>
          <p:cNvSpPr/>
          <p:nvPr/>
        </p:nvSpPr>
        <p:spPr>
          <a:xfrm>
            <a:off x="3120076" y="1119481"/>
            <a:ext cx="4749538" cy="4724544"/>
          </a:xfrm>
          <a:prstGeom prst="ellipse">
            <a:avLst/>
          </a:prstGeom>
          <a:noFill/>
          <a:ln w="3175">
            <a:solidFill>
              <a:schemeClr val="tx1">
                <a:alpha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Oval 11"/>
          <p:cNvSpPr/>
          <p:nvPr/>
        </p:nvSpPr>
        <p:spPr>
          <a:xfrm>
            <a:off x="1526769" y="1668430"/>
            <a:ext cx="3610841" cy="3591839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7" name="Oval 16"/>
          <p:cNvSpPr/>
          <p:nvPr/>
        </p:nvSpPr>
        <p:spPr>
          <a:xfrm>
            <a:off x="1526768" y="3429000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703ED78-9792-4917-9463-BAE14924155A}"/>
              </a:ext>
            </a:extLst>
          </p:cNvPr>
          <p:cNvSpPr/>
          <p:nvPr/>
        </p:nvSpPr>
        <p:spPr>
          <a:xfrm rot="10800000">
            <a:off x="8439878" y="5850862"/>
            <a:ext cx="3682959" cy="100713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B0B64F-356D-4C37-BDB5-3CB1B066C4C9}"/>
              </a:ext>
            </a:extLst>
          </p:cNvPr>
          <p:cNvSpPr/>
          <p:nvPr/>
        </p:nvSpPr>
        <p:spPr>
          <a:xfrm>
            <a:off x="1104900" y="-9056"/>
            <a:ext cx="3682959" cy="100713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42D2790-EA30-4E0B-B8F3-16FBA340C5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528489"/>
            <a:ext cx="10668000" cy="853179"/>
          </a:xfrm>
        </p:spPr>
        <p:txBody>
          <a:bodyPr vert="horz" lIns="0" tIns="45720" rIns="0" bIns="45720" rtlCol="0">
            <a:noAutofit/>
          </a:bodyPr>
          <a:lstStyle>
            <a:lvl1pPr marL="0" indent="0" algn="ctr">
              <a:buNone/>
              <a:defRPr lang="en-US" sz="3600" spc="600">
                <a:solidFill>
                  <a:srgbClr val="2F3342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112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6770-6622-450D-A1F3-BC241C88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352550"/>
            <a:ext cx="10248899" cy="48244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6A756B-881F-4AD8-88A2-0DEA57AC8086}"/>
              </a:ext>
            </a:extLst>
          </p:cNvPr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1879E-468E-4022-BADB-7EA13901AAC4}"/>
              </a:ext>
            </a:extLst>
          </p:cNvPr>
          <p:cNvSpPr/>
          <p:nvPr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6C8E7-AF48-4D69-8A29-78C339929E06}"/>
              </a:ext>
            </a:extLst>
          </p:cNvPr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AE379-8BA3-4C38-80B9-F6ECE8575046}"/>
              </a:ext>
            </a:extLst>
          </p:cNvPr>
          <p:cNvSpPr/>
          <p:nvPr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C42F51-DCAB-4C33-9689-ABC135D1EE8D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BC48F8-98EB-4550-8EAC-1248034E956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130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1755742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66" name="Oval 65"/>
          <p:cNvSpPr/>
          <p:nvPr/>
        </p:nvSpPr>
        <p:spPr>
          <a:xfrm>
            <a:off x="392841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5" name="Oval 34"/>
          <p:cNvSpPr/>
          <p:nvPr/>
        </p:nvSpPr>
        <p:spPr>
          <a:xfrm>
            <a:off x="1524000" y="1812813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5D7C1C-9CF4-47B3-9ABC-8F0E2CE6CD31}"/>
              </a:ext>
            </a:extLst>
          </p:cNvPr>
          <p:cNvSpPr/>
          <p:nvPr/>
        </p:nvSpPr>
        <p:spPr>
          <a:xfrm rot="10800000">
            <a:off x="3192203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B53361-3F22-4468-B6F8-71E345F7077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38687-48E7-4488-BB10-BDE4F5A7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144" y="1237089"/>
            <a:ext cx="4562856" cy="15636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BFA191B-5E25-41C1-B950-BB8F10AC1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3144" y="2888790"/>
            <a:ext cx="4562856" cy="29801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3AA0A46-EB51-4095-97DD-ED4081CF5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40862" y="0"/>
            <a:ext cx="6751137" cy="6857999"/>
          </a:xfrm>
          <a:custGeom>
            <a:avLst/>
            <a:gdLst>
              <a:gd name="connsiteX0" fmla="*/ 0 w 6751137"/>
              <a:gd name="connsiteY0" fmla="*/ 0 h 6857999"/>
              <a:gd name="connsiteX1" fmla="*/ 6751137 w 6751137"/>
              <a:gd name="connsiteY1" fmla="*/ 0 h 6857999"/>
              <a:gd name="connsiteX2" fmla="*/ 6751137 w 6751137"/>
              <a:gd name="connsiteY2" fmla="*/ 6857999 h 6857999"/>
              <a:gd name="connsiteX3" fmla="*/ 0 w 6751137"/>
              <a:gd name="connsiteY3" fmla="*/ 6857999 h 6857999"/>
              <a:gd name="connsiteX4" fmla="*/ 0 w 6751137"/>
              <a:gd name="connsiteY4" fmla="*/ 6844680 h 6857999"/>
              <a:gd name="connsiteX5" fmla="*/ 141429 w 6751137"/>
              <a:gd name="connsiteY5" fmla="*/ 6697120 h 6857999"/>
              <a:gd name="connsiteX6" fmla="*/ 1410790 w 6751137"/>
              <a:gd name="connsiteY6" fmla="*/ 3429000 h 6857999"/>
              <a:gd name="connsiteX7" fmla="*/ 141429 w 6751137"/>
              <a:gd name="connsiteY7" fmla="*/ 160880 h 6857999"/>
              <a:gd name="connsiteX8" fmla="*/ 0 w 6751137"/>
              <a:gd name="connsiteY8" fmla="*/ 1332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51137" h="6857999">
                <a:moveTo>
                  <a:pt x="0" y="0"/>
                </a:moveTo>
                <a:lnTo>
                  <a:pt x="6751137" y="0"/>
                </a:lnTo>
                <a:lnTo>
                  <a:pt x="6751137" y="6857999"/>
                </a:lnTo>
                <a:lnTo>
                  <a:pt x="0" y="6857999"/>
                </a:lnTo>
                <a:lnTo>
                  <a:pt x="0" y="6844680"/>
                </a:lnTo>
                <a:lnTo>
                  <a:pt x="141429" y="6697120"/>
                </a:lnTo>
                <a:cubicBezTo>
                  <a:pt x="930105" y="5833950"/>
                  <a:pt x="1410790" y="4687315"/>
                  <a:pt x="1410790" y="3429000"/>
                </a:cubicBezTo>
                <a:cubicBezTo>
                  <a:pt x="1410790" y="2170685"/>
                  <a:pt x="930105" y="1024050"/>
                  <a:pt x="141429" y="160880"/>
                </a:cubicBezTo>
                <a:lnTo>
                  <a:pt x="0" y="133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4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1104900" y="1"/>
            <a:ext cx="7583700" cy="6858001"/>
          </a:xfrm>
          <a:custGeom>
            <a:avLst/>
            <a:gdLst>
              <a:gd name="connsiteX0" fmla="*/ 0 w 7583700"/>
              <a:gd name="connsiteY0" fmla="*/ 0 h 6858001"/>
              <a:gd name="connsiteX1" fmla="*/ 2537926 w 7583700"/>
              <a:gd name="connsiteY1" fmla="*/ 0 h 6858001"/>
              <a:gd name="connsiteX2" fmla="*/ 2847001 w 7583700"/>
              <a:gd name="connsiteY2" fmla="*/ 138995 h 6858001"/>
              <a:gd name="connsiteX3" fmla="*/ 7582790 w 7583700"/>
              <a:gd name="connsiteY3" fmla="*/ 6846094 h 6858001"/>
              <a:gd name="connsiteX4" fmla="*/ 7583700 w 7583700"/>
              <a:gd name="connsiteY4" fmla="*/ 6858001 h 6858001"/>
              <a:gd name="connsiteX5" fmla="*/ 0 w 7583700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3700" h="6858001">
                <a:moveTo>
                  <a:pt x="0" y="0"/>
                </a:moveTo>
                <a:lnTo>
                  <a:pt x="2537926" y="0"/>
                </a:lnTo>
                <a:lnTo>
                  <a:pt x="2847001" y="138995"/>
                </a:lnTo>
                <a:cubicBezTo>
                  <a:pt x="5428994" y="1376579"/>
                  <a:pt x="7280340" y="3883594"/>
                  <a:pt x="7582790" y="6846094"/>
                </a:cubicBezTo>
                <a:lnTo>
                  <a:pt x="7583700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1F9BD45B-C63D-416A-B4BE-874469C7A33E}"/>
              </a:ext>
            </a:extLst>
          </p:cNvPr>
          <p:cNvSpPr/>
          <p:nvPr/>
        </p:nvSpPr>
        <p:spPr>
          <a:xfrm rot="10800000" flipH="1">
            <a:off x="1104900" y="529"/>
            <a:ext cx="4686301" cy="3733270"/>
          </a:xfrm>
          <a:custGeom>
            <a:avLst/>
            <a:gdLst>
              <a:gd name="connsiteX0" fmla="*/ 683 w 2374769"/>
              <a:gd name="connsiteY0" fmla="*/ 0 h 2362237"/>
              <a:gd name="connsiteX1" fmla="*/ 242807 w 2374769"/>
              <a:gd name="connsiteY1" fmla="*/ 12161 h 2362237"/>
              <a:gd name="connsiteX2" fmla="*/ 2374769 w 2374769"/>
              <a:gd name="connsiteY2" fmla="*/ 2362237 h 2362237"/>
              <a:gd name="connsiteX3" fmla="*/ 1543208 w 2374769"/>
              <a:gd name="connsiteY3" fmla="*/ 2362237 h 2362237"/>
              <a:gd name="connsiteX4" fmla="*/ 0 w 2374769"/>
              <a:gd name="connsiteY4" fmla="*/ 827150 h 2362237"/>
              <a:gd name="connsiteX5" fmla="*/ 0 w 2374769"/>
              <a:gd name="connsiteY5" fmla="*/ 34 h 236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4769" h="2362237">
                <a:moveTo>
                  <a:pt x="683" y="0"/>
                </a:moveTo>
                <a:lnTo>
                  <a:pt x="242807" y="12161"/>
                </a:lnTo>
                <a:cubicBezTo>
                  <a:pt x="1440298" y="133133"/>
                  <a:pt x="2374769" y="1139131"/>
                  <a:pt x="2374769" y="2362237"/>
                </a:cubicBezTo>
                <a:lnTo>
                  <a:pt x="1543208" y="2362237"/>
                </a:lnTo>
                <a:cubicBezTo>
                  <a:pt x="1543208" y="1514432"/>
                  <a:pt x="852291" y="827150"/>
                  <a:pt x="0" y="827150"/>
                </a:cubicBezTo>
                <a:lnTo>
                  <a:pt x="0" y="34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4EBA745-0612-4E63-904D-28C1814173B3}"/>
              </a:ext>
            </a:extLst>
          </p:cNvPr>
          <p:cNvSpPr/>
          <p:nvPr/>
        </p:nvSpPr>
        <p:spPr>
          <a:xfrm rot="10800000">
            <a:off x="9680853" y="6171304"/>
            <a:ext cx="2511147" cy="686695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A07D89-63CD-43EE-B1E4-7D0647743842}"/>
              </a:ext>
            </a:extLst>
          </p:cNvPr>
          <p:cNvSpPr/>
          <p:nvPr/>
        </p:nvSpPr>
        <p:spPr>
          <a:xfrm>
            <a:off x="10957868" y="469760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41AF09-FA4B-42FD-B2E1-9CE324444D10}"/>
              </a:ext>
            </a:extLst>
          </p:cNvPr>
          <p:cNvSpPr/>
          <p:nvPr/>
        </p:nvSpPr>
        <p:spPr>
          <a:xfrm>
            <a:off x="883443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DF14A51-F696-4A12-9467-1EE825414B5E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7239001" y="2280573"/>
            <a:ext cx="4393295" cy="465997"/>
          </a:xfrm>
        </p:spPr>
        <p:txBody>
          <a:bodyPr>
            <a:noAutofit/>
          </a:bodyPr>
          <a:lstStyle>
            <a:lvl1pPr marL="0" indent="0" algn="ctr">
              <a:buNone/>
              <a:defRPr sz="18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57A924-A6D5-4ACD-B1F0-01BED4BF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931169"/>
            <a:ext cx="4393296" cy="1338061"/>
          </a:xfrm>
        </p:spPr>
        <p:txBody>
          <a:bodyPr vert="horz" lIns="91440" tIns="0" rIns="91440" bIns="0" rtlCol="0" anchor="b" anchorCtr="0">
            <a:noAutofit/>
          </a:bodyPr>
          <a:lstStyle>
            <a:lvl1pPr algn="ctr">
              <a:defRPr lang="en-US" sz="36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7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Oval 11"/>
          <p:cNvSpPr/>
          <p:nvPr/>
        </p:nvSpPr>
        <p:spPr>
          <a:xfrm>
            <a:off x="1486227" y="5671415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3" name="Oval 12"/>
          <p:cNvSpPr/>
          <p:nvPr/>
        </p:nvSpPr>
        <p:spPr>
          <a:xfrm>
            <a:off x="1890628" y="1947676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4" name="Oval 13"/>
          <p:cNvSpPr/>
          <p:nvPr/>
        </p:nvSpPr>
        <p:spPr>
          <a:xfrm>
            <a:off x="2765121" y="685800"/>
            <a:ext cx="5578882" cy="5549523"/>
          </a:xfrm>
          <a:prstGeom prst="ellipse">
            <a:avLst/>
          </a:prstGeom>
          <a:noFill/>
          <a:ln w="3175">
            <a:solidFill>
              <a:schemeClr val="tx1">
                <a:alpha val="1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49" name="Oval 48"/>
          <p:cNvSpPr/>
          <p:nvPr/>
        </p:nvSpPr>
        <p:spPr>
          <a:xfrm>
            <a:off x="11574658" y="6192906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0" name="Oval 49"/>
          <p:cNvSpPr/>
          <p:nvPr/>
        </p:nvSpPr>
        <p:spPr>
          <a:xfrm>
            <a:off x="5310052" y="667885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56" hasCustomPrompt="1"/>
          </p:nvPr>
        </p:nvSpPr>
        <p:spPr>
          <a:xfrm>
            <a:off x="1104765" y="-1579"/>
            <a:ext cx="3816695" cy="6858000"/>
          </a:xfrm>
          <a:custGeom>
            <a:avLst/>
            <a:gdLst>
              <a:gd name="connsiteX0" fmla="*/ 0 w 3816695"/>
              <a:gd name="connsiteY0" fmla="*/ 0 h 6858000"/>
              <a:gd name="connsiteX1" fmla="*/ 1779016 w 3816695"/>
              <a:gd name="connsiteY1" fmla="*/ 0 h 6858000"/>
              <a:gd name="connsiteX2" fmla="*/ 2081372 w 3816695"/>
              <a:gd name="connsiteY2" fmla="*/ 182719 h 6858000"/>
              <a:gd name="connsiteX3" fmla="*/ 3816695 w 3816695"/>
              <a:gd name="connsiteY3" fmla="*/ 3429297 h 6858000"/>
              <a:gd name="connsiteX4" fmla="*/ 2081372 w 3816695"/>
              <a:gd name="connsiteY4" fmla="*/ 6675876 h 6858000"/>
              <a:gd name="connsiteX5" fmla="*/ 1779999 w 3816695"/>
              <a:gd name="connsiteY5" fmla="*/ 6858000 h 6858000"/>
              <a:gd name="connsiteX6" fmla="*/ 0 w 381669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6695" h="6858000">
                <a:moveTo>
                  <a:pt x="0" y="0"/>
                </a:moveTo>
                <a:lnTo>
                  <a:pt x="1779016" y="0"/>
                </a:lnTo>
                <a:lnTo>
                  <a:pt x="2081372" y="182719"/>
                </a:lnTo>
                <a:cubicBezTo>
                  <a:pt x="3128342" y="886316"/>
                  <a:pt x="3816695" y="2077842"/>
                  <a:pt x="3816695" y="3429297"/>
                </a:cubicBezTo>
                <a:cubicBezTo>
                  <a:pt x="3816695" y="4780752"/>
                  <a:pt x="3128342" y="5972279"/>
                  <a:pt x="2081372" y="6675876"/>
                </a:cubicBezTo>
                <a:lnTo>
                  <a:pt x="1779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87" hasCustomPrompt="1"/>
          </p:nvPr>
        </p:nvSpPr>
        <p:spPr>
          <a:xfrm>
            <a:off x="11003946" y="2043400"/>
            <a:ext cx="1188054" cy="2768041"/>
          </a:xfrm>
          <a:custGeom>
            <a:avLst/>
            <a:gdLst>
              <a:gd name="connsiteX0" fmla="*/ 1549799 w 1549799"/>
              <a:gd name="connsiteY0" fmla="*/ 0 h 3610868"/>
              <a:gd name="connsiteX1" fmla="*/ 1549799 w 1549799"/>
              <a:gd name="connsiteY1" fmla="*/ 3610868 h 3610868"/>
              <a:gd name="connsiteX2" fmla="*/ 1469233 w 1549799"/>
              <a:gd name="connsiteY2" fmla="*/ 3598637 h 3610868"/>
              <a:gd name="connsiteX3" fmla="*/ 0 w 1549799"/>
              <a:gd name="connsiteY3" fmla="*/ 1805434 h 3610868"/>
              <a:gd name="connsiteX4" fmla="*/ 1469233 w 1549799"/>
              <a:gd name="connsiteY4" fmla="*/ 12231 h 361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9799" h="3610868">
                <a:moveTo>
                  <a:pt x="1549799" y="0"/>
                </a:moveTo>
                <a:lnTo>
                  <a:pt x="1549799" y="3610868"/>
                </a:lnTo>
                <a:lnTo>
                  <a:pt x="1469233" y="3598637"/>
                </a:lnTo>
                <a:cubicBezTo>
                  <a:pt x="630743" y="3427960"/>
                  <a:pt x="0" y="2689969"/>
                  <a:pt x="0" y="1805434"/>
                </a:cubicBezTo>
                <a:cubicBezTo>
                  <a:pt x="0" y="920900"/>
                  <a:pt x="630743" y="182908"/>
                  <a:pt x="1469233" y="12231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0E95E1C1-C3CC-4989-9ABC-178293BB83E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24938" y="2622012"/>
            <a:ext cx="5578882" cy="3550187"/>
          </a:xfrm>
        </p:spPr>
        <p:txBody>
          <a:bodyPr tIns="73152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40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6064CAB-1057-41AD-A199-A6E8A7026465}"/>
              </a:ext>
            </a:extLst>
          </p:cNvPr>
          <p:cNvSpPr/>
          <p:nvPr/>
        </p:nvSpPr>
        <p:spPr>
          <a:xfrm>
            <a:off x="8524888" y="-1578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F670D-DDAE-4842-9FA1-6B3293DA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597" y="1254264"/>
            <a:ext cx="5568696" cy="13350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2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24">
            <a:extLst>
              <a:ext uri="{FF2B5EF4-FFF2-40B4-BE49-F238E27FC236}">
                <a16:creationId xmlns:a16="http://schemas.microsoft.com/office/drawing/2014/main" id="{099F6EE0-0ECC-4BF4-81EC-F8B712B6FA8C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7968655" y="419270"/>
            <a:ext cx="2285207" cy="2273182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47" name="Oval 46"/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48" name="Oval 47"/>
          <p:cNvSpPr/>
          <p:nvPr/>
        </p:nvSpPr>
        <p:spPr>
          <a:xfrm>
            <a:off x="1099631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49" name="Oval 48"/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0" name="Oval 49"/>
          <p:cNvSpPr/>
          <p:nvPr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6" name="Picture Placeholder 24"/>
          <p:cNvSpPr>
            <a:spLocks noGrp="1"/>
          </p:cNvSpPr>
          <p:nvPr>
            <p:ph type="pic" sz="quarter" idx="104" hasCustomPrompt="1"/>
          </p:nvPr>
        </p:nvSpPr>
        <p:spPr>
          <a:xfrm>
            <a:off x="2455922" y="419270"/>
            <a:ext cx="2285207" cy="2273182"/>
          </a:xfrm>
          <a:custGeom>
            <a:avLst/>
            <a:gdLst>
              <a:gd name="connsiteX0" fmla="*/ 2374769 w 4749538"/>
              <a:gd name="connsiteY0" fmla="*/ 0 h 4724544"/>
              <a:gd name="connsiteX1" fmla="*/ 4749538 w 4749538"/>
              <a:gd name="connsiteY1" fmla="*/ 2362272 h 4724544"/>
              <a:gd name="connsiteX2" fmla="*/ 2374769 w 4749538"/>
              <a:gd name="connsiteY2" fmla="*/ 4724544 h 4724544"/>
              <a:gd name="connsiteX3" fmla="*/ 0 w 4749538"/>
              <a:gd name="connsiteY3" fmla="*/ 2362272 h 4724544"/>
              <a:gd name="connsiteX4" fmla="*/ 2374769 w 4749538"/>
              <a:gd name="connsiteY4" fmla="*/ 0 h 47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9538" h="4724544">
                <a:moveTo>
                  <a:pt x="2374769" y="0"/>
                </a:moveTo>
                <a:cubicBezTo>
                  <a:pt x="3686318" y="0"/>
                  <a:pt x="4749538" y="1057625"/>
                  <a:pt x="4749538" y="2362272"/>
                </a:cubicBezTo>
                <a:cubicBezTo>
                  <a:pt x="4749538" y="3666919"/>
                  <a:pt x="3686318" y="4724544"/>
                  <a:pt x="2374769" y="4724544"/>
                </a:cubicBezTo>
                <a:cubicBezTo>
                  <a:pt x="1063220" y="4724544"/>
                  <a:pt x="0" y="3666919"/>
                  <a:pt x="0" y="2362272"/>
                </a:cubicBezTo>
                <a:cubicBezTo>
                  <a:pt x="0" y="1057625"/>
                  <a:pt x="1063220" y="0"/>
                  <a:pt x="2374769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Drag and drop </a:t>
            </a:r>
          </a:p>
          <a:p>
            <a:r>
              <a:rPr lang="en-US" dirty="0"/>
              <a:t>image here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E7F9AFC-1AA3-41EE-B9CF-8C208FD27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9632" y="3462109"/>
            <a:ext cx="4979928" cy="326285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Текст 7">
            <a:extLst>
              <a:ext uri="{FF2B5EF4-FFF2-40B4-BE49-F238E27FC236}">
                <a16:creationId xmlns:a16="http://schemas.microsoft.com/office/drawing/2014/main" id="{3914CF55-8C39-482F-A85C-6686F1BF80D0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6612364" y="2823082"/>
            <a:ext cx="4979928" cy="605918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WRITE TITLE HERE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7D73FC3A-EB30-4FD3-B2A9-9E6A7F62BB97}"/>
              </a:ext>
            </a:extLst>
          </p:cNvPr>
          <p:cNvSpPr>
            <a:spLocks noGrp="1"/>
          </p:cNvSpPr>
          <p:nvPr>
            <p:ph type="body" sz="half" idx="107"/>
          </p:nvPr>
        </p:nvSpPr>
        <p:spPr>
          <a:xfrm>
            <a:off x="6612365" y="3462109"/>
            <a:ext cx="4979928" cy="326285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7C33C9A-D7E8-4C10-B4DD-F1B8B3CAF4D7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669BDAC-80FA-43B7-AF04-AC360CBD9C88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B0A3E-9615-4403-8894-873513E49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9631" y="2825496"/>
            <a:ext cx="4983480" cy="603504"/>
          </a:xfrm>
        </p:spPr>
        <p:txBody>
          <a:bodyPr vert="horz" lIns="91440" tIns="0" rIns="91440" bIns="0" rtlCol="0" anchor="ctr" anchorCtr="0">
            <a:noAutofit/>
          </a:bodyPr>
          <a:lstStyle>
            <a:lvl1pPr marL="0" indent="0" algn="ctr">
              <a:buFontTx/>
              <a:buNone/>
              <a:defRPr lang="en-US" sz="1800" b="1" cap="all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WRITE TITLE HERE</a:t>
            </a:r>
          </a:p>
        </p:txBody>
      </p:sp>
    </p:spTree>
    <p:extLst>
      <p:ext uri="{BB962C8B-B14F-4D97-AF65-F5344CB8AC3E}">
        <p14:creationId xmlns:p14="http://schemas.microsoft.com/office/powerpoint/2010/main" val="23338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E54A15-983A-490F-A7FB-0881E0C810F7}"/>
              </a:ext>
            </a:extLst>
          </p:cNvPr>
          <p:cNvSpPr/>
          <p:nvPr/>
        </p:nvSpPr>
        <p:spPr>
          <a:xfrm>
            <a:off x="5428096" y="0"/>
            <a:ext cx="6763905" cy="6858000"/>
          </a:xfrm>
          <a:custGeom>
            <a:avLst/>
            <a:gdLst>
              <a:gd name="connsiteX0" fmla="*/ 1 w 6763905"/>
              <a:gd name="connsiteY0" fmla="*/ 0 h 6858000"/>
              <a:gd name="connsiteX1" fmla="*/ 6763905 w 6763905"/>
              <a:gd name="connsiteY1" fmla="*/ 0 h 6858000"/>
              <a:gd name="connsiteX2" fmla="*/ 6763905 w 6763905"/>
              <a:gd name="connsiteY2" fmla="*/ 6858000 h 6858000"/>
              <a:gd name="connsiteX3" fmla="*/ 0 w 6763905"/>
              <a:gd name="connsiteY3" fmla="*/ 6858000 h 6858000"/>
              <a:gd name="connsiteX4" fmla="*/ 154196 w 6763905"/>
              <a:gd name="connsiteY4" fmla="*/ 6697120 h 6858000"/>
              <a:gd name="connsiteX5" fmla="*/ 1423557 w 6763905"/>
              <a:gd name="connsiteY5" fmla="*/ 3429000 h 6858000"/>
              <a:gd name="connsiteX6" fmla="*/ 154196 w 6763905"/>
              <a:gd name="connsiteY6" fmla="*/ 160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3905" h="6858000">
                <a:moveTo>
                  <a:pt x="1" y="0"/>
                </a:moveTo>
                <a:lnTo>
                  <a:pt x="6763905" y="0"/>
                </a:lnTo>
                <a:lnTo>
                  <a:pt x="6763905" y="6858000"/>
                </a:lnTo>
                <a:lnTo>
                  <a:pt x="0" y="6858000"/>
                </a:lnTo>
                <a:lnTo>
                  <a:pt x="154196" y="6697120"/>
                </a:lnTo>
                <a:cubicBezTo>
                  <a:pt x="942872" y="5833950"/>
                  <a:pt x="1423557" y="4687315"/>
                  <a:pt x="1423557" y="3429000"/>
                </a:cubicBezTo>
                <a:cubicBezTo>
                  <a:pt x="1423557" y="2170685"/>
                  <a:pt x="942872" y="1024050"/>
                  <a:pt x="154196" y="16088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150" y="1036565"/>
            <a:ext cx="4514851" cy="573989"/>
          </a:xfrm>
          <a:prstGeom prst="rect">
            <a:avLst/>
          </a:prstGeom>
        </p:spPr>
        <p:txBody>
          <a:bodyPr lIns="0" rIns="0">
            <a:noAutofit/>
          </a:bodyPr>
          <a:lstStyle>
            <a:lvl1pPr>
              <a:defRPr sz="32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150" y="2296952"/>
            <a:ext cx="4514851" cy="3779998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defRPr sz="14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6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326300" y="1675127"/>
            <a:ext cx="4484700" cy="407670"/>
          </a:xfrm>
        </p:spPr>
        <p:txBody>
          <a:bodyPr lIns="0" rIns="0">
            <a:noAutofit/>
          </a:bodyPr>
          <a:lstStyle>
            <a:lvl1pPr marL="0" indent="0">
              <a:buNone/>
              <a:defRPr sz="2000" spc="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83349C3-B089-45CF-9643-0D25E70966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04901" y="518740"/>
            <a:ext cx="4991099" cy="5924550"/>
          </a:xfrm>
        </p:spPr>
        <p:txBody>
          <a:bodyPr>
            <a:normAutofit/>
          </a:bodyPr>
          <a:lstStyle>
            <a:lvl1pPr>
              <a:defRPr sz="14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7D247BC-E419-4355-8738-B9CE5CA1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00EFCDA-94B5-4529-89F9-A2D5AA184E4F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Номер слайда 21">
            <a:extLst>
              <a:ext uri="{FF2B5EF4-FFF2-40B4-BE49-F238E27FC236}">
                <a16:creationId xmlns:a16="http://schemas.microsoft.com/office/drawing/2014/main" id="{2AD04D12-2503-45DD-8909-074A5644588E}"/>
              </a:ext>
            </a:extLst>
          </p:cNvPr>
          <p:cNvSpPr txBox="1">
            <a:spLocks/>
          </p:cNvSpPr>
          <p:nvPr/>
        </p:nvSpPr>
        <p:spPr>
          <a:xfrm>
            <a:off x="10919584" y="441326"/>
            <a:ext cx="703476" cy="24447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3" b="1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D877B3-D348-4611-9BDB-C5374591D951}" type="slidenum">
              <a:rPr lang="en-US" sz="1000" smtClean="0">
                <a:solidFill>
                  <a:schemeClr val="bg1">
                    <a:alpha val="50000"/>
                  </a:schemeClr>
                </a:solidFill>
              </a:rPr>
              <a:pPr/>
              <a:t>‹#›</a:t>
            </a:fld>
            <a:endParaRPr lang="en-US" sz="10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220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234FF3D-DFA8-484F-A7A7-95C7BF99FEF3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1104901" y="0"/>
            <a:ext cx="5402083" cy="6858000"/>
          </a:xfrm>
          <a:custGeom>
            <a:avLst/>
            <a:gdLst>
              <a:gd name="connsiteX0" fmla="*/ 0 w 5402083"/>
              <a:gd name="connsiteY0" fmla="*/ 0 h 6858000"/>
              <a:gd name="connsiteX1" fmla="*/ 5401085 w 5402083"/>
              <a:gd name="connsiteY1" fmla="*/ 0 h 6858000"/>
              <a:gd name="connsiteX2" fmla="*/ 5355776 w 5402083"/>
              <a:gd name="connsiteY2" fmla="*/ 42971 h 6858000"/>
              <a:gd name="connsiteX3" fmla="*/ 3946012 w 5402083"/>
              <a:gd name="connsiteY3" fmla="*/ 3428527 h 6858000"/>
              <a:gd name="connsiteX4" fmla="*/ 5355776 w 5402083"/>
              <a:gd name="connsiteY4" fmla="*/ 6814084 h 6858000"/>
              <a:gd name="connsiteX5" fmla="*/ 5402083 w 5402083"/>
              <a:gd name="connsiteY5" fmla="*/ 6858000 h 6858000"/>
              <a:gd name="connsiteX6" fmla="*/ 0 w 540208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2083" h="6858000">
                <a:moveTo>
                  <a:pt x="0" y="0"/>
                </a:moveTo>
                <a:lnTo>
                  <a:pt x="5401085" y="0"/>
                </a:lnTo>
                <a:lnTo>
                  <a:pt x="5355776" y="42971"/>
                </a:lnTo>
                <a:cubicBezTo>
                  <a:pt x="4484752" y="909410"/>
                  <a:pt x="3946012" y="2106385"/>
                  <a:pt x="3946012" y="3428527"/>
                </a:cubicBezTo>
                <a:cubicBezTo>
                  <a:pt x="3946012" y="4750669"/>
                  <a:pt x="4484752" y="5947644"/>
                  <a:pt x="5355776" y="6814084"/>
                </a:cubicBezTo>
                <a:lnTo>
                  <a:pt x="540208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0928820" y="441326"/>
            <a:ext cx="703476" cy="24447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r">
              <a:defRPr sz="803" b="1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100EFCDA-94B5-4529-89F9-A2D5AA184E4F}" type="slidenum">
              <a:rPr lang="en-CA" smtClean="0"/>
              <a:t>‹#›</a:t>
            </a:fld>
            <a:endParaRPr lang="en-CA"/>
          </a:p>
        </p:txBody>
      </p:sp>
      <p:sp>
        <p:nvSpPr>
          <p:cNvPr id="66" name="Oval 65"/>
          <p:cNvSpPr/>
          <p:nvPr/>
        </p:nvSpPr>
        <p:spPr>
          <a:xfrm>
            <a:off x="697641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5" name="Oval 34"/>
          <p:cNvSpPr/>
          <p:nvPr/>
        </p:nvSpPr>
        <p:spPr>
          <a:xfrm>
            <a:off x="1524000" y="1812813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2" name="Oval 21"/>
          <p:cNvSpPr/>
          <p:nvPr/>
        </p:nvSpPr>
        <p:spPr>
          <a:xfrm>
            <a:off x="1104900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270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A9A0366-A1B7-4E16-B13E-603846466E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68726" y="3534503"/>
            <a:ext cx="4560094" cy="465997"/>
          </a:xfrm>
        </p:spPr>
        <p:txBody>
          <a:bodyPr>
            <a:noAutofit/>
          </a:bodyPr>
          <a:lstStyle>
            <a:lvl1pPr marL="0" indent="0">
              <a:buNone/>
              <a:defRPr sz="18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374FC2C-96CE-4523-B50F-ADC18C0A998B}"/>
              </a:ext>
            </a:extLst>
          </p:cNvPr>
          <p:cNvSpPr/>
          <p:nvPr/>
        </p:nvSpPr>
        <p:spPr>
          <a:xfrm rot="10800000">
            <a:off x="8439878" y="5850862"/>
            <a:ext cx="3682959" cy="100713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E8541-FA8A-4117-90A5-95E6E9B8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964" y="1864903"/>
            <a:ext cx="4562856" cy="15636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63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4900" y="0"/>
            <a:ext cx="11087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B3F602-0F3F-45E1-BDB9-44D57F609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5986" y="853066"/>
            <a:ext cx="2097590" cy="1331680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67772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A32EE4F-6B2E-4FCC-BC34-5BF831F90260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5425439" y="0"/>
            <a:ext cx="6766561" cy="6858000"/>
          </a:xfrm>
          <a:custGeom>
            <a:avLst/>
            <a:gdLst>
              <a:gd name="connsiteX0" fmla="*/ 0 w 6766561"/>
              <a:gd name="connsiteY0" fmla="*/ 0 h 6858000"/>
              <a:gd name="connsiteX1" fmla="*/ 6766561 w 6766561"/>
              <a:gd name="connsiteY1" fmla="*/ 0 h 6858000"/>
              <a:gd name="connsiteX2" fmla="*/ 6766561 w 6766561"/>
              <a:gd name="connsiteY2" fmla="*/ 6858000 h 6858000"/>
              <a:gd name="connsiteX3" fmla="*/ 0 w 67665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6561" h="6858000">
                <a:moveTo>
                  <a:pt x="0" y="0"/>
                </a:moveTo>
                <a:lnTo>
                  <a:pt x="6766561" y="0"/>
                </a:lnTo>
                <a:lnTo>
                  <a:pt x="676656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Oval 22"/>
          <p:cNvSpPr/>
          <p:nvPr/>
        </p:nvSpPr>
        <p:spPr>
          <a:xfrm>
            <a:off x="1755742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66" name="Oval 65"/>
          <p:cNvSpPr/>
          <p:nvPr/>
        </p:nvSpPr>
        <p:spPr>
          <a:xfrm>
            <a:off x="392841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35" name="Oval 34"/>
          <p:cNvSpPr/>
          <p:nvPr/>
        </p:nvSpPr>
        <p:spPr>
          <a:xfrm>
            <a:off x="1524000" y="1812813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5D7C1C-9CF4-47B3-9ABC-8F0E2CE6CD31}"/>
              </a:ext>
            </a:extLst>
          </p:cNvPr>
          <p:cNvSpPr/>
          <p:nvPr/>
        </p:nvSpPr>
        <p:spPr>
          <a:xfrm rot="10800000">
            <a:off x="3192203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B53361-3F22-4468-B6F8-71E345F7077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38687-48E7-4488-BB10-BDE4F5A7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144" y="1237089"/>
            <a:ext cx="4562856" cy="15636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A5C24-92D8-4CC1-AF50-F29B9C30BDBB}"/>
              </a:ext>
            </a:extLst>
          </p:cNvPr>
          <p:cNvSpPr/>
          <p:nvPr/>
        </p:nvSpPr>
        <p:spPr>
          <a:xfrm>
            <a:off x="5425439" y="0"/>
            <a:ext cx="6766561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9F459E6-70DE-4FF8-AD0C-1B49B34C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3143" y="2888791"/>
            <a:ext cx="4562856" cy="2410459"/>
          </a:xfrm>
        </p:spPr>
        <p:txBody>
          <a:bodyPr vert="horz" lIns="91440" tIns="73152" rIns="91440" bIns="45720" rtlCol="0">
            <a:noAutofit/>
          </a:bodyPr>
          <a:lstStyle>
            <a:lvl1pPr marL="0" indent="0" algn="l">
              <a:buNone/>
              <a:defRPr lang="en-US" sz="1400" b="0" i="0" baseline="0">
                <a:effectLst/>
              </a:defRPr>
            </a:lvl1pPr>
          </a:lstStyle>
          <a:p>
            <a:pPr marL="228600" lvl="0" indent="-228600">
              <a:lnSpc>
                <a:spcPct val="145000"/>
              </a:lnSpc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789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8F6A756B-881F-4AD8-88A2-0DEA57AC8086}"/>
              </a:ext>
            </a:extLst>
          </p:cNvPr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1879E-468E-4022-BADB-7EA13901AAC4}"/>
              </a:ext>
            </a:extLst>
          </p:cNvPr>
          <p:cNvSpPr/>
          <p:nvPr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6C8E7-AF48-4D69-8A29-78C339929E06}"/>
              </a:ext>
            </a:extLst>
          </p:cNvPr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AE379-8BA3-4C38-80B9-F6ECE8575046}"/>
              </a:ext>
            </a:extLst>
          </p:cNvPr>
          <p:cNvSpPr/>
          <p:nvPr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C42F51-DCAB-4C33-9689-ABC135D1EE8D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BC48F8-98EB-4550-8EAC-1248034E956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8B56F67-6D31-4B9E-8530-E063E5785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338606"/>
            <a:ext cx="4914900" cy="4838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E53391-9670-4404-BC42-063A6EC48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338606"/>
            <a:ext cx="5181598" cy="4838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342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8F6A756B-881F-4AD8-88A2-0DEA57AC8086}"/>
              </a:ext>
            </a:extLst>
          </p:cNvPr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1879E-468E-4022-BADB-7EA13901AAC4}"/>
              </a:ext>
            </a:extLst>
          </p:cNvPr>
          <p:cNvSpPr/>
          <p:nvPr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6C8E7-AF48-4D69-8A29-78C339929E06}"/>
              </a:ext>
            </a:extLst>
          </p:cNvPr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AE379-8BA3-4C38-80B9-F6ECE8575046}"/>
              </a:ext>
            </a:extLst>
          </p:cNvPr>
          <p:cNvSpPr/>
          <p:nvPr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C42F51-DCAB-4C33-9689-ABC135D1EE8D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BC48F8-98EB-4550-8EAC-1248034E956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73839A-0FBA-4FFD-963E-C459DBF01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341797"/>
            <a:ext cx="489267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80A680B-0184-4FD9-B262-BC525F0FE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4900" y="2308409"/>
            <a:ext cx="4892675" cy="388125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BB13104-4CA8-41CF-97D3-CC8715182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341797"/>
            <a:ext cx="516096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F6A37A72-F47E-45B8-B790-D1444B002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308409"/>
            <a:ext cx="5160962" cy="388125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97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8F6A756B-881F-4AD8-88A2-0DEA57AC8086}"/>
              </a:ext>
            </a:extLst>
          </p:cNvPr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1879E-468E-4022-BADB-7EA13901AAC4}"/>
              </a:ext>
            </a:extLst>
          </p:cNvPr>
          <p:cNvSpPr/>
          <p:nvPr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6C8E7-AF48-4D69-8A29-78C339929E06}"/>
              </a:ext>
            </a:extLst>
          </p:cNvPr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AE379-8BA3-4C38-80B9-F6ECE8575046}"/>
              </a:ext>
            </a:extLst>
          </p:cNvPr>
          <p:cNvSpPr/>
          <p:nvPr/>
        </p:nvSpPr>
        <p:spPr>
          <a:xfrm>
            <a:off x="5243414" y="6098258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C42F51-DCAB-4C33-9689-ABC135D1EE8D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BC48F8-98EB-4550-8EAC-1248034E956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4A57A7D-E285-478E-A8B6-10716A7A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457200"/>
            <a:ext cx="36671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2638390-43F5-47D5-BE57-D060C6E9E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2057400"/>
            <a:ext cx="36671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6B2167-56BA-4D43-889D-FD798AA1F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0896" y="457201"/>
            <a:ext cx="6364492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7776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8F6A756B-881F-4AD8-88A2-0DEA57AC8086}"/>
              </a:ext>
            </a:extLst>
          </p:cNvPr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1879E-468E-4022-BADB-7EA13901AAC4}"/>
              </a:ext>
            </a:extLst>
          </p:cNvPr>
          <p:cNvSpPr/>
          <p:nvPr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6C8E7-AF48-4D69-8A29-78C339929E06}"/>
              </a:ext>
            </a:extLst>
          </p:cNvPr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AE379-8BA3-4C38-80B9-F6ECE8575046}"/>
              </a:ext>
            </a:extLst>
          </p:cNvPr>
          <p:cNvSpPr/>
          <p:nvPr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C42F51-DCAB-4C33-9689-ABC135D1EE8D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BC48F8-98EB-4550-8EAC-1248034E956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D8003D-13A7-4986-AB10-F498433627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5316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8F6A756B-881F-4AD8-88A2-0DEA57AC8086}"/>
              </a:ext>
            </a:extLst>
          </p:cNvPr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1879E-468E-4022-BADB-7EA13901AAC4}"/>
              </a:ext>
            </a:extLst>
          </p:cNvPr>
          <p:cNvSpPr/>
          <p:nvPr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6C8E7-AF48-4D69-8A29-78C339929E06}"/>
              </a:ext>
            </a:extLst>
          </p:cNvPr>
          <p:cNvSpPr/>
          <p:nvPr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AE379-8BA3-4C38-80B9-F6ECE8575046}"/>
              </a:ext>
            </a:extLst>
          </p:cNvPr>
          <p:cNvSpPr/>
          <p:nvPr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C42F51-DCAB-4C33-9689-ABC135D1EE8D}"/>
              </a:ext>
            </a:extLst>
          </p:cNvPr>
          <p:cNvSpPr/>
          <p:nvPr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BC48F8-98EB-4550-8EAC-1248034E9560}"/>
              </a:ext>
            </a:extLst>
          </p:cNvPr>
          <p:cNvSpPr/>
          <p:nvPr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01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D01DAC-95B2-4F9E-A9B4-92382F94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5125"/>
            <a:ext cx="10248899" cy="70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57AA7-D108-4C6F-9455-5A9AC5F7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825625"/>
            <a:ext cx="102488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CC2B-A9FA-4472-8509-74B42C12A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D32F58-EB48-4836-BA45-971BA1AA1608}"/>
              </a:ext>
            </a:extLst>
          </p:cNvPr>
          <p:cNvCxnSpPr/>
          <p:nvPr/>
        </p:nvCxnSpPr>
        <p:spPr>
          <a:xfrm>
            <a:off x="559704" y="5537210"/>
            <a:ext cx="0" cy="1320791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hape 61">
            <a:extLst>
              <a:ext uri="{FF2B5EF4-FFF2-40B4-BE49-F238E27FC236}">
                <a16:creationId xmlns:a16="http://schemas.microsoft.com/office/drawing/2014/main" id="{9DA099E0-27DA-42BD-9D42-E4CA07B78FDD}"/>
              </a:ext>
            </a:extLst>
          </p:cNvPr>
          <p:cNvSpPr/>
          <p:nvPr/>
        </p:nvSpPr>
        <p:spPr>
          <a:xfrm rot="16200000">
            <a:off x="-1548505" y="3225098"/>
            <a:ext cx="4216420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spc="600" dirty="0">
                <a:solidFill>
                  <a:srgbClr val="2F3342"/>
                </a:solidFill>
                <a:latin typeface="+mn-lt"/>
                <a:ea typeface="+mn-ea"/>
                <a:cs typeface="+mn-cs"/>
                <a:sym typeface="Bebas"/>
              </a:rPr>
              <a:t>ASP.NET Core</a:t>
            </a:r>
            <a:endParaRPr lang="en-US" sz="2400" b="1" i="0" spc="600" dirty="0">
              <a:solidFill>
                <a:schemeClr val="accent1"/>
              </a:solidFill>
              <a:latin typeface="+mn-lt"/>
              <a:cs typeface="Gill Sans" panose="020B0502020104020203" pitchFamily="34" charset="-79"/>
            </a:endParaRPr>
          </a:p>
        </p:txBody>
      </p:sp>
      <p:sp>
        <p:nvSpPr>
          <p:cNvPr id="19" name="Номер слайда 21">
            <a:extLst>
              <a:ext uri="{FF2B5EF4-FFF2-40B4-BE49-F238E27FC236}">
                <a16:creationId xmlns:a16="http://schemas.microsoft.com/office/drawing/2014/main" id="{BDEFFF1D-21D1-45B8-A062-F9140F937EE2}"/>
              </a:ext>
            </a:extLst>
          </p:cNvPr>
          <p:cNvSpPr txBox="1">
            <a:spLocks/>
          </p:cNvSpPr>
          <p:nvPr/>
        </p:nvSpPr>
        <p:spPr>
          <a:xfrm>
            <a:off x="10919584" y="441326"/>
            <a:ext cx="703476" cy="24447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3" b="1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D877B3-D348-4611-9BDB-C5374591D951}" type="slidenum">
              <a:rPr lang="en-US" sz="1000" smtClean="0"/>
              <a:pPr/>
              <a:t>‹#›</a:t>
            </a:fld>
            <a:endParaRPr lang="en-US" sz="1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EBA112-2FA0-448A-A373-EB297C4661F0}"/>
              </a:ext>
            </a:extLst>
          </p:cNvPr>
          <p:cNvCxnSpPr/>
          <p:nvPr/>
        </p:nvCxnSpPr>
        <p:spPr>
          <a:xfrm>
            <a:off x="559704" y="0"/>
            <a:ext cx="0" cy="1320791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05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000" dirty="0"/>
              <a:t>WEB API with ASP.NET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0" y="5201589"/>
            <a:ext cx="10668000" cy="853179"/>
          </a:xfrm>
        </p:spPr>
        <p:txBody>
          <a:bodyPr/>
          <a:lstStyle/>
          <a:p>
            <a:r>
              <a:rPr lang="en-CA" dirty="0"/>
              <a:t>Medhat Elmasry</a:t>
            </a:r>
          </a:p>
        </p:txBody>
      </p:sp>
    </p:spTree>
    <p:extLst>
      <p:ext uri="{BB962C8B-B14F-4D97-AF65-F5344CB8AC3E}">
        <p14:creationId xmlns:p14="http://schemas.microsoft.com/office/powerpoint/2010/main" val="184866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Web API has one or more controller classes that derive from </a:t>
            </a:r>
            <a:r>
              <a:rPr lang="en-CA" i="1" dirty="0" err="1"/>
              <a:t>ControllerBase</a:t>
            </a:r>
            <a:r>
              <a:rPr lang="en-CA" dirty="0"/>
              <a:t>. </a:t>
            </a:r>
          </a:p>
          <a:p>
            <a:r>
              <a:rPr lang="en-CA" dirty="0"/>
              <a:t>Avoid creating Web API controller by deriving from </a:t>
            </a:r>
            <a:r>
              <a:rPr lang="en-CA" i="1" dirty="0"/>
              <a:t>Controller</a:t>
            </a:r>
            <a:r>
              <a:rPr lang="en-CA" dirty="0"/>
              <a:t> class</a:t>
            </a:r>
          </a:p>
          <a:p>
            <a:r>
              <a:rPr lang="en-CA" i="1" dirty="0"/>
              <a:t>Controller</a:t>
            </a:r>
            <a:r>
              <a:rPr lang="en-CA" dirty="0"/>
              <a:t> derives from </a:t>
            </a:r>
            <a:r>
              <a:rPr lang="en-CA" i="1" dirty="0" err="1"/>
              <a:t>ControllerBase</a:t>
            </a:r>
            <a:r>
              <a:rPr lang="en-CA" dirty="0"/>
              <a:t> and adds support for views, so it is intended for handling web pages, not API requests</a:t>
            </a:r>
          </a:p>
          <a:p>
            <a:r>
              <a:rPr lang="en-CA" dirty="0"/>
              <a:t>The exception to the above rule: if we plan to use the same controller for both views and APIs, then derive it from </a:t>
            </a:r>
            <a:r>
              <a:rPr lang="en-CA" i="1" dirty="0"/>
              <a:t>Controller</a:t>
            </a:r>
            <a:r>
              <a:rPr lang="en-CA" dirty="0"/>
              <a:t> class</a:t>
            </a:r>
          </a:p>
          <a:p>
            <a:r>
              <a:rPr lang="en-CA" i="1" dirty="0" err="1"/>
              <a:t>ControllerBase</a:t>
            </a:r>
            <a:r>
              <a:rPr lang="en-CA" dirty="0"/>
              <a:t> class provides many properties and methods that are useful for handling HTTP requests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ControllerBase</a:t>
            </a:r>
            <a:r>
              <a:rPr lang="en-CA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328407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API Controller example - </a:t>
            </a:r>
            <a:r>
              <a:rPr lang="en-CA" dirty="0" err="1"/>
              <a:t>ControllerBase</a:t>
            </a:r>
            <a:r>
              <a:rPr lang="en-CA" dirty="0"/>
              <a:t>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3996" y="2312429"/>
            <a:ext cx="91848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latin typeface="Lucida Console" panose="020B0609040504020204" pitchFamily="49" charset="0"/>
              </a:rPr>
              <a:t>[Route("</a:t>
            </a:r>
            <a:r>
              <a:rPr lang="en-CA" sz="2400" dirty="0" err="1">
                <a:latin typeface="Lucida Console" panose="020B0609040504020204" pitchFamily="49" charset="0"/>
              </a:rPr>
              <a:t>api</a:t>
            </a:r>
            <a:r>
              <a:rPr lang="en-CA" sz="2400" dirty="0">
                <a:latin typeface="Lucida Console" panose="020B0609040504020204" pitchFamily="49" charset="0"/>
              </a:rPr>
              <a:t>/[controller]")]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[</a:t>
            </a:r>
            <a:r>
              <a:rPr lang="en-CA" sz="2400" dirty="0" err="1">
                <a:latin typeface="Lucida Console" panose="020B0609040504020204" pitchFamily="49" charset="0"/>
              </a:rPr>
              <a:t>ApiController</a:t>
            </a:r>
            <a:r>
              <a:rPr lang="en-CA" sz="2400" dirty="0">
                <a:latin typeface="Lucida Console" panose="020B0609040504020204" pitchFamily="49" charset="0"/>
              </a:rPr>
              <a:t>]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public class </a:t>
            </a:r>
            <a:r>
              <a:rPr lang="en-CA" sz="2400" dirty="0" err="1">
                <a:latin typeface="Lucida Console" panose="020B0609040504020204" pitchFamily="49" charset="0"/>
              </a:rPr>
              <a:t>ValuesController</a:t>
            </a:r>
            <a:r>
              <a:rPr lang="en-CA" sz="2400" dirty="0">
                <a:latin typeface="Lucida Console" panose="020B0609040504020204" pitchFamily="49" charset="0"/>
              </a:rPr>
              <a:t> : </a:t>
            </a:r>
            <a:r>
              <a:rPr lang="en-CA" sz="2400" dirty="0" err="1">
                <a:latin typeface="Lucida Console" panose="020B0609040504020204" pitchFamily="49" charset="0"/>
              </a:rPr>
              <a:t>ControllerBase</a:t>
            </a:r>
            <a:r>
              <a:rPr lang="en-CA" sz="2400" dirty="0">
                <a:latin typeface="Lucida Console" panose="020B0609040504020204" pitchFamily="49" charset="0"/>
              </a:rPr>
              <a:t> {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	. . . . . . .</a:t>
            </a:r>
          </a:p>
          <a:p>
            <a:r>
              <a:rPr lang="en-CA" sz="24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090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352551"/>
            <a:ext cx="10248899" cy="1181643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</a:t>
            </a:r>
            <a:r>
              <a:rPr lang="en-CA" i="1" dirty="0" err="1"/>
              <a:t>Microsoft.AspNetCore.Mvc</a:t>
            </a:r>
            <a:r>
              <a:rPr lang="en-CA" dirty="0"/>
              <a:t> namespace provides attributes that </a:t>
            </a:r>
            <a:r>
              <a:rPr lang="en-CA" dirty="0" err="1"/>
              <a:t>acn</a:t>
            </a:r>
            <a:r>
              <a:rPr lang="en-CA" dirty="0"/>
              <a:t> be used to configure the behavior of Web API and action methods.</a:t>
            </a:r>
          </a:p>
          <a:p>
            <a:r>
              <a:rPr lang="en-CA" dirty="0"/>
              <a:t>Examples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Attributes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321313"/>
              </p:ext>
            </p:extLst>
          </p:nvPr>
        </p:nvGraphicFramePr>
        <p:xfrm>
          <a:off x="2165349" y="2953413"/>
          <a:ext cx="8128000" cy="212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1503">
                  <a:extLst>
                    <a:ext uri="{9D8B030D-6E8A-4147-A177-3AD203B41FA5}">
                      <a16:colId xmlns:a16="http://schemas.microsoft.com/office/drawing/2014/main" val="2627806696"/>
                    </a:ext>
                  </a:extLst>
                </a:gridCol>
                <a:gridCol w="6626497">
                  <a:extLst>
                    <a:ext uri="{9D8B030D-6E8A-4147-A177-3AD203B41FA5}">
                      <a16:colId xmlns:a16="http://schemas.microsoft.com/office/drawing/2014/main" val="661220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[Route]	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Specifies URL pattern for a controller or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774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 [Bind]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Specifies prefix and properties to include for model binding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59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[</a:t>
                      </a:r>
                      <a:r>
                        <a:rPr lang="en-CA" dirty="0" err="1"/>
                        <a:t>HttpGet</a:t>
                      </a:r>
                      <a:r>
                        <a:rPr lang="en-CA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Identifies an action that supports the HTTP GET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51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[Consumer]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Specifies data types that an action accepts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34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[Produces]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Specifies data types that an action returns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0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298383"/>
      </p:ext>
    </p:extLst>
  </p:cSld>
  <p:clrMapOvr>
    <a:masterClrMapping/>
  </p:clrMapOvr>
</p:sld>
</file>

<file path=ppt/theme/theme1.xml><?xml version="1.0" encoding="utf-8"?>
<a:theme xmlns:a="http://schemas.openxmlformats.org/drawingml/2006/main" name="TF1641125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TF16411254</Template>
  <TotalTime>71</TotalTime>
  <Words>212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Lucida Console</vt:lpstr>
      <vt:lpstr>TF16411254</vt:lpstr>
      <vt:lpstr>WEB API with ASP.NET</vt:lpstr>
      <vt:lpstr>ControllerBase class</vt:lpstr>
      <vt:lpstr>API Controller example - ControllerBase class</vt:lpstr>
      <vt:lpstr>Attributes</vt:lpstr>
    </vt:vector>
  </TitlesOfParts>
  <Company>BCIT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 with ASP.NET Core 3.x</dc:title>
  <dc:creator>Medhat Elmasry</dc:creator>
  <cp:lastModifiedBy>Medhat Elmasry</cp:lastModifiedBy>
  <cp:revision>8</cp:revision>
  <dcterms:created xsi:type="dcterms:W3CDTF">2019-10-06T18:30:09Z</dcterms:created>
  <dcterms:modified xsi:type="dcterms:W3CDTF">2026-02-04T00:20:28Z</dcterms:modified>
</cp:coreProperties>
</file>