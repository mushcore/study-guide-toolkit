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7" r:id="rId9"/>
    <p:sldId id="263" r:id="rId10"/>
    <p:sldId id="264" r:id="rId11"/>
    <p:sldId id="265"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E446DC-F245-2E4D-BEC8-8444F97A4AF2}" v="60" dt="2026-03-30T19:15:49.0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9456"/>
  </p:normalViewPr>
  <p:slideViewPr>
    <p:cSldViewPr snapToGrid="0">
      <p:cViewPr varScale="1">
        <p:scale>
          <a:sx n="100" d="100"/>
          <a:sy n="100" d="100"/>
        </p:scale>
        <p:origin x="119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68ABC8-DA4D-8F4B-9E70-38D54F594069}" type="datetimeFigureOut">
              <a:rPr lang="en-US" smtClean="0"/>
              <a:t>3/30/26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CBE865-A5FB-9642-A201-BCB37376E622}" type="slidenum">
              <a:rPr lang="en-US" smtClean="0"/>
              <a:t>‹#›</a:t>
            </a:fld>
            <a:endParaRPr lang="en-US"/>
          </a:p>
        </p:txBody>
      </p:sp>
    </p:spTree>
    <p:extLst>
      <p:ext uri="{BB962C8B-B14F-4D97-AF65-F5344CB8AC3E}">
        <p14:creationId xmlns:p14="http://schemas.microsoft.com/office/powerpoint/2010/main" val="37714885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we’re looking at Redis from a practical, developer‑first perspective. By the end, you’ll understand what Redis is, why it’s so fast, and how you can use it - especially in .NET, Node.js, and cloud‑hosted apps.</a:t>
            </a:r>
          </a:p>
        </p:txBody>
      </p:sp>
      <p:sp>
        <p:nvSpPr>
          <p:cNvPr id="4" name="Slide Number Placeholder 3"/>
          <p:cNvSpPr>
            <a:spLocks noGrp="1"/>
          </p:cNvSpPr>
          <p:nvPr>
            <p:ph type="sldNum" sz="quarter" idx="5"/>
          </p:nvPr>
        </p:nvSpPr>
        <p:spPr/>
        <p:txBody>
          <a:bodyPr/>
          <a:lstStyle/>
          <a:p>
            <a:fld id="{F5CBE865-A5FB-9642-A201-BCB37376E622}" type="slidenum">
              <a:rPr lang="en-US" smtClean="0"/>
              <a:t>2</a:t>
            </a:fld>
            <a:endParaRPr lang="en-US"/>
          </a:p>
        </p:txBody>
      </p:sp>
    </p:spTree>
    <p:extLst>
      <p:ext uri="{BB962C8B-B14F-4D97-AF65-F5344CB8AC3E}">
        <p14:creationId xmlns:p14="http://schemas.microsoft.com/office/powerpoint/2010/main" val="3511194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You’ll see Redis everywhere in real jobs—DevOps, backend, cloud, even game development. Redis can help you build responsive apps without overloading your database.</a:t>
            </a:r>
          </a:p>
        </p:txBody>
      </p:sp>
      <p:sp>
        <p:nvSpPr>
          <p:cNvPr id="4" name="Slide Number Placeholder 3"/>
          <p:cNvSpPr>
            <a:spLocks noGrp="1"/>
          </p:cNvSpPr>
          <p:nvPr>
            <p:ph type="sldNum" sz="quarter" idx="5"/>
          </p:nvPr>
        </p:nvSpPr>
        <p:spPr/>
        <p:txBody>
          <a:bodyPr/>
          <a:lstStyle/>
          <a:p>
            <a:fld id="{F5CBE865-A5FB-9642-A201-BCB37376E622}" type="slidenum">
              <a:rPr lang="en-US" smtClean="0"/>
              <a:t>3</a:t>
            </a:fld>
            <a:endParaRPr lang="en-US"/>
          </a:p>
        </p:txBody>
      </p:sp>
    </p:spTree>
    <p:extLst>
      <p:ext uri="{BB962C8B-B14F-4D97-AF65-F5344CB8AC3E}">
        <p14:creationId xmlns:p14="http://schemas.microsoft.com/office/powerpoint/2010/main" val="19583251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Redis isn’t just a cache. It’s a flexible data engine. Because everything lives in memory, operations are extremely fast. But Redis also supports persistence, so it’s not just short lasting.</a:t>
            </a:r>
          </a:p>
        </p:txBody>
      </p:sp>
      <p:sp>
        <p:nvSpPr>
          <p:cNvPr id="4" name="Slide Number Placeholder 3"/>
          <p:cNvSpPr>
            <a:spLocks noGrp="1"/>
          </p:cNvSpPr>
          <p:nvPr>
            <p:ph type="sldNum" sz="quarter" idx="5"/>
          </p:nvPr>
        </p:nvSpPr>
        <p:spPr/>
        <p:txBody>
          <a:bodyPr/>
          <a:lstStyle/>
          <a:p>
            <a:fld id="{F5CBE865-A5FB-9642-A201-BCB37376E622}" type="slidenum">
              <a:rPr lang="en-US" smtClean="0"/>
              <a:t>4</a:t>
            </a:fld>
            <a:endParaRPr lang="en-US"/>
          </a:p>
        </p:txBody>
      </p:sp>
    </p:spTree>
    <p:extLst>
      <p:ext uri="{BB962C8B-B14F-4D97-AF65-F5344CB8AC3E}">
        <p14:creationId xmlns:p14="http://schemas.microsoft.com/office/powerpoint/2010/main" val="22910387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Redis uses a single‑threaded event loop. But because operations are atomic and in‑memory, it’s incredibly efficient. We’ll look at persistence later - important if you don’t want your data to vanish on restart.</a:t>
            </a:r>
          </a:p>
        </p:txBody>
      </p:sp>
      <p:sp>
        <p:nvSpPr>
          <p:cNvPr id="4" name="Slide Number Placeholder 3"/>
          <p:cNvSpPr>
            <a:spLocks noGrp="1"/>
          </p:cNvSpPr>
          <p:nvPr>
            <p:ph type="sldNum" sz="quarter" idx="5"/>
          </p:nvPr>
        </p:nvSpPr>
        <p:spPr/>
        <p:txBody>
          <a:bodyPr/>
          <a:lstStyle/>
          <a:p>
            <a:fld id="{F5CBE865-A5FB-9642-A201-BCB37376E622}" type="slidenum">
              <a:rPr lang="en-US" smtClean="0"/>
              <a:t>5</a:t>
            </a:fld>
            <a:endParaRPr lang="en-US"/>
          </a:p>
        </p:txBody>
      </p:sp>
    </p:spTree>
    <p:extLst>
      <p:ext uri="{BB962C8B-B14F-4D97-AF65-F5344CB8AC3E}">
        <p14:creationId xmlns:p14="http://schemas.microsoft.com/office/powerpoint/2010/main" val="26453688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structures matter because they map directly to real use cases. For example, Sorted Sets are perfect for leaderboards. Hashes are great for storing user profiles. Streams are used for event‑driven systems.</a:t>
            </a:r>
          </a:p>
        </p:txBody>
      </p:sp>
      <p:sp>
        <p:nvSpPr>
          <p:cNvPr id="4" name="Slide Number Placeholder 3"/>
          <p:cNvSpPr>
            <a:spLocks noGrp="1"/>
          </p:cNvSpPr>
          <p:nvPr>
            <p:ph type="sldNum" sz="quarter" idx="5"/>
          </p:nvPr>
        </p:nvSpPr>
        <p:spPr/>
        <p:txBody>
          <a:bodyPr/>
          <a:lstStyle/>
          <a:p>
            <a:fld id="{F5CBE865-A5FB-9642-A201-BCB37376E622}" type="slidenum">
              <a:rPr lang="en-US" smtClean="0"/>
              <a:t>6</a:t>
            </a:fld>
            <a:endParaRPr lang="en-US"/>
          </a:p>
        </p:txBody>
      </p:sp>
    </p:spTree>
    <p:extLst>
      <p:ext uri="{BB962C8B-B14F-4D97-AF65-F5344CB8AC3E}">
        <p14:creationId xmlns:p14="http://schemas.microsoft.com/office/powerpoint/2010/main" val="36187112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Caching is the #1 reason developers use Redis. You’ll often cache expensive queries or API calls. TTL is your friend—it prevents stale data and memory bloat.</a:t>
            </a:r>
          </a:p>
          <a:p>
            <a:endParaRPr lang="en-US" dirty="0"/>
          </a:p>
          <a:p>
            <a:r>
              <a:rPr lang="en-US" dirty="0"/>
              <a:t>TTL allows you to set an expiration time.</a:t>
            </a:r>
          </a:p>
        </p:txBody>
      </p:sp>
      <p:sp>
        <p:nvSpPr>
          <p:cNvPr id="4" name="Slide Number Placeholder 3"/>
          <p:cNvSpPr>
            <a:spLocks noGrp="1"/>
          </p:cNvSpPr>
          <p:nvPr>
            <p:ph type="sldNum" sz="quarter" idx="5"/>
          </p:nvPr>
        </p:nvSpPr>
        <p:spPr/>
        <p:txBody>
          <a:bodyPr/>
          <a:lstStyle/>
          <a:p>
            <a:fld id="{F5CBE865-A5FB-9642-A201-BCB37376E622}" type="slidenum">
              <a:rPr lang="en-US" smtClean="0"/>
              <a:t>7</a:t>
            </a:fld>
            <a:endParaRPr lang="en-US"/>
          </a:p>
        </p:txBody>
      </p:sp>
    </p:spTree>
    <p:extLst>
      <p:ext uri="{BB962C8B-B14F-4D97-AF65-F5344CB8AC3E}">
        <p14:creationId xmlns:p14="http://schemas.microsoft.com/office/powerpoint/2010/main" val="9816743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8D67C-128F-BD86-6DF9-6EFD2A8C0F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5DA858-287E-DBE4-F8B9-E73DFACE9A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3B0172-88D8-540B-532F-559ECC79BEA3}"/>
              </a:ext>
            </a:extLst>
          </p:cNvPr>
          <p:cNvSpPr>
            <a:spLocks noGrp="1"/>
          </p:cNvSpPr>
          <p:nvPr>
            <p:ph type="body" idx="1"/>
          </p:nvPr>
        </p:nvSpPr>
        <p:spPr/>
        <p:txBody>
          <a:bodyPr/>
          <a:lstStyle/>
          <a:p>
            <a:r>
              <a:rPr lang="en-US" dirty="0"/>
              <a:t>Redis uses a single‑threaded event loop. But because operations are atomic and in‑memory, it’s incredibly efficient. We’ll look at persistence later - important if you don’t want your data to vanish on restart.</a:t>
            </a:r>
          </a:p>
        </p:txBody>
      </p:sp>
      <p:sp>
        <p:nvSpPr>
          <p:cNvPr id="4" name="Slide Number Placeholder 3">
            <a:extLst>
              <a:ext uri="{FF2B5EF4-FFF2-40B4-BE49-F238E27FC236}">
                <a16:creationId xmlns:a16="http://schemas.microsoft.com/office/drawing/2014/main" id="{644D5924-350D-1273-B444-51AF0EFEE828}"/>
              </a:ext>
            </a:extLst>
          </p:cNvPr>
          <p:cNvSpPr>
            <a:spLocks noGrp="1"/>
          </p:cNvSpPr>
          <p:nvPr>
            <p:ph type="sldNum" sz="quarter" idx="5"/>
          </p:nvPr>
        </p:nvSpPr>
        <p:spPr/>
        <p:txBody>
          <a:bodyPr/>
          <a:lstStyle/>
          <a:p>
            <a:fld id="{F5CBE865-A5FB-9642-A201-BCB37376E622}" type="slidenum">
              <a:rPr lang="en-US" smtClean="0"/>
              <a:t>8</a:t>
            </a:fld>
            <a:endParaRPr lang="en-US"/>
          </a:p>
        </p:txBody>
      </p:sp>
    </p:spTree>
    <p:extLst>
      <p:ext uri="{BB962C8B-B14F-4D97-AF65-F5344CB8AC3E}">
        <p14:creationId xmlns:p14="http://schemas.microsoft.com/office/powerpoint/2010/main" val="17259310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Redis is fast because it’s in‑memory, but you can persist data. RDB is lightweight but not real‑time. AOF is safer but slower. In production, hybrid mode is common.</a:t>
            </a:r>
          </a:p>
        </p:txBody>
      </p:sp>
      <p:sp>
        <p:nvSpPr>
          <p:cNvPr id="4" name="Slide Number Placeholder 3"/>
          <p:cNvSpPr>
            <a:spLocks noGrp="1"/>
          </p:cNvSpPr>
          <p:nvPr>
            <p:ph type="sldNum" sz="quarter" idx="5"/>
          </p:nvPr>
        </p:nvSpPr>
        <p:spPr/>
        <p:txBody>
          <a:bodyPr/>
          <a:lstStyle/>
          <a:p>
            <a:fld id="{F5CBE865-A5FB-9642-A201-BCB37376E622}" type="slidenum">
              <a:rPr lang="en-US" smtClean="0"/>
              <a:t>9</a:t>
            </a:fld>
            <a:endParaRPr lang="en-US"/>
          </a:p>
        </p:txBody>
      </p:sp>
    </p:spTree>
    <p:extLst>
      <p:ext uri="{BB962C8B-B14F-4D97-AF65-F5344CB8AC3E}">
        <p14:creationId xmlns:p14="http://schemas.microsoft.com/office/powerpoint/2010/main" val="26548517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deploy Redis in the cloud, you rarely run a single node. Replicas give you redundancy. Sentinel handles failover. Clustering lets you scale beyond a single machine’s memory.</a:t>
            </a:r>
          </a:p>
        </p:txBody>
      </p:sp>
      <p:sp>
        <p:nvSpPr>
          <p:cNvPr id="4" name="Slide Number Placeholder 3"/>
          <p:cNvSpPr>
            <a:spLocks noGrp="1"/>
          </p:cNvSpPr>
          <p:nvPr>
            <p:ph type="sldNum" sz="quarter" idx="5"/>
          </p:nvPr>
        </p:nvSpPr>
        <p:spPr/>
        <p:txBody>
          <a:bodyPr/>
          <a:lstStyle/>
          <a:p>
            <a:fld id="{F5CBE865-A5FB-9642-A201-BCB37376E622}" type="slidenum">
              <a:rPr lang="en-US" smtClean="0"/>
              <a:t>10</a:t>
            </a:fld>
            <a:endParaRPr lang="en-US"/>
          </a:p>
        </p:txBody>
      </p:sp>
    </p:spTree>
    <p:extLst>
      <p:ext uri="{BB962C8B-B14F-4D97-AF65-F5344CB8AC3E}">
        <p14:creationId xmlns:p14="http://schemas.microsoft.com/office/powerpoint/2010/main" val="26844998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Redis is extremely fast, but also extremely trusting. Never expose it publicly. Use ACLs and TLS. And always understand your eviction policy.</a:t>
            </a:r>
          </a:p>
        </p:txBody>
      </p:sp>
      <p:sp>
        <p:nvSpPr>
          <p:cNvPr id="4" name="Slide Number Placeholder 3"/>
          <p:cNvSpPr>
            <a:spLocks noGrp="1"/>
          </p:cNvSpPr>
          <p:nvPr>
            <p:ph type="sldNum" sz="quarter" idx="5"/>
          </p:nvPr>
        </p:nvSpPr>
        <p:spPr/>
        <p:txBody>
          <a:bodyPr/>
          <a:lstStyle/>
          <a:p>
            <a:fld id="{F5CBE865-A5FB-9642-A201-BCB37376E622}" type="slidenum">
              <a:rPr lang="en-US" smtClean="0"/>
              <a:t>11</a:t>
            </a:fld>
            <a:endParaRPr lang="en-US"/>
          </a:p>
        </p:txBody>
      </p:sp>
    </p:spTree>
    <p:extLst>
      <p:ext uri="{BB962C8B-B14F-4D97-AF65-F5344CB8AC3E}">
        <p14:creationId xmlns:p14="http://schemas.microsoft.com/office/powerpoint/2010/main" val="16721619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want hands‑on practice, try adding Redis caching to your next project—API responses, session data, or leaderboard logic. It’s a great way to make your projects feel production‑ready.</a:t>
            </a:r>
          </a:p>
        </p:txBody>
      </p:sp>
      <p:sp>
        <p:nvSpPr>
          <p:cNvPr id="4" name="Slide Number Placeholder 3"/>
          <p:cNvSpPr>
            <a:spLocks noGrp="1"/>
          </p:cNvSpPr>
          <p:nvPr>
            <p:ph type="sldNum" sz="quarter" idx="5"/>
          </p:nvPr>
        </p:nvSpPr>
        <p:spPr/>
        <p:txBody>
          <a:bodyPr/>
          <a:lstStyle/>
          <a:p>
            <a:fld id="{F5CBE865-A5FB-9642-A201-BCB37376E622}" type="slidenum">
              <a:rPr lang="en-US" smtClean="0"/>
              <a:t>12</a:t>
            </a:fld>
            <a:endParaRPr lang="en-US"/>
          </a:p>
        </p:txBody>
      </p:sp>
    </p:spTree>
    <p:extLst>
      <p:ext uri="{BB962C8B-B14F-4D97-AF65-F5344CB8AC3E}">
        <p14:creationId xmlns:p14="http://schemas.microsoft.com/office/powerpoint/2010/main" val="11099305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F09AA-1F83-0860-EE32-5AB5AAA4F4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A5DEF43-70E9-2576-941A-7F8D2C00E3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AD284F6-4D20-7122-EF26-23C583EF947E}"/>
              </a:ext>
            </a:extLst>
          </p:cNvPr>
          <p:cNvSpPr>
            <a:spLocks noGrp="1"/>
          </p:cNvSpPr>
          <p:nvPr>
            <p:ph type="dt" sz="half" idx="10"/>
          </p:nvPr>
        </p:nvSpPr>
        <p:spPr/>
        <p:txBody>
          <a:bodyPr/>
          <a:lstStyle/>
          <a:p>
            <a:fld id="{08145CE5-CA0A-574A-8C82-AF2C48F73F32}" type="datetimeFigureOut">
              <a:rPr lang="en-US" smtClean="0"/>
              <a:t>3/30/26</a:t>
            </a:fld>
            <a:endParaRPr lang="en-US"/>
          </a:p>
        </p:txBody>
      </p:sp>
      <p:sp>
        <p:nvSpPr>
          <p:cNvPr id="5" name="Footer Placeholder 4">
            <a:extLst>
              <a:ext uri="{FF2B5EF4-FFF2-40B4-BE49-F238E27FC236}">
                <a16:creationId xmlns:a16="http://schemas.microsoft.com/office/drawing/2014/main" id="{AE626BF9-C60B-DE0D-ADDF-34E34960C6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6032B3-0E1C-080E-F641-80ED5ECC8B4E}"/>
              </a:ext>
            </a:extLst>
          </p:cNvPr>
          <p:cNvSpPr>
            <a:spLocks noGrp="1"/>
          </p:cNvSpPr>
          <p:nvPr>
            <p:ph type="sldNum" sz="quarter" idx="12"/>
          </p:nvPr>
        </p:nvSpPr>
        <p:spPr/>
        <p:txBody>
          <a:bodyPr/>
          <a:lstStyle/>
          <a:p>
            <a:fld id="{B062862C-F74C-E94F-957F-FA6FD8BD6D12}" type="slidenum">
              <a:rPr lang="en-US" smtClean="0"/>
              <a:t>‹#›</a:t>
            </a:fld>
            <a:endParaRPr lang="en-US"/>
          </a:p>
        </p:txBody>
      </p:sp>
    </p:spTree>
    <p:extLst>
      <p:ext uri="{BB962C8B-B14F-4D97-AF65-F5344CB8AC3E}">
        <p14:creationId xmlns:p14="http://schemas.microsoft.com/office/powerpoint/2010/main" val="193255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C73CB-4FAE-0B14-7E3F-FCEC1D5CCD7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E654479-E9AA-0742-2035-C3729DFFF1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2B6679-4850-D567-88E1-A6884F1222A6}"/>
              </a:ext>
            </a:extLst>
          </p:cNvPr>
          <p:cNvSpPr>
            <a:spLocks noGrp="1"/>
          </p:cNvSpPr>
          <p:nvPr>
            <p:ph type="dt" sz="half" idx="10"/>
          </p:nvPr>
        </p:nvSpPr>
        <p:spPr/>
        <p:txBody>
          <a:bodyPr/>
          <a:lstStyle/>
          <a:p>
            <a:fld id="{08145CE5-CA0A-574A-8C82-AF2C48F73F32}" type="datetimeFigureOut">
              <a:rPr lang="en-US" smtClean="0"/>
              <a:t>3/30/26</a:t>
            </a:fld>
            <a:endParaRPr lang="en-US"/>
          </a:p>
        </p:txBody>
      </p:sp>
      <p:sp>
        <p:nvSpPr>
          <p:cNvPr id="5" name="Footer Placeholder 4">
            <a:extLst>
              <a:ext uri="{FF2B5EF4-FFF2-40B4-BE49-F238E27FC236}">
                <a16:creationId xmlns:a16="http://schemas.microsoft.com/office/drawing/2014/main" id="{6A15526F-FB42-0CB0-96E4-84A2BF9657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1D0C19-57BF-6FB1-5DE5-91CAEAB412B8}"/>
              </a:ext>
            </a:extLst>
          </p:cNvPr>
          <p:cNvSpPr>
            <a:spLocks noGrp="1"/>
          </p:cNvSpPr>
          <p:nvPr>
            <p:ph type="sldNum" sz="quarter" idx="12"/>
          </p:nvPr>
        </p:nvSpPr>
        <p:spPr/>
        <p:txBody>
          <a:bodyPr/>
          <a:lstStyle/>
          <a:p>
            <a:fld id="{B062862C-F74C-E94F-957F-FA6FD8BD6D12}" type="slidenum">
              <a:rPr lang="en-US" smtClean="0"/>
              <a:t>‹#›</a:t>
            </a:fld>
            <a:endParaRPr lang="en-US"/>
          </a:p>
        </p:txBody>
      </p:sp>
    </p:spTree>
    <p:extLst>
      <p:ext uri="{BB962C8B-B14F-4D97-AF65-F5344CB8AC3E}">
        <p14:creationId xmlns:p14="http://schemas.microsoft.com/office/powerpoint/2010/main" val="2020309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B27D3-FC52-2F66-4494-F37DF249A7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6913404-BB91-D432-40D3-2C250AF5955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349AA0-4984-4888-3A93-5DFFBE1CF7A4}"/>
              </a:ext>
            </a:extLst>
          </p:cNvPr>
          <p:cNvSpPr>
            <a:spLocks noGrp="1"/>
          </p:cNvSpPr>
          <p:nvPr>
            <p:ph type="dt" sz="half" idx="10"/>
          </p:nvPr>
        </p:nvSpPr>
        <p:spPr/>
        <p:txBody>
          <a:bodyPr/>
          <a:lstStyle/>
          <a:p>
            <a:fld id="{08145CE5-CA0A-574A-8C82-AF2C48F73F32}" type="datetimeFigureOut">
              <a:rPr lang="en-US" smtClean="0"/>
              <a:t>3/30/26</a:t>
            </a:fld>
            <a:endParaRPr lang="en-US"/>
          </a:p>
        </p:txBody>
      </p:sp>
      <p:sp>
        <p:nvSpPr>
          <p:cNvPr id="5" name="Footer Placeholder 4">
            <a:extLst>
              <a:ext uri="{FF2B5EF4-FFF2-40B4-BE49-F238E27FC236}">
                <a16:creationId xmlns:a16="http://schemas.microsoft.com/office/drawing/2014/main" id="{AAFF795A-A6CE-33FC-08D3-920E67926D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D3A6F6-ADB6-09D1-F535-399D8FCAEE6A}"/>
              </a:ext>
            </a:extLst>
          </p:cNvPr>
          <p:cNvSpPr>
            <a:spLocks noGrp="1"/>
          </p:cNvSpPr>
          <p:nvPr>
            <p:ph type="sldNum" sz="quarter" idx="12"/>
          </p:nvPr>
        </p:nvSpPr>
        <p:spPr/>
        <p:txBody>
          <a:bodyPr/>
          <a:lstStyle/>
          <a:p>
            <a:fld id="{B062862C-F74C-E94F-957F-FA6FD8BD6D12}" type="slidenum">
              <a:rPr lang="en-US" smtClean="0"/>
              <a:t>‹#›</a:t>
            </a:fld>
            <a:endParaRPr lang="en-US"/>
          </a:p>
        </p:txBody>
      </p:sp>
    </p:spTree>
    <p:extLst>
      <p:ext uri="{BB962C8B-B14F-4D97-AF65-F5344CB8AC3E}">
        <p14:creationId xmlns:p14="http://schemas.microsoft.com/office/powerpoint/2010/main" val="3497546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6F314-7F92-8899-2B9A-8B97A86D87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1C2788-D8A7-4936-5B87-7128481F3DB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D0A942A-35EB-731B-0567-1538A50B3A1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CC58A0-4688-BE2F-8CA7-1D755314DCE5}"/>
              </a:ext>
            </a:extLst>
          </p:cNvPr>
          <p:cNvSpPr>
            <a:spLocks noGrp="1"/>
          </p:cNvSpPr>
          <p:nvPr>
            <p:ph type="dt" sz="half" idx="10"/>
          </p:nvPr>
        </p:nvSpPr>
        <p:spPr/>
        <p:txBody>
          <a:bodyPr/>
          <a:lstStyle/>
          <a:p>
            <a:fld id="{08145CE5-CA0A-574A-8C82-AF2C48F73F32}" type="datetimeFigureOut">
              <a:rPr lang="en-US" smtClean="0"/>
              <a:t>3/30/26</a:t>
            </a:fld>
            <a:endParaRPr lang="en-US"/>
          </a:p>
        </p:txBody>
      </p:sp>
      <p:sp>
        <p:nvSpPr>
          <p:cNvPr id="6" name="Footer Placeholder 5">
            <a:extLst>
              <a:ext uri="{FF2B5EF4-FFF2-40B4-BE49-F238E27FC236}">
                <a16:creationId xmlns:a16="http://schemas.microsoft.com/office/drawing/2014/main" id="{524EDFD1-4D01-4BC8-F3AD-AC5A1AB0F4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F3AAF0-202C-39A6-3934-8D6A68C3772C}"/>
              </a:ext>
            </a:extLst>
          </p:cNvPr>
          <p:cNvSpPr>
            <a:spLocks noGrp="1"/>
          </p:cNvSpPr>
          <p:nvPr>
            <p:ph type="sldNum" sz="quarter" idx="12"/>
          </p:nvPr>
        </p:nvSpPr>
        <p:spPr/>
        <p:txBody>
          <a:bodyPr/>
          <a:lstStyle/>
          <a:p>
            <a:fld id="{B062862C-F74C-E94F-957F-FA6FD8BD6D12}" type="slidenum">
              <a:rPr lang="en-US" smtClean="0"/>
              <a:t>‹#›</a:t>
            </a:fld>
            <a:endParaRPr lang="en-US"/>
          </a:p>
        </p:txBody>
      </p:sp>
    </p:spTree>
    <p:extLst>
      <p:ext uri="{BB962C8B-B14F-4D97-AF65-F5344CB8AC3E}">
        <p14:creationId xmlns:p14="http://schemas.microsoft.com/office/powerpoint/2010/main" val="33704309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6EF30-296E-978B-2C61-7CFF7F76B3E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3E5092A-1181-EB10-7A08-E323A1D219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47F5B5-8962-8BE3-10F8-E422F4E551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910A5E7-5A9B-956A-8915-391942F1AE8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18ED8D-F8B2-B88F-7B70-F7118B891A8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71841E7-632C-8E7C-6F3A-059D946CE980}"/>
              </a:ext>
            </a:extLst>
          </p:cNvPr>
          <p:cNvSpPr>
            <a:spLocks noGrp="1"/>
          </p:cNvSpPr>
          <p:nvPr>
            <p:ph type="dt" sz="half" idx="10"/>
          </p:nvPr>
        </p:nvSpPr>
        <p:spPr/>
        <p:txBody>
          <a:bodyPr/>
          <a:lstStyle/>
          <a:p>
            <a:fld id="{08145CE5-CA0A-574A-8C82-AF2C48F73F32}" type="datetimeFigureOut">
              <a:rPr lang="en-US" smtClean="0"/>
              <a:t>3/30/26</a:t>
            </a:fld>
            <a:endParaRPr lang="en-US"/>
          </a:p>
        </p:txBody>
      </p:sp>
      <p:sp>
        <p:nvSpPr>
          <p:cNvPr id="8" name="Footer Placeholder 7">
            <a:extLst>
              <a:ext uri="{FF2B5EF4-FFF2-40B4-BE49-F238E27FC236}">
                <a16:creationId xmlns:a16="http://schemas.microsoft.com/office/drawing/2014/main" id="{B2019199-E3D0-4B27-392A-287239B2F3B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919074B-55EC-17E2-AB63-3C8E80553C95}"/>
              </a:ext>
            </a:extLst>
          </p:cNvPr>
          <p:cNvSpPr>
            <a:spLocks noGrp="1"/>
          </p:cNvSpPr>
          <p:nvPr>
            <p:ph type="sldNum" sz="quarter" idx="12"/>
          </p:nvPr>
        </p:nvSpPr>
        <p:spPr/>
        <p:txBody>
          <a:bodyPr/>
          <a:lstStyle/>
          <a:p>
            <a:fld id="{B062862C-F74C-E94F-957F-FA6FD8BD6D12}" type="slidenum">
              <a:rPr lang="en-US" smtClean="0"/>
              <a:t>‹#›</a:t>
            </a:fld>
            <a:endParaRPr lang="en-US"/>
          </a:p>
        </p:txBody>
      </p:sp>
    </p:spTree>
    <p:extLst>
      <p:ext uri="{BB962C8B-B14F-4D97-AF65-F5344CB8AC3E}">
        <p14:creationId xmlns:p14="http://schemas.microsoft.com/office/powerpoint/2010/main" val="411466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2E680-87F8-1030-D6C0-CB1CB0B4666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7DA6A9-76B7-E260-EEA3-6C2FBE4CD375}"/>
              </a:ext>
            </a:extLst>
          </p:cNvPr>
          <p:cNvSpPr>
            <a:spLocks noGrp="1"/>
          </p:cNvSpPr>
          <p:nvPr>
            <p:ph type="dt" sz="half" idx="10"/>
          </p:nvPr>
        </p:nvSpPr>
        <p:spPr/>
        <p:txBody>
          <a:bodyPr/>
          <a:lstStyle/>
          <a:p>
            <a:fld id="{08145CE5-CA0A-574A-8C82-AF2C48F73F32}" type="datetimeFigureOut">
              <a:rPr lang="en-US" smtClean="0"/>
              <a:t>3/30/26</a:t>
            </a:fld>
            <a:endParaRPr lang="en-US"/>
          </a:p>
        </p:txBody>
      </p:sp>
      <p:sp>
        <p:nvSpPr>
          <p:cNvPr id="4" name="Footer Placeholder 3">
            <a:extLst>
              <a:ext uri="{FF2B5EF4-FFF2-40B4-BE49-F238E27FC236}">
                <a16:creationId xmlns:a16="http://schemas.microsoft.com/office/drawing/2014/main" id="{021F5F7F-9DBB-6644-C8AB-FAC3E7283D5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42EF7DE-B021-23F3-327D-6D6C0623ADD2}"/>
              </a:ext>
            </a:extLst>
          </p:cNvPr>
          <p:cNvSpPr>
            <a:spLocks noGrp="1"/>
          </p:cNvSpPr>
          <p:nvPr>
            <p:ph type="sldNum" sz="quarter" idx="12"/>
          </p:nvPr>
        </p:nvSpPr>
        <p:spPr/>
        <p:txBody>
          <a:bodyPr/>
          <a:lstStyle/>
          <a:p>
            <a:fld id="{B062862C-F74C-E94F-957F-FA6FD8BD6D12}" type="slidenum">
              <a:rPr lang="en-US" smtClean="0"/>
              <a:t>‹#›</a:t>
            </a:fld>
            <a:endParaRPr lang="en-US"/>
          </a:p>
        </p:txBody>
      </p:sp>
    </p:spTree>
    <p:extLst>
      <p:ext uri="{BB962C8B-B14F-4D97-AF65-F5344CB8AC3E}">
        <p14:creationId xmlns:p14="http://schemas.microsoft.com/office/powerpoint/2010/main" val="2837102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04C4F8-5C4D-0D36-E503-DD78A3934A8B}"/>
              </a:ext>
            </a:extLst>
          </p:cNvPr>
          <p:cNvSpPr>
            <a:spLocks noGrp="1"/>
          </p:cNvSpPr>
          <p:nvPr>
            <p:ph type="dt" sz="half" idx="10"/>
          </p:nvPr>
        </p:nvSpPr>
        <p:spPr/>
        <p:txBody>
          <a:bodyPr/>
          <a:lstStyle/>
          <a:p>
            <a:fld id="{08145CE5-CA0A-574A-8C82-AF2C48F73F32}" type="datetimeFigureOut">
              <a:rPr lang="en-US" smtClean="0"/>
              <a:t>3/30/26</a:t>
            </a:fld>
            <a:endParaRPr lang="en-US"/>
          </a:p>
        </p:txBody>
      </p:sp>
      <p:sp>
        <p:nvSpPr>
          <p:cNvPr id="3" name="Footer Placeholder 2">
            <a:extLst>
              <a:ext uri="{FF2B5EF4-FFF2-40B4-BE49-F238E27FC236}">
                <a16:creationId xmlns:a16="http://schemas.microsoft.com/office/drawing/2014/main" id="{402CCCD0-9892-4267-4C8D-34156AE8C15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5F7B820-B150-C28B-95B9-B775D3B42567}"/>
              </a:ext>
            </a:extLst>
          </p:cNvPr>
          <p:cNvSpPr>
            <a:spLocks noGrp="1"/>
          </p:cNvSpPr>
          <p:nvPr>
            <p:ph type="sldNum" sz="quarter" idx="12"/>
          </p:nvPr>
        </p:nvSpPr>
        <p:spPr/>
        <p:txBody>
          <a:bodyPr/>
          <a:lstStyle/>
          <a:p>
            <a:fld id="{B062862C-F74C-E94F-957F-FA6FD8BD6D12}" type="slidenum">
              <a:rPr lang="en-US" smtClean="0"/>
              <a:t>‹#›</a:t>
            </a:fld>
            <a:endParaRPr lang="en-US"/>
          </a:p>
        </p:txBody>
      </p:sp>
    </p:spTree>
    <p:extLst>
      <p:ext uri="{BB962C8B-B14F-4D97-AF65-F5344CB8AC3E}">
        <p14:creationId xmlns:p14="http://schemas.microsoft.com/office/powerpoint/2010/main" val="8229777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3D3C8-23A9-1618-F8EB-54D5A188EB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57CF99A-F845-D442-7FAB-167541A2C2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DB1AE16-18D9-4078-4FAD-9A743A9907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9ACEC9-A941-768F-A30E-C41841B5CF77}"/>
              </a:ext>
            </a:extLst>
          </p:cNvPr>
          <p:cNvSpPr>
            <a:spLocks noGrp="1"/>
          </p:cNvSpPr>
          <p:nvPr>
            <p:ph type="dt" sz="half" idx="10"/>
          </p:nvPr>
        </p:nvSpPr>
        <p:spPr/>
        <p:txBody>
          <a:bodyPr/>
          <a:lstStyle/>
          <a:p>
            <a:fld id="{08145CE5-CA0A-574A-8C82-AF2C48F73F32}" type="datetimeFigureOut">
              <a:rPr lang="en-US" smtClean="0"/>
              <a:t>3/30/26</a:t>
            </a:fld>
            <a:endParaRPr lang="en-US"/>
          </a:p>
        </p:txBody>
      </p:sp>
      <p:sp>
        <p:nvSpPr>
          <p:cNvPr id="6" name="Footer Placeholder 5">
            <a:extLst>
              <a:ext uri="{FF2B5EF4-FFF2-40B4-BE49-F238E27FC236}">
                <a16:creationId xmlns:a16="http://schemas.microsoft.com/office/drawing/2014/main" id="{9A43AF69-9A32-14B1-A587-6FF0F283C6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0B3A09-5E4C-0C31-ECD5-1983DDB98010}"/>
              </a:ext>
            </a:extLst>
          </p:cNvPr>
          <p:cNvSpPr>
            <a:spLocks noGrp="1"/>
          </p:cNvSpPr>
          <p:nvPr>
            <p:ph type="sldNum" sz="quarter" idx="12"/>
          </p:nvPr>
        </p:nvSpPr>
        <p:spPr/>
        <p:txBody>
          <a:bodyPr/>
          <a:lstStyle/>
          <a:p>
            <a:fld id="{B062862C-F74C-E94F-957F-FA6FD8BD6D12}" type="slidenum">
              <a:rPr lang="en-US" smtClean="0"/>
              <a:t>‹#›</a:t>
            </a:fld>
            <a:endParaRPr lang="en-US"/>
          </a:p>
        </p:txBody>
      </p:sp>
    </p:spTree>
    <p:extLst>
      <p:ext uri="{BB962C8B-B14F-4D97-AF65-F5344CB8AC3E}">
        <p14:creationId xmlns:p14="http://schemas.microsoft.com/office/powerpoint/2010/main" val="2444171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2FD47-A126-50F4-3C1C-AADC35579E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3F2304-3F3E-2BF8-8711-DE8AFB671A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01F9498-1AFE-D8AD-458A-F66BE5ABF9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D307AE-F12A-3A79-DAFC-05CE79947289}"/>
              </a:ext>
            </a:extLst>
          </p:cNvPr>
          <p:cNvSpPr>
            <a:spLocks noGrp="1"/>
          </p:cNvSpPr>
          <p:nvPr>
            <p:ph type="dt" sz="half" idx="10"/>
          </p:nvPr>
        </p:nvSpPr>
        <p:spPr/>
        <p:txBody>
          <a:bodyPr/>
          <a:lstStyle/>
          <a:p>
            <a:fld id="{08145CE5-CA0A-574A-8C82-AF2C48F73F32}" type="datetimeFigureOut">
              <a:rPr lang="en-US" smtClean="0"/>
              <a:t>3/30/26</a:t>
            </a:fld>
            <a:endParaRPr lang="en-US"/>
          </a:p>
        </p:txBody>
      </p:sp>
      <p:sp>
        <p:nvSpPr>
          <p:cNvPr id="6" name="Footer Placeholder 5">
            <a:extLst>
              <a:ext uri="{FF2B5EF4-FFF2-40B4-BE49-F238E27FC236}">
                <a16:creationId xmlns:a16="http://schemas.microsoft.com/office/drawing/2014/main" id="{7C1D0704-04F1-3E44-8698-C8C9AF2A7F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4E0D4E-0CEF-CD4D-2401-74052B4D5E95}"/>
              </a:ext>
            </a:extLst>
          </p:cNvPr>
          <p:cNvSpPr>
            <a:spLocks noGrp="1"/>
          </p:cNvSpPr>
          <p:nvPr>
            <p:ph type="sldNum" sz="quarter" idx="12"/>
          </p:nvPr>
        </p:nvSpPr>
        <p:spPr/>
        <p:txBody>
          <a:bodyPr/>
          <a:lstStyle/>
          <a:p>
            <a:fld id="{B062862C-F74C-E94F-957F-FA6FD8BD6D12}" type="slidenum">
              <a:rPr lang="en-US" smtClean="0"/>
              <a:t>‹#›</a:t>
            </a:fld>
            <a:endParaRPr lang="en-US"/>
          </a:p>
        </p:txBody>
      </p:sp>
    </p:spTree>
    <p:extLst>
      <p:ext uri="{BB962C8B-B14F-4D97-AF65-F5344CB8AC3E}">
        <p14:creationId xmlns:p14="http://schemas.microsoft.com/office/powerpoint/2010/main" val="15343775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F1F2A-03D5-87B2-E265-87CF8BDC37F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7FB8ACD-F012-B2FE-0A57-3E1B8CB9DF5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84637F-9CC1-259B-1FD2-921F8FED4331}"/>
              </a:ext>
            </a:extLst>
          </p:cNvPr>
          <p:cNvSpPr>
            <a:spLocks noGrp="1"/>
          </p:cNvSpPr>
          <p:nvPr>
            <p:ph type="dt" sz="half" idx="10"/>
          </p:nvPr>
        </p:nvSpPr>
        <p:spPr/>
        <p:txBody>
          <a:bodyPr/>
          <a:lstStyle/>
          <a:p>
            <a:fld id="{08145CE5-CA0A-574A-8C82-AF2C48F73F32}" type="datetimeFigureOut">
              <a:rPr lang="en-US" smtClean="0"/>
              <a:t>3/30/26</a:t>
            </a:fld>
            <a:endParaRPr lang="en-US"/>
          </a:p>
        </p:txBody>
      </p:sp>
      <p:sp>
        <p:nvSpPr>
          <p:cNvPr id="5" name="Footer Placeholder 4">
            <a:extLst>
              <a:ext uri="{FF2B5EF4-FFF2-40B4-BE49-F238E27FC236}">
                <a16:creationId xmlns:a16="http://schemas.microsoft.com/office/drawing/2014/main" id="{287074C9-A4E8-F6E7-A636-6211AAA772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3E1EDB-5F49-77EE-BCF0-1DF5B2D74286}"/>
              </a:ext>
            </a:extLst>
          </p:cNvPr>
          <p:cNvSpPr>
            <a:spLocks noGrp="1"/>
          </p:cNvSpPr>
          <p:nvPr>
            <p:ph type="sldNum" sz="quarter" idx="12"/>
          </p:nvPr>
        </p:nvSpPr>
        <p:spPr/>
        <p:txBody>
          <a:bodyPr/>
          <a:lstStyle/>
          <a:p>
            <a:fld id="{B062862C-F74C-E94F-957F-FA6FD8BD6D12}" type="slidenum">
              <a:rPr lang="en-US" smtClean="0"/>
              <a:t>‹#›</a:t>
            </a:fld>
            <a:endParaRPr lang="en-US"/>
          </a:p>
        </p:txBody>
      </p:sp>
    </p:spTree>
    <p:extLst>
      <p:ext uri="{BB962C8B-B14F-4D97-AF65-F5344CB8AC3E}">
        <p14:creationId xmlns:p14="http://schemas.microsoft.com/office/powerpoint/2010/main" val="31688174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DF7F22-EEEB-C345-D519-357C44E4636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B564931-CCC1-7FBD-F5E3-9B192A56803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DA1385-4B44-9470-F3D5-34253E587BA1}"/>
              </a:ext>
            </a:extLst>
          </p:cNvPr>
          <p:cNvSpPr>
            <a:spLocks noGrp="1"/>
          </p:cNvSpPr>
          <p:nvPr>
            <p:ph type="dt" sz="half" idx="10"/>
          </p:nvPr>
        </p:nvSpPr>
        <p:spPr/>
        <p:txBody>
          <a:bodyPr/>
          <a:lstStyle/>
          <a:p>
            <a:fld id="{08145CE5-CA0A-574A-8C82-AF2C48F73F32}" type="datetimeFigureOut">
              <a:rPr lang="en-US" smtClean="0"/>
              <a:t>3/30/26</a:t>
            </a:fld>
            <a:endParaRPr lang="en-US"/>
          </a:p>
        </p:txBody>
      </p:sp>
      <p:sp>
        <p:nvSpPr>
          <p:cNvPr id="5" name="Footer Placeholder 4">
            <a:extLst>
              <a:ext uri="{FF2B5EF4-FFF2-40B4-BE49-F238E27FC236}">
                <a16:creationId xmlns:a16="http://schemas.microsoft.com/office/drawing/2014/main" id="{5B0BE3D9-6361-C3C0-94E8-27FDC537B6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A61EE3-4D72-7A88-2DCF-0877FEDEE29F}"/>
              </a:ext>
            </a:extLst>
          </p:cNvPr>
          <p:cNvSpPr>
            <a:spLocks noGrp="1"/>
          </p:cNvSpPr>
          <p:nvPr>
            <p:ph type="sldNum" sz="quarter" idx="12"/>
          </p:nvPr>
        </p:nvSpPr>
        <p:spPr/>
        <p:txBody>
          <a:bodyPr/>
          <a:lstStyle/>
          <a:p>
            <a:fld id="{B062862C-F74C-E94F-957F-FA6FD8BD6D12}" type="slidenum">
              <a:rPr lang="en-US" smtClean="0"/>
              <a:t>‹#›</a:t>
            </a:fld>
            <a:endParaRPr lang="en-US"/>
          </a:p>
        </p:txBody>
      </p:sp>
    </p:spTree>
    <p:extLst>
      <p:ext uri="{BB962C8B-B14F-4D97-AF65-F5344CB8AC3E}">
        <p14:creationId xmlns:p14="http://schemas.microsoft.com/office/powerpoint/2010/main" val="37207519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0AD15E-EC99-C4E4-8284-4DCB04783D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C52D3FC-6825-8894-E5ED-ABAE7F1D4D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7777EA-6151-F87C-AAF7-E038AC0019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8145CE5-CA0A-574A-8C82-AF2C48F73F32}" type="datetimeFigureOut">
              <a:rPr lang="en-US" smtClean="0"/>
              <a:t>3/30/26</a:t>
            </a:fld>
            <a:endParaRPr lang="en-US"/>
          </a:p>
        </p:txBody>
      </p:sp>
      <p:sp>
        <p:nvSpPr>
          <p:cNvPr id="5" name="Footer Placeholder 4">
            <a:extLst>
              <a:ext uri="{FF2B5EF4-FFF2-40B4-BE49-F238E27FC236}">
                <a16:creationId xmlns:a16="http://schemas.microsoft.com/office/drawing/2014/main" id="{EA59EC2D-7BAF-D29A-2D1D-B0979B48BF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14D79C6-54BE-45D0-8AD6-E9164E3A3E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062862C-F74C-E94F-957F-FA6FD8BD6D12}" type="slidenum">
              <a:rPr lang="en-US" smtClean="0"/>
              <a:t>‹#›</a:t>
            </a:fld>
            <a:endParaRPr lang="en-US"/>
          </a:p>
        </p:txBody>
      </p:sp>
    </p:spTree>
    <p:extLst>
      <p:ext uri="{BB962C8B-B14F-4D97-AF65-F5344CB8AC3E}">
        <p14:creationId xmlns:p14="http://schemas.microsoft.com/office/powerpoint/2010/main" val="23824432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074BE-3D3A-9718-DFD5-6E0E6BC6F42A}"/>
              </a:ext>
            </a:extLst>
          </p:cNvPr>
          <p:cNvSpPr>
            <a:spLocks noGrp="1"/>
          </p:cNvSpPr>
          <p:nvPr>
            <p:ph type="ctrTitle"/>
          </p:nvPr>
        </p:nvSpPr>
        <p:spPr/>
        <p:txBody>
          <a:bodyPr/>
          <a:lstStyle/>
          <a:p>
            <a:r>
              <a:rPr lang="en-US" dirty="0"/>
              <a:t>Redis Cache Server</a:t>
            </a:r>
          </a:p>
        </p:txBody>
      </p:sp>
      <p:sp>
        <p:nvSpPr>
          <p:cNvPr id="3" name="Subtitle 2">
            <a:extLst>
              <a:ext uri="{FF2B5EF4-FFF2-40B4-BE49-F238E27FC236}">
                <a16:creationId xmlns:a16="http://schemas.microsoft.com/office/drawing/2014/main" id="{0C2F8E9B-65FE-E824-9C04-6056F7C54CD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452313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D180A-6B28-9D0D-DE6C-8F94BFD80EA2}"/>
              </a:ext>
            </a:extLst>
          </p:cNvPr>
          <p:cNvSpPr>
            <a:spLocks noGrp="1"/>
          </p:cNvSpPr>
          <p:nvPr>
            <p:ph type="title"/>
          </p:nvPr>
        </p:nvSpPr>
        <p:spPr/>
        <p:txBody>
          <a:bodyPr/>
          <a:lstStyle/>
          <a:p>
            <a:r>
              <a:rPr lang="en-US" dirty="0"/>
              <a:t>Redis for Modern Applications</a:t>
            </a:r>
          </a:p>
        </p:txBody>
      </p:sp>
      <p:sp>
        <p:nvSpPr>
          <p:cNvPr id="3" name="Content Placeholder 2">
            <a:extLst>
              <a:ext uri="{FF2B5EF4-FFF2-40B4-BE49-F238E27FC236}">
                <a16:creationId xmlns:a16="http://schemas.microsoft.com/office/drawing/2014/main" id="{7F2CD9C5-6070-5D1F-5E25-51A3EF811C05}"/>
              </a:ext>
            </a:extLst>
          </p:cNvPr>
          <p:cNvSpPr>
            <a:spLocks noGrp="1"/>
          </p:cNvSpPr>
          <p:nvPr>
            <p:ph idx="1"/>
          </p:nvPr>
        </p:nvSpPr>
        <p:spPr/>
        <p:txBody>
          <a:bodyPr/>
          <a:lstStyle/>
          <a:p>
            <a:r>
              <a:rPr lang="en-US" dirty="0"/>
              <a:t>High‑performance in‑memory data store</a:t>
            </a:r>
          </a:p>
          <a:p>
            <a:r>
              <a:rPr lang="en-US" dirty="0"/>
              <a:t>Ideal for caching and real‑time workloads</a:t>
            </a:r>
          </a:p>
          <a:p>
            <a:r>
              <a:rPr lang="en-US" dirty="0"/>
              <a:t>Used across cloud platforms and microservices</a:t>
            </a:r>
          </a:p>
        </p:txBody>
      </p:sp>
    </p:spTree>
    <p:extLst>
      <p:ext uri="{BB962C8B-B14F-4D97-AF65-F5344CB8AC3E}">
        <p14:creationId xmlns:p14="http://schemas.microsoft.com/office/powerpoint/2010/main" val="3195173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1B77C-DCD8-FD14-6DD4-46814A8D3712}"/>
              </a:ext>
            </a:extLst>
          </p:cNvPr>
          <p:cNvSpPr>
            <a:spLocks noGrp="1"/>
          </p:cNvSpPr>
          <p:nvPr>
            <p:ph type="title"/>
          </p:nvPr>
        </p:nvSpPr>
        <p:spPr/>
        <p:txBody>
          <a:bodyPr/>
          <a:lstStyle/>
          <a:p>
            <a:r>
              <a:rPr lang="en-US" dirty="0"/>
              <a:t>Why Learn Redis</a:t>
            </a:r>
          </a:p>
        </p:txBody>
      </p:sp>
      <p:sp>
        <p:nvSpPr>
          <p:cNvPr id="3" name="Content Placeholder 2">
            <a:extLst>
              <a:ext uri="{FF2B5EF4-FFF2-40B4-BE49-F238E27FC236}">
                <a16:creationId xmlns:a16="http://schemas.microsoft.com/office/drawing/2014/main" id="{81D49CA5-EFC7-8CCA-292E-FCBF9EAA4BA4}"/>
              </a:ext>
            </a:extLst>
          </p:cNvPr>
          <p:cNvSpPr>
            <a:spLocks noGrp="1"/>
          </p:cNvSpPr>
          <p:nvPr>
            <p:ph idx="1"/>
          </p:nvPr>
        </p:nvSpPr>
        <p:spPr/>
        <p:txBody>
          <a:bodyPr/>
          <a:lstStyle/>
          <a:p>
            <a:r>
              <a:rPr lang="en-US" dirty="0"/>
              <a:t>Common in industry (Azure, AWS, GCP)</a:t>
            </a:r>
          </a:p>
          <a:p>
            <a:r>
              <a:rPr lang="en-US" dirty="0"/>
              <a:t>Fits perfectly with distributed systems</a:t>
            </a:r>
          </a:p>
          <a:p>
            <a:r>
              <a:rPr lang="en-US" dirty="0"/>
              <a:t>Helps optimize performance</a:t>
            </a:r>
          </a:p>
        </p:txBody>
      </p:sp>
    </p:spTree>
    <p:extLst>
      <p:ext uri="{BB962C8B-B14F-4D97-AF65-F5344CB8AC3E}">
        <p14:creationId xmlns:p14="http://schemas.microsoft.com/office/powerpoint/2010/main" val="35082627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F6E32-B4CE-9AB7-D05C-70824289F36A}"/>
              </a:ext>
            </a:extLst>
          </p:cNvPr>
          <p:cNvSpPr>
            <a:spLocks noGrp="1"/>
          </p:cNvSpPr>
          <p:nvPr>
            <p:ph type="title"/>
          </p:nvPr>
        </p:nvSpPr>
        <p:spPr/>
        <p:txBody>
          <a:bodyPr/>
          <a:lstStyle/>
          <a:p>
            <a:r>
              <a:rPr lang="en-US" dirty="0"/>
              <a:t>What Redis Actually Is</a:t>
            </a:r>
          </a:p>
        </p:txBody>
      </p:sp>
      <p:sp>
        <p:nvSpPr>
          <p:cNvPr id="3" name="Content Placeholder 2">
            <a:extLst>
              <a:ext uri="{FF2B5EF4-FFF2-40B4-BE49-F238E27FC236}">
                <a16:creationId xmlns:a16="http://schemas.microsoft.com/office/drawing/2014/main" id="{B0577F9E-0195-2289-B388-C71E2A26DAA4}"/>
              </a:ext>
            </a:extLst>
          </p:cNvPr>
          <p:cNvSpPr>
            <a:spLocks noGrp="1"/>
          </p:cNvSpPr>
          <p:nvPr>
            <p:ph idx="1"/>
          </p:nvPr>
        </p:nvSpPr>
        <p:spPr/>
        <p:txBody>
          <a:bodyPr/>
          <a:lstStyle/>
          <a:p>
            <a:r>
              <a:rPr lang="en-US" dirty="0"/>
              <a:t>In‑memory key–value store</a:t>
            </a:r>
          </a:p>
          <a:p>
            <a:r>
              <a:rPr lang="en-US" dirty="0"/>
              <a:t>Microsecond‑level latency</a:t>
            </a:r>
          </a:p>
          <a:p>
            <a:r>
              <a:rPr lang="en-US" dirty="0"/>
              <a:t>Supports multiple data structures</a:t>
            </a:r>
          </a:p>
          <a:p>
            <a:r>
              <a:rPr lang="en-US" dirty="0"/>
              <a:t>Open‑source with cloud‑managed options</a:t>
            </a:r>
          </a:p>
        </p:txBody>
      </p:sp>
      <p:grpSp>
        <p:nvGrpSpPr>
          <p:cNvPr id="8" name="Group 7">
            <a:extLst>
              <a:ext uri="{FF2B5EF4-FFF2-40B4-BE49-F238E27FC236}">
                <a16:creationId xmlns:a16="http://schemas.microsoft.com/office/drawing/2014/main" id="{B26A70EF-4453-8E16-5865-F5B26397893C}"/>
              </a:ext>
            </a:extLst>
          </p:cNvPr>
          <p:cNvGrpSpPr/>
          <p:nvPr/>
        </p:nvGrpSpPr>
        <p:grpSpPr>
          <a:xfrm>
            <a:off x="8382000" y="1549400"/>
            <a:ext cx="2971800" cy="3264694"/>
            <a:chOff x="8572500" y="736600"/>
            <a:chExt cx="2971800" cy="3264694"/>
          </a:xfrm>
        </p:grpSpPr>
        <p:sp>
          <p:nvSpPr>
            <p:cNvPr id="4" name="Rectangle 3">
              <a:extLst>
                <a:ext uri="{FF2B5EF4-FFF2-40B4-BE49-F238E27FC236}">
                  <a16:creationId xmlns:a16="http://schemas.microsoft.com/office/drawing/2014/main" id="{D4675465-0BF5-B93A-9211-BF0300685D6D}"/>
                </a:ext>
              </a:extLst>
            </p:cNvPr>
            <p:cNvSpPr/>
            <p:nvPr/>
          </p:nvSpPr>
          <p:spPr>
            <a:xfrm>
              <a:off x="8572500" y="736600"/>
              <a:ext cx="2971800" cy="10890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Application</a:t>
              </a:r>
              <a:endParaRPr lang="en-US" b="1" dirty="0"/>
            </a:p>
          </p:txBody>
        </p:sp>
        <p:sp>
          <p:nvSpPr>
            <p:cNvPr id="5" name="Rectangle 4">
              <a:extLst>
                <a:ext uri="{FF2B5EF4-FFF2-40B4-BE49-F238E27FC236}">
                  <a16:creationId xmlns:a16="http://schemas.microsoft.com/office/drawing/2014/main" id="{CA44BFFF-E4BE-D68E-FFAC-B48FD0E19CB3}"/>
                </a:ext>
              </a:extLst>
            </p:cNvPr>
            <p:cNvSpPr/>
            <p:nvPr/>
          </p:nvSpPr>
          <p:spPr>
            <a:xfrm>
              <a:off x="8572500" y="2912269"/>
              <a:ext cx="2971800" cy="10890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Redis</a:t>
              </a:r>
            </a:p>
            <a:p>
              <a:pPr algn="ctr"/>
              <a:r>
                <a:rPr lang="en-US" dirty="0"/>
                <a:t>In-memory key-value DB</a:t>
              </a:r>
            </a:p>
          </p:txBody>
        </p:sp>
        <p:cxnSp>
          <p:nvCxnSpPr>
            <p:cNvPr id="7" name="Straight Arrow Connector 6">
              <a:extLst>
                <a:ext uri="{FF2B5EF4-FFF2-40B4-BE49-F238E27FC236}">
                  <a16:creationId xmlns:a16="http://schemas.microsoft.com/office/drawing/2014/main" id="{C32327D4-59E0-6A09-4469-3BF30773952C}"/>
                </a:ext>
              </a:extLst>
            </p:cNvPr>
            <p:cNvCxnSpPr>
              <a:stCxn id="4" idx="2"/>
              <a:endCxn id="5" idx="0"/>
            </p:cNvCxnSpPr>
            <p:nvPr/>
          </p:nvCxnSpPr>
          <p:spPr>
            <a:xfrm>
              <a:off x="10058400" y="1825625"/>
              <a:ext cx="0" cy="10866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7323676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27659-983F-CFF5-6132-82356331AF02}"/>
              </a:ext>
            </a:extLst>
          </p:cNvPr>
          <p:cNvSpPr>
            <a:spLocks noGrp="1"/>
          </p:cNvSpPr>
          <p:nvPr>
            <p:ph type="title"/>
          </p:nvPr>
        </p:nvSpPr>
        <p:spPr/>
        <p:txBody>
          <a:bodyPr/>
          <a:lstStyle/>
          <a:p>
            <a:r>
              <a:rPr lang="en-US" dirty="0"/>
              <a:t>Redis Architecture</a:t>
            </a:r>
          </a:p>
        </p:txBody>
      </p:sp>
      <p:sp>
        <p:nvSpPr>
          <p:cNvPr id="3" name="Content Placeholder 2">
            <a:extLst>
              <a:ext uri="{FF2B5EF4-FFF2-40B4-BE49-F238E27FC236}">
                <a16:creationId xmlns:a16="http://schemas.microsoft.com/office/drawing/2014/main" id="{D958D23F-92F3-D7C2-4EB7-8856FDDEEB4E}"/>
              </a:ext>
            </a:extLst>
          </p:cNvPr>
          <p:cNvSpPr>
            <a:spLocks noGrp="1"/>
          </p:cNvSpPr>
          <p:nvPr>
            <p:ph idx="1"/>
          </p:nvPr>
        </p:nvSpPr>
        <p:spPr/>
        <p:txBody>
          <a:bodyPr/>
          <a:lstStyle/>
          <a:p>
            <a:r>
              <a:rPr lang="en-US" dirty="0"/>
              <a:t>Single‑threaded event loop</a:t>
            </a:r>
          </a:p>
          <a:p>
            <a:r>
              <a:rPr lang="en-US" dirty="0"/>
              <a:t>Client–server model</a:t>
            </a:r>
          </a:p>
          <a:p>
            <a:r>
              <a:rPr lang="en-US" dirty="0"/>
              <a:t>Optional persistence (RDB, AOF)</a:t>
            </a:r>
          </a:p>
          <a:p>
            <a:r>
              <a:rPr lang="en-US" dirty="0"/>
              <a:t>Replication and clustering available</a:t>
            </a:r>
          </a:p>
        </p:txBody>
      </p:sp>
      <p:grpSp>
        <p:nvGrpSpPr>
          <p:cNvPr id="11" name="Group 10">
            <a:extLst>
              <a:ext uri="{FF2B5EF4-FFF2-40B4-BE49-F238E27FC236}">
                <a16:creationId xmlns:a16="http://schemas.microsoft.com/office/drawing/2014/main" id="{ABCD9991-63EA-9972-3895-6FF040F1E880}"/>
              </a:ext>
            </a:extLst>
          </p:cNvPr>
          <p:cNvGrpSpPr/>
          <p:nvPr/>
        </p:nvGrpSpPr>
        <p:grpSpPr>
          <a:xfrm>
            <a:off x="8229600" y="1027906"/>
            <a:ext cx="2971800" cy="4546599"/>
            <a:chOff x="8382000" y="1549400"/>
            <a:chExt cx="2971800" cy="4546599"/>
          </a:xfrm>
        </p:grpSpPr>
        <p:sp>
          <p:nvSpPr>
            <p:cNvPr id="5" name="Rectangle 4">
              <a:extLst>
                <a:ext uri="{FF2B5EF4-FFF2-40B4-BE49-F238E27FC236}">
                  <a16:creationId xmlns:a16="http://schemas.microsoft.com/office/drawing/2014/main" id="{3320CF82-E39D-9FC1-B8DB-02AEF9CB470A}"/>
                </a:ext>
              </a:extLst>
            </p:cNvPr>
            <p:cNvSpPr/>
            <p:nvPr/>
          </p:nvSpPr>
          <p:spPr>
            <a:xfrm>
              <a:off x="8382000" y="1549400"/>
              <a:ext cx="2971800" cy="10890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Redis Client</a:t>
              </a:r>
              <a:endParaRPr lang="en-US" b="1" dirty="0"/>
            </a:p>
          </p:txBody>
        </p:sp>
        <p:sp>
          <p:nvSpPr>
            <p:cNvPr id="6" name="Rectangle 5">
              <a:extLst>
                <a:ext uri="{FF2B5EF4-FFF2-40B4-BE49-F238E27FC236}">
                  <a16:creationId xmlns:a16="http://schemas.microsoft.com/office/drawing/2014/main" id="{35F33484-66A3-D0B2-0F80-19D02FE1568C}"/>
                </a:ext>
              </a:extLst>
            </p:cNvPr>
            <p:cNvSpPr/>
            <p:nvPr/>
          </p:nvSpPr>
          <p:spPr>
            <a:xfrm>
              <a:off x="8382000" y="3278187"/>
              <a:ext cx="2971800" cy="10890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Redis Server</a:t>
              </a:r>
            </a:p>
            <a:p>
              <a:pPr algn="ctr"/>
              <a:r>
                <a:rPr lang="en-US" dirty="0"/>
                <a:t>(Single Thread)</a:t>
              </a:r>
            </a:p>
          </p:txBody>
        </p:sp>
        <p:cxnSp>
          <p:nvCxnSpPr>
            <p:cNvPr id="7" name="Straight Arrow Connector 6">
              <a:extLst>
                <a:ext uri="{FF2B5EF4-FFF2-40B4-BE49-F238E27FC236}">
                  <a16:creationId xmlns:a16="http://schemas.microsoft.com/office/drawing/2014/main" id="{05F061AB-CAF9-1A9A-F239-6097570EA5CE}"/>
                </a:ext>
              </a:extLst>
            </p:cNvPr>
            <p:cNvCxnSpPr>
              <a:stCxn id="5" idx="2"/>
              <a:endCxn id="6" idx="0"/>
            </p:cNvCxnSpPr>
            <p:nvPr/>
          </p:nvCxnSpPr>
          <p:spPr>
            <a:xfrm>
              <a:off x="9867900" y="2638425"/>
              <a:ext cx="0" cy="6397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0999C5B0-7DBB-C29F-42B5-918198325630}"/>
                </a:ext>
              </a:extLst>
            </p:cNvPr>
            <p:cNvSpPr/>
            <p:nvPr/>
          </p:nvSpPr>
          <p:spPr>
            <a:xfrm>
              <a:off x="8382000" y="5006974"/>
              <a:ext cx="2971800" cy="10890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Persistence</a:t>
              </a:r>
            </a:p>
            <a:p>
              <a:pPr algn="ctr"/>
              <a:r>
                <a:rPr lang="en-US" dirty="0"/>
                <a:t>(RDB, AOF)</a:t>
              </a:r>
            </a:p>
          </p:txBody>
        </p:sp>
        <p:cxnSp>
          <p:nvCxnSpPr>
            <p:cNvPr id="10" name="Straight Arrow Connector 9">
              <a:extLst>
                <a:ext uri="{FF2B5EF4-FFF2-40B4-BE49-F238E27FC236}">
                  <a16:creationId xmlns:a16="http://schemas.microsoft.com/office/drawing/2014/main" id="{D3ADFFA4-785B-F05E-B8CC-8EDE02ED6326}"/>
                </a:ext>
              </a:extLst>
            </p:cNvPr>
            <p:cNvCxnSpPr>
              <a:endCxn id="9" idx="0"/>
            </p:cNvCxnSpPr>
            <p:nvPr/>
          </p:nvCxnSpPr>
          <p:spPr>
            <a:xfrm>
              <a:off x="9867900" y="4367212"/>
              <a:ext cx="0" cy="6397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6506289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D3FAA-66DA-2B3C-0AEA-6CDCDE8148D6}"/>
              </a:ext>
            </a:extLst>
          </p:cNvPr>
          <p:cNvSpPr>
            <a:spLocks noGrp="1"/>
          </p:cNvSpPr>
          <p:nvPr>
            <p:ph type="title"/>
          </p:nvPr>
        </p:nvSpPr>
        <p:spPr/>
        <p:txBody>
          <a:bodyPr/>
          <a:lstStyle/>
          <a:p>
            <a:r>
              <a:rPr lang="en-US" dirty="0"/>
              <a:t>Redis Data Structures</a:t>
            </a:r>
          </a:p>
        </p:txBody>
      </p:sp>
      <p:sp>
        <p:nvSpPr>
          <p:cNvPr id="3" name="Content Placeholder 2">
            <a:extLst>
              <a:ext uri="{FF2B5EF4-FFF2-40B4-BE49-F238E27FC236}">
                <a16:creationId xmlns:a16="http://schemas.microsoft.com/office/drawing/2014/main" id="{228E8247-6133-FBE4-E317-D5CED0345109}"/>
              </a:ext>
            </a:extLst>
          </p:cNvPr>
          <p:cNvSpPr>
            <a:spLocks noGrp="1"/>
          </p:cNvSpPr>
          <p:nvPr>
            <p:ph idx="1"/>
          </p:nvPr>
        </p:nvSpPr>
        <p:spPr/>
        <p:txBody>
          <a:bodyPr>
            <a:normAutofit/>
          </a:bodyPr>
          <a:lstStyle/>
          <a:p>
            <a:r>
              <a:rPr lang="en-US" dirty="0"/>
              <a:t>Strings</a:t>
            </a:r>
          </a:p>
          <a:p>
            <a:r>
              <a:rPr lang="en-US" dirty="0"/>
              <a:t>Hashes</a:t>
            </a:r>
          </a:p>
          <a:p>
            <a:r>
              <a:rPr lang="en-US" dirty="0"/>
              <a:t>Lists</a:t>
            </a:r>
          </a:p>
          <a:p>
            <a:r>
              <a:rPr lang="en-US" dirty="0"/>
              <a:t>Sets &amp; Sorted Sets</a:t>
            </a:r>
          </a:p>
          <a:p>
            <a:r>
              <a:rPr lang="en-US" dirty="0"/>
              <a:t>Streams</a:t>
            </a:r>
          </a:p>
        </p:txBody>
      </p:sp>
    </p:spTree>
    <p:extLst>
      <p:ext uri="{BB962C8B-B14F-4D97-AF65-F5344CB8AC3E}">
        <p14:creationId xmlns:p14="http://schemas.microsoft.com/office/powerpoint/2010/main" val="222585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B05A7-4663-575E-9EFB-03FF1628DD14}"/>
              </a:ext>
            </a:extLst>
          </p:cNvPr>
          <p:cNvSpPr>
            <a:spLocks noGrp="1"/>
          </p:cNvSpPr>
          <p:nvPr>
            <p:ph type="title"/>
          </p:nvPr>
        </p:nvSpPr>
        <p:spPr/>
        <p:txBody>
          <a:bodyPr/>
          <a:lstStyle/>
          <a:p>
            <a:r>
              <a:rPr lang="en-US" dirty="0"/>
              <a:t>Redis as a Cache</a:t>
            </a:r>
          </a:p>
        </p:txBody>
      </p:sp>
      <p:sp>
        <p:nvSpPr>
          <p:cNvPr id="3" name="Content Placeholder 2">
            <a:extLst>
              <a:ext uri="{FF2B5EF4-FFF2-40B4-BE49-F238E27FC236}">
                <a16:creationId xmlns:a16="http://schemas.microsoft.com/office/drawing/2014/main" id="{7BDE3450-87D4-F519-D132-52E15D034518}"/>
              </a:ext>
            </a:extLst>
          </p:cNvPr>
          <p:cNvSpPr>
            <a:spLocks noGrp="1"/>
          </p:cNvSpPr>
          <p:nvPr>
            <p:ph idx="1"/>
          </p:nvPr>
        </p:nvSpPr>
        <p:spPr/>
        <p:txBody>
          <a:bodyPr/>
          <a:lstStyle/>
          <a:p>
            <a:r>
              <a:rPr lang="en-US" dirty="0"/>
              <a:t>Reduces database load</a:t>
            </a:r>
          </a:p>
          <a:p>
            <a:r>
              <a:rPr lang="en-US" dirty="0"/>
              <a:t>Improves response times</a:t>
            </a:r>
          </a:p>
          <a:p>
            <a:r>
              <a:rPr lang="en-US" dirty="0"/>
              <a:t>TTL (time to live) for automatic expiration</a:t>
            </a:r>
          </a:p>
          <a:p>
            <a:r>
              <a:rPr lang="en-US" dirty="0"/>
              <a:t>Ideal for session storage</a:t>
            </a:r>
          </a:p>
        </p:txBody>
      </p:sp>
    </p:spTree>
    <p:extLst>
      <p:ext uri="{BB962C8B-B14F-4D97-AF65-F5344CB8AC3E}">
        <p14:creationId xmlns:p14="http://schemas.microsoft.com/office/powerpoint/2010/main" val="2679421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AA34C-DE5B-E97F-3655-1E42F62B6F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7965A4-65DA-32BF-BB40-0C1E43D8F03A}"/>
              </a:ext>
            </a:extLst>
          </p:cNvPr>
          <p:cNvSpPr>
            <a:spLocks noGrp="1"/>
          </p:cNvSpPr>
          <p:nvPr>
            <p:ph type="title"/>
          </p:nvPr>
        </p:nvSpPr>
        <p:spPr/>
        <p:txBody>
          <a:bodyPr/>
          <a:lstStyle/>
          <a:p>
            <a:r>
              <a:rPr lang="en-US" dirty="0"/>
              <a:t>Redis Architecture</a:t>
            </a:r>
          </a:p>
        </p:txBody>
      </p:sp>
      <p:sp>
        <p:nvSpPr>
          <p:cNvPr id="3" name="Content Placeholder 2">
            <a:extLst>
              <a:ext uri="{FF2B5EF4-FFF2-40B4-BE49-F238E27FC236}">
                <a16:creationId xmlns:a16="http://schemas.microsoft.com/office/drawing/2014/main" id="{CD0BC4C5-F456-896B-24AE-060F2BE7692E}"/>
              </a:ext>
            </a:extLst>
          </p:cNvPr>
          <p:cNvSpPr>
            <a:spLocks noGrp="1"/>
          </p:cNvSpPr>
          <p:nvPr>
            <p:ph idx="1"/>
          </p:nvPr>
        </p:nvSpPr>
        <p:spPr/>
        <p:txBody>
          <a:bodyPr/>
          <a:lstStyle/>
          <a:p>
            <a:r>
              <a:rPr lang="en-US" dirty="0"/>
              <a:t>Single‑threaded event loop</a:t>
            </a:r>
          </a:p>
          <a:p>
            <a:r>
              <a:rPr lang="en-US" dirty="0"/>
              <a:t>Client–server model</a:t>
            </a:r>
          </a:p>
          <a:p>
            <a:r>
              <a:rPr lang="en-US" dirty="0"/>
              <a:t>Optional persistence (RDB, AOF)</a:t>
            </a:r>
          </a:p>
          <a:p>
            <a:r>
              <a:rPr lang="en-US" dirty="0"/>
              <a:t>Replication and clustering available</a:t>
            </a:r>
          </a:p>
        </p:txBody>
      </p:sp>
      <p:grpSp>
        <p:nvGrpSpPr>
          <p:cNvPr id="24" name="Group 23">
            <a:extLst>
              <a:ext uri="{FF2B5EF4-FFF2-40B4-BE49-F238E27FC236}">
                <a16:creationId xmlns:a16="http://schemas.microsoft.com/office/drawing/2014/main" id="{FC97FFD1-29E6-6BA8-E0CF-4C23929862BE}"/>
              </a:ext>
            </a:extLst>
          </p:cNvPr>
          <p:cNvGrpSpPr/>
          <p:nvPr/>
        </p:nvGrpSpPr>
        <p:grpSpPr>
          <a:xfrm>
            <a:off x="7162800" y="1116806"/>
            <a:ext cx="4540250" cy="4340622"/>
            <a:chOff x="7162800" y="469106"/>
            <a:chExt cx="4540250" cy="4340622"/>
          </a:xfrm>
        </p:grpSpPr>
        <p:sp>
          <p:nvSpPr>
            <p:cNvPr id="5" name="Rectangle 4">
              <a:extLst>
                <a:ext uri="{FF2B5EF4-FFF2-40B4-BE49-F238E27FC236}">
                  <a16:creationId xmlns:a16="http://schemas.microsoft.com/office/drawing/2014/main" id="{FB37549B-3C4E-0E81-4E3A-9B363343ABBE}"/>
                </a:ext>
              </a:extLst>
            </p:cNvPr>
            <p:cNvSpPr/>
            <p:nvPr/>
          </p:nvSpPr>
          <p:spPr>
            <a:xfrm>
              <a:off x="7747000" y="469106"/>
              <a:ext cx="2971800" cy="5675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Application</a:t>
              </a:r>
              <a:endParaRPr lang="en-US" b="1" dirty="0"/>
            </a:p>
          </p:txBody>
        </p:sp>
        <p:sp>
          <p:nvSpPr>
            <p:cNvPr id="6" name="Rectangle 5">
              <a:extLst>
                <a:ext uri="{FF2B5EF4-FFF2-40B4-BE49-F238E27FC236}">
                  <a16:creationId xmlns:a16="http://schemas.microsoft.com/office/drawing/2014/main" id="{6F55DB63-D82C-1F40-1909-F72280FB5AFC}"/>
                </a:ext>
              </a:extLst>
            </p:cNvPr>
            <p:cNvSpPr/>
            <p:nvPr/>
          </p:nvSpPr>
          <p:spPr>
            <a:xfrm>
              <a:off x="7747000" y="1456131"/>
              <a:ext cx="2971800" cy="7334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Check Redis</a:t>
              </a:r>
            </a:p>
            <a:p>
              <a:pPr algn="ctr"/>
              <a:r>
                <a:rPr lang="en-US" dirty="0"/>
                <a:t>(Cache Hit)</a:t>
              </a:r>
            </a:p>
          </p:txBody>
        </p:sp>
        <p:cxnSp>
          <p:nvCxnSpPr>
            <p:cNvPr id="7" name="Straight Arrow Connector 6">
              <a:extLst>
                <a:ext uri="{FF2B5EF4-FFF2-40B4-BE49-F238E27FC236}">
                  <a16:creationId xmlns:a16="http://schemas.microsoft.com/office/drawing/2014/main" id="{6D283CC5-6DE7-B644-B3B6-CB9207EFFDFD}"/>
                </a:ext>
              </a:extLst>
            </p:cNvPr>
            <p:cNvCxnSpPr>
              <a:cxnSpLocks/>
              <a:stCxn id="5" idx="2"/>
              <a:endCxn id="6" idx="0"/>
            </p:cNvCxnSpPr>
            <p:nvPr/>
          </p:nvCxnSpPr>
          <p:spPr>
            <a:xfrm>
              <a:off x="9232900" y="1036635"/>
              <a:ext cx="0" cy="4194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C286F447-8485-0CDF-4996-FEA429C9910D}"/>
                </a:ext>
              </a:extLst>
            </p:cNvPr>
            <p:cNvSpPr/>
            <p:nvPr/>
          </p:nvSpPr>
          <p:spPr>
            <a:xfrm>
              <a:off x="7162800" y="2950963"/>
              <a:ext cx="1968500" cy="7334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Return Data</a:t>
              </a:r>
            </a:p>
          </p:txBody>
        </p:sp>
        <p:sp>
          <p:nvSpPr>
            <p:cNvPr id="13" name="Rectangle 12">
              <a:extLst>
                <a:ext uri="{FF2B5EF4-FFF2-40B4-BE49-F238E27FC236}">
                  <a16:creationId xmlns:a16="http://schemas.microsoft.com/office/drawing/2014/main" id="{F97D61D4-BC40-D868-7730-8E9C0228A8B4}"/>
                </a:ext>
              </a:extLst>
            </p:cNvPr>
            <p:cNvSpPr/>
            <p:nvPr/>
          </p:nvSpPr>
          <p:spPr>
            <a:xfrm>
              <a:off x="9734550" y="2950963"/>
              <a:ext cx="1968500" cy="7334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Query Database</a:t>
              </a:r>
            </a:p>
          </p:txBody>
        </p:sp>
        <p:sp>
          <p:nvSpPr>
            <p:cNvPr id="14" name="Rectangle 13">
              <a:extLst>
                <a:ext uri="{FF2B5EF4-FFF2-40B4-BE49-F238E27FC236}">
                  <a16:creationId xmlns:a16="http://schemas.microsoft.com/office/drawing/2014/main" id="{5B196078-F490-3719-1EE5-4D506C0AE363}"/>
                </a:ext>
              </a:extLst>
            </p:cNvPr>
            <p:cNvSpPr/>
            <p:nvPr/>
          </p:nvSpPr>
          <p:spPr>
            <a:xfrm>
              <a:off x="9734550" y="4197249"/>
              <a:ext cx="1968500" cy="6124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Return Data</a:t>
              </a:r>
            </a:p>
          </p:txBody>
        </p:sp>
        <p:cxnSp>
          <p:nvCxnSpPr>
            <p:cNvPr id="16" name="Elbow Connector 15">
              <a:extLst>
                <a:ext uri="{FF2B5EF4-FFF2-40B4-BE49-F238E27FC236}">
                  <a16:creationId xmlns:a16="http://schemas.microsoft.com/office/drawing/2014/main" id="{152D5BFF-2A0F-0902-64D4-8EA3C09ADF00}"/>
                </a:ext>
              </a:extLst>
            </p:cNvPr>
            <p:cNvCxnSpPr>
              <a:stCxn id="6" idx="2"/>
              <a:endCxn id="9" idx="0"/>
            </p:cNvCxnSpPr>
            <p:nvPr/>
          </p:nvCxnSpPr>
          <p:spPr>
            <a:xfrm rot="5400000">
              <a:off x="8309273" y="2027335"/>
              <a:ext cx="761405" cy="108585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Elbow Connector 17">
              <a:extLst>
                <a:ext uri="{FF2B5EF4-FFF2-40B4-BE49-F238E27FC236}">
                  <a16:creationId xmlns:a16="http://schemas.microsoft.com/office/drawing/2014/main" id="{763CCEA0-033D-B3AB-52B2-33F763FAD659}"/>
                </a:ext>
              </a:extLst>
            </p:cNvPr>
            <p:cNvCxnSpPr>
              <a:stCxn id="6" idx="2"/>
              <a:endCxn id="13" idx="0"/>
            </p:cNvCxnSpPr>
            <p:nvPr/>
          </p:nvCxnSpPr>
          <p:spPr>
            <a:xfrm rot="16200000" flipH="1">
              <a:off x="9595148" y="1827310"/>
              <a:ext cx="761405" cy="14859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2E2375B3-D5BF-DEB1-665E-863D7F029B5E}"/>
                </a:ext>
              </a:extLst>
            </p:cNvPr>
            <p:cNvCxnSpPr>
              <a:cxnSpLocks/>
              <a:stCxn id="13" idx="2"/>
              <a:endCxn id="14" idx="0"/>
            </p:cNvCxnSpPr>
            <p:nvPr/>
          </p:nvCxnSpPr>
          <p:spPr>
            <a:xfrm>
              <a:off x="10718800" y="3684390"/>
              <a:ext cx="0" cy="51285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B11443E4-41E2-E8AA-514E-B668426B3F8B}"/>
                </a:ext>
              </a:extLst>
            </p:cNvPr>
            <p:cNvSpPr txBox="1"/>
            <p:nvPr/>
          </p:nvSpPr>
          <p:spPr>
            <a:xfrm>
              <a:off x="8220120" y="2217536"/>
              <a:ext cx="520655" cy="369332"/>
            </a:xfrm>
            <a:prstGeom prst="rect">
              <a:avLst/>
            </a:prstGeom>
            <a:noFill/>
          </p:spPr>
          <p:txBody>
            <a:bodyPr wrap="none" rtlCol="0">
              <a:spAutoFit/>
            </a:bodyPr>
            <a:lstStyle/>
            <a:p>
              <a:r>
                <a:rPr lang="en-US" dirty="0"/>
                <a:t>yes</a:t>
              </a:r>
            </a:p>
          </p:txBody>
        </p:sp>
        <p:sp>
          <p:nvSpPr>
            <p:cNvPr id="23" name="TextBox 22">
              <a:extLst>
                <a:ext uri="{FF2B5EF4-FFF2-40B4-BE49-F238E27FC236}">
                  <a16:creationId xmlns:a16="http://schemas.microsoft.com/office/drawing/2014/main" id="{ADF1FDD5-FCD8-8119-2088-679B7971A651}"/>
                </a:ext>
              </a:extLst>
            </p:cNvPr>
            <p:cNvSpPr txBox="1"/>
            <p:nvPr/>
          </p:nvSpPr>
          <p:spPr>
            <a:xfrm>
              <a:off x="10169526" y="2230849"/>
              <a:ext cx="437940" cy="369332"/>
            </a:xfrm>
            <a:prstGeom prst="rect">
              <a:avLst/>
            </a:prstGeom>
            <a:noFill/>
          </p:spPr>
          <p:txBody>
            <a:bodyPr wrap="none" rtlCol="0">
              <a:spAutoFit/>
            </a:bodyPr>
            <a:lstStyle/>
            <a:p>
              <a:r>
                <a:rPr lang="en-US" dirty="0"/>
                <a:t>no</a:t>
              </a:r>
            </a:p>
          </p:txBody>
        </p:sp>
      </p:grpSp>
    </p:spTree>
    <p:extLst>
      <p:ext uri="{BB962C8B-B14F-4D97-AF65-F5344CB8AC3E}">
        <p14:creationId xmlns:p14="http://schemas.microsoft.com/office/powerpoint/2010/main" val="704080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C5129-88B2-DE7A-05C2-3764F22444D0}"/>
              </a:ext>
            </a:extLst>
          </p:cNvPr>
          <p:cNvSpPr>
            <a:spLocks noGrp="1"/>
          </p:cNvSpPr>
          <p:nvPr>
            <p:ph type="title"/>
          </p:nvPr>
        </p:nvSpPr>
        <p:spPr/>
        <p:txBody>
          <a:bodyPr/>
          <a:lstStyle/>
          <a:p>
            <a:r>
              <a:rPr lang="en-US" dirty="0"/>
              <a:t>Persistence Options</a:t>
            </a:r>
          </a:p>
        </p:txBody>
      </p:sp>
      <p:sp>
        <p:nvSpPr>
          <p:cNvPr id="3" name="Content Placeholder 2">
            <a:extLst>
              <a:ext uri="{FF2B5EF4-FFF2-40B4-BE49-F238E27FC236}">
                <a16:creationId xmlns:a16="http://schemas.microsoft.com/office/drawing/2014/main" id="{C6BDE005-6877-0654-C926-990D7A9142E5}"/>
              </a:ext>
            </a:extLst>
          </p:cNvPr>
          <p:cNvSpPr>
            <a:spLocks noGrp="1"/>
          </p:cNvSpPr>
          <p:nvPr>
            <p:ph idx="1"/>
          </p:nvPr>
        </p:nvSpPr>
        <p:spPr/>
        <p:txBody>
          <a:bodyPr/>
          <a:lstStyle/>
          <a:p>
            <a:r>
              <a:rPr lang="en-US" dirty="0"/>
              <a:t>RDB (Redis database) snapshots (periodic)</a:t>
            </a:r>
          </a:p>
          <a:p>
            <a:r>
              <a:rPr lang="en-US" dirty="0"/>
              <a:t>AOF (Append‑Only File)</a:t>
            </a:r>
          </a:p>
          <a:p>
            <a:r>
              <a:rPr lang="en-US" dirty="0"/>
              <a:t>Hybrid mode</a:t>
            </a:r>
          </a:p>
          <a:p>
            <a:r>
              <a:rPr lang="en-US" dirty="0"/>
              <a:t>Trade‑off: speed vs durability</a:t>
            </a:r>
          </a:p>
        </p:txBody>
      </p:sp>
      <p:grpSp>
        <p:nvGrpSpPr>
          <p:cNvPr id="25" name="Group 24">
            <a:extLst>
              <a:ext uri="{FF2B5EF4-FFF2-40B4-BE49-F238E27FC236}">
                <a16:creationId xmlns:a16="http://schemas.microsoft.com/office/drawing/2014/main" id="{2766AF59-0BAF-03D2-C0A6-681DB43BE4AE}"/>
              </a:ext>
            </a:extLst>
          </p:cNvPr>
          <p:cNvGrpSpPr/>
          <p:nvPr/>
        </p:nvGrpSpPr>
        <p:grpSpPr>
          <a:xfrm>
            <a:off x="7886698" y="1771650"/>
            <a:ext cx="3740153" cy="2470494"/>
            <a:chOff x="7480298" y="2118139"/>
            <a:chExt cx="3740153" cy="2470494"/>
          </a:xfrm>
        </p:grpSpPr>
        <p:sp>
          <p:nvSpPr>
            <p:cNvPr id="6" name="Rectangle 5">
              <a:extLst>
                <a:ext uri="{FF2B5EF4-FFF2-40B4-BE49-F238E27FC236}">
                  <a16:creationId xmlns:a16="http://schemas.microsoft.com/office/drawing/2014/main" id="{95A3ACF7-B0A3-9BC3-A507-3B8B70C3758A}"/>
                </a:ext>
              </a:extLst>
            </p:cNvPr>
            <p:cNvSpPr/>
            <p:nvPr/>
          </p:nvSpPr>
          <p:spPr>
            <a:xfrm>
              <a:off x="8480447" y="2118139"/>
              <a:ext cx="1752601" cy="7334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Redis</a:t>
              </a:r>
            </a:p>
          </p:txBody>
        </p:sp>
        <p:sp>
          <p:nvSpPr>
            <p:cNvPr id="8" name="Rectangle 7">
              <a:extLst>
                <a:ext uri="{FF2B5EF4-FFF2-40B4-BE49-F238E27FC236}">
                  <a16:creationId xmlns:a16="http://schemas.microsoft.com/office/drawing/2014/main" id="{1A05EE15-110F-61C2-E6CF-EC68FECF252F}"/>
                </a:ext>
              </a:extLst>
            </p:cNvPr>
            <p:cNvSpPr/>
            <p:nvPr/>
          </p:nvSpPr>
          <p:spPr>
            <a:xfrm>
              <a:off x="7480298" y="3602596"/>
              <a:ext cx="1485901" cy="9860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RDB</a:t>
              </a:r>
            </a:p>
            <a:p>
              <a:pPr algn="ctr"/>
              <a:r>
                <a:rPr lang="en-US" dirty="0"/>
                <a:t>Snap</a:t>
              </a:r>
              <a:endParaRPr lang="en-US" sz="2400" dirty="0"/>
            </a:p>
          </p:txBody>
        </p:sp>
        <p:sp>
          <p:nvSpPr>
            <p:cNvPr id="9" name="Rectangle 8">
              <a:extLst>
                <a:ext uri="{FF2B5EF4-FFF2-40B4-BE49-F238E27FC236}">
                  <a16:creationId xmlns:a16="http://schemas.microsoft.com/office/drawing/2014/main" id="{93A9F783-30BB-19D5-CC4A-6DF17222222D}"/>
                </a:ext>
              </a:extLst>
            </p:cNvPr>
            <p:cNvSpPr/>
            <p:nvPr/>
          </p:nvSpPr>
          <p:spPr>
            <a:xfrm>
              <a:off x="9734550" y="3598663"/>
              <a:ext cx="1485901" cy="9860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AOF </a:t>
              </a:r>
            </a:p>
            <a:p>
              <a:pPr algn="ctr"/>
              <a:r>
                <a:rPr lang="en-US" dirty="0"/>
                <a:t>Append</a:t>
              </a:r>
            </a:p>
          </p:txBody>
        </p:sp>
        <p:cxnSp>
          <p:nvCxnSpPr>
            <p:cNvPr id="11" name="Elbow Connector 10">
              <a:extLst>
                <a:ext uri="{FF2B5EF4-FFF2-40B4-BE49-F238E27FC236}">
                  <a16:creationId xmlns:a16="http://schemas.microsoft.com/office/drawing/2014/main" id="{7EA45114-6366-492D-9735-70F0D2140F95}"/>
                </a:ext>
              </a:extLst>
            </p:cNvPr>
            <p:cNvCxnSpPr>
              <a:cxnSpLocks/>
              <a:stCxn id="6" idx="2"/>
              <a:endCxn id="8" idx="0"/>
            </p:cNvCxnSpPr>
            <p:nvPr/>
          </p:nvCxnSpPr>
          <p:spPr>
            <a:xfrm rot="5400000">
              <a:off x="8414484" y="2660332"/>
              <a:ext cx="751030" cy="1133499"/>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Elbow Connector 11">
              <a:extLst>
                <a:ext uri="{FF2B5EF4-FFF2-40B4-BE49-F238E27FC236}">
                  <a16:creationId xmlns:a16="http://schemas.microsoft.com/office/drawing/2014/main" id="{E81FB3BD-FAFC-9CC3-1C1C-4C9C1E7C7D3B}"/>
                </a:ext>
              </a:extLst>
            </p:cNvPr>
            <p:cNvCxnSpPr>
              <a:cxnSpLocks/>
              <a:stCxn id="6" idx="2"/>
              <a:endCxn id="9" idx="0"/>
            </p:cNvCxnSpPr>
            <p:nvPr/>
          </p:nvCxnSpPr>
          <p:spPr>
            <a:xfrm rot="16200000" flipH="1">
              <a:off x="9543576" y="2664737"/>
              <a:ext cx="747097" cy="1120753"/>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885910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E530F-5D4B-4EF3-41CA-B1CA4991DBC2}"/>
              </a:ext>
            </a:extLst>
          </p:cNvPr>
          <p:cNvSpPr>
            <a:spLocks noGrp="1"/>
          </p:cNvSpPr>
          <p:nvPr>
            <p:ph type="title"/>
          </p:nvPr>
        </p:nvSpPr>
        <p:spPr/>
        <p:txBody>
          <a:bodyPr/>
          <a:lstStyle/>
          <a:p>
            <a:r>
              <a:rPr lang="en-US" dirty="0"/>
              <a:t>High Availability &amp; Scaling</a:t>
            </a:r>
          </a:p>
        </p:txBody>
      </p:sp>
      <p:sp>
        <p:nvSpPr>
          <p:cNvPr id="3" name="Content Placeholder 2">
            <a:extLst>
              <a:ext uri="{FF2B5EF4-FFF2-40B4-BE49-F238E27FC236}">
                <a16:creationId xmlns:a16="http://schemas.microsoft.com/office/drawing/2014/main" id="{162B2756-0EE7-5F9E-A581-24F8BCFB91C8}"/>
              </a:ext>
            </a:extLst>
          </p:cNvPr>
          <p:cNvSpPr>
            <a:spLocks noGrp="1"/>
          </p:cNvSpPr>
          <p:nvPr>
            <p:ph idx="1"/>
          </p:nvPr>
        </p:nvSpPr>
        <p:spPr/>
        <p:txBody>
          <a:bodyPr/>
          <a:lstStyle/>
          <a:p>
            <a:r>
              <a:rPr lang="en-US" dirty="0"/>
              <a:t>Master–replica replication</a:t>
            </a:r>
          </a:p>
          <a:p>
            <a:r>
              <a:rPr lang="en-US" dirty="0"/>
              <a:t>Redis Sentinel for failover</a:t>
            </a:r>
          </a:p>
          <a:p>
            <a:r>
              <a:rPr lang="en-US" dirty="0"/>
              <a:t>Redis Cluster for sharding</a:t>
            </a:r>
          </a:p>
          <a:p>
            <a:r>
              <a:rPr lang="en-US" dirty="0"/>
              <a:t>Horizontal scaling for large datasets</a:t>
            </a:r>
          </a:p>
        </p:txBody>
      </p:sp>
      <p:grpSp>
        <p:nvGrpSpPr>
          <p:cNvPr id="16" name="Group 15">
            <a:extLst>
              <a:ext uri="{FF2B5EF4-FFF2-40B4-BE49-F238E27FC236}">
                <a16:creationId xmlns:a16="http://schemas.microsoft.com/office/drawing/2014/main" id="{E38E5953-5770-8FEC-5BB2-FD5CCFC96D2B}"/>
              </a:ext>
            </a:extLst>
          </p:cNvPr>
          <p:cNvGrpSpPr/>
          <p:nvPr/>
        </p:nvGrpSpPr>
        <p:grpSpPr>
          <a:xfrm>
            <a:off x="7734298" y="1212506"/>
            <a:ext cx="3740153" cy="3934568"/>
            <a:chOff x="7734298" y="1212506"/>
            <a:chExt cx="3740153" cy="3934568"/>
          </a:xfrm>
        </p:grpSpPr>
        <p:sp>
          <p:nvSpPr>
            <p:cNvPr id="5" name="Rectangle 4">
              <a:extLst>
                <a:ext uri="{FF2B5EF4-FFF2-40B4-BE49-F238E27FC236}">
                  <a16:creationId xmlns:a16="http://schemas.microsoft.com/office/drawing/2014/main" id="{6016242A-DE08-29DD-3D6B-C2FDFBC67485}"/>
                </a:ext>
              </a:extLst>
            </p:cNvPr>
            <p:cNvSpPr/>
            <p:nvPr/>
          </p:nvSpPr>
          <p:spPr>
            <a:xfrm>
              <a:off x="8734447" y="1212506"/>
              <a:ext cx="1752601" cy="7334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Client</a:t>
              </a:r>
            </a:p>
          </p:txBody>
        </p:sp>
        <p:sp>
          <p:nvSpPr>
            <p:cNvPr id="6" name="Rectangle 5">
              <a:extLst>
                <a:ext uri="{FF2B5EF4-FFF2-40B4-BE49-F238E27FC236}">
                  <a16:creationId xmlns:a16="http://schemas.microsoft.com/office/drawing/2014/main" id="{B0531A7C-7FD1-A786-B34F-D0C6B9380107}"/>
                </a:ext>
              </a:extLst>
            </p:cNvPr>
            <p:cNvSpPr/>
            <p:nvPr/>
          </p:nvSpPr>
          <p:spPr>
            <a:xfrm>
              <a:off x="7734298" y="2696963"/>
              <a:ext cx="1485901" cy="9860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Master 1</a:t>
              </a:r>
              <a:endParaRPr lang="en-US" sz="2400" dirty="0"/>
            </a:p>
          </p:txBody>
        </p:sp>
        <p:sp>
          <p:nvSpPr>
            <p:cNvPr id="7" name="Rectangle 6">
              <a:extLst>
                <a:ext uri="{FF2B5EF4-FFF2-40B4-BE49-F238E27FC236}">
                  <a16:creationId xmlns:a16="http://schemas.microsoft.com/office/drawing/2014/main" id="{640FB1D7-6B0C-94F7-AF96-0E2E67F65B67}"/>
                </a:ext>
              </a:extLst>
            </p:cNvPr>
            <p:cNvSpPr/>
            <p:nvPr/>
          </p:nvSpPr>
          <p:spPr>
            <a:xfrm>
              <a:off x="9988550" y="2693030"/>
              <a:ext cx="1485901" cy="9860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Master 2</a:t>
              </a:r>
              <a:endParaRPr lang="en-US" dirty="0"/>
            </a:p>
          </p:txBody>
        </p:sp>
        <p:cxnSp>
          <p:nvCxnSpPr>
            <p:cNvPr id="8" name="Elbow Connector 7">
              <a:extLst>
                <a:ext uri="{FF2B5EF4-FFF2-40B4-BE49-F238E27FC236}">
                  <a16:creationId xmlns:a16="http://schemas.microsoft.com/office/drawing/2014/main" id="{3F4C4289-87E8-CD3E-F375-515057E3896B}"/>
                </a:ext>
              </a:extLst>
            </p:cNvPr>
            <p:cNvCxnSpPr>
              <a:cxnSpLocks/>
              <a:stCxn id="5" idx="2"/>
              <a:endCxn id="6" idx="0"/>
            </p:cNvCxnSpPr>
            <p:nvPr/>
          </p:nvCxnSpPr>
          <p:spPr>
            <a:xfrm rot="5400000">
              <a:off x="8668484" y="1754699"/>
              <a:ext cx="751030" cy="1133499"/>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Elbow Connector 8">
              <a:extLst>
                <a:ext uri="{FF2B5EF4-FFF2-40B4-BE49-F238E27FC236}">
                  <a16:creationId xmlns:a16="http://schemas.microsoft.com/office/drawing/2014/main" id="{2977D72A-EF59-443F-EE93-61F03A2A7150}"/>
                </a:ext>
              </a:extLst>
            </p:cNvPr>
            <p:cNvCxnSpPr>
              <a:cxnSpLocks/>
              <a:stCxn id="5" idx="2"/>
              <a:endCxn id="7" idx="0"/>
            </p:cNvCxnSpPr>
            <p:nvPr/>
          </p:nvCxnSpPr>
          <p:spPr>
            <a:xfrm rot="16200000" flipH="1">
              <a:off x="9797576" y="1759104"/>
              <a:ext cx="747097" cy="1120753"/>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C2E4C1F-7A68-A515-6CE0-CFCE1BE8AF73}"/>
                </a:ext>
              </a:extLst>
            </p:cNvPr>
            <p:cNvSpPr/>
            <p:nvPr/>
          </p:nvSpPr>
          <p:spPr>
            <a:xfrm>
              <a:off x="7734298" y="4161037"/>
              <a:ext cx="1485901" cy="9860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Replica 1</a:t>
              </a:r>
              <a:endParaRPr lang="en-US" sz="2400" dirty="0"/>
            </a:p>
          </p:txBody>
        </p:sp>
        <p:sp>
          <p:nvSpPr>
            <p:cNvPr id="11" name="Rectangle 10">
              <a:extLst>
                <a:ext uri="{FF2B5EF4-FFF2-40B4-BE49-F238E27FC236}">
                  <a16:creationId xmlns:a16="http://schemas.microsoft.com/office/drawing/2014/main" id="{4901F95E-1CC4-B978-AAE0-C9FFE2259B57}"/>
                </a:ext>
              </a:extLst>
            </p:cNvPr>
            <p:cNvSpPr/>
            <p:nvPr/>
          </p:nvSpPr>
          <p:spPr>
            <a:xfrm>
              <a:off x="9988549" y="4161036"/>
              <a:ext cx="1485901" cy="9860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Replica 2</a:t>
              </a:r>
              <a:endParaRPr lang="en-US" sz="2400" dirty="0"/>
            </a:p>
          </p:txBody>
        </p:sp>
        <p:cxnSp>
          <p:nvCxnSpPr>
            <p:cNvPr id="13" name="Straight Arrow Connector 12">
              <a:extLst>
                <a:ext uri="{FF2B5EF4-FFF2-40B4-BE49-F238E27FC236}">
                  <a16:creationId xmlns:a16="http://schemas.microsoft.com/office/drawing/2014/main" id="{C47F4309-602B-3B01-4A23-B0CE41199A69}"/>
                </a:ext>
              </a:extLst>
            </p:cNvPr>
            <p:cNvCxnSpPr>
              <a:stCxn id="6" idx="2"/>
              <a:endCxn id="10" idx="0"/>
            </p:cNvCxnSpPr>
            <p:nvPr/>
          </p:nvCxnSpPr>
          <p:spPr>
            <a:xfrm>
              <a:off x="8477249" y="3683000"/>
              <a:ext cx="0" cy="4780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8223DFB7-DF0A-F3CD-676F-24835965A36C}"/>
                </a:ext>
              </a:extLst>
            </p:cNvPr>
            <p:cNvCxnSpPr>
              <a:stCxn id="7" idx="2"/>
              <a:endCxn id="11" idx="0"/>
            </p:cNvCxnSpPr>
            <p:nvPr/>
          </p:nvCxnSpPr>
          <p:spPr>
            <a:xfrm flipH="1">
              <a:off x="10731500" y="3679067"/>
              <a:ext cx="1" cy="48196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3652351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FF8D8-F99B-143D-EC37-54E5AD550C66}"/>
              </a:ext>
            </a:extLst>
          </p:cNvPr>
          <p:cNvSpPr>
            <a:spLocks noGrp="1"/>
          </p:cNvSpPr>
          <p:nvPr>
            <p:ph type="title"/>
          </p:nvPr>
        </p:nvSpPr>
        <p:spPr/>
        <p:txBody>
          <a:bodyPr/>
          <a:lstStyle/>
          <a:p>
            <a:r>
              <a:rPr lang="en-US" dirty="0"/>
              <a:t>Security &amp; Best Practices</a:t>
            </a:r>
          </a:p>
        </p:txBody>
      </p:sp>
      <p:sp>
        <p:nvSpPr>
          <p:cNvPr id="3" name="Content Placeholder 2">
            <a:extLst>
              <a:ext uri="{FF2B5EF4-FFF2-40B4-BE49-F238E27FC236}">
                <a16:creationId xmlns:a16="http://schemas.microsoft.com/office/drawing/2014/main" id="{09446082-4318-A702-66F4-19EE12A775C6}"/>
              </a:ext>
            </a:extLst>
          </p:cNvPr>
          <p:cNvSpPr>
            <a:spLocks noGrp="1"/>
          </p:cNvSpPr>
          <p:nvPr>
            <p:ph idx="1"/>
          </p:nvPr>
        </p:nvSpPr>
        <p:spPr/>
        <p:txBody>
          <a:bodyPr/>
          <a:lstStyle/>
          <a:p>
            <a:r>
              <a:rPr lang="en-US" dirty="0"/>
              <a:t>Enable AUTH &amp; ACLs (Access Control Lists)</a:t>
            </a:r>
          </a:p>
          <a:p>
            <a:r>
              <a:rPr lang="en-US" dirty="0"/>
              <a:t>Use TLS</a:t>
            </a:r>
          </a:p>
          <a:p>
            <a:r>
              <a:rPr lang="en-US" dirty="0"/>
              <a:t>Don’t expose Redis to the internet</a:t>
            </a:r>
          </a:p>
          <a:p>
            <a:r>
              <a:rPr lang="en-US" dirty="0"/>
              <a:t>Monitor memory &amp; eviction policies</a:t>
            </a:r>
          </a:p>
        </p:txBody>
      </p:sp>
      <p:grpSp>
        <p:nvGrpSpPr>
          <p:cNvPr id="19" name="Group 18">
            <a:extLst>
              <a:ext uri="{FF2B5EF4-FFF2-40B4-BE49-F238E27FC236}">
                <a16:creationId xmlns:a16="http://schemas.microsoft.com/office/drawing/2014/main" id="{133AF977-9B33-FFDD-0E21-CDD6C5488AD5}"/>
              </a:ext>
            </a:extLst>
          </p:cNvPr>
          <p:cNvGrpSpPr/>
          <p:nvPr/>
        </p:nvGrpSpPr>
        <p:grpSpPr>
          <a:xfrm>
            <a:off x="8382000" y="1825625"/>
            <a:ext cx="2971800" cy="2891231"/>
            <a:chOff x="8382000" y="1123159"/>
            <a:chExt cx="2971800" cy="2891231"/>
          </a:xfrm>
        </p:grpSpPr>
        <p:sp>
          <p:nvSpPr>
            <p:cNvPr id="6" name="Rectangle 5">
              <a:extLst>
                <a:ext uri="{FF2B5EF4-FFF2-40B4-BE49-F238E27FC236}">
                  <a16:creationId xmlns:a16="http://schemas.microsoft.com/office/drawing/2014/main" id="{7856C20F-CC47-7EF3-086E-7161A937ED62}"/>
                </a:ext>
              </a:extLst>
            </p:cNvPr>
            <p:cNvSpPr/>
            <p:nvPr/>
          </p:nvSpPr>
          <p:spPr>
            <a:xfrm>
              <a:off x="8382000" y="1123159"/>
              <a:ext cx="2971800" cy="5675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Application</a:t>
              </a:r>
              <a:endParaRPr lang="en-US" b="1" dirty="0"/>
            </a:p>
          </p:txBody>
        </p:sp>
        <p:sp>
          <p:nvSpPr>
            <p:cNvPr id="7" name="Rectangle 6">
              <a:extLst>
                <a:ext uri="{FF2B5EF4-FFF2-40B4-BE49-F238E27FC236}">
                  <a16:creationId xmlns:a16="http://schemas.microsoft.com/office/drawing/2014/main" id="{F5863C69-4247-F12D-8906-B9BA2E6A6A61}"/>
                </a:ext>
              </a:extLst>
            </p:cNvPr>
            <p:cNvSpPr/>
            <p:nvPr/>
          </p:nvSpPr>
          <p:spPr>
            <a:xfrm>
              <a:off x="8382000" y="2110184"/>
              <a:ext cx="2971800" cy="7334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Private Network</a:t>
              </a:r>
            </a:p>
            <a:p>
              <a:pPr algn="ctr"/>
              <a:r>
                <a:rPr lang="en-US" dirty="0"/>
                <a:t>(</a:t>
              </a:r>
              <a:r>
                <a:rPr lang="en-US" dirty="0" err="1"/>
                <a:t>VNet</a:t>
              </a:r>
              <a:r>
                <a:rPr lang="en-US" dirty="0"/>
                <a:t>)</a:t>
              </a:r>
            </a:p>
          </p:txBody>
        </p:sp>
        <p:cxnSp>
          <p:nvCxnSpPr>
            <p:cNvPr id="8" name="Straight Arrow Connector 7">
              <a:extLst>
                <a:ext uri="{FF2B5EF4-FFF2-40B4-BE49-F238E27FC236}">
                  <a16:creationId xmlns:a16="http://schemas.microsoft.com/office/drawing/2014/main" id="{2815454C-D950-57F1-03F9-71196AD19381}"/>
                </a:ext>
              </a:extLst>
            </p:cNvPr>
            <p:cNvCxnSpPr>
              <a:cxnSpLocks/>
              <a:stCxn id="6" idx="2"/>
              <a:endCxn id="7" idx="0"/>
            </p:cNvCxnSpPr>
            <p:nvPr/>
          </p:nvCxnSpPr>
          <p:spPr>
            <a:xfrm>
              <a:off x="9867900" y="1690688"/>
              <a:ext cx="0" cy="4194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Rectangle 16">
              <a:extLst>
                <a:ext uri="{FF2B5EF4-FFF2-40B4-BE49-F238E27FC236}">
                  <a16:creationId xmlns:a16="http://schemas.microsoft.com/office/drawing/2014/main" id="{7B0D6EED-8788-5973-BE4B-E93723C75C96}"/>
                </a:ext>
              </a:extLst>
            </p:cNvPr>
            <p:cNvSpPr/>
            <p:nvPr/>
          </p:nvSpPr>
          <p:spPr>
            <a:xfrm>
              <a:off x="8382000" y="3280963"/>
              <a:ext cx="2971800" cy="7334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Redis</a:t>
              </a:r>
            </a:p>
            <a:p>
              <a:pPr algn="ctr"/>
              <a:r>
                <a:rPr lang="en-US" dirty="0"/>
                <a:t>AUTH + TLS + ACLs</a:t>
              </a:r>
            </a:p>
          </p:txBody>
        </p:sp>
        <p:cxnSp>
          <p:nvCxnSpPr>
            <p:cNvPr id="18" name="Straight Arrow Connector 17">
              <a:extLst>
                <a:ext uri="{FF2B5EF4-FFF2-40B4-BE49-F238E27FC236}">
                  <a16:creationId xmlns:a16="http://schemas.microsoft.com/office/drawing/2014/main" id="{E707054A-3EEC-C55D-DE62-63579B44A295}"/>
                </a:ext>
              </a:extLst>
            </p:cNvPr>
            <p:cNvCxnSpPr>
              <a:cxnSpLocks/>
              <a:endCxn id="17" idx="0"/>
            </p:cNvCxnSpPr>
            <p:nvPr/>
          </p:nvCxnSpPr>
          <p:spPr>
            <a:xfrm>
              <a:off x="9867900" y="2861467"/>
              <a:ext cx="0" cy="41949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4525737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391F5-158E-C8C4-FDA9-80DF2BAF90C5}"/>
              </a:ext>
            </a:extLst>
          </p:cNvPr>
          <p:cNvSpPr>
            <a:spLocks noGrp="1"/>
          </p:cNvSpPr>
          <p:nvPr>
            <p:ph type="title"/>
          </p:nvPr>
        </p:nvSpPr>
        <p:spPr/>
        <p:txBody>
          <a:bodyPr/>
          <a:lstStyle/>
          <a:p>
            <a:r>
              <a:rPr lang="en-US" dirty="0"/>
              <a:t>Summary &amp; What to Try Next</a:t>
            </a:r>
          </a:p>
        </p:txBody>
      </p:sp>
      <p:sp>
        <p:nvSpPr>
          <p:cNvPr id="3" name="Content Placeholder 2">
            <a:extLst>
              <a:ext uri="{FF2B5EF4-FFF2-40B4-BE49-F238E27FC236}">
                <a16:creationId xmlns:a16="http://schemas.microsoft.com/office/drawing/2014/main" id="{5665C9CB-92B8-0D69-B448-6892C066171D}"/>
              </a:ext>
            </a:extLst>
          </p:cNvPr>
          <p:cNvSpPr>
            <a:spLocks noGrp="1"/>
          </p:cNvSpPr>
          <p:nvPr>
            <p:ph idx="1"/>
          </p:nvPr>
        </p:nvSpPr>
        <p:spPr/>
        <p:txBody>
          <a:bodyPr/>
          <a:lstStyle/>
          <a:p>
            <a:r>
              <a:rPr lang="en-US" dirty="0"/>
              <a:t>Redis = fast, flexible, widely used</a:t>
            </a:r>
          </a:p>
          <a:p>
            <a:r>
              <a:rPr lang="en-US" dirty="0"/>
              <a:t>Perfect for caching and real‑time features</a:t>
            </a:r>
          </a:p>
          <a:p>
            <a:r>
              <a:rPr lang="en-US" dirty="0"/>
              <a:t>Easy to integrate with .NET, Node.js, Python</a:t>
            </a:r>
          </a:p>
          <a:p>
            <a:r>
              <a:rPr lang="en-US" dirty="0"/>
              <a:t>Try building a small caching layer in your next BCIT project</a:t>
            </a:r>
          </a:p>
        </p:txBody>
      </p:sp>
    </p:spTree>
    <p:extLst>
      <p:ext uri="{BB962C8B-B14F-4D97-AF65-F5344CB8AC3E}">
        <p14:creationId xmlns:p14="http://schemas.microsoft.com/office/powerpoint/2010/main" val="9166812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TotalTime>
  <Words>763</Words>
  <Application>Microsoft Macintosh PowerPoint</Application>
  <PresentationFormat>Widescreen</PresentationFormat>
  <Paragraphs>110</Paragraphs>
  <Slides>12</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Redis Cache Server</vt:lpstr>
      <vt:lpstr>Redis for Modern Applications</vt:lpstr>
      <vt:lpstr>Why Learn Redis</vt:lpstr>
      <vt:lpstr>What Redis Actually Is</vt:lpstr>
      <vt:lpstr>Redis Architecture</vt:lpstr>
      <vt:lpstr>Redis Data Structures</vt:lpstr>
      <vt:lpstr>Redis as a Cache</vt:lpstr>
      <vt:lpstr>Redis Architecture</vt:lpstr>
      <vt:lpstr>Persistence Options</vt:lpstr>
      <vt:lpstr>High Availability &amp; Scaling</vt:lpstr>
      <vt:lpstr>Security &amp; Best Practices</vt:lpstr>
      <vt:lpstr>Summary &amp; What to Try Next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Medhat Elmasry</dc:creator>
  <cp:lastModifiedBy>Medhat Elmasry</cp:lastModifiedBy>
  <cp:revision>1</cp:revision>
  <dcterms:created xsi:type="dcterms:W3CDTF">2026-03-30T18:41:42Z</dcterms:created>
  <dcterms:modified xsi:type="dcterms:W3CDTF">2026-03-30T19:15:52Z</dcterms:modified>
</cp:coreProperties>
</file>