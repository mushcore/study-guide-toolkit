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50"/>
  </p:notesMasterIdLst>
  <p:handoutMasterIdLst>
    <p:handoutMasterId r:id="rId51"/>
  </p:handoutMasterIdLst>
  <p:sldIdLst>
    <p:sldId id="256" r:id="rId2"/>
    <p:sldId id="257" r:id="rId3"/>
    <p:sldId id="311" r:id="rId4"/>
    <p:sldId id="312" r:id="rId5"/>
    <p:sldId id="313" r:id="rId6"/>
    <p:sldId id="353" r:id="rId7"/>
    <p:sldId id="314" r:id="rId8"/>
    <p:sldId id="315" r:id="rId9"/>
    <p:sldId id="354" r:id="rId10"/>
    <p:sldId id="316" r:id="rId11"/>
    <p:sldId id="317" r:id="rId12"/>
    <p:sldId id="318" r:id="rId13"/>
    <p:sldId id="319" r:id="rId14"/>
    <p:sldId id="321" r:id="rId15"/>
    <p:sldId id="355" r:id="rId16"/>
    <p:sldId id="323" r:id="rId17"/>
    <p:sldId id="324" r:id="rId18"/>
    <p:sldId id="325" r:id="rId19"/>
    <p:sldId id="326" r:id="rId20"/>
    <p:sldId id="328" r:id="rId21"/>
    <p:sldId id="356" r:id="rId22"/>
    <p:sldId id="329" r:id="rId23"/>
    <p:sldId id="330" r:id="rId24"/>
    <p:sldId id="331" r:id="rId25"/>
    <p:sldId id="357" r:id="rId26"/>
    <p:sldId id="332" r:id="rId27"/>
    <p:sldId id="333" r:id="rId28"/>
    <p:sldId id="334" r:id="rId29"/>
    <p:sldId id="335" r:id="rId30"/>
    <p:sldId id="336" r:id="rId31"/>
    <p:sldId id="337" r:id="rId32"/>
    <p:sldId id="338" r:id="rId33"/>
    <p:sldId id="339" r:id="rId34"/>
    <p:sldId id="340" r:id="rId35"/>
    <p:sldId id="341" r:id="rId36"/>
    <p:sldId id="342" r:id="rId37"/>
    <p:sldId id="343" r:id="rId38"/>
    <p:sldId id="344" r:id="rId39"/>
    <p:sldId id="345" r:id="rId40"/>
    <p:sldId id="346" r:id="rId41"/>
    <p:sldId id="347" r:id="rId42"/>
    <p:sldId id="348" r:id="rId43"/>
    <p:sldId id="349" r:id="rId44"/>
    <p:sldId id="350" r:id="rId45"/>
    <p:sldId id="352" r:id="rId46"/>
    <p:sldId id="351" r:id="rId47"/>
    <p:sldId id="308" r:id="rId48"/>
    <p:sldId id="310" r:id="rId49"/>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47" autoAdjust="0"/>
    <p:restoredTop sz="76197" autoAdjust="0"/>
  </p:normalViewPr>
  <p:slideViewPr>
    <p:cSldViewPr>
      <p:cViewPr varScale="1">
        <p:scale>
          <a:sx n="74" d="100"/>
          <a:sy n="74" d="100"/>
        </p:scale>
        <p:origin x="1446"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2297" tIns="46148" rIns="92297" bIns="46148" rtlCol="0"/>
          <a:lstStyle>
            <a:lvl1pPr algn="r">
              <a:defRPr sz="1200"/>
            </a:lvl1pPr>
          </a:lstStyle>
          <a:p>
            <a:fld id="{4EE4060F-EC6E-45B5-96F1-A60F0585115B}" type="datetimeFigureOut">
              <a:rPr lang="en-US" smtClean="0"/>
              <a:pPr/>
              <a:t>7/11/2017</a:t>
            </a:fld>
            <a:endParaRPr lang="en-US"/>
          </a:p>
        </p:txBody>
      </p:sp>
      <p:sp>
        <p:nvSpPr>
          <p:cNvPr id="4" name="Footer Placeholder 3"/>
          <p:cNvSpPr>
            <a:spLocks noGrp="1"/>
          </p:cNvSpPr>
          <p:nvPr>
            <p:ph type="ftr" sz="quarter" idx="2"/>
          </p:nvPr>
        </p:nvSpPr>
        <p:spPr>
          <a:xfrm>
            <a:off x="0" y="8829966"/>
            <a:ext cx="2971800" cy="464820"/>
          </a:xfrm>
          <a:prstGeom prst="rect">
            <a:avLst/>
          </a:prstGeom>
        </p:spPr>
        <p:txBody>
          <a:bodyPr vert="horz" lIns="92297" tIns="46148" rIns="92297" bIns="46148"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6"/>
            <a:ext cx="2971800" cy="464820"/>
          </a:xfrm>
          <a:prstGeom prst="rect">
            <a:avLst/>
          </a:prstGeom>
        </p:spPr>
        <p:txBody>
          <a:bodyPr vert="horz" lIns="92297" tIns="46148" rIns="92297" bIns="46148"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pPr>
              <a:defRPr/>
            </a:pPr>
            <a:endParaRPr lang="en-US" dirty="0"/>
          </a:p>
        </p:txBody>
      </p:sp>
      <p:sp>
        <p:nvSpPr>
          <p:cNvPr id="3" name="Date Placeholder 2"/>
          <p:cNvSpPr>
            <a:spLocks noGrp="1"/>
          </p:cNvSpPr>
          <p:nvPr>
            <p:ph type="dt" idx="1"/>
          </p:nvPr>
        </p:nvSpPr>
        <p:spPr>
          <a:xfrm>
            <a:off x="3884613" y="0"/>
            <a:ext cx="2971800" cy="464820"/>
          </a:xfrm>
          <a:prstGeom prst="rect">
            <a:avLst/>
          </a:prstGeom>
        </p:spPr>
        <p:txBody>
          <a:bodyPr vert="horz" lIns="92297" tIns="46148" rIns="92297" bIns="46148" rtlCol="0"/>
          <a:lstStyle>
            <a:lvl1pPr algn="r">
              <a:defRPr sz="1200"/>
            </a:lvl1pPr>
          </a:lstStyle>
          <a:p>
            <a:pPr>
              <a:defRPr/>
            </a:pPr>
            <a:fld id="{46950642-C6F2-4E46-90C1-0B12B643B3D7}" type="datetimeFigureOut">
              <a:rPr lang="en-US"/>
              <a:pPr>
                <a:defRPr/>
              </a:pPr>
              <a:t>7/11/2017</a:t>
            </a:fld>
            <a:endParaRPr lang="en-US" dirty="0"/>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2297" tIns="46148" rIns="92297" bIns="46148" rtlCol="0" anchor="ctr"/>
          <a:lstStyle/>
          <a:p>
            <a:pPr lvl="0"/>
            <a:endParaRPr lang="en-US" noProof="0" dirty="0"/>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2297" tIns="46148" rIns="92297" bIns="4614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6"/>
            <a:ext cx="2971800" cy="464820"/>
          </a:xfrm>
          <a:prstGeom prst="rect">
            <a:avLst/>
          </a:prstGeom>
        </p:spPr>
        <p:txBody>
          <a:bodyPr vert="horz" lIns="92297" tIns="46148" rIns="92297" bIns="46148"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884613" y="8829966"/>
            <a:ext cx="2971800" cy="464820"/>
          </a:xfrm>
          <a:prstGeom prst="rect">
            <a:avLst/>
          </a:prstGeom>
        </p:spPr>
        <p:txBody>
          <a:bodyPr vert="horz" lIns="92297" tIns="46148" rIns="92297" bIns="46148"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a:t>
            </a:fld>
            <a:endParaRPr lang="en-US" dirty="0"/>
          </a:p>
        </p:txBody>
      </p:sp>
    </p:spTree>
    <p:extLst>
      <p:ext uri="{BB962C8B-B14F-4D97-AF65-F5344CB8AC3E}">
        <p14:creationId xmlns:p14="http://schemas.microsoft.com/office/powerpoint/2010/main" val="408352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a:t>
            </a:fld>
            <a:endParaRPr lang="en-US" dirty="0"/>
          </a:p>
        </p:txBody>
      </p:sp>
    </p:spTree>
    <p:extLst>
      <p:ext uri="{BB962C8B-B14F-4D97-AF65-F5344CB8AC3E}">
        <p14:creationId xmlns:p14="http://schemas.microsoft.com/office/powerpoint/2010/main" val="3299944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47</a:t>
            </a:fld>
            <a:endParaRPr lang="en-US" dirty="0"/>
          </a:p>
        </p:txBody>
      </p:sp>
    </p:spTree>
    <p:extLst>
      <p:ext uri="{BB962C8B-B14F-4D97-AF65-F5344CB8AC3E}">
        <p14:creationId xmlns:p14="http://schemas.microsoft.com/office/powerpoint/2010/main" val="2976098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48</a:t>
            </a:fld>
            <a:endParaRPr lang="en-US" dirty="0"/>
          </a:p>
        </p:txBody>
      </p:sp>
    </p:spTree>
    <p:extLst>
      <p:ext uri="{BB962C8B-B14F-4D97-AF65-F5344CB8AC3E}">
        <p14:creationId xmlns:p14="http://schemas.microsoft.com/office/powerpoint/2010/main" val="287081471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2018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Hands-On Microsoft Windows Server 2016</a:t>
            </a:r>
            <a:br>
              <a:rPr lang="en-US" smtClean="0"/>
            </a:br>
            <a:r>
              <a:rPr lang="en-US" smtClean="0"/>
              <a:t> 2nd Edition</a:t>
            </a:r>
            <a:endParaRPr lang="en-US" dirty="0"/>
          </a:p>
        </p:txBody>
      </p:sp>
      <p:sp>
        <p:nvSpPr>
          <p:cNvPr id="3" name="Subtitle 2"/>
          <p:cNvSpPr>
            <a:spLocks noGrp="1"/>
          </p:cNvSpPr>
          <p:nvPr>
            <p:ph type="subTitle" idx="1"/>
          </p:nvPr>
        </p:nvSpPr>
        <p:spPr/>
        <p:txBody>
          <a:bodyPr/>
          <a:lstStyle/>
          <a:p>
            <a:r>
              <a:rPr lang="en-US" smtClean="0"/>
              <a:t>Chapter 5</a:t>
            </a:r>
          </a:p>
          <a:p>
            <a:r>
              <a:rPr lang="en-US" smtClean="0"/>
              <a:t>Configuring, Managing, and Troubleshooting Resource Access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99752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a:t>
            </a:r>
            <a:endParaRPr lang="en-US" dirty="0"/>
          </a:p>
        </p:txBody>
      </p:sp>
      <p:sp>
        <p:nvSpPr>
          <p:cNvPr id="3" name="Text Placeholder 2"/>
          <p:cNvSpPr>
            <a:spLocks noGrp="1"/>
          </p:cNvSpPr>
          <p:nvPr>
            <p:ph type="body" idx="1"/>
          </p:nvPr>
        </p:nvSpPr>
        <p:spPr/>
        <p:txBody>
          <a:bodyPr/>
          <a:lstStyle/>
          <a:p>
            <a:r>
              <a:rPr lang="en-US" smtClean="0"/>
              <a:t>Set up security for folders and files</a:t>
            </a:r>
          </a:p>
          <a:p>
            <a:r>
              <a:rPr lang="en-US" smtClean="0"/>
              <a:t>Configure shared folders and shared folder security</a:t>
            </a:r>
          </a:p>
          <a:p>
            <a:r>
              <a:rPr lang="en-US" smtClean="0"/>
              <a:t>Troubleshoot security conflicts</a:t>
            </a:r>
          </a:p>
          <a:p>
            <a:r>
              <a:rPr lang="en-US" smtClean="0"/>
              <a:t>Implement work folders</a:t>
            </a:r>
          </a:p>
          <a:p>
            <a:r>
              <a:rPr lang="en-US" smtClean="0"/>
              <a:t>Install and set up the Distributed File System</a:t>
            </a:r>
          </a:p>
          <a:p>
            <a:r>
              <a:rPr lang="en-US" smtClean="0"/>
              <a:t>Configure disk quotas</a:t>
            </a:r>
          </a:p>
          <a:p>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8584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Folder and File Security</a:t>
            </a:r>
            <a:endParaRPr lang="en-US" dirty="0"/>
          </a:p>
        </p:txBody>
      </p:sp>
      <p:sp>
        <p:nvSpPr>
          <p:cNvPr id="2" name="Content Placeholder 1"/>
          <p:cNvSpPr>
            <a:spLocks noGrp="1"/>
          </p:cNvSpPr>
          <p:nvPr>
            <p:ph idx="1"/>
          </p:nvPr>
        </p:nvSpPr>
        <p:spPr/>
        <p:txBody>
          <a:bodyPr/>
          <a:lstStyle/>
          <a:p>
            <a:r>
              <a:rPr lang="en-US" smtClean="0"/>
              <a:t>Creating accounts and groups are the initial steps for sharing resources</a:t>
            </a:r>
          </a:p>
          <a:p>
            <a:pPr lvl="1"/>
            <a:r>
              <a:rPr lang="en-US" smtClean="0"/>
              <a:t>The next steps are to create access control lists (ACLs) to secure these objects and then to set them up for sharing</a:t>
            </a:r>
          </a:p>
          <a:p>
            <a:r>
              <a:rPr lang="en-US" smtClean="0"/>
              <a:t>Discretionary ACL (DACL)</a:t>
            </a:r>
          </a:p>
          <a:p>
            <a:pPr lvl="1"/>
            <a:r>
              <a:rPr lang="en-US" smtClean="0"/>
              <a:t>An ACL that is configured by a server administrator or owner of an object</a:t>
            </a:r>
          </a:p>
          <a:p>
            <a:r>
              <a:rPr lang="en-US" smtClean="0"/>
              <a:t>System control ACL (SACL)</a:t>
            </a:r>
          </a:p>
          <a:p>
            <a:pPr lvl="1"/>
            <a:r>
              <a:rPr lang="en-US" smtClean="0"/>
              <a:t>Contains information used to audit the access to an object</a:t>
            </a:r>
          </a:p>
          <a:p>
            <a:r>
              <a:rPr lang="en-US" smtClean="0"/>
              <a:t>DACL and SACL controls for folders and files:</a:t>
            </a:r>
          </a:p>
          <a:p>
            <a:pPr lvl="1"/>
            <a:r>
              <a:rPr lang="en-US" smtClean="0"/>
              <a:t>Attributes</a:t>
            </a:r>
          </a:p>
          <a:p>
            <a:pPr lvl="1"/>
            <a:r>
              <a:rPr lang="en-US" smtClean="0"/>
              <a:t>Permissions</a:t>
            </a:r>
          </a:p>
          <a:p>
            <a:pPr lvl="1"/>
            <a:r>
              <a:rPr lang="en-US" smtClean="0"/>
              <a:t>Auditing</a:t>
            </a:r>
          </a:p>
          <a:p>
            <a:pPr lvl="1"/>
            <a:r>
              <a:rPr lang="en-US" smtClean="0"/>
              <a:t>Ownership</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974814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 and File Attributes (1 of 8)</a:t>
            </a:r>
            <a:endParaRPr lang="en-US" dirty="0"/>
          </a:p>
        </p:txBody>
      </p:sp>
      <p:sp>
        <p:nvSpPr>
          <p:cNvPr id="2" name="Content Placeholder 1"/>
          <p:cNvSpPr>
            <a:spLocks noGrp="1"/>
          </p:cNvSpPr>
          <p:nvPr>
            <p:ph idx="1"/>
          </p:nvPr>
        </p:nvSpPr>
        <p:spPr/>
        <p:txBody>
          <a:bodyPr/>
          <a:lstStyle/>
          <a:p>
            <a:r>
              <a:rPr lang="en-US" smtClean="0"/>
              <a:t>Attributes are stored as header information with each folder and file</a:t>
            </a:r>
          </a:p>
          <a:p>
            <a:pPr lvl="1"/>
            <a:r>
              <a:rPr lang="en-US" smtClean="0"/>
              <a:t>Along with other characteristics including volume label, designation as a subfolder, date of creation, and time of creation</a:t>
            </a:r>
          </a:p>
          <a:p>
            <a:r>
              <a:rPr lang="en-US" smtClean="0"/>
              <a:t>Two basic attributes remain in NTFS that are still compatible with FAT</a:t>
            </a:r>
          </a:p>
          <a:p>
            <a:pPr lvl="1"/>
            <a:r>
              <a:rPr lang="en-US" smtClean="0"/>
              <a:t>Read-only and hidden</a:t>
            </a:r>
          </a:p>
          <a:p>
            <a:pPr lvl="1"/>
            <a:r>
              <a:rPr lang="en-US" smtClean="0"/>
              <a:t>On the General tab in an NTFS folder’s or file’s properties dialog box</a:t>
            </a:r>
          </a:p>
          <a:p>
            <a:r>
              <a:rPr lang="en-US" smtClean="0"/>
              <a:t>NTFS offers advanced or extended attributes</a:t>
            </a:r>
          </a:p>
          <a:p>
            <a:pPr lvl="1"/>
            <a:r>
              <a:rPr lang="en-US" smtClean="0"/>
              <a:t>Accessed by clicking the General tab’s Advanced button</a:t>
            </a:r>
          </a:p>
          <a:p>
            <a:r>
              <a:rPr lang="en-US" smtClean="0"/>
              <a:t>The advanced attributes are archive, index, compress, and encrypt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9687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 and File Attributes (2 of 8)</a:t>
            </a:r>
            <a:endParaRPr lang="en-US" dirty="0"/>
          </a:p>
        </p:txBody>
      </p:sp>
      <p:pic>
        <p:nvPicPr>
          <p:cNvPr id="6" name="Content Placeholder 5" descr="Figure 5-1, Page No. 197, Complexity level: 2&#10;Screenshot shows “Users” dialog ribbon box. The Details icon is selected under the View tab. The cursor points to the Hidden items check box and it is selected. The text box below the cursor reads “Hidden items: Show or hide the files and folders that are marked as hidden.”&#10;" title="Figure 5-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2667000"/>
            <a:ext cx="6614452" cy="2347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42471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 and File Attributes (3 of 8)</a:t>
            </a:r>
            <a:endParaRPr lang="en-US" dirty="0"/>
          </a:p>
        </p:txBody>
      </p:sp>
      <p:pic>
        <p:nvPicPr>
          <p:cNvPr id="7" name="Picture 6" descr="Figure 5-2, Page No. 197, Complexity level: 3&#10;Screenshot shows “Advanced Attributes” dialog box overlapping the “Datafile Properties” dialog box. The General tab of the datafile properties box is selected. The window shows the datafile folder box with type of file: Text Document (txt), Open with: Notepad. Location: C:\Users\Administrator\Documents\Data, Size: 4 bytes (4 bytes), Size on desk: 0 bytes. Created: Today, August 25, 2017, 7 minutes ago, Modified: Today, August 25, 2017, 7 minutes ago, Accessed: Today, August 25, 2017, 7 minutes ago. The Advanced button shown is selected. The Advanced Attributes dialog box shows “choose the settings you want for this folder” window. The check box is selected for file is ready for archiving option and allow this file to have contents indexed in addition to file properties option. The OK button is selected. &#10;" title="Figure 5-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7682" y="1981200"/>
            <a:ext cx="5814508" cy="3505200"/>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51046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 and File Attributes (4 of 8)</a:t>
            </a:r>
            <a:endParaRPr lang="en-US" dirty="0"/>
          </a:p>
        </p:txBody>
      </p:sp>
      <p:sp>
        <p:nvSpPr>
          <p:cNvPr id="2" name="Content Placeholder 1"/>
          <p:cNvSpPr>
            <a:spLocks noGrp="1"/>
          </p:cNvSpPr>
          <p:nvPr>
            <p:ph idx="1"/>
          </p:nvPr>
        </p:nvSpPr>
        <p:spPr/>
        <p:txBody>
          <a:bodyPr/>
          <a:lstStyle/>
          <a:p>
            <a:r>
              <a:rPr lang="en-US" smtClean="0"/>
              <a:t>Archive attribute</a:t>
            </a:r>
          </a:p>
          <a:p>
            <a:pPr lvl="1"/>
            <a:r>
              <a:rPr lang="en-US" smtClean="0"/>
              <a:t>Indicates that the folder or file needs to be backed up because it is new or changed</a:t>
            </a:r>
          </a:p>
          <a:p>
            <a:pPr lvl="1"/>
            <a:r>
              <a:rPr lang="en-US" smtClean="0"/>
              <a:t>File server backup systems can be set to detect files with the archive attribute to ensure those files are backed up</a:t>
            </a:r>
          </a:p>
          <a:p>
            <a:r>
              <a:rPr lang="en-US" smtClean="0"/>
              <a:t>Index attribute vs. Windows Search Service</a:t>
            </a:r>
          </a:p>
          <a:p>
            <a:pPr lvl="1"/>
            <a:r>
              <a:rPr lang="en-US" smtClean="0"/>
              <a:t>The NTFS index attribute is used to index the folder and file contents so that file properties can be quickly searched in Windows Server 2016 through the Indexing Service</a:t>
            </a:r>
          </a:p>
          <a:p>
            <a:pPr lvl="1"/>
            <a:r>
              <a:rPr lang="en-US" smtClean="0"/>
              <a:t>Windows Server 2016 offers a newer, faster search service called the Windows Search Service</a:t>
            </a:r>
          </a:p>
          <a:p>
            <a:pPr lvl="1"/>
            <a:r>
              <a:rPr lang="en-US" smtClean="0"/>
              <a:t>To use the Windows Search Service, you must install the File and Storage Services role via Server Manager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9108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 and File Attributes (5 of 8)</a:t>
            </a:r>
            <a:endParaRPr lang="en-US" dirty="0"/>
          </a:p>
        </p:txBody>
      </p:sp>
      <p:sp>
        <p:nvSpPr>
          <p:cNvPr id="5" name="Content Placeholder 4"/>
          <p:cNvSpPr>
            <a:spLocks noGrp="1"/>
          </p:cNvSpPr>
          <p:nvPr>
            <p:ph idx="1"/>
          </p:nvPr>
        </p:nvSpPr>
        <p:spPr/>
        <p:txBody>
          <a:bodyPr/>
          <a:lstStyle/>
          <a:p>
            <a:r>
              <a:rPr lang="en-US" smtClean="0"/>
              <a:t>Compress attribute</a:t>
            </a:r>
          </a:p>
          <a:p>
            <a:pPr lvl="1"/>
            <a:r>
              <a:rPr lang="en-US" smtClean="0"/>
              <a:t>A folder and its contents can be stored on the disk in compressed format</a:t>
            </a:r>
          </a:p>
          <a:p>
            <a:pPr lvl="1"/>
            <a:r>
              <a:rPr lang="en-US" smtClean="0"/>
              <a:t>Compression saves space and you can work on compressed files in the same way as on uncompressed files</a:t>
            </a:r>
          </a:p>
          <a:p>
            <a:pPr lvl="1"/>
            <a:r>
              <a:rPr lang="en-US" smtClean="0"/>
              <a:t>Compressed files increase CPU overhead to open the files and to copy them</a:t>
            </a:r>
          </a:p>
          <a:p>
            <a:pPr lvl="1"/>
            <a:r>
              <a:rPr lang="en-US" smtClean="0"/>
              <a:t>Best practices for using the compress attribute:</a:t>
            </a:r>
          </a:p>
          <a:p>
            <a:pPr lvl="2"/>
            <a:r>
              <a:rPr lang="en-US" smtClean="0"/>
              <a:t>Busy servers that experience high-volume write or execute operations are poor candidates for the use of compression</a:t>
            </a:r>
          </a:p>
          <a:p>
            <a:pPr lvl="2"/>
            <a:r>
              <a:rPr lang="en-US" smtClean="0"/>
              <a:t>Servers that are rarely busy or that primary have read traffic are acceptable candidates</a:t>
            </a:r>
          </a:p>
          <a:p>
            <a:pPr lvl="2"/>
            <a:r>
              <a:rPr lang="en-US" smtClean="0"/>
              <a:t>Files that are rarely accessed or that are archived on the server can be candidates</a:t>
            </a:r>
          </a:p>
          <a:p>
            <a:pPr lvl="2"/>
            <a:r>
              <a:rPr lang="en-US" smtClean="0"/>
              <a:t>User home folders on a server typically have high levels of read and write activity and generally should not be compressed</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116122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 and File Attributes (6 of 8)</a:t>
            </a:r>
            <a:endParaRPr lang="en-US" dirty="0"/>
          </a:p>
        </p:txBody>
      </p:sp>
      <p:pic>
        <p:nvPicPr>
          <p:cNvPr id="6" name="Content Placeholder 5" descr="Figure 5-4, Page No. 200, Complexity level: 2&#10;Screenshot shows “Indexed Locations” dialog box. The User option check box of Local Disk (C: ) drive is clicked under the Change selected locations box. Another box shows the Summary of selected locations. The OK button shown is selected.&#10;" title="Figure 5-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895600" y="1524000"/>
            <a:ext cx="2748056" cy="4208736"/>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77729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 and File Attributes (7 of 8)</a:t>
            </a:r>
            <a:endParaRPr lang="en-US" dirty="0"/>
          </a:p>
        </p:txBody>
      </p:sp>
      <p:sp>
        <p:nvSpPr>
          <p:cNvPr id="5" name="Content Placeholder 4"/>
          <p:cNvSpPr>
            <a:spLocks noGrp="1"/>
          </p:cNvSpPr>
          <p:nvPr>
            <p:ph idx="1"/>
          </p:nvPr>
        </p:nvSpPr>
        <p:spPr/>
        <p:txBody>
          <a:bodyPr/>
          <a:lstStyle/>
          <a:p>
            <a:r>
              <a:rPr lang="en-US" smtClean="0"/>
              <a:t>Encrypt attribute</a:t>
            </a:r>
          </a:p>
          <a:p>
            <a:pPr lvl="1"/>
            <a:r>
              <a:rPr lang="en-US" smtClean="0"/>
              <a:t>Protects folders and files so that only the user who encrypts the folder or file is able to read it</a:t>
            </a:r>
          </a:p>
          <a:p>
            <a:pPr lvl="1"/>
            <a:r>
              <a:rPr lang="en-US" smtClean="0"/>
              <a:t>An encrypted folder or file uses the Microsoft Encrypting File System (EFS)</a:t>
            </a:r>
          </a:p>
          <a:p>
            <a:pPr lvl="2"/>
            <a:r>
              <a:rPr lang="en-US" smtClean="0"/>
              <a:t>Which sets up a unique, private encryption key associated with the user account that encrypted the folder or file</a:t>
            </a:r>
          </a:p>
          <a:p>
            <a:pPr lvl="1"/>
            <a:r>
              <a:rPr lang="en-US" smtClean="0"/>
              <a:t>EFS uses both symmetric and asymmetric encryption technique</a:t>
            </a:r>
          </a:p>
          <a:p>
            <a:pPr lvl="1"/>
            <a:r>
              <a:rPr lang="en-US" smtClean="0"/>
              <a:t>When you move an encrypted file to another folder on the same computer, that file remains encrypted, even if you rename it</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39270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 and File Attributes (8 of 8)</a:t>
            </a:r>
            <a:endParaRPr lang="en-US" dirty="0"/>
          </a:p>
        </p:txBody>
      </p:sp>
      <p:sp>
        <p:nvSpPr>
          <p:cNvPr id="5" name="Content Placeholder 4"/>
          <p:cNvSpPr>
            <a:spLocks noGrp="1"/>
          </p:cNvSpPr>
          <p:nvPr>
            <p:ph idx="1"/>
          </p:nvPr>
        </p:nvSpPr>
        <p:spPr/>
        <p:txBody>
          <a:bodyPr/>
          <a:lstStyle/>
          <a:p>
            <a:r>
              <a:rPr lang="en-US" smtClean="0"/>
              <a:t>Best practices for using EFS:</a:t>
            </a:r>
          </a:p>
          <a:p>
            <a:pPr lvl="1"/>
            <a:r>
              <a:rPr lang="en-US" smtClean="0"/>
              <a:t>Move files for encryption into specifically designated folders flagged for encryption</a:t>
            </a:r>
          </a:p>
          <a:p>
            <a:pPr lvl="1"/>
            <a:r>
              <a:rPr lang="en-US" smtClean="0"/>
              <a:t>It is safer for an application to work on a file in an encrypted folder rather than to work on a file that is individually encrypted</a:t>
            </a:r>
          </a:p>
          <a:p>
            <a:pPr lvl="1"/>
            <a:r>
              <a:rPr lang="en-US" smtClean="0"/>
              <a:t>Workstation users and server administrators should consider encrypting the My Document or Documents folders on their systems</a:t>
            </a:r>
          </a:p>
          <a:p>
            <a:pPr lvl="1"/>
            <a:r>
              <a:rPr lang="en-US" smtClean="0"/>
              <a:t>Users and server administrators should frequently export certificates and private keys to portable media and store the media in a secure place</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05236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 and File Permissions (1 of 4)</a:t>
            </a:r>
            <a:endParaRPr lang="en-US" dirty="0"/>
          </a:p>
        </p:txBody>
      </p:sp>
      <p:sp>
        <p:nvSpPr>
          <p:cNvPr id="2" name="Content Placeholder 1"/>
          <p:cNvSpPr>
            <a:spLocks noGrp="1"/>
          </p:cNvSpPr>
          <p:nvPr>
            <p:ph idx="1"/>
          </p:nvPr>
        </p:nvSpPr>
        <p:spPr/>
        <p:txBody>
          <a:bodyPr/>
          <a:lstStyle/>
          <a:p>
            <a:r>
              <a:rPr lang="en-US" smtClean="0"/>
              <a:t>Permissions</a:t>
            </a:r>
          </a:p>
          <a:p>
            <a:pPr lvl="1"/>
            <a:r>
              <a:rPr lang="en-US" smtClean="0"/>
              <a:t>Control access to an object, such as a folder or file</a:t>
            </a:r>
          </a:p>
          <a:p>
            <a:r>
              <a:rPr lang="en-US" smtClean="0"/>
              <a:t>When you configure a folder so that a domain local group has access to only read the contents of that folder</a:t>
            </a:r>
          </a:p>
          <a:p>
            <a:pPr lvl="1"/>
            <a:r>
              <a:rPr lang="en-US" smtClean="0"/>
              <a:t>You are configuring permissions</a:t>
            </a:r>
          </a:p>
          <a:p>
            <a:r>
              <a:rPr lang="en-US" smtClean="0"/>
              <a:t>At the same time, you are configuring that folder’s discretionary access control list (DACL) of security descriptors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89331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 and File Permissions (2 of 4)</a:t>
            </a:r>
            <a:endParaRPr lang="en-US" dirty="0"/>
          </a:p>
        </p:txBody>
      </p:sp>
      <p:pic>
        <p:nvPicPr>
          <p:cNvPr id="6" name="Content Placeholder 5" descr="Figure 5-5, Page No. 203, Complexity level: 2&#10;Screenshot shows “JRyan Properties” dialog box. The Security tab is selected within the dialog box. The Window shows the Object name: C:\Users\Administrator\Documents\JRyan. The System option is selected under the Group or user names box. The cursor points to the Edit button to change permission. The OK button shown is selected.&#10;" title="Figure 5-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743200" y="1447800"/>
            <a:ext cx="3248888" cy="4545774"/>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322160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 and File Permissions (3 of 4)</a:t>
            </a:r>
            <a:endParaRPr lang="en-US" dirty="0"/>
          </a:p>
        </p:txBody>
      </p:sp>
      <p:sp>
        <p:nvSpPr>
          <p:cNvPr id="2" name="Content Placeholder 1"/>
          <p:cNvSpPr>
            <a:spLocks noGrp="1"/>
          </p:cNvSpPr>
          <p:nvPr>
            <p:ph idx="1"/>
          </p:nvPr>
        </p:nvSpPr>
        <p:spPr/>
        <p:txBody>
          <a:bodyPr/>
          <a:lstStyle/>
          <a:p>
            <a:r>
              <a:rPr lang="en-US" smtClean="0"/>
              <a:t>If you need to customize permissions</a:t>
            </a:r>
          </a:p>
          <a:p>
            <a:pPr lvl="1"/>
            <a:r>
              <a:rPr lang="en-US" smtClean="0"/>
              <a:t>You have the option to set up special permissions for a particular group or user</a:t>
            </a:r>
          </a:p>
          <a:p>
            <a:endParaRPr lang="en-US" dirty="0"/>
          </a:p>
        </p:txBody>
      </p:sp>
      <p:pic>
        <p:nvPicPr>
          <p:cNvPr id="6" name="Picture 5" descr="Figure 5-8, Page No. 207, Complexity level: 3&#10;Screenshot shows “Permission Entry for UtilitiesJR” dialog box. The window displays three boxes.  The first box shows Principal: Server Operators (JPCOMP\ Server Operators) select a principal. The Allow option is entered within the Type drop down box. This folder, subfolders and files is entered within the Applies to drop down box. The second box shows the check boxes clicked for Traverse folder/ execute file, Read attributes, Read extended attributes, Create files/ write data, Create folders, append data, Write attributes, Write extended attributes, Delete, Read permission options under the Advanced permissions. Only apply these permissions to objects and/ or containers within this container text is shown below. The third box shows a text that reads “Add a condition to limit access. The principal will be granted the specified permissions only if conditions are met.”&#10;" title="Figure 5-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1554" y="2438400"/>
            <a:ext cx="4602480" cy="3200400"/>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402077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 and File Permissions (4 of 4)</a:t>
            </a:r>
            <a:endParaRPr lang="en-US" dirty="0"/>
          </a:p>
        </p:txBody>
      </p:sp>
      <p:sp>
        <p:nvSpPr>
          <p:cNvPr id="2" name="Content Placeholder 1"/>
          <p:cNvSpPr>
            <a:spLocks noGrp="1"/>
          </p:cNvSpPr>
          <p:nvPr>
            <p:ph idx="1"/>
          </p:nvPr>
        </p:nvSpPr>
        <p:spPr/>
        <p:txBody>
          <a:bodyPr/>
          <a:lstStyle/>
          <a:p>
            <a:r>
              <a:rPr lang="en-US" smtClean="0"/>
              <a:t>Microsoft provides best practice guidelines for setting permissions:</a:t>
            </a:r>
          </a:p>
          <a:p>
            <a:pPr lvl="1"/>
            <a:r>
              <a:rPr lang="en-US" smtClean="0"/>
              <a:t>Protect the \Windows folder that contains OS files on Windows Server 2016 servers and its subfolders from general users through allowing limited access</a:t>
            </a:r>
          </a:p>
          <a:p>
            <a:pPr lvl="1"/>
            <a:r>
              <a:rPr lang="en-US" smtClean="0"/>
              <a:t>Protect server utility folders with access permissions only for Administrators, Server Operators, and Backup Operators groups</a:t>
            </a:r>
          </a:p>
          <a:p>
            <a:pPr lvl="1"/>
            <a:r>
              <a:rPr lang="en-US" smtClean="0"/>
              <a:t>Protect software application folders with Read &amp; execute and Write to enable users to run applications and write temporary files</a:t>
            </a:r>
          </a:p>
          <a:p>
            <a:pPr lvl="1"/>
            <a:r>
              <a:rPr lang="en-US" smtClean="0"/>
              <a:t>Create publicly used folders to have Modify access</a:t>
            </a:r>
          </a:p>
          <a:p>
            <a:pPr lvl="1"/>
            <a:r>
              <a:rPr lang="en-US" smtClean="0"/>
              <a:t>Provide users Full control of their own home folders</a:t>
            </a:r>
          </a:p>
          <a:p>
            <a:pPr lvl="1"/>
            <a:r>
              <a:rPr lang="en-US" smtClean="0"/>
              <a:t>Remove unnecessary access groups from confidential folders</a:t>
            </a:r>
          </a:p>
          <a:p>
            <a:pPr lvl="1"/>
            <a:r>
              <a:rPr lang="en-US" smtClean="0"/>
              <a:t>Use Deny sparingly</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33913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 and File Auditing</a:t>
            </a:r>
            <a:endParaRPr lang="en-US" dirty="0"/>
          </a:p>
        </p:txBody>
      </p:sp>
      <p:sp>
        <p:nvSpPr>
          <p:cNvPr id="2" name="Content Placeholder 1"/>
          <p:cNvSpPr>
            <a:spLocks noGrp="1"/>
          </p:cNvSpPr>
          <p:nvPr>
            <p:ph idx="1"/>
          </p:nvPr>
        </p:nvSpPr>
        <p:spPr/>
        <p:txBody>
          <a:bodyPr/>
          <a:lstStyle/>
          <a:p>
            <a:r>
              <a:rPr lang="en-US" smtClean="0"/>
              <a:t>Auditing</a:t>
            </a:r>
          </a:p>
          <a:p>
            <a:pPr lvl="1"/>
            <a:r>
              <a:rPr lang="en-US" smtClean="0"/>
              <a:t>Enables you to track activity on a folder or file</a:t>
            </a:r>
          </a:p>
          <a:p>
            <a:r>
              <a:rPr lang="en-US" smtClean="0"/>
              <a:t>Windows Server 2016 NTFS folders and files </a:t>
            </a:r>
          </a:p>
          <a:p>
            <a:pPr lvl="1"/>
            <a:r>
              <a:rPr lang="en-US" smtClean="0"/>
              <a:t>Enable you to audit a combination of any or all of the activities listed as advanced permissions in Table 5-2</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42441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 and File Ownership (1 of 2)</a:t>
            </a:r>
            <a:endParaRPr lang="en-US" dirty="0"/>
          </a:p>
        </p:txBody>
      </p:sp>
      <p:sp>
        <p:nvSpPr>
          <p:cNvPr id="2" name="Content Placeholder 1"/>
          <p:cNvSpPr>
            <a:spLocks noGrp="1"/>
          </p:cNvSpPr>
          <p:nvPr>
            <p:ph idx="1"/>
          </p:nvPr>
        </p:nvSpPr>
        <p:spPr/>
        <p:txBody>
          <a:bodyPr/>
          <a:lstStyle/>
          <a:p>
            <a:r>
              <a:rPr lang="en-US" smtClean="0"/>
              <a:t>With permissions and auditing set up, you might want to verify the ownership of a folder</a:t>
            </a:r>
          </a:p>
          <a:p>
            <a:r>
              <a:rPr lang="en-US" smtClean="0"/>
              <a:t>Folders are first owned by the account that creates them</a:t>
            </a:r>
          </a:p>
          <a:p>
            <a:r>
              <a:rPr lang="en-US" smtClean="0"/>
              <a:t>Folder owners have the ability to change permissions for the folders they create</a:t>
            </a:r>
          </a:p>
          <a:p>
            <a:r>
              <a:rPr lang="en-US" smtClean="0"/>
              <a:t>Ownership can be transferred only by having the Take ownership advanced permission</a:t>
            </a:r>
          </a:p>
          <a:p>
            <a:pPr lvl="1"/>
            <a:r>
              <a:rPr lang="en-US" smtClean="0"/>
              <a:t>Or Full control permission (which includes Take ownership)</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51279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 and File Ownership (2 of 2)</a:t>
            </a:r>
            <a:endParaRPr lang="en-US" dirty="0"/>
          </a:p>
        </p:txBody>
      </p:sp>
      <p:pic>
        <p:nvPicPr>
          <p:cNvPr id="6" name="Content Placeholder 5" descr="Figure 5-13, Page No. 213, Complexity level: 3&#10;Screenshot shows “Select Users, Computers, Service Accounts, or Groups” dialog box. The Windows displays the Users, Groups, or Built-in security principal option is selected from the Object Types button under the Select the object type box. The jpcomp.com option is selected from the Locations button under the from this location box. The Common Queries box is shown below the location box. The OK button shown is selected. The cursor points to the Paul Brown – jpcom.cpm/Buil.. folder name under the Search results drop down box.&#10;" title="Figure 5-1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67000" y="1524000"/>
            <a:ext cx="3654278" cy="43291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94501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Shared Folders and Shared Folder Permissions</a:t>
            </a:r>
            <a:endParaRPr lang="en-US" dirty="0"/>
          </a:p>
        </p:txBody>
      </p:sp>
      <p:sp>
        <p:nvSpPr>
          <p:cNvPr id="2" name="Content Placeholder 1"/>
          <p:cNvSpPr>
            <a:spLocks noGrp="1"/>
          </p:cNvSpPr>
          <p:nvPr>
            <p:ph idx="1"/>
          </p:nvPr>
        </p:nvSpPr>
        <p:spPr/>
        <p:txBody>
          <a:bodyPr/>
          <a:lstStyle/>
          <a:p>
            <a:r>
              <a:rPr lang="en-US" smtClean="0"/>
              <a:t>A folder can be set up as a shared folder for users to access over the network</a:t>
            </a:r>
          </a:p>
          <a:p>
            <a:r>
              <a:rPr lang="en-US" smtClean="0"/>
              <a:t>Configuring a shared folder includes features so that the person configuring a share is more aware of security options</a:t>
            </a:r>
          </a:p>
          <a:p>
            <a:r>
              <a:rPr lang="en-US" smtClean="0"/>
              <a:t>Sharing a folder or file consists of first enabling sharing</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621950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Enabling Sharing (1 of 2)</a:t>
            </a:r>
            <a:endParaRPr lang="en-US" dirty="0"/>
          </a:p>
        </p:txBody>
      </p:sp>
      <p:sp>
        <p:nvSpPr>
          <p:cNvPr id="2" name="Content Placeholder 1"/>
          <p:cNvSpPr>
            <a:spLocks noGrp="1"/>
          </p:cNvSpPr>
          <p:nvPr>
            <p:ph idx="1"/>
          </p:nvPr>
        </p:nvSpPr>
        <p:spPr/>
        <p:txBody>
          <a:bodyPr/>
          <a:lstStyle/>
          <a:p>
            <a:r>
              <a:rPr lang="en-US" smtClean="0"/>
              <a:t>First step for sharing a folder or file over the network</a:t>
            </a:r>
          </a:p>
          <a:p>
            <a:pPr lvl="1"/>
            <a:r>
              <a:rPr lang="en-US" smtClean="0"/>
              <a:t>Is to make sure folder/file and printer sharing is turned on</a:t>
            </a:r>
          </a:p>
          <a:p>
            <a:r>
              <a:rPr lang="en-US" smtClean="0"/>
              <a:t>Network discovery can be turned on</a:t>
            </a:r>
          </a:p>
          <a:p>
            <a:pPr lvl="1"/>
            <a:r>
              <a:rPr lang="en-US" smtClean="0"/>
              <a:t>Network discovery is the ability to view other network computers and devices</a:t>
            </a:r>
          </a:p>
          <a:p>
            <a:r>
              <a:rPr lang="en-US" smtClean="0"/>
              <a:t>You only need to do this once</a:t>
            </a:r>
          </a:p>
          <a:p>
            <a:pPr lvl="1"/>
            <a:r>
              <a:rPr lang="en-US" smtClean="0"/>
              <a:t>But it is necessary for users to be able to access the server’s shared file/folder and printer resources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70772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Enabling Sharing (2 of 2)</a:t>
            </a:r>
            <a:endParaRPr lang="en-US" dirty="0"/>
          </a:p>
        </p:txBody>
      </p:sp>
      <p:pic>
        <p:nvPicPr>
          <p:cNvPr id="6" name="Content Placeholder 5" descr="Figure 5-14, Page No. 215, Complexity level: 3&#10;Screenshot shows “Advanced sharing settings” dialog box. The dialog box is titled “Change sharing options for different network profiles.” The text below reads “Windows creates a separate network profile for each network profile for each network you use. You can choose specific option for each profile.” It shows Private option with a dropdown button, Guest or Public option with a drop down button, Domain (current profile) with a drop up button. In the Network discovery, the turn on network discovery radio button is selected under when network displays is on, this computer can see other network computers and device and is visible to other network computers option. In the File and printer sharing, the turn on file and printer sharing button is selected under when file and printer sharing is on, files and printers that you have shared from this computer can be accessed by people on the network option. At the bottom, All Networks drop down button is shown. The Save changes button shown is selected." title="Figure 5-1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28800" y="1600200"/>
            <a:ext cx="5067605" cy="43291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42527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Folder/File Sharing Through the Folder/File Properties (1 of 4)</a:t>
            </a:r>
            <a:endParaRPr lang="en-US" dirty="0"/>
          </a:p>
        </p:txBody>
      </p:sp>
      <p:sp>
        <p:nvSpPr>
          <p:cNvPr id="2" name="Content Placeholder 1"/>
          <p:cNvSpPr>
            <a:spLocks noGrp="1"/>
          </p:cNvSpPr>
          <p:nvPr>
            <p:ph idx="1"/>
          </p:nvPr>
        </p:nvSpPr>
        <p:spPr/>
        <p:txBody>
          <a:bodyPr/>
          <a:lstStyle/>
          <a:p>
            <a:r>
              <a:rPr lang="en-US" smtClean="0"/>
              <a:t>Share permissions for folder or file</a:t>
            </a:r>
          </a:p>
          <a:p>
            <a:pPr lvl="1"/>
            <a:r>
              <a:rPr lang="en-US" smtClean="0"/>
              <a:t>Can be set by configuring sharing using the File Sharing window and a folder’s or file’s Sharing tab in its Properties dialog box</a:t>
            </a:r>
          </a:p>
          <a:p>
            <a:r>
              <a:rPr lang="en-US" smtClean="0"/>
              <a:t>When you configure sharing using the advanced sharing options</a:t>
            </a:r>
          </a:p>
          <a:p>
            <a:pPr lvl="1"/>
            <a:r>
              <a:rPr lang="en-US" smtClean="0"/>
              <a:t>The share permissions also include Full control and Change</a:t>
            </a:r>
          </a:p>
          <a:p>
            <a:pPr lvl="1"/>
            <a:r>
              <a:rPr lang="en-US" smtClean="0"/>
              <a:t>Configured using the Advanced Sharing button on the Sharing tab of Properties</a:t>
            </a:r>
          </a:p>
          <a:p>
            <a:r>
              <a:rPr lang="en-US" smtClean="0"/>
              <a:t>Share permissions:</a:t>
            </a:r>
          </a:p>
          <a:p>
            <a:pPr lvl="1"/>
            <a:r>
              <a:rPr lang="en-US" smtClean="0"/>
              <a:t>Read</a:t>
            </a:r>
          </a:p>
          <a:p>
            <a:pPr lvl="1"/>
            <a:r>
              <a:rPr lang="en-US" smtClean="0"/>
              <a:t>Write</a:t>
            </a:r>
          </a:p>
          <a:p>
            <a:pPr lvl="1"/>
            <a:r>
              <a:rPr lang="en-US" smtClean="0"/>
              <a:t>Change or Contribute</a:t>
            </a:r>
          </a:p>
          <a:p>
            <a:pPr lvl="1"/>
            <a:r>
              <a:rPr lang="en-US" smtClean="0"/>
              <a:t>Custom</a:t>
            </a:r>
          </a:p>
          <a:p>
            <a:pPr lvl="1"/>
            <a:r>
              <a:rPr lang="en-US" smtClean="0"/>
              <a:t>Full control</a:t>
            </a:r>
          </a:p>
          <a:p>
            <a:pPr lvl="1"/>
            <a:r>
              <a:rPr lang="en-US" smtClean="0"/>
              <a:t>Owner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66401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Folder/File Sharing Through the Folder/File Properties (2 of 4)</a:t>
            </a:r>
            <a:endParaRPr lang="en-US" dirty="0"/>
          </a:p>
        </p:txBody>
      </p:sp>
      <p:pic>
        <p:nvPicPr>
          <p:cNvPr id="6" name="Content Placeholder 5" descr="Figure 5-15, Page No. 216, Complexity level: 2&#10;Screenshot shows “File Sharing” dialog box. The dialog box is titled “Choose people on your network to share with.” A box with a Add button is shown under the Type a name and then click Add, or click the arrow to find someone option. The Administrator and Owner option is selected under the Name and permission level. The Share button shown is selected.&#10;" title="Figure 5-1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52600" y="1676400"/>
            <a:ext cx="5462318" cy="43291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5392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Folder/File Sharing Through the Folder/File Properties (3 of 4)</a:t>
            </a:r>
            <a:endParaRPr lang="en-US" dirty="0"/>
          </a:p>
        </p:txBody>
      </p:sp>
      <p:sp>
        <p:nvSpPr>
          <p:cNvPr id="2" name="Content Placeholder 1"/>
          <p:cNvSpPr>
            <a:spLocks noGrp="1"/>
          </p:cNvSpPr>
          <p:nvPr>
            <p:ph idx="1"/>
          </p:nvPr>
        </p:nvSpPr>
        <p:spPr/>
        <p:txBody>
          <a:bodyPr/>
          <a:lstStyle/>
          <a:p>
            <a:r>
              <a:rPr lang="en-US" smtClean="0"/>
              <a:t>You can cache a folder to make the contents of a shared folder available offline</a:t>
            </a:r>
          </a:p>
          <a:p>
            <a:pPr lvl="1"/>
            <a:r>
              <a:rPr lang="en-US" smtClean="0"/>
              <a:t>Any offline files that have been modified can be synchronized with the network versions of the files</a:t>
            </a:r>
          </a:p>
          <a:p>
            <a:r>
              <a:rPr lang="en-US" smtClean="0"/>
              <a:t>A folder can be cached in three ways:</a:t>
            </a:r>
          </a:p>
          <a:p>
            <a:pPr lvl="1"/>
            <a:r>
              <a:rPr lang="en-US" smtClean="0"/>
              <a:t>Only the files and programs that users specify will be available offline</a:t>
            </a:r>
          </a:p>
          <a:p>
            <a:pPr lvl="1"/>
            <a:r>
              <a:rPr lang="en-US" smtClean="0"/>
              <a:t>No files or programs from the shared folder are available offline</a:t>
            </a:r>
          </a:p>
          <a:p>
            <a:pPr lvl="1"/>
            <a:r>
              <a:rPr lang="en-US" smtClean="0"/>
              <a:t>All files and programs that users open from the shared folder are automatically available offline</a:t>
            </a:r>
          </a:p>
          <a:p>
            <a:r>
              <a:rPr lang="en-US" smtClean="0"/>
              <a:t>Access-based enumeration</a:t>
            </a:r>
          </a:p>
          <a:p>
            <a:pPr lvl="1"/>
            <a:r>
              <a:rPr lang="en-US" smtClean="0"/>
              <a:t>Permits the user to view only folders and files for which they have permissions</a:t>
            </a:r>
          </a:p>
          <a:p>
            <a:r>
              <a:rPr lang="en-US" smtClean="0"/>
              <a:t>Besides hiding a shared folder using the $ sign, you can enable access-based enumeration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18649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Folder/File Sharing Through the Folder/File Properties (4 of 4)</a:t>
            </a:r>
            <a:endParaRPr lang="en-US" dirty="0"/>
          </a:p>
        </p:txBody>
      </p:sp>
      <p:pic>
        <p:nvPicPr>
          <p:cNvPr id="6" name="Content Placeholder 5" descr="Figure 5-17, Page No. 217, Complexity level: 2&#10;Screenshot shows “Advanced Sharing” dialog box. In the dialog box, Share this folder check box is selected. In the settings window, the DocumentationJR is entered under the Share name box. Limit the number of simultaneous users to: 16777 is shown in the drop box. The Comments box with Permissions button and Caching button is displayed. The OK button shown is selected.&#10;" title="Figure 5-17"/>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67000" y="1524000"/>
            <a:ext cx="3921665" cy="43291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083824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Sharing Through Server Manager</a:t>
            </a:r>
            <a:endParaRPr lang="en-US" dirty="0"/>
          </a:p>
        </p:txBody>
      </p:sp>
      <p:sp>
        <p:nvSpPr>
          <p:cNvPr id="2" name="Content Placeholder 1"/>
          <p:cNvSpPr>
            <a:spLocks noGrp="1"/>
          </p:cNvSpPr>
          <p:nvPr>
            <p:ph idx="1"/>
          </p:nvPr>
        </p:nvSpPr>
        <p:spPr/>
        <p:txBody>
          <a:bodyPr/>
          <a:lstStyle/>
          <a:p>
            <a:r>
              <a:rPr lang="en-US" smtClean="0"/>
              <a:t>Server Manager</a:t>
            </a:r>
          </a:p>
          <a:p>
            <a:pPr lvl="1"/>
            <a:r>
              <a:rPr lang="en-US" smtClean="0"/>
              <a:t>Another way to configure folder and file permissions and share permissions</a:t>
            </a:r>
          </a:p>
          <a:p>
            <a:pPr lvl="1"/>
            <a:r>
              <a:rPr lang="en-US" smtClean="0"/>
              <a:t>Offers an interface for managing permissions and shares from one tool</a:t>
            </a:r>
          </a:p>
          <a:p>
            <a:pPr lvl="1"/>
            <a:r>
              <a:rPr lang="en-US" smtClean="0"/>
              <a:t>There are more easily accessed options for share management</a:t>
            </a:r>
          </a:p>
          <a:p>
            <a:r>
              <a:rPr lang="en-US" smtClean="0"/>
              <a:t>Server Message Block (SMB) protocol</a:t>
            </a:r>
          </a:p>
          <a:p>
            <a:pPr lvl="1"/>
            <a:r>
              <a:rPr lang="en-US" smtClean="0"/>
              <a:t>Enables an OS to offer shared files, folders, printers, serial ports, and other port communications on a network</a:t>
            </a:r>
          </a:p>
          <a:p>
            <a:r>
              <a:rPr lang="en-US" smtClean="0"/>
              <a:t>Network File System (NFS) protocol</a:t>
            </a:r>
          </a:p>
          <a:p>
            <a:pPr lvl="1"/>
            <a:r>
              <a:rPr lang="en-US" smtClean="0"/>
              <a:t>Used for file and folder sharing on UNIX and Linux systems</a:t>
            </a:r>
          </a:p>
          <a:p>
            <a:pPr lvl="1"/>
            <a:r>
              <a:rPr lang="en-US" smtClean="0"/>
              <a:t>When installed on a Windows system share, enables it to be accessed by UNIX and Linux computers</a:t>
            </a:r>
          </a:p>
          <a:p>
            <a:r>
              <a:rPr lang="en-US" smtClean="0"/>
              <a:t>File Server Resource Manager role service</a:t>
            </a:r>
          </a:p>
          <a:p>
            <a:pPr lvl="1"/>
            <a:r>
              <a:rPr lang="en-US" smtClean="0"/>
              <a:t>Allows you to set folder quotas</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62955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Publishing a Shared Folder in Active Directory</a:t>
            </a:r>
            <a:endParaRPr lang="en-US" dirty="0"/>
          </a:p>
        </p:txBody>
      </p:sp>
      <p:sp>
        <p:nvSpPr>
          <p:cNvPr id="2" name="Content Placeholder 1"/>
          <p:cNvSpPr>
            <a:spLocks noGrp="1"/>
          </p:cNvSpPr>
          <p:nvPr>
            <p:ph idx="1"/>
          </p:nvPr>
        </p:nvSpPr>
        <p:spPr/>
        <p:txBody>
          <a:bodyPr/>
          <a:lstStyle/>
          <a:p>
            <a:r>
              <a:rPr lang="en-US" smtClean="0"/>
              <a:t>To publish an object</a:t>
            </a:r>
          </a:p>
          <a:p>
            <a:pPr lvl="1"/>
            <a:r>
              <a:rPr lang="en-US" smtClean="0"/>
              <a:t>Means to make it available for users to access when they view Active Directory contents</a:t>
            </a:r>
          </a:p>
          <a:p>
            <a:pPr lvl="1"/>
            <a:r>
              <a:rPr lang="en-US" smtClean="0"/>
              <a:t>Makes it easier to find when a user searches for that object</a:t>
            </a:r>
          </a:p>
          <a:p>
            <a:r>
              <a:rPr lang="en-US" smtClean="0"/>
              <a:t>Active Directory search capabilities are automatically built into all modern Windows OSs, including Windows 10 and Server 2016</a:t>
            </a:r>
          </a:p>
          <a:p>
            <a:r>
              <a:rPr lang="en-US" smtClean="0"/>
              <a:t>When you publish an object, you can publish it to be shared for domain-wide access or to be shared and managed through an organizational unit (OU)</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373599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Troubleshooting a Security Conflict (1 of 2)</a:t>
            </a:r>
            <a:endParaRPr lang="en-US" dirty="0"/>
          </a:p>
        </p:txBody>
      </p:sp>
      <p:sp>
        <p:nvSpPr>
          <p:cNvPr id="2" name="Content Placeholder 1"/>
          <p:cNvSpPr>
            <a:spLocks noGrp="1"/>
          </p:cNvSpPr>
          <p:nvPr>
            <p:ph idx="1"/>
          </p:nvPr>
        </p:nvSpPr>
        <p:spPr/>
        <p:txBody>
          <a:bodyPr/>
          <a:lstStyle/>
          <a:p>
            <a:r>
              <a:rPr lang="en-US" smtClean="0"/>
              <a:t>Windows Server 2016 offers the Effective Access tab in the properties of a folder or file</a:t>
            </a:r>
          </a:p>
          <a:p>
            <a:pPr lvl="1"/>
            <a:r>
              <a:rPr lang="en-US" smtClean="0"/>
              <a:t>As a tool to help troubleshoot permissions conflicts</a:t>
            </a:r>
          </a:p>
          <a:p>
            <a:r>
              <a:rPr lang="en-US" smtClean="0"/>
              <a:t>Using the Effective Access tab, you can view the effective permissions assigned to a user or group</a:t>
            </a:r>
          </a:p>
          <a:p>
            <a:r>
              <a:rPr lang="en-US" smtClean="0"/>
              <a:t>The calculation will take into account group membership as well as permission inheritance</a:t>
            </a:r>
          </a:p>
          <a:p>
            <a:r>
              <a:rPr lang="en-US" smtClean="0"/>
              <a:t>Take into account what happens when a folder or files in a folder are copied or moved</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283105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Troubleshooting a Security Conflict (2 of 2)</a:t>
            </a:r>
            <a:endParaRPr lang="en-US" dirty="0"/>
          </a:p>
        </p:txBody>
      </p:sp>
      <p:sp>
        <p:nvSpPr>
          <p:cNvPr id="2" name="Content Placeholder 1"/>
          <p:cNvSpPr>
            <a:spLocks noGrp="1"/>
          </p:cNvSpPr>
          <p:nvPr>
            <p:ph idx="1"/>
          </p:nvPr>
        </p:nvSpPr>
        <p:spPr/>
        <p:txBody>
          <a:bodyPr/>
          <a:lstStyle/>
          <a:p>
            <a:r>
              <a:rPr lang="en-US" smtClean="0"/>
              <a:t>When a file or folder is created, copied, or moved, the file and folder permissions can be affected in the following ways:</a:t>
            </a:r>
          </a:p>
          <a:p>
            <a:pPr lvl="1"/>
            <a:r>
              <a:rPr lang="en-US" smtClean="0"/>
              <a:t>A newly created file inherits the permissions already set up in a folder</a:t>
            </a:r>
          </a:p>
          <a:p>
            <a:pPr lvl="1"/>
            <a:r>
              <a:rPr lang="en-US" smtClean="0"/>
              <a:t>A file that is copied from one folder to another on the same volume inherits the permissions of the folder to which it is copied</a:t>
            </a:r>
          </a:p>
          <a:p>
            <a:pPr lvl="1"/>
            <a:r>
              <a:rPr lang="en-US" smtClean="0"/>
              <a:t>A file or folder that is moved from one folder to another on the same volume takes with it the permissions it had in the original folder</a:t>
            </a:r>
          </a:p>
          <a:p>
            <a:pPr lvl="1"/>
            <a:r>
              <a:rPr lang="en-US" smtClean="0"/>
              <a:t>A file or folder that is moved or copied to a folder on a different volume inherits the permissions of the folder to which it is moved or copied</a:t>
            </a:r>
          </a:p>
          <a:p>
            <a:pPr lvl="1"/>
            <a:r>
              <a:rPr lang="en-US" smtClean="0"/>
              <a:t>A file or folder that is moved or copied from an NTFS volume to a folder in a FAT or FAT32 volume is not protected by NTFS permissions</a:t>
            </a:r>
          </a:p>
          <a:p>
            <a:pPr lvl="2"/>
            <a:r>
              <a:rPr lang="en-US" smtClean="0"/>
              <a:t>But it does inherit share permissions if they are assigned to the FAT/FAT32 folder</a:t>
            </a:r>
          </a:p>
          <a:p>
            <a:pPr lvl="1"/>
            <a:r>
              <a:rPr lang="en-US" smtClean="0"/>
              <a:t>A file or folder that is moved or copied from a FAT volume to a folder in an NTFS volume inherits the permissions already assigned in the NTFS folder</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436152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Work Folders (1 of 3)</a:t>
            </a:r>
            <a:endParaRPr lang="en-US" dirty="0"/>
          </a:p>
        </p:txBody>
      </p:sp>
      <p:sp>
        <p:nvSpPr>
          <p:cNvPr id="2" name="Content Placeholder 1"/>
          <p:cNvSpPr>
            <a:spLocks noGrp="1"/>
          </p:cNvSpPr>
          <p:nvPr>
            <p:ph idx="1"/>
          </p:nvPr>
        </p:nvSpPr>
        <p:spPr/>
        <p:txBody>
          <a:bodyPr/>
          <a:lstStyle/>
          <a:p>
            <a:r>
              <a:rPr lang="en-US" smtClean="0"/>
              <a:t>Work Folders</a:t>
            </a:r>
          </a:p>
          <a:p>
            <a:pPr lvl="1"/>
            <a:r>
              <a:rPr lang="en-US" smtClean="0"/>
              <a:t>Employed so that users can access and synchronize folders used in work environments through employing all types of devices, mobile and stationary, such as:</a:t>
            </a:r>
          </a:p>
          <a:p>
            <a:pPr lvl="2"/>
            <a:r>
              <a:rPr lang="en-US" smtClean="0"/>
              <a:t>Tablet PCs</a:t>
            </a:r>
          </a:p>
          <a:p>
            <a:pPr lvl="2"/>
            <a:r>
              <a:rPr lang="en-US" smtClean="0"/>
              <a:t>Laptops</a:t>
            </a:r>
          </a:p>
          <a:p>
            <a:pPr lvl="2"/>
            <a:r>
              <a:rPr lang="en-US" smtClean="0"/>
              <a:t>Stationary PCs</a:t>
            </a:r>
          </a:p>
          <a:p>
            <a:pPr lvl="1"/>
            <a:r>
              <a:rPr lang="en-US" smtClean="0"/>
              <a:t>Designed to accommodate the bring-your-own-device (BYOD) environment</a:t>
            </a:r>
          </a:p>
          <a:p>
            <a:r>
              <a:rPr lang="en-US" smtClean="0"/>
              <a:t>User folders are stored on a server in a master folder called a sync share</a:t>
            </a:r>
          </a:p>
          <a:p>
            <a:pPr lvl="1"/>
            <a:r>
              <a:rPr lang="en-US" smtClean="0"/>
              <a:t>Folders and files can be automatically synchronized between the user’s mobile or stationary device and the contents in the sync share folder</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083508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Work Folders (2 of 3)</a:t>
            </a:r>
            <a:endParaRPr lang="en-US" dirty="0"/>
          </a:p>
        </p:txBody>
      </p:sp>
      <p:sp>
        <p:nvSpPr>
          <p:cNvPr id="2" name="Content Placeholder 1"/>
          <p:cNvSpPr>
            <a:spLocks noGrp="1"/>
          </p:cNvSpPr>
          <p:nvPr>
            <p:ph idx="1"/>
          </p:nvPr>
        </p:nvSpPr>
        <p:spPr/>
        <p:txBody>
          <a:bodyPr/>
          <a:lstStyle/>
          <a:p>
            <a:r>
              <a:rPr lang="en-US" smtClean="0"/>
              <a:t>To accommodate BYOD, work folders</a:t>
            </a:r>
          </a:p>
          <a:p>
            <a:pPr lvl="1"/>
            <a:r>
              <a:rPr lang="en-US" smtClean="0"/>
              <a:t>Enable a business to centralize storage of work documents while maintaining control of access and use of these documents</a:t>
            </a:r>
          </a:p>
          <a:p>
            <a:r>
              <a:rPr lang="en-US" smtClean="0"/>
              <a:t>Security is another advantage</a:t>
            </a:r>
          </a:p>
          <a:p>
            <a:pPr lvl="1"/>
            <a:r>
              <a:rPr lang="en-US" smtClean="0"/>
              <a:t>Work folders are subject to NTFS permissions and share permissions</a:t>
            </a:r>
          </a:p>
          <a:p>
            <a:pPr lvl="1"/>
            <a:r>
              <a:rPr lang="en-US" smtClean="0"/>
              <a:t>A Group Policy can be set up on the server to ensure that mobile and stationary devices must use screen locking with a password and must encrypt files</a:t>
            </a:r>
          </a:p>
          <a:p>
            <a:r>
              <a:rPr lang="en-US" smtClean="0"/>
              <a:t>At this writing, work folders are supported in:</a:t>
            </a:r>
          </a:p>
          <a:p>
            <a:pPr lvl="1"/>
            <a:r>
              <a:rPr lang="en-US" smtClean="0"/>
              <a:t>Windows 10, Windows 8.1, Windows RT 8.1, Windows 7 and 8</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51189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Work Folders (3 of 3)</a:t>
            </a:r>
            <a:endParaRPr lang="en-US" dirty="0"/>
          </a:p>
        </p:txBody>
      </p:sp>
      <p:sp>
        <p:nvSpPr>
          <p:cNvPr id="2" name="Content Placeholder 1"/>
          <p:cNvSpPr>
            <a:spLocks noGrp="1"/>
          </p:cNvSpPr>
          <p:nvPr>
            <p:ph idx="1"/>
          </p:nvPr>
        </p:nvSpPr>
        <p:spPr/>
        <p:txBody>
          <a:bodyPr/>
          <a:lstStyle/>
          <a:p>
            <a:r>
              <a:rPr lang="en-US" smtClean="0"/>
              <a:t>To use work folders</a:t>
            </a:r>
          </a:p>
          <a:p>
            <a:pPr lvl="1"/>
            <a:r>
              <a:rPr lang="en-US" smtClean="0"/>
              <a:t>Install the Work Folders role service in the File and Storage Services role</a:t>
            </a:r>
          </a:p>
          <a:p>
            <a:pPr lvl="1"/>
            <a:r>
              <a:rPr lang="en-US" smtClean="0"/>
              <a:t>Configure Work Folders in Server Manager</a:t>
            </a:r>
          </a:p>
          <a:p>
            <a:r>
              <a:rPr lang="en-US" smtClean="0"/>
              <a:t>General steps for setting up Work Folders are outlined on page 227 of the text</a:t>
            </a:r>
            <a:endParaRPr lang="en-US" dirty="0" smtClean="0"/>
          </a:p>
        </p:txBody>
      </p:sp>
      <p:pic>
        <p:nvPicPr>
          <p:cNvPr id="5" name="Picture 4" descr="Figure 5-23, Page No. 227, Complexity level: 2&#10;Screenshot shows “Server Manager” dialog box. On the left pane of the dialog box, the cursor points to the Work Folders option. On the content pane of the dialog box, the Work Folders window is displayed. The cursor points to the link: To create a sync share for Work Folders, start the New Sync Share Wizard.&#10;" title="Figure 5-2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2394" y="3050152"/>
            <a:ext cx="6400800" cy="2895600"/>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432179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a Distributed File System (1 of 2)</a:t>
            </a:r>
            <a:endParaRPr lang="en-US" dirty="0"/>
          </a:p>
        </p:txBody>
      </p:sp>
      <p:sp>
        <p:nvSpPr>
          <p:cNvPr id="2" name="Content Placeholder 1"/>
          <p:cNvSpPr>
            <a:spLocks noGrp="1"/>
          </p:cNvSpPr>
          <p:nvPr>
            <p:ph idx="1"/>
          </p:nvPr>
        </p:nvSpPr>
        <p:spPr/>
        <p:txBody>
          <a:bodyPr/>
          <a:lstStyle/>
          <a:p>
            <a:r>
              <a:rPr lang="en-US" smtClean="0"/>
              <a:t>Distributed File System (DFS)</a:t>
            </a:r>
          </a:p>
          <a:p>
            <a:pPr lvl="1"/>
            <a:r>
              <a:rPr lang="en-US" smtClean="0"/>
              <a:t>Enables you to simplify access to the shared folders on a network by setting up folders to appear as though they are accessed from only one place</a:t>
            </a:r>
          </a:p>
          <a:p>
            <a:pPr lvl="1"/>
            <a:r>
              <a:rPr lang="en-US" smtClean="0"/>
              <a:t>DFS also makes managing folder access easier for server administrators</a:t>
            </a:r>
          </a:p>
          <a:p>
            <a:r>
              <a:rPr lang="en-US" smtClean="0"/>
              <a:t>After the DFS role is installed</a:t>
            </a:r>
          </a:p>
          <a:p>
            <a:pPr lvl="1"/>
            <a:r>
              <a:rPr lang="en-US" smtClean="0"/>
              <a:t>DFS is configured using the DFS Management tool started from Server Manager</a:t>
            </a:r>
          </a:p>
          <a:p>
            <a:r>
              <a:rPr lang="en-US" smtClean="0"/>
              <a:t>If DFS is used in a domain, then shared folder contents can be replicated to one or more DCs or member servers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40652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a Distributed File System (2 of 2)</a:t>
            </a:r>
            <a:endParaRPr lang="en-US" dirty="0"/>
          </a:p>
        </p:txBody>
      </p:sp>
      <p:sp>
        <p:nvSpPr>
          <p:cNvPr id="2" name="Content Placeholder 1"/>
          <p:cNvSpPr>
            <a:spLocks noGrp="1"/>
          </p:cNvSpPr>
          <p:nvPr>
            <p:ph idx="1"/>
          </p:nvPr>
        </p:nvSpPr>
        <p:spPr/>
        <p:txBody>
          <a:bodyPr/>
          <a:lstStyle/>
          <a:p>
            <a:r>
              <a:rPr lang="en-US" smtClean="0"/>
              <a:t>DFS advantages:</a:t>
            </a:r>
          </a:p>
          <a:p>
            <a:pPr lvl="1"/>
            <a:r>
              <a:rPr lang="en-US" smtClean="0"/>
              <a:t>Shared folders can be set up so that they appear in one hierarchy of folders</a:t>
            </a:r>
          </a:p>
          <a:p>
            <a:pPr lvl="2"/>
            <a:r>
              <a:rPr lang="en-US" smtClean="0"/>
              <a:t>Enabling users to save time when searching for information</a:t>
            </a:r>
          </a:p>
          <a:p>
            <a:pPr lvl="1"/>
            <a:r>
              <a:rPr lang="en-US" smtClean="0"/>
              <a:t>NTFS access permissions fully apply to DFS on NTFS-formatted volumes</a:t>
            </a:r>
          </a:p>
          <a:p>
            <a:pPr lvl="1"/>
            <a:r>
              <a:rPr lang="en-US" smtClean="0"/>
              <a:t>Fault tolerance is an option by replicating shared folders on multiple servers</a:t>
            </a:r>
          </a:p>
          <a:p>
            <a:pPr lvl="1"/>
            <a:r>
              <a:rPr lang="en-US" smtClean="0"/>
              <a:t>Access to shared folders can be distributed across many servers (load balancing)</a:t>
            </a:r>
          </a:p>
          <a:p>
            <a:pPr lvl="1"/>
            <a:r>
              <a:rPr lang="en-US" smtClean="0"/>
              <a:t>Access is improved to resources for Web-based Internet and intranet sites</a:t>
            </a:r>
          </a:p>
          <a:p>
            <a:pPr lvl="1"/>
            <a:r>
              <a:rPr lang="en-US" smtClean="0"/>
              <a:t>Vital shared folders on multiple computers can be backed up from one set of master folders</a:t>
            </a:r>
          </a:p>
          <a:p>
            <a:r>
              <a:rPr lang="en-US" smtClean="0"/>
              <a:t>DFS reduces the number of calls to server administrators asking where to find a particular resource</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051782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DFS Replication</a:t>
            </a:r>
            <a:endParaRPr lang="en-US" dirty="0"/>
          </a:p>
        </p:txBody>
      </p:sp>
      <p:sp>
        <p:nvSpPr>
          <p:cNvPr id="2" name="Content Placeholder 1"/>
          <p:cNvSpPr>
            <a:spLocks noGrp="1"/>
          </p:cNvSpPr>
          <p:nvPr>
            <p:ph idx="1"/>
          </p:nvPr>
        </p:nvSpPr>
        <p:spPr/>
        <p:txBody>
          <a:bodyPr/>
          <a:lstStyle/>
          <a:p>
            <a:r>
              <a:rPr lang="en-US" smtClean="0"/>
              <a:t>Another advantage of DFS in a domain is that folders can be replicated automatically or manually through DFS Replication</a:t>
            </a:r>
          </a:p>
          <a:p>
            <a:pPr lvl="1"/>
            <a:r>
              <a:rPr lang="en-US" smtClean="0"/>
              <a:t>A role service you can install within the File and Storage Service role</a:t>
            </a:r>
          </a:p>
          <a:p>
            <a:r>
              <a:rPr lang="en-US" smtClean="0"/>
              <a:t>When you install DFS functionality, plan to install DFS Replication</a:t>
            </a:r>
          </a:p>
          <a:p>
            <a:r>
              <a:rPr lang="en-US" smtClean="0"/>
              <a:t>Shared folders in DFS are copied to each designated target computer, which yields two significant advantages:</a:t>
            </a:r>
          </a:p>
          <a:p>
            <a:pPr lvl="1"/>
            <a:r>
              <a:rPr lang="en-US" smtClean="0"/>
              <a:t>Important information is not lost when a disk drive on one server fails</a:t>
            </a:r>
          </a:p>
          <a:p>
            <a:pPr lvl="1"/>
            <a:r>
              <a:rPr lang="en-US" smtClean="0"/>
              <a:t>Users always have access to shared folders even in the event of a disk failure</a:t>
            </a:r>
          </a:p>
          <a:p>
            <a:r>
              <a:rPr lang="en-US" smtClean="0"/>
              <a:t>DFS and DFS Replication can be administered through GUI tools or through PowerShell cmdlets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282966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DFS Models</a:t>
            </a:r>
            <a:endParaRPr lang="en-US" dirty="0"/>
          </a:p>
        </p:txBody>
      </p:sp>
      <p:sp>
        <p:nvSpPr>
          <p:cNvPr id="2" name="Content Placeholder 1"/>
          <p:cNvSpPr>
            <a:spLocks noGrp="1"/>
          </p:cNvSpPr>
          <p:nvPr>
            <p:ph idx="1"/>
          </p:nvPr>
        </p:nvSpPr>
        <p:spPr/>
        <p:txBody>
          <a:bodyPr/>
          <a:lstStyle/>
          <a:p>
            <a:r>
              <a:rPr lang="en-US" smtClean="0"/>
              <a:t>Stand-alone DFS model</a:t>
            </a:r>
          </a:p>
          <a:p>
            <a:pPr lvl="1"/>
            <a:r>
              <a:rPr lang="en-US" smtClean="0"/>
              <a:t>No Active Directory implementation is available to help manage the shared folders</a:t>
            </a:r>
          </a:p>
          <a:p>
            <a:pPr lvl="1"/>
            <a:r>
              <a:rPr lang="en-US" smtClean="0"/>
              <a:t>This model provides only a single or flat level share</a:t>
            </a:r>
          </a:p>
          <a:p>
            <a:r>
              <a:rPr lang="en-US" smtClean="0"/>
              <a:t>Domain-based DFS model</a:t>
            </a:r>
          </a:p>
          <a:p>
            <a:pPr lvl="1"/>
            <a:r>
              <a:rPr lang="en-US" smtClean="0"/>
              <a:t>Takes full advantage of Active Directory and is available only to servers and workstations that are members of a domain</a:t>
            </a:r>
          </a:p>
          <a:p>
            <a:pPr lvl="1"/>
            <a:r>
              <a:rPr lang="en-US" smtClean="0"/>
              <a:t>Enables a deep, root-based, hierarchical arrangement of shared folders that is published in Active Directory</a:t>
            </a:r>
          </a:p>
          <a:p>
            <a:pPr lvl="1"/>
            <a:r>
              <a:rPr lang="en-US" smtClean="0"/>
              <a:t>DFS shared folders in the domain-based model are replicated for fault tolerance and load balancing</a:t>
            </a:r>
          </a:p>
          <a:p>
            <a:pPr lvl="2"/>
            <a:r>
              <a:rPr lang="en-US" smtClean="0"/>
              <a:t>Stand-along DFS model does not implement these features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578534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DFS Topology</a:t>
            </a:r>
            <a:endParaRPr lang="en-US" dirty="0"/>
          </a:p>
        </p:txBody>
      </p:sp>
      <p:sp>
        <p:nvSpPr>
          <p:cNvPr id="2" name="Content Placeholder 1"/>
          <p:cNvSpPr>
            <a:spLocks noGrp="1"/>
          </p:cNvSpPr>
          <p:nvPr>
            <p:ph idx="1"/>
          </p:nvPr>
        </p:nvSpPr>
        <p:spPr/>
        <p:txBody>
          <a:bodyPr/>
          <a:lstStyle/>
          <a:p>
            <a:r>
              <a:rPr lang="en-US" smtClean="0"/>
              <a:t>DFS topology</a:t>
            </a:r>
          </a:p>
          <a:p>
            <a:pPr lvl="1"/>
            <a:r>
              <a:rPr lang="en-US" smtClean="0"/>
              <a:t>The hierarchical structure of DFS in the domain-based model</a:t>
            </a:r>
          </a:p>
          <a:p>
            <a:r>
              <a:rPr lang="en-US" smtClean="0"/>
              <a:t>Namespace root</a:t>
            </a:r>
          </a:p>
          <a:p>
            <a:pPr lvl="1"/>
            <a:r>
              <a:rPr lang="en-US" smtClean="0"/>
              <a:t>A main container (top-level folder) in Active Directory that holds links to shared folders that can be accessed from the root</a:t>
            </a:r>
          </a:p>
          <a:p>
            <a:r>
              <a:rPr lang="en-US" smtClean="0"/>
              <a:t>Namespace server</a:t>
            </a:r>
          </a:p>
          <a:p>
            <a:pPr lvl="1"/>
            <a:r>
              <a:rPr lang="en-US" smtClean="0"/>
              <a:t>The server that maintains the namespace root</a:t>
            </a:r>
          </a:p>
          <a:p>
            <a:r>
              <a:rPr lang="en-US" smtClean="0"/>
              <a:t>After the namespace root is created, it is populated by shared folders for users to access</a:t>
            </a:r>
          </a:p>
          <a:p>
            <a:pPr lvl="1"/>
            <a:r>
              <a:rPr lang="en-US" smtClean="0"/>
              <a:t>Folders are established in a level hierarchy and appear to be in one server location</a:t>
            </a:r>
          </a:p>
          <a:p>
            <a:r>
              <a:rPr lang="en-US" smtClean="0"/>
              <a:t>Replication group</a:t>
            </a:r>
          </a:p>
          <a:p>
            <a:pPr lvl="1"/>
            <a:r>
              <a:rPr lang="en-US" smtClean="0"/>
              <a:t>A set of shared folders that is replicated or copied to one or more servers in a domain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386963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Installing DFS</a:t>
            </a:r>
            <a:endParaRPr lang="en-US" dirty="0"/>
          </a:p>
        </p:txBody>
      </p:sp>
      <p:sp>
        <p:nvSpPr>
          <p:cNvPr id="2" name="Content Placeholder 1"/>
          <p:cNvSpPr>
            <a:spLocks noGrp="1"/>
          </p:cNvSpPr>
          <p:nvPr>
            <p:ph idx="1"/>
          </p:nvPr>
        </p:nvSpPr>
        <p:spPr/>
        <p:txBody>
          <a:bodyPr/>
          <a:lstStyle/>
          <a:p>
            <a:r>
              <a:rPr lang="en-US" smtClean="0"/>
              <a:t>DFS is installed as a service within the File Services role</a:t>
            </a:r>
          </a:p>
          <a:p>
            <a:r>
              <a:rPr lang="en-US" smtClean="0"/>
              <a:t>File and Storage Services role is installed by default in Windows Server 2016</a:t>
            </a:r>
          </a:p>
          <a:p>
            <a:pPr lvl="1"/>
            <a:r>
              <a:rPr lang="en-US" smtClean="0"/>
              <a:t>The elements needed for a domain-based DFS system with namespaces and DFS replication are not automatically installed</a:t>
            </a:r>
          </a:p>
          <a:p>
            <a:r>
              <a:rPr lang="en-US" smtClean="0"/>
              <a:t>Use Server Manager to install DFS namespace and DFS Replication</a:t>
            </a:r>
          </a:p>
          <a:p>
            <a:endParaRPr lang="en-US" dirty="0"/>
          </a:p>
        </p:txBody>
      </p:sp>
      <p:pic>
        <p:nvPicPr>
          <p:cNvPr id="5" name="Picture 4" descr="Figure 5-24, Page No. 231, Complexity level: 2&#10;Screenshot shows “DFS Management” dialog box. The cursor points to the New Namespace option under the Action menu that overlaps the DFS Management window. On the right pane of the dialog box, the DFS Management up arrow is selected under the Actions menu.&#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3473563"/>
            <a:ext cx="6564177" cy="2695225"/>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046624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a Domain-Based Namespace Root System (1of 7)</a:t>
            </a:r>
            <a:endParaRPr lang="en-US" dirty="0"/>
          </a:p>
        </p:txBody>
      </p:sp>
      <p:sp>
        <p:nvSpPr>
          <p:cNvPr id="2" name="Content Placeholder 1"/>
          <p:cNvSpPr>
            <a:spLocks noGrp="1"/>
          </p:cNvSpPr>
          <p:nvPr>
            <p:ph idx="1"/>
          </p:nvPr>
        </p:nvSpPr>
        <p:spPr/>
        <p:txBody>
          <a:bodyPr/>
          <a:lstStyle/>
          <a:p>
            <a:r>
              <a:rPr lang="en-US" smtClean="0"/>
              <a:t>After the namespace is set up, several tasks are involved in managing the namespace root:</a:t>
            </a:r>
          </a:p>
          <a:p>
            <a:pPr lvl="1"/>
            <a:r>
              <a:rPr lang="en-US" smtClean="0"/>
              <a:t>Creating a folder in a namespace</a:t>
            </a:r>
          </a:p>
          <a:p>
            <a:pPr lvl="1"/>
            <a:r>
              <a:rPr lang="en-US" smtClean="0"/>
              <a:t>Delegating management</a:t>
            </a:r>
          </a:p>
          <a:p>
            <a:pPr lvl="1"/>
            <a:r>
              <a:rPr lang="en-US" smtClean="0"/>
              <a:t>Tuning a namespace</a:t>
            </a:r>
          </a:p>
          <a:p>
            <a:pPr lvl="1"/>
            <a:r>
              <a:rPr lang="en-US" smtClean="0"/>
              <a:t>Deleting a namespace root</a:t>
            </a:r>
          </a:p>
          <a:p>
            <a:pPr lvl="1"/>
            <a:r>
              <a:rPr lang="en-US" smtClean="0"/>
              <a:t>Using DFS replication</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122543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a Domain-Based Namespace Root System (2 of 7)</a:t>
            </a:r>
            <a:endParaRPr lang="en-US" dirty="0"/>
          </a:p>
        </p:txBody>
      </p:sp>
      <p:sp>
        <p:nvSpPr>
          <p:cNvPr id="2" name="Content Placeholder 1"/>
          <p:cNvSpPr>
            <a:spLocks noGrp="1"/>
          </p:cNvSpPr>
          <p:nvPr>
            <p:ph idx="1"/>
          </p:nvPr>
        </p:nvSpPr>
        <p:spPr/>
        <p:txBody>
          <a:bodyPr/>
          <a:lstStyle/>
          <a:p>
            <a:r>
              <a:rPr lang="en-US" smtClean="0"/>
              <a:t>Creating a folder in a namespace</a:t>
            </a:r>
          </a:p>
          <a:p>
            <a:pPr lvl="1"/>
            <a:r>
              <a:rPr lang="en-US" smtClean="0"/>
              <a:t>A folder is simply a shared folder that you add to (or link to) the namespace root</a:t>
            </a:r>
          </a:p>
          <a:p>
            <a:pPr lvl="1"/>
            <a:r>
              <a:rPr lang="en-US" smtClean="0"/>
              <a:t>Folder target</a:t>
            </a:r>
          </a:p>
          <a:p>
            <a:pPr lvl="2"/>
            <a:r>
              <a:rPr lang="en-US" smtClean="0"/>
              <a:t>A path in the Universal Naming Convention (UNC) format, such as to a shared folder or to a different DFS path</a:t>
            </a:r>
          </a:p>
          <a:p>
            <a:pPr lvl="1"/>
            <a:r>
              <a:rPr lang="en-US" smtClean="0"/>
              <a:t>Universal Naming Convention (UNC)</a:t>
            </a:r>
          </a:p>
          <a:p>
            <a:pPr lvl="2"/>
            <a:r>
              <a:rPr lang="en-US" smtClean="0"/>
              <a:t>A naming convention that designates network servers, computers, and shared resources</a:t>
            </a:r>
          </a:p>
          <a:p>
            <a:pPr lvl="1"/>
            <a:r>
              <a:rPr lang="en-US" smtClean="0"/>
              <a:t>Clients who access the namespace can see a list of folder targets ordered in a hierarchy</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605596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a Domain-Based Namespace Root System (3 of 7)</a:t>
            </a:r>
            <a:endParaRPr lang="en-US" dirty="0"/>
          </a:p>
        </p:txBody>
      </p:sp>
      <p:sp>
        <p:nvSpPr>
          <p:cNvPr id="2" name="Content Placeholder 1"/>
          <p:cNvSpPr>
            <a:spLocks noGrp="1"/>
          </p:cNvSpPr>
          <p:nvPr>
            <p:ph idx="1"/>
          </p:nvPr>
        </p:nvSpPr>
        <p:spPr/>
        <p:txBody>
          <a:bodyPr/>
          <a:lstStyle/>
          <a:p>
            <a:r>
              <a:rPr lang="en-US" smtClean="0"/>
              <a:t>Delegating Management</a:t>
            </a:r>
          </a:p>
          <a:p>
            <a:pPr lvl="1"/>
            <a:r>
              <a:rPr lang="en-US" smtClean="0"/>
              <a:t>You can delegate management of a DFS namespace so that the day-to-day activities can be managed by an assistant or by another person who oversees the management of DFS shared folders</a:t>
            </a:r>
          </a:p>
          <a:p>
            <a:pPr lvl="1"/>
            <a:r>
              <a:rPr lang="en-US" smtClean="0"/>
              <a:t>Delegating management simply involves right-clicking the namespace and clicking Delegate Management Permissions</a:t>
            </a:r>
          </a:p>
          <a:p>
            <a:pPr lvl="1"/>
            <a:r>
              <a:rPr lang="en-US" smtClean="0"/>
              <a:t>Even if you are the main person managing DFS shared folders, it is a good idea to have a backup person</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561636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a Domain-Based Namespace Root System (4 of 7)</a:t>
            </a:r>
            <a:endParaRPr lang="en-US" dirty="0"/>
          </a:p>
        </p:txBody>
      </p:sp>
      <p:sp>
        <p:nvSpPr>
          <p:cNvPr id="2" name="Content Placeholder 1"/>
          <p:cNvSpPr>
            <a:spLocks noGrp="1"/>
          </p:cNvSpPr>
          <p:nvPr>
            <p:ph idx="1"/>
          </p:nvPr>
        </p:nvSpPr>
        <p:spPr/>
        <p:txBody>
          <a:bodyPr/>
          <a:lstStyle/>
          <a:p>
            <a:r>
              <a:rPr lang="en-US" smtClean="0"/>
              <a:t>Tuning a Namespace</a:t>
            </a:r>
          </a:p>
          <a:p>
            <a:pPr lvl="1"/>
            <a:r>
              <a:rPr lang="en-US" smtClean="0"/>
              <a:t>After you configure a DFS namespace, you can tune it to match the needs of your organization</a:t>
            </a:r>
          </a:p>
          <a:p>
            <a:pPr lvl="1"/>
            <a:r>
              <a:rPr lang="en-US" smtClean="0"/>
              <a:t>Tuning options:</a:t>
            </a:r>
          </a:p>
          <a:p>
            <a:pPr lvl="2"/>
            <a:r>
              <a:rPr lang="en-US" smtClean="0"/>
              <a:t>Configure the order for referrals</a:t>
            </a:r>
          </a:p>
          <a:p>
            <a:pPr lvl="2"/>
            <a:r>
              <a:rPr lang="en-US" smtClean="0"/>
              <a:t>Configure cache duration for a namespace</a:t>
            </a:r>
          </a:p>
          <a:p>
            <a:pPr lvl="2"/>
            <a:r>
              <a:rPr lang="en-US" smtClean="0"/>
              <a:t>Configure cache duration for a folder</a:t>
            </a:r>
          </a:p>
          <a:p>
            <a:pPr lvl="2"/>
            <a:r>
              <a:rPr lang="en-US" smtClean="0"/>
              <a:t>Configure namespace polling</a:t>
            </a:r>
          </a:p>
          <a:p>
            <a:pPr lvl="2"/>
            <a:r>
              <a:rPr lang="en-US" smtClean="0"/>
              <a:t>Configure folder targets as enabled or disabled</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025864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a Domain-Based Namespace Root System (5 of 7)</a:t>
            </a:r>
            <a:endParaRPr lang="en-US" dirty="0"/>
          </a:p>
        </p:txBody>
      </p:sp>
      <p:pic>
        <p:nvPicPr>
          <p:cNvPr id="6" name="Content Placeholder 5" descr="Figure 5-26, Page No. 233, Complexity level: 3&#10;Screenshot shows “\\jpcomp.com\DataJR Properties” dialog box. The Referrals tab is selected. The Cache duration (in seconds): 300 (given in box) within to specify the amount of time that clients cache (store) referrals for this namespace option. The Lowest cost drop arrow is selected under the Ordering method for “targets in a client’s site are listed first in a referral. Select the method for ordering targets outside of the client’s site.” The clients fail back to preferred targets check box is shown. The OK butto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67000" y="1524000"/>
            <a:ext cx="3558961" cy="4306218"/>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167300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a Domain-Based Namespace Root System (6 of 7)</a:t>
            </a:r>
            <a:endParaRPr lang="en-US" dirty="0"/>
          </a:p>
        </p:txBody>
      </p:sp>
      <p:sp>
        <p:nvSpPr>
          <p:cNvPr id="2" name="Content Placeholder 1"/>
          <p:cNvSpPr>
            <a:spLocks noGrp="1"/>
          </p:cNvSpPr>
          <p:nvPr>
            <p:ph idx="1"/>
          </p:nvPr>
        </p:nvSpPr>
        <p:spPr/>
        <p:txBody>
          <a:bodyPr/>
          <a:lstStyle/>
          <a:p>
            <a:r>
              <a:rPr lang="en-US" smtClean="0"/>
              <a:t>Deleting a namespace root</a:t>
            </a:r>
          </a:p>
          <a:p>
            <a:pPr lvl="1"/>
            <a:r>
              <a:rPr lang="en-US" smtClean="0"/>
              <a:t>You can delete the namespace root via the DFS Management tool by clicking the namespace root and clicking Delete</a:t>
            </a:r>
          </a:p>
          <a:p>
            <a:r>
              <a:rPr lang="en-US" smtClean="0"/>
              <a:t>Using DFS Replication</a:t>
            </a:r>
          </a:p>
          <a:p>
            <a:pPr lvl="1"/>
            <a:r>
              <a:rPr lang="en-US" smtClean="0"/>
              <a:t>To configure replication, you first must have defined two or more folder targets</a:t>
            </a:r>
          </a:p>
          <a:p>
            <a:pPr lvl="1"/>
            <a:r>
              <a:rPr lang="en-US" smtClean="0"/>
              <a:t>You need to decide which server is to be the primary group member</a:t>
            </a:r>
          </a:p>
          <a:p>
            <a:pPr lvl="2"/>
            <a:r>
              <a:rPr lang="en-US" smtClean="0"/>
              <a:t>The primary group member should be the server containing shared folders and files that are most current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009889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a Domain-Based Namespace Root System (7 of 7)</a:t>
            </a:r>
            <a:endParaRPr lang="en-US" dirty="0"/>
          </a:p>
        </p:txBody>
      </p:sp>
      <p:sp>
        <p:nvSpPr>
          <p:cNvPr id="2" name="Content Placeholder 1"/>
          <p:cNvSpPr>
            <a:spLocks noGrp="1"/>
          </p:cNvSpPr>
          <p:nvPr>
            <p:ph idx="1"/>
          </p:nvPr>
        </p:nvSpPr>
        <p:spPr/>
        <p:txBody>
          <a:bodyPr/>
          <a:lstStyle/>
          <a:p>
            <a:r>
              <a:rPr lang="en-US" smtClean="0"/>
              <a:t>Recent improvements to DFS replication include:</a:t>
            </a:r>
          </a:p>
          <a:p>
            <a:pPr lvl="1"/>
            <a:r>
              <a:rPr lang="en-US" smtClean="0"/>
              <a:t>New Windows PowerShell cmdlets for managing replication tasks</a:t>
            </a:r>
          </a:p>
          <a:p>
            <a:pPr lvl="1"/>
            <a:r>
              <a:rPr lang="en-US" smtClean="0"/>
              <a:t>New resources for rebuilding corrupted databases</a:t>
            </a:r>
          </a:p>
          <a:p>
            <a:pPr lvl="1"/>
            <a:r>
              <a:rPr lang="en-US" smtClean="0"/>
              <a:t>Improved ability to automatically recover after a power failure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104858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Disk Quotas</a:t>
            </a:r>
            <a:endParaRPr lang="en-US" dirty="0"/>
          </a:p>
        </p:txBody>
      </p:sp>
      <p:sp>
        <p:nvSpPr>
          <p:cNvPr id="2" name="Content Placeholder 1"/>
          <p:cNvSpPr>
            <a:spLocks noGrp="1"/>
          </p:cNvSpPr>
          <p:nvPr>
            <p:ph idx="1"/>
          </p:nvPr>
        </p:nvSpPr>
        <p:spPr/>
        <p:txBody>
          <a:bodyPr/>
          <a:lstStyle/>
          <a:p>
            <a:r>
              <a:rPr lang="en-US" smtClean="0"/>
              <a:t>Disk quotas advantages:</a:t>
            </a:r>
          </a:p>
          <a:p>
            <a:pPr lvl="1"/>
            <a:r>
              <a:rPr lang="en-US" smtClean="0"/>
              <a:t>Preventing users from filling the disk capacity</a:t>
            </a:r>
          </a:p>
          <a:p>
            <a:pPr lvl="1"/>
            <a:r>
              <a:rPr lang="en-US" smtClean="0"/>
              <a:t>Encouraging users to help manage disk space</a:t>
            </a:r>
          </a:p>
          <a:p>
            <a:pPr lvl="1"/>
            <a:r>
              <a:rPr lang="en-US" smtClean="0"/>
              <a:t>Tracking disk capacity needs on a per-user basis for future planning</a:t>
            </a:r>
          </a:p>
          <a:p>
            <a:pPr lvl="1"/>
            <a:r>
              <a:rPr lang="en-US" smtClean="0"/>
              <a:t>Providing server administrators with information about when users are nearing or have reached their quota limits</a:t>
            </a:r>
          </a:p>
          <a:p>
            <a:r>
              <a:rPr lang="en-US" smtClean="0"/>
              <a:t>A way to manage quotas and to directly configure quota templates is to use the File Server Resource Manager administrative tool</a:t>
            </a:r>
          </a:p>
          <a:p>
            <a:pPr lvl="1"/>
            <a:r>
              <a:rPr lang="en-US" smtClean="0"/>
              <a:t>Can be started from Server Manager, from the Windows Administrative Tools folder via the Start button or as an MMC snap-in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851372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(1 of 2)</a:t>
            </a:r>
            <a:endParaRPr lang="en-US" dirty="0"/>
          </a:p>
        </p:txBody>
      </p:sp>
      <p:sp>
        <p:nvSpPr>
          <p:cNvPr id="2" name="Content Placeholder 1"/>
          <p:cNvSpPr>
            <a:spLocks noGrp="1"/>
          </p:cNvSpPr>
          <p:nvPr>
            <p:ph idx="1"/>
          </p:nvPr>
        </p:nvSpPr>
        <p:spPr/>
        <p:txBody>
          <a:bodyPr/>
          <a:lstStyle/>
          <a:p>
            <a:r>
              <a:rPr lang="en-US" smtClean="0"/>
              <a:t>Windows Server 2016 uses discretionary access control lists for managing access to resources</a:t>
            </a:r>
          </a:p>
          <a:p>
            <a:r>
              <a:rPr lang="en-US" smtClean="0"/>
              <a:t>NTFS uses folder and file attributes for one level of security</a:t>
            </a:r>
          </a:p>
          <a:p>
            <a:r>
              <a:rPr lang="en-US" smtClean="0"/>
              <a:t>When you use the encrypt attribute, this employs the Microsoft Encrypting File System to protect files and folders</a:t>
            </a:r>
          </a:p>
          <a:p>
            <a:r>
              <a:rPr lang="en-US" smtClean="0"/>
              <a:t>Permissions provide another level of security for files and folders</a:t>
            </a:r>
          </a:p>
          <a:p>
            <a:r>
              <a:rPr lang="en-US" smtClean="0"/>
              <a:t>Advanced permissions provide the option to further customize security at a more granular level than basic permissions</a:t>
            </a:r>
          </a:p>
          <a:p>
            <a:r>
              <a:rPr lang="en-US" smtClean="0"/>
              <a:t>Folder and file auditing enable you to track who has accessed resources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014421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(2 of 2)</a:t>
            </a:r>
            <a:endParaRPr lang="en-US" dirty="0"/>
          </a:p>
        </p:txBody>
      </p:sp>
      <p:sp>
        <p:nvSpPr>
          <p:cNvPr id="2" name="Content Placeholder 1"/>
          <p:cNvSpPr>
            <a:spLocks noGrp="1"/>
          </p:cNvSpPr>
          <p:nvPr>
            <p:ph idx="1"/>
          </p:nvPr>
        </p:nvSpPr>
        <p:spPr/>
        <p:txBody>
          <a:bodyPr/>
          <a:lstStyle/>
          <a:p>
            <a:r>
              <a:rPr lang="en-US" smtClean="0"/>
              <a:t>Folder and file owners have Full control permissions, including the ability to change permissions</a:t>
            </a:r>
          </a:p>
          <a:p>
            <a:r>
              <a:rPr lang="en-US" smtClean="0"/>
              <a:t>Folders can be shared for users to access over a network, and shared folder security is configured through share permissions</a:t>
            </a:r>
          </a:p>
          <a:p>
            <a:r>
              <a:rPr lang="en-US" smtClean="0"/>
              <a:t>File can be shared over the network using SMB for Windows-based computers and UNIX or Linux computers that run Samba</a:t>
            </a:r>
          </a:p>
          <a:p>
            <a:r>
              <a:rPr lang="en-US" smtClean="0"/>
              <a:t>Use the Effective Permissions capability to troubleshoot a security conflict</a:t>
            </a:r>
          </a:p>
          <a:p>
            <a:r>
              <a:rPr lang="en-US" smtClean="0"/>
              <a:t>Users who need access to folders/files when they are not connected to the network can have access by making resource available offline</a:t>
            </a:r>
          </a:p>
          <a:p>
            <a:r>
              <a:rPr lang="en-US" smtClean="0"/>
              <a:t>The Distributed File System (DFS) enables you to set up shared folders</a:t>
            </a:r>
          </a:p>
          <a:p>
            <a:r>
              <a:rPr lang="en-US" smtClean="0"/>
              <a:t>Use disk quotas to manage the resources put on a server disk volume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44475693"/>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16011</TotalTime>
  <Words>5747</Words>
  <Application>Microsoft Office PowerPoint</Application>
  <PresentationFormat>On-screen Show (4:3)</PresentationFormat>
  <Paragraphs>355</Paragraphs>
  <Slides>48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Calibri</vt:lpstr>
      <vt:lpstr>Calibri Light</vt:lpstr>
      <vt:lpstr>Office Theme</vt:lpstr>
      <vt:lpstr>Hands-On Microsoft Windows Server 2016  2nd Edition</vt:lpstr>
      <vt:lpstr>Objectives</vt:lpstr>
      <vt:lpstr>Managing Folder and File Security</vt:lpstr>
      <vt:lpstr>Configuring Folder and File Attributes (1 of 8)</vt:lpstr>
      <vt:lpstr>Configuring Folder and File Attributes (2 of 8)</vt:lpstr>
      <vt:lpstr>Configuring Folder and File Attributes (3 of 8)</vt:lpstr>
      <vt:lpstr>Configuring Folder and File Attributes (4 of 8)</vt:lpstr>
      <vt:lpstr>Configuring Folder and File Attributes (5 of 8)</vt:lpstr>
      <vt:lpstr>Configuring Folder and File Attributes (6 of 8)</vt:lpstr>
      <vt:lpstr>Configuring Folder and File Attributes (7 of 8)</vt:lpstr>
      <vt:lpstr>Configuring Folder and File Attributes (8 of 8)</vt:lpstr>
      <vt:lpstr>Configuring Folder and File Permissions (1 of 4)</vt:lpstr>
      <vt:lpstr>Configuring Folder and File Permissions (2 of 4)</vt:lpstr>
      <vt:lpstr>Configuring Folder and File Permissions (3 of 4)</vt:lpstr>
      <vt:lpstr>Configuring Folder and File Permissions (4 of 4)</vt:lpstr>
      <vt:lpstr>Configuring Folder and File Auditing</vt:lpstr>
      <vt:lpstr>Configuring Folder and File Ownership (1 of 2)</vt:lpstr>
      <vt:lpstr>Configuring Folder and File Ownership (2 of 2)</vt:lpstr>
      <vt:lpstr>Configuring Shared Folders and Shared Folder Permissions</vt:lpstr>
      <vt:lpstr>Enabling Sharing (1 of 2)</vt:lpstr>
      <vt:lpstr>Enabling Sharing (2 of 2)</vt:lpstr>
      <vt:lpstr>Configuring Folder/File Sharing Through the Folder/File Properties (1 of 4)</vt:lpstr>
      <vt:lpstr>Configuring Folder/File Sharing Through the Folder/File Properties (2 of 4)</vt:lpstr>
      <vt:lpstr>Configuring Folder/File Sharing Through the Folder/File Properties (3 of 4)</vt:lpstr>
      <vt:lpstr>Configuring Folder/File Sharing Through the Folder/File Properties (4 of 4)</vt:lpstr>
      <vt:lpstr>Configuring Sharing Through Server Manager</vt:lpstr>
      <vt:lpstr>Publishing a Shared Folder in Active Directory</vt:lpstr>
      <vt:lpstr>Troubleshooting a Security Conflict (1 of 2)</vt:lpstr>
      <vt:lpstr>Troubleshooting a Security Conflict (2 of 2)</vt:lpstr>
      <vt:lpstr>Using Work Folders (1 of 3)</vt:lpstr>
      <vt:lpstr>Using Work Folders (2 of 3)</vt:lpstr>
      <vt:lpstr>Using Work Folders (3 of 3)</vt:lpstr>
      <vt:lpstr>Implementing a Distributed File System (1 of 2)</vt:lpstr>
      <vt:lpstr>Implementing a Distributed File System (2 of 2)</vt:lpstr>
      <vt:lpstr>DFS Replication</vt:lpstr>
      <vt:lpstr>DFS Models</vt:lpstr>
      <vt:lpstr>DFS Topology</vt:lpstr>
      <vt:lpstr>Installing DFS</vt:lpstr>
      <vt:lpstr>Managing a Domain-Based Namespace Root System (1of 7)</vt:lpstr>
      <vt:lpstr>Managing a Domain-Based Namespace Root System (2 of 7)</vt:lpstr>
      <vt:lpstr>Managing a Domain-Based Namespace Root System (3 of 7)</vt:lpstr>
      <vt:lpstr>Managing a Domain-Based Namespace Root System (4 of 7)</vt:lpstr>
      <vt:lpstr>Managing a Domain-Based Namespace Root System (5 of 7)</vt:lpstr>
      <vt:lpstr>Managing a Domain-Based Namespace Root System (6 of 7)</vt:lpstr>
      <vt:lpstr>Managing a Domain-Based Namespace Root System (7 of 7)</vt:lpstr>
      <vt:lpstr>Configuring Disk Quotas</vt:lpstr>
      <vt:lpstr>Chapter Summary (1 of 2)</vt:lpstr>
      <vt:lpstr>Chapter Summary (2 of 2)</vt:lpstr>
    </vt:vector>
  </TitlesOfParts>
  <Company>Course Technology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Bruce Link</cp:lastModifiedBy>
  <cp:revision>556</cp:revision>
  <cp:lastPrinted>2017-07-11T22:15:06Z</cp:lastPrinted>
  <dcterms:created xsi:type="dcterms:W3CDTF">2007-02-15T20:50:52Z</dcterms:created>
  <dcterms:modified xsi:type="dcterms:W3CDTF">2017-07-11T22:15:12Z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