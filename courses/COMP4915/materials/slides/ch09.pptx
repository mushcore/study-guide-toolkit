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46"/>
  </p:notesMasterIdLst>
  <p:handoutMasterIdLst>
    <p:handoutMasterId r:id="rId47"/>
  </p:handoutMasterIdLst>
  <p:sldIdLst>
    <p:sldId id="256" r:id="rId2"/>
    <p:sldId id="257"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50" r:id="rId40"/>
    <p:sldId id="347" r:id="rId41"/>
    <p:sldId id="348" r:id="rId42"/>
    <p:sldId id="349" r:id="rId43"/>
    <p:sldId id="308" r:id="rId44"/>
    <p:sldId id="310" r:id="rId45"/>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76197" autoAdjust="0"/>
  </p:normalViewPr>
  <p:slideViewPr>
    <p:cSldViewPr>
      <p:cViewPr varScale="1">
        <p:scale>
          <a:sx n="74" d="100"/>
          <a:sy n="74" d="100"/>
        </p:scale>
        <p:origin x="1398"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25</a:t>
            </a:fld>
            <a:endParaRPr lang="en-US" dirty="0"/>
          </a:p>
        </p:txBody>
      </p:sp>
    </p:spTree>
    <p:extLst>
      <p:ext uri="{BB962C8B-B14F-4D97-AF65-F5344CB8AC3E}">
        <p14:creationId xmlns:p14="http://schemas.microsoft.com/office/powerpoint/2010/main" val="4156633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43</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44</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9</a:t>
            </a:r>
          </a:p>
          <a:p>
            <a:r>
              <a:rPr lang="en-US" smtClean="0"/>
              <a:t>Configuring Remote Access Services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dirty="0"/>
          </a:p>
        </p:txBody>
      </p:sp>
      <p:sp>
        <p:nvSpPr>
          <p:cNvPr id="3" name="Text Placeholder 2"/>
          <p:cNvSpPr>
            <a:spLocks noGrp="1"/>
          </p:cNvSpPr>
          <p:nvPr>
            <p:ph type="body" idx="1"/>
          </p:nvPr>
        </p:nvSpPr>
        <p:spPr/>
        <p:txBody>
          <a:bodyPr/>
          <a:lstStyle/>
          <a:p>
            <a:r>
              <a:rPr lang="en-US" smtClean="0"/>
              <a:t>Understand Windows Server 2016 remote access services</a:t>
            </a:r>
          </a:p>
          <a:p>
            <a:r>
              <a:rPr lang="en-US" smtClean="0"/>
              <a:t>Implement and manage a virtual private network</a:t>
            </a:r>
          </a:p>
          <a:p>
            <a:r>
              <a:rPr lang="en-US" smtClean="0"/>
              <a:t>Configure a VPN server</a:t>
            </a:r>
          </a:p>
          <a:p>
            <a:r>
              <a:rPr lang="en-US" smtClean="0"/>
              <a:t>Implement a DirectAccess server</a:t>
            </a:r>
          </a:p>
          <a:p>
            <a:r>
              <a:rPr lang="en-US" smtClean="0"/>
              <a:t>Troubleshoot virtual private network and DirectAccess remote access installations</a:t>
            </a:r>
          </a:p>
          <a:p>
            <a:r>
              <a:rPr lang="en-US" smtClean="0"/>
              <a:t>Install and configure Remote Desktop Services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Remote Access</a:t>
            </a:r>
            <a:endParaRPr lang="en-US" dirty="0"/>
          </a:p>
        </p:txBody>
      </p:sp>
      <p:sp>
        <p:nvSpPr>
          <p:cNvPr id="2" name="Content Placeholder 1"/>
          <p:cNvSpPr>
            <a:spLocks noGrp="1"/>
          </p:cNvSpPr>
          <p:nvPr>
            <p:ph idx="1"/>
          </p:nvPr>
        </p:nvSpPr>
        <p:spPr/>
        <p:txBody>
          <a:bodyPr/>
          <a:lstStyle/>
          <a:p>
            <a:r>
              <a:rPr lang="en-US" smtClean="0"/>
              <a:t>Remote Access Services (RAS) role</a:t>
            </a:r>
          </a:p>
          <a:p>
            <a:pPr lvl="1"/>
            <a:r>
              <a:rPr lang="en-US" smtClean="0"/>
              <a:t>Enables remote access through three means: virtual private networking, DirectAccess,  and Web Application Proxy</a:t>
            </a:r>
          </a:p>
          <a:p>
            <a:r>
              <a:rPr lang="en-US" smtClean="0"/>
              <a:t>Virtual private network (VPN) </a:t>
            </a:r>
          </a:p>
          <a:p>
            <a:pPr lvl="1"/>
            <a:r>
              <a:rPr lang="en-US" smtClean="0"/>
              <a:t>Like a tunnel through a larger network that is restricted to designated member clients only</a:t>
            </a:r>
          </a:p>
          <a:p>
            <a:r>
              <a:rPr lang="en-US" smtClean="0"/>
              <a:t>DirectAccess</a:t>
            </a:r>
          </a:p>
          <a:p>
            <a:pPr lvl="1"/>
            <a:r>
              <a:rPr lang="en-US" smtClean="0"/>
              <a:t>Establishes two “tunnels” for connecting to a Direct Access server used in remote access </a:t>
            </a:r>
          </a:p>
          <a:p>
            <a:pPr lvl="1"/>
            <a:r>
              <a:rPr lang="en-US" smtClean="0"/>
              <a:t>Transparent to users and always on</a:t>
            </a:r>
          </a:p>
          <a:p>
            <a:r>
              <a:rPr lang="en-US" smtClean="0"/>
              <a:t>Web Application Proxy</a:t>
            </a:r>
          </a:p>
          <a:p>
            <a:pPr lvl="1"/>
            <a:r>
              <a:rPr lang="en-US" smtClean="0"/>
              <a:t>Publishing applications so that users external to an organization can access those applications on the organization’s servers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8836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a Virtual Private Network (1 of 3)</a:t>
            </a:r>
            <a:endParaRPr lang="en-US" dirty="0"/>
          </a:p>
        </p:txBody>
      </p:sp>
      <p:sp>
        <p:nvSpPr>
          <p:cNvPr id="2" name="Content Placeholder 1"/>
          <p:cNvSpPr>
            <a:spLocks noGrp="1"/>
          </p:cNvSpPr>
          <p:nvPr>
            <p:ph idx="1"/>
          </p:nvPr>
        </p:nvSpPr>
        <p:spPr/>
        <p:txBody>
          <a:bodyPr/>
          <a:lstStyle/>
          <a:p>
            <a:r>
              <a:rPr lang="en-US" smtClean="0"/>
              <a:t>VPNs can use an Internet connection or an internal network connection as a transport medium to establish a connection with a VPN server</a:t>
            </a:r>
          </a:p>
          <a:p>
            <a:r>
              <a:rPr lang="en-US" smtClean="0"/>
              <a:t>A VPN uses LAN protocols as well as tunneling protocols</a:t>
            </a:r>
          </a:p>
          <a:p>
            <a:pPr lvl="1"/>
            <a:r>
              <a:rPr lang="en-US" smtClean="0"/>
              <a:t>To encapsulate the data as it is sent across a public network such as the Internet</a:t>
            </a:r>
          </a:p>
          <a:p>
            <a:r>
              <a:rPr lang="en-US" smtClean="0"/>
              <a:t>Benefit of using a VPN</a:t>
            </a:r>
          </a:p>
          <a:p>
            <a:pPr lvl="1"/>
            <a:r>
              <a:rPr lang="en-US" smtClean="0"/>
              <a:t>Users can connect to a local ISP and connect through the ISP to the local network</a:t>
            </a:r>
          </a:p>
          <a:p>
            <a:r>
              <a:rPr lang="en-US" smtClean="0"/>
              <a:t>VPN is used to ensure that any data sent across a public network, such as the Internet, is secure</a:t>
            </a:r>
          </a:p>
          <a:p>
            <a:pPr lvl="1"/>
            <a:r>
              <a:rPr lang="en-US" smtClean="0"/>
              <a:t>VPN creates an encrypted tunnel between the client and the RAS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3049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a Virtual Private Network (2 of 3)</a:t>
            </a:r>
            <a:endParaRPr lang="en-US" dirty="0"/>
          </a:p>
        </p:txBody>
      </p:sp>
      <p:pic>
        <p:nvPicPr>
          <p:cNvPr id="6" name="Content Placeholder 5" descr="Figure 9-1, Page No. 379, Complexity level: 4&#10;A figure shows “A VPN network structure.” The figure shows three tube structures labeled “Subnet 172.2.17.19 at the top, Subnet 172.17.7 at the left bottom, and Subnet 172.17.23 at the right bottom. The Subnet 172.17.19 is connected to two windows server 2016 servers and internal firewall (private IP addresses) at the top. The Subnet 172.17.7 is connected to two systems at the bottom and a CPU with IP address 172.17.7.44 at the top. The Router is connected between the Subnet 172.17.19 and Subnet 172.17.7. The Subnet 172.17.23 is connected to two CPU and one CPU with an IP address 172.17.23.10. A router is connected between the Subnet 172.17.19 and Subnet 172.17.23.10. In Subnet 172.17.19, the internal firewall (private IP addresses) is connected to a Windows Server 2016 with VPN/IIS in the DMZ and it is connected to DSL telephone lines that are connected to two internets on either sides. Each of the two internets is connected to DSL adapter card through the DSL telephone lines and finally to the system. The Windows Server 2016 with VPN/IIS in the DMZ is connected to an IP address 172.17.23.10, to the internet shown at the bottom and it is collectively labeled “VPN tunnels.”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557810"/>
            <a:ext cx="4668088"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54290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a Virtual Private Network (3 of 3)</a:t>
            </a:r>
            <a:endParaRPr lang="en-US" dirty="0"/>
          </a:p>
        </p:txBody>
      </p:sp>
      <p:sp>
        <p:nvSpPr>
          <p:cNvPr id="2" name="Content Placeholder 1"/>
          <p:cNvSpPr>
            <a:spLocks noGrp="1"/>
          </p:cNvSpPr>
          <p:nvPr>
            <p:ph idx="1"/>
          </p:nvPr>
        </p:nvSpPr>
        <p:spPr/>
        <p:txBody>
          <a:bodyPr/>
          <a:lstStyle/>
          <a:p>
            <a:r>
              <a:rPr lang="en-US" smtClean="0"/>
              <a:t>A VPN server uses two or more NICs for communication</a:t>
            </a:r>
          </a:p>
          <a:p>
            <a:pPr lvl="1"/>
            <a:r>
              <a:rPr lang="en-US" smtClean="0"/>
              <a:t>One NIC is used to connect to the private network inside the organization that uses private IP addressing</a:t>
            </a:r>
          </a:p>
          <a:p>
            <a:pPr lvl="1"/>
            <a:r>
              <a:rPr lang="en-US" smtClean="0"/>
              <a:t>The other NIC connects to the external public network</a:t>
            </a:r>
          </a:p>
          <a:p>
            <a:r>
              <a:rPr lang="en-US" smtClean="0"/>
              <a:t>To create this tunnel, the client first connects to the Internet by establishing a connection using a remote access protocol</a:t>
            </a:r>
          </a:p>
          <a:p>
            <a:r>
              <a:rPr lang="en-US" smtClean="0"/>
              <a:t>Once connected to the Internet, the client establishes a second connection with the VPN server</a:t>
            </a:r>
          </a:p>
          <a:p>
            <a:r>
              <a:rPr lang="en-US" smtClean="0"/>
              <a:t>The client and the VPN server agree on how the data will be encapsulated and encrypted across the virtual tunnel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1324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Remote Access Protocols (1 of 4)</a:t>
            </a:r>
            <a:endParaRPr lang="en-US" dirty="0"/>
          </a:p>
        </p:txBody>
      </p:sp>
      <p:sp>
        <p:nvSpPr>
          <p:cNvPr id="2" name="Content Placeholder 1"/>
          <p:cNvSpPr>
            <a:spLocks noGrp="1"/>
          </p:cNvSpPr>
          <p:nvPr>
            <p:ph idx="1"/>
          </p:nvPr>
        </p:nvSpPr>
        <p:spPr/>
        <p:txBody>
          <a:bodyPr/>
          <a:lstStyle/>
          <a:p>
            <a:r>
              <a:rPr lang="en-US" smtClean="0"/>
              <a:t>Remote access protocol carries the network packets over a wide area network (WAN) link</a:t>
            </a:r>
          </a:p>
          <a:p>
            <a:pPr lvl="1"/>
            <a:r>
              <a:rPr lang="en-US" smtClean="0"/>
              <a:t>Encapsulates a packet, such as an IP datagram, so that it can be transmitted from a point at one end of a WAN to another point</a:t>
            </a:r>
          </a:p>
          <a:p>
            <a:r>
              <a:rPr lang="en-US" smtClean="0"/>
              <a:t>IP is the most commonly used transport protocol</a:t>
            </a:r>
          </a:p>
          <a:p>
            <a:r>
              <a:rPr lang="en-US" smtClean="0"/>
              <a:t>Several remote access protocols are used by Windows Server 2016 and its remote clients</a:t>
            </a:r>
          </a:p>
          <a:p>
            <a:r>
              <a:rPr lang="en-US" smtClean="0"/>
              <a:t>An early basic remote access protocol in use is PPP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98488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Remote Access Protocols (2 of 4)</a:t>
            </a:r>
            <a:endParaRPr lang="en-US" dirty="0"/>
          </a:p>
        </p:txBody>
      </p:sp>
      <p:sp>
        <p:nvSpPr>
          <p:cNvPr id="2" name="Content Placeholder 1"/>
          <p:cNvSpPr>
            <a:spLocks noGrp="1"/>
          </p:cNvSpPr>
          <p:nvPr>
            <p:ph idx="1"/>
          </p:nvPr>
        </p:nvSpPr>
        <p:spPr/>
        <p:txBody>
          <a:bodyPr/>
          <a:lstStyle/>
          <a:p>
            <a:r>
              <a:rPr lang="en-US" smtClean="0"/>
              <a:t>Point-to-Point Protocol (PPP)</a:t>
            </a:r>
          </a:p>
          <a:p>
            <a:pPr lvl="1"/>
            <a:r>
              <a:rPr lang="en-US" smtClean="0"/>
              <a:t>Used  in legacy remote communications involving modems</a:t>
            </a:r>
          </a:p>
          <a:p>
            <a:pPr lvl="1"/>
            <a:r>
              <a:rPr lang="en-US" smtClean="0"/>
              <a:t>Enables the authentication of connections and encryptions for the network communications, but is not considered to be as secure as more modern options</a:t>
            </a:r>
          </a:p>
          <a:p>
            <a:pPr lvl="1"/>
            <a:r>
              <a:rPr lang="en-US" smtClean="0"/>
              <a:t>Can automatically negotiate communications with several network communication layers at once </a:t>
            </a:r>
          </a:p>
          <a:p>
            <a:r>
              <a:rPr lang="en-US" smtClean="0"/>
              <a:t>When you implement a Windows Server 2016 VPN server, one of three remote access tunneling protocols  is used:</a:t>
            </a:r>
          </a:p>
          <a:p>
            <a:pPr lvl="1"/>
            <a:r>
              <a:rPr lang="en-US" smtClean="0"/>
              <a:t>Point-to-Point Tunneling Protocol</a:t>
            </a:r>
          </a:p>
          <a:p>
            <a:pPr lvl="1"/>
            <a:r>
              <a:rPr lang="en-US" smtClean="0"/>
              <a:t>Layer Two Tunneling Protocol</a:t>
            </a:r>
          </a:p>
          <a:p>
            <a:pPr lvl="1"/>
            <a:r>
              <a:rPr lang="en-US" smtClean="0"/>
              <a:t>Secure Socket Tunneling Protocol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79129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Remote Access Protocols (3 of 4)</a:t>
            </a:r>
            <a:endParaRPr lang="en-US" dirty="0"/>
          </a:p>
        </p:txBody>
      </p:sp>
      <p:sp>
        <p:nvSpPr>
          <p:cNvPr id="2" name="Content Placeholder 1"/>
          <p:cNvSpPr>
            <a:spLocks noGrp="1"/>
          </p:cNvSpPr>
          <p:nvPr>
            <p:ph idx="1"/>
          </p:nvPr>
        </p:nvSpPr>
        <p:spPr/>
        <p:txBody>
          <a:bodyPr/>
          <a:lstStyle/>
          <a:p>
            <a:r>
              <a:rPr lang="en-US" smtClean="0"/>
              <a:t>Point-to-Point Tunneling Protocol (PPTP)</a:t>
            </a:r>
          </a:p>
          <a:p>
            <a:pPr lvl="1"/>
            <a:r>
              <a:rPr lang="en-US" smtClean="0"/>
              <a:t>Offers PPP-based authentication techniques</a:t>
            </a:r>
          </a:p>
          <a:p>
            <a:pPr lvl="1"/>
            <a:r>
              <a:rPr lang="en-US" smtClean="0"/>
              <a:t>Encrypts data carried by PPTP through using Microsoft Point-to-Point Encryption (MPPE)</a:t>
            </a:r>
          </a:p>
          <a:p>
            <a:r>
              <a:rPr lang="en-US" smtClean="0"/>
              <a:t>Layer Two Tunneling Protocol (L2TP)</a:t>
            </a:r>
          </a:p>
          <a:p>
            <a:pPr lvl="1"/>
            <a:r>
              <a:rPr lang="en-US" smtClean="0"/>
              <a:t>Works similarly to PPTP</a:t>
            </a:r>
          </a:p>
          <a:p>
            <a:pPr lvl="1"/>
            <a:r>
              <a:rPr lang="en-US" smtClean="0"/>
              <a:t>Uses Layer Two Forwarding that enables forwarding on the basis of MAC addressing</a:t>
            </a:r>
          </a:p>
          <a:p>
            <a:pPr lvl="1"/>
            <a:r>
              <a:rPr lang="en-US" smtClean="0"/>
              <a:t>Uses IP Security (IPsec) for additional authentication and for data encryption</a:t>
            </a:r>
          </a:p>
          <a:p>
            <a:pPr lvl="2"/>
            <a:r>
              <a:rPr lang="en-US" smtClean="0"/>
              <a:t>IPsec is a set of IP-based secure communications and encryption standards created through IETF</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3585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Remote Access Protocols (4 of 4)</a:t>
            </a:r>
            <a:endParaRPr lang="en-US" dirty="0"/>
          </a:p>
        </p:txBody>
      </p:sp>
      <p:sp>
        <p:nvSpPr>
          <p:cNvPr id="2" name="Content Placeholder 1"/>
          <p:cNvSpPr>
            <a:spLocks noGrp="1"/>
          </p:cNvSpPr>
          <p:nvPr>
            <p:ph idx="1"/>
          </p:nvPr>
        </p:nvSpPr>
        <p:spPr/>
        <p:txBody>
          <a:bodyPr/>
          <a:lstStyle/>
          <a:p>
            <a:r>
              <a:rPr lang="en-US" smtClean="0"/>
              <a:t>Secure Socket Tunneling Protocol (SSTP)</a:t>
            </a:r>
          </a:p>
          <a:p>
            <a:pPr lvl="1"/>
            <a:r>
              <a:rPr lang="en-US" smtClean="0"/>
              <a:t>Employs PPP authentication techniques</a:t>
            </a:r>
          </a:p>
          <a:p>
            <a:pPr lvl="1"/>
            <a:r>
              <a:rPr lang="en-US" smtClean="0"/>
              <a:t>Encapsulates the data packet in the Hypertext Transfer Protocol (HTTP) used through Web communications</a:t>
            </a:r>
          </a:p>
          <a:p>
            <a:pPr lvl="1"/>
            <a:r>
              <a:rPr lang="en-US" smtClean="0"/>
              <a:t>Additionally uses a Secure Sockets Layer (SSL) channel for secure communications</a:t>
            </a:r>
          </a:p>
          <a:p>
            <a:pPr lvl="2"/>
            <a:r>
              <a:rPr lang="en-US" smtClean="0"/>
              <a:t>SSL is a data encryption technique employed between a server and a client</a:t>
            </a:r>
          </a:p>
          <a:p>
            <a:pPr lvl="2"/>
            <a:r>
              <a:rPr lang="en-US" smtClean="0"/>
              <a:t>SSL has now evolved into Transport Layer Security (TLS)</a:t>
            </a:r>
          </a:p>
          <a:p>
            <a:pPr lvl="1"/>
            <a:r>
              <a:rPr lang="en-US" smtClean="0"/>
              <a:t>Viewed as more secure than PPTP or L2TP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53630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VPN Server</a:t>
            </a:r>
            <a:endParaRPr lang="en-US" dirty="0"/>
          </a:p>
        </p:txBody>
      </p:sp>
      <p:sp>
        <p:nvSpPr>
          <p:cNvPr id="2" name="Content Placeholder 1"/>
          <p:cNvSpPr>
            <a:spLocks noGrp="1"/>
          </p:cNvSpPr>
          <p:nvPr>
            <p:ph idx="1"/>
          </p:nvPr>
        </p:nvSpPr>
        <p:spPr/>
        <p:txBody>
          <a:bodyPr/>
          <a:lstStyle/>
          <a:p>
            <a:r>
              <a:rPr lang="en-US" smtClean="0"/>
              <a:t>General steps:</a:t>
            </a:r>
          </a:p>
          <a:p>
            <a:pPr lvl="1"/>
            <a:r>
              <a:rPr lang="en-US" smtClean="0"/>
              <a:t>Install the Network Policy and Access Services role</a:t>
            </a:r>
          </a:p>
          <a:p>
            <a:pPr lvl="1"/>
            <a:r>
              <a:rPr lang="en-US" smtClean="0"/>
              <a:t>Configure a Microsoft Windows Server 2016 server as a network’s VPN server, including configuring the right protocols to provide VPN access to clients</a:t>
            </a:r>
          </a:p>
          <a:p>
            <a:pPr lvl="1"/>
            <a:r>
              <a:rPr lang="en-US" smtClean="0"/>
              <a:t>Configure a VPN server as a DHCP Relay Agent for TCP/IP communications</a:t>
            </a:r>
          </a:p>
          <a:p>
            <a:pPr lvl="1"/>
            <a:r>
              <a:rPr lang="en-US" smtClean="0"/>
              <a:t>Configure the VPN server properties</a:t>
            </a:r>
          </a:p>
          <a:p>
            <a:pPr lvl="1"/>
            <a:r>
              <a:rPr lang="en-US" smtClean="0"/>
              <a:t>Configure a remote access policy for security</a:t>
            </a:r>
          </a:p>
          <a:p>
            <a:r>
              <a:rPr lang="en-US" smtClean="0"/>
              <a:t>Activity 9-1 shows you how to install the Network Policy and Access Services and Remote Access roles</a:t>
            </a:r>
          </a:p>
          <a:p>
            <a:r>
              <a:rPr lang="en-US" smtClean="0"/>
              <a:t>Activity 9-2 takes you through the initial setup of a VPN server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90625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the Server’s Firewall</a:t>
            </a:r>
            <a:endParaRPr lang="en-US" dirty="0"/>
          </a:p>
        </p:txBody>
      </p:sp>
      <p:sp>
        <p:nvSpPr>
          <p:cNvPr id="2" name="Content Placeholder 1"/>
          <p:cNvSpPr>
            <a:spLocks noGrp="1"/>
          </p:cNvSpPr>
          <p:nvPr>
            <p:ph idx="1"/>
          </p:nvPr>
        </p:nvSpPr>
        <p:spPr/>
        <p:txBody>
          <a:bodyPr/>
          <a:lstStyle/>
          <a:p>
            <a:r>
              <a:rPr lang="en-US" smtClean="0"/>
              <a:t>The VPN server must be able to send communications through the network</a:t>
            </a:r>
          </a:p>
          <a:p>
            <a:pPr lvl="1"/>
            <a:r>
              <a:rPr lang="en-US" smtClean="0"/>
              <a:t>An early configuration step is to make sure its communications can go through a firewall set up at the server</a:t>
            </a:r>
          </a:p>
          <a:p>
            <a:r>
              <a:rPr lang="en-US" smtClean="0"/>
              <a:t>If you are using Windows Firewall on your server</a:t>
            </a:r>
          </a:p>
          <a:p>
            <a:pPr lvl="1"/>
            <a:r>
              <a:rPr lang="en-US" smtClean="0"/>
              <a:t>TCP and UDP ports used by VPN are unblocked by default when you configure a VPN server</a:t>
            </a:r>
          </a:p>
          <a:p>
            <a:pPr lvl="1"/>
            <a:r>
              <a:rPr lang="en-US" smtClean="0"/>
              <a:t>However, it is important to make certain they are unblocked</a:t>
            </a:r>
          </a:p>
          <a:p>
            <a:r>
              <a:rPr lang="en-US" smtClean="0"/>
              <a:t>You learn how to check in Activity 9-3</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92792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DHCP Relay Agent (1 of 2)</a:t>
            </a:r>
            <a:endParaRPr lang="en-US" dirty="0"/>
          </a:p>
        </p:txBody>
      </p:sp>
      <p:sp>
        <p:nvSpPr>
          <p:cNvPr id="2" name="Content Placeholder 1"/>
          <p:cNvSpPr>
            <a:spLocks noGrp="1"/>
          </p:cNvSpPr>
          <p:nvPr>
            <p:ph idx="1"/>
          </p:nvPr>
        </p:nvSpPr>
        <p:spPr/>
        <p:txBody>
          <a:bodyPr/>
          <a:lstStyle/>
          <a:p>
            <a:r>
              <a:rPr lang="en-US" smtClean="0"/>
              <a:t>DHCP Relay Agent</a:t>
            </a:r>
          </a:p>
          <a:p>
            <a:pPr lvl="1"/>
            <a:r>
              <a:rPr lang="en-US" smtClean="0"/>
              <a:t>Broadcasts IP configuration information between the DHCP server on a network and the client acquiring an address</a:t>
            </a:r>
          </a:p>
          <a:p>
            <a:r>
              <a:rPr lang="en-US" smtClean="0"/>
              <a:t>You can configure the VPN server as a DHCP Relay Agent</a:t>
            </a:r>
          </a:p>
          <a:p>
            <a:pPr lvl="1"/>
            <a:r>
              <a:rPr lang="en-US" smtClean="0"/>
              <a:t>Using the Routing and Remote Access tool</a:t>
            </a:r>
          </a:p>
          <a:p>
            <a:r>
              <a:rPr lang="en-US" smtClean="0"/>
              <a:t>In basic terms:</a:t>
            </a:r>
          </a:p>
          <a:p>
            <a:pPr lvl="1"/>
            <a:r>
              <a:rPr lang="en-US" smtClean="0"/>
              <a:t>The client contacts the VPN server to make a connection</a:t>
            </a:r>
          </a:p>
          <a:p>
            <a:pPr lvl="1"/>
            <a:r>
              <a:rPr lang="en-US" smtClean="0"/>
              <a:t>The VPN server, as a DHCP relay agent, contacts the DHCP server for an IP address for the client</a:t>
            </a:r>
          </a:p>
          <a:p>
            <a:pPr lvl="1"/>
            <a:r>
              <a:rPr lang="en-US" smtClean="0"/>
              <a:t>The DHCP server notifies the VPN server of the IP address</a:t>
            </a:r>
          </a:p>
          <a:p>
            <a:pPr lvl="1"/>
            <a:r>
              <a:rPr lang="en-US" smtClean="0"/>
              <a:t>The VPN server relays this IP address assignment to the client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11826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DHCP Relay Agent (2 of 2)</a:t>
            </a:r>
            <a:endParaRPr lang="en-US" dirty="0"/>
          </a:p>
        </p:txBody>
      </p:sp>
      <p:sp>
        <p:nvSpPr>
          <p:cNvPr id="2" name="Content Placeholder 1"/>
          <p:cNvSpPr>
            <a:spLocks noGrp="1"/>
          </p:cNvSpPr>
          <p:nvPr>
            <p:ph idx="1"/>
          </p:nvPr>
        </p:nvSpPr>
        <p:spPr/>
        <p:txBody>
          <a:bodyPr/>
          <a:lstStyle/>
          <a:p>
            <a:r>
              <a:rPr lang="en-US" smtClean="0"/>
              <a:t>Activity 9-4 shows you how to set up a DHCP relay agent</a:t>
            </a:r>
          </a:p>
          <a:p>
            <a:r>
              <a:rPr lang="en-US" smtClean="0"/>
              <a:t>Activity 9-5 instructs you on how to configure the DHCP relay agent hop count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98591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Properties (1 of 2)</a:t>
            </a:r>
            <a:endParaRPr lang="en-US" dirty="0"/>
          </a:p>
        </p:txBody>
      </p:sp>
      <p:sp>
        <p:nvSpPr>
          <p:cNvPr id="2" name="Content Placeholder 1"/>
          <p:cNvSpPr>
            <a:spLocks noGrp="1"/>
          </p:cNvSpPr>
          <p:nvPr>
            <p:ph idx="1"/>
          </p:nvPr>
        </p:nvSpPr>
        <p:spPr/>
        <p:txBody>
          <a:bodyPr/>
          <a:lstStyle/>
          <a:p>
            <a:r>
              <a:rPr lang="en-US" smtClean="0"/>
              <a:t>After the VPN server is set up, you can further configure it from the Routing and Remote Access tool</a:t>
            </a:r>
          </a:p>
          <a:p>
            <a:pPr lvl="1"/>
            <a:r>
              <a:rPr lang="en-US" smtClean="0"/>
              <a:t>By right-clicking the VPN server in the tree and clicking Properties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89791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Properties (2 of 2)</a:t>
            </a:r>
            <a:endParaRPr lang="en-US" dirty="0"/>
          </a:p>
        </p:txBody>
      </p:sp>
      <p:pic>
        <p:nvPicPr>
          <p:cNvPr id="6" name="Content Placeholder 5" descr="Figure 9-9, Page No. 390, Complexity level: 2&#10;Screenshot shows the “Accounting (local) Properties” dialog box. The General tab is selected. The window is titled “Routing and Remote Access.” Text below reads, “enable this computer as a.” IPv4 Router check box is selected. The radio button for LAN and demand-dial routing is selected. The IPv4 Remote access server check button is selected. The OK button shown below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00400" y="1828800"/>
            <a:ext cx="2622174" cy="3962400"/>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6779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Security (1 of 4)</a:t>
            </a:r>
            <a:endParaRPr lang="en-US" dirty="0"/>
          </a:p>
        </p:txBody>
      </p:sp>
      <p:sp>
        <p:nvSpPr>
          <p:cNvPr id="2" name="Content Placeholder 1"/>
          <p:cNvSpPr>
            <a:spLocks noGrp="1"/>
          </p:cNvSpPr>
          <p:nvPr>
            <p:ph idx="1"/>
          </p:nvPr>
        </p:nvSpPr>
        <p:spPr/>
        <p:txBody>
          <a:bodyPr/>
          <a:lstStyle/>
          <a:p>
            <a:r>
              <a:rPr lang="en-US" smtClean="0"/>
              <a:t>You can set up VPN security through a remote access policy</a:t>
            </a:r>
          </a:p>
          <a:p>
            <a:pPr lvl="1"/>
            <a:r>
              <a:rPr lang="en-US" smtClean="0"/>
              <a:t>Greatly reduces administrative overhead and offers more flexibility and control for authorizing connection attempts</a:t>
            </a:r>
          </a:p>
          <a:p>
            <a:r>
              <a:rPr lang="en-US" smtClean="0"/>
              <a:t>Elements of a Remote Access Policy</a:t>
            </a:r>
          </a:p>
          <a:p>
            <a:pPr lvl="1"/>
            <a:r>
              <a:rPr lang="en-US" smtClean="0"/>
              <a:t>Access permission</a:t>
            </a:r>
          </a:p>
          <a:p>
            <a:pPr lvl="1"/>
            <a:r>
              <a:rPr lang="en-US" smtClean="0"/>
              <a:t>Conditions</a:t>
            </a:r>
          </a:p>
          <a:p>
            <a:pPr lvl="1"/>
            <a:r>
              <a:rPr lang="en-US" smtClean="0"/>
              <a:t>Constraints</a:t>
            </a:r>
          </a:p>
          <a:p>
            <a:pPr lvl="1"/>
            <a:r>
              <a:rPr lang="en-US" smtClean="0"/>
              <a:t>Settings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61974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Security (2 of 4)</a:t>
            </a:r>
            <a:endParaRPr lang="en-US" dirty="0"/>
          </a:p>
        </p:txBody>
      </p:sp>
      <p:sp>
        <p:nvSpPr>
          <p:cNvPr id="2" name="Content Placeholder 1"/>
          <p:cNvSpPr>
            <a:spLocks noGrp="1"/>
          </p:cNvSpPr>
          <p:nvPr>
            <p:ph idx="1"/>
          </p:nvPr>
        </p:nvSpPr>
        <p:spPr/>
        <p:txBody>
          <a:bodyPr/>
          <a:lstStyle/>
          <a:p>
            <a:r>
              <a:rPr lang="en-US" smtClean="0"/>
              <a:t>First step in evaluating access is to determine if access permission is enabled at the VPN server</a:t>
            </a:r>
          </a:p>
          <a:p>
            <a:pPr lvl="1"/>
            <a:r>
              <a:rPr lang="en-US" smtClean="0"/>
              <a:t>Default permission for this policy is set to Deny access</a:t>
            </a:r>
          </a:p>
          <a:p>
            <a:pPr lvl="1"/>
            <a:r>
              <a:rPr lang="en-US" smtClean="0"/>
              <a:t>Change the default permission to Grant access in the default remote access policy</a:t>
            </a:r>
          </a:p>
          <a:p>
            <a:r>
              <a:rPr lang="en-US" smtClean="0"/>
              <a:t>The conditions of a remote access policy are a set of attributes that are compared with the attributes of the connection attempt</a:t>
            </a:r>
          </a:p>
          <a:p>
            <a:r>
              <a:rPr lang="en-US" smtClean="0"/>
              <a:t>If the connection attempt matches the conditions of a remote access policy, the constraints are evaluated</a:t>
            </a:r>
          </a:p>
          <a:p>
            <a:r>
              <a:rPr lang="en-US" smtClean="0"/>
              <a:t>Settings in the remote access policy are then examined</a:t>
            </a:r>
          </a:p>
          <a:p>
            <a:pPr lvl="1"/>
            <a:r>
              <a:rPr lang="en-US" smtClean="0"/>
              <a:t>Settings include elements such as IP filters, encryption, IP settings, and others </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7737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Security (3 of 4)</a:t>
            </a:r>
            <a:endParaRPr lang="en-US" dirty="0"/>
          </a:p>
        </p:txBody>
      </p:sp>
      <p:sp>
        <p:nvSpPr>
          <p:cNvPr id="2" name="Content Placeholder 1"/>
          <p:cNvSpPr>
            <a:spLocks noGrp="1"/>
          </p:cNvSpPr>
          <p:nvPr>
            <p:ph idx="1"/>
          </p:nvPr>
        </p:nvSpPr>
        <p:spPr/>
        <p:txBody>
          <a:bodyPr/>
          <a:lstStyle/>
          <a:p>
            <a:r>
              <a:rPr lang="en-US" smtClean="0"/>
              <a:t>Establishing a Remote Access Policy</a:t>
            </a:r>
          </a:p>
          <a:p>
            <a:pPr lvl="1"/>
            <a:r>
              <a:rPr lang="en-US" smtClean="0"/>
              <a:t>You can use the Routing and Remote Access tool to create and configure a remote access policy</a:t>
            </a:r>
          </a:p>
          <a:p>
            <a:pPr lvl="1"/>
            <a:r>
              <a:rPr lang="en-US" smtClean="0"/>
              <a:t>To create a new remote access policy, click to activate and then right-click the Remote Access Logging &amp; Policies folder in the tree under the VPN server</a:t>
            </a:r>
          </a:p>
          <a:p>
            <a:pPr lvl="2"/>
            <a:r>
              <a:rPr lang="en-US" smtClean="0"/>
              <a:t>Click Launch NPS to launch the Network Policy Server tool</a:t>
            </a:r>
          </a:p>
          <a:p>
            <a:r>
              <a:rPr lang="en-US" smtClean="0"/>
              <a:t>Activity 9-6 shows you how to configure a remote access policy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6829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VPN Security (4 of 4)</a:t>
            </a:r>
            <a:endParaRPr lang="en-US" dirty="0"/>
          </a:p>
        </p:txBody>
      </p:sp>
      <p:pic>
        <p:nvPicPr>
          <p:cNvPr id="6" name="Content Placeholder 5" descr="Figure 9-10, Page No. 393, Complexity level: 2&#10;Screenshot shows the “Network Policy Server” dialog box. On the left pane of the dialog box, the Network Policies option is selected. On the content pane of the dialog box, the cursor points to the Properties option that appears by right clicking on the option “Connections to Microsoft Routing and Remote Access Server” under “Network Policies.”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11330" y="1600200"/>
            <a:ext cx="5666040"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7608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VPN Users</a:t>
            </a:r>
            <a:endParaRPr lang="en-US" dirty="0"/>
          </a:p>
        </p:txBody>
      </p:sp>
      <p:sp>
        <p:nvSpPr>
          <p:cNvPr id="2" name="Content Placeholder 1"/>
          <p:cNvSpPr>
            <a:spLocks noGrp="1"/>
          </p:cNvSpPr>
          <p:nvPr>
            <p:ph idx="1"/>
          </p:nvPr>
        </p:nvSpPr>
        <p:spPr/>
        <p:txBody>
          <a:bodyPr/>
          <a:lstStyle/>
          <a:p>
            <a:r>
              <a:rPr lang="en-US" smtClean="0"/>
              <a:t>After you have configured the VPN server and placed it in production</a:t>
            </a:r>
          </a:p>
          <a:p>
            <a:pPr lvl="1"/>
            <a:r>
              <a:rPr lang="en-US" smtClean="0"/>
              <a:t>You should periodically monitor the users who are connected</a:t>
            </a:r>
          </a:p>
          <a:p>
            <a:r>
              <a:rPr lang="en-US" smtClean="0"/>
              <a:t>Use the Routing and Remote Access tool to monitor connected users</a:t>
            </a:r>
          </a:p>
          <a:p>
            <a:r>
              <a:rPr lang="en-US" smtClean="0"/>
              <a:t>With the tool open:	</a:t>
            </a:r>
          </a:p>
          <a:p>
            <a:pPr lvl="1"/>
            <a:r>
              <a:rPr lang="en-US" smtClean="0"/>
              <a:t>Expand the elements under the server name in the left pant</a:t>
            </a:r>
          </a:p>
          <a:p>
            <a:pPr lvl="1"/>
            <a:r>
              <a:rPr lang="en-US" smtClean="0"/>
              <a:t>Click Remote Access Clients in the left pane</a:t>
            </a:r>
          </a:p>
          <a:p>
            <a:pPr lvl="1"/>
            <a:r>
              <a:rPr lang="en-US" smtClean="0"/>
              <a:t>The right pane shows the users who are connected </a:t>
            </a:r>
          </a:p>
          <a:p>
            <a:pPr lvl="2"/>
            <a:r>
              <a:rPr lang="en-US" smtClean="0"/>
              <a:t>If you want to disconnect a user, right-click the user and click Disconnect</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06935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DirectAccess (1 of 4)</a:t>
            </a:r>
            <a:endParaRPr lang="en-US" dirty="0"/>
          </a:p>
        </p:txBody>
      </p:sp>
      <p:sp>
        <p:nvSpPr>
          <p:cNvPr id="2" name="Content Placeholder 1"/>
          <p:cNvSpPr>
            <a:spLocks noGrp="1"/>
          </p:cNvSpPr>
          <p:nvPr>
            <p:ph idx="1"/>
          </p:nvPr>
        </p:nvSpPr>
        <p:spPr/>
        <p:txBody>
          <a:bodyPr/>
          <a:lstStyle/>
          <a:p>
            <a:r>
              <a:rPr lang="en-US" smtClean="0"/>
              <a:t>DirectAccess is built on using IPv6</a:t>
            </a:r>
          </a:p>
          <a:p>
            <a:pPr lvl="1"/>
            <a:r>
              <a:rPr lang="en-US" smtClean="0"/>
              <a:t>And connecting clients through the Internet</a:t>
            </a:r>
          </a:p>
          <a:p>
            <a:r>
              <a:rPr lang="en-US" smtClean="0"/>
              <a:t>Advantage:</a:t>
            </a:r>
          </a:p>
          <a:p>
            <a:pPr lvl="1"/>
            <a:r>
              <a:rPr lang="en-US" smtClean="0"/>
              <a:t>The user connection is available as soon as the user turns on the computer</a:t>
            </a:r>
          </a:p>
          <a:p>
            <a:pPr lvl="1"/>
            <a:r>
              <a:rPr lang="en-US" smtClean="0"/>
              <a:t>No need to sign in or enter a password</a:t>
            </a:r>
          </a:p>
          <a:p>
            <a:r>
              <a:rPr lang="en-US" smtClean="0"/>
              <a:t>After the client OS boots, the computer sets up an infrastructure tunnel to the organization’s domain</a:t>
            </a:r>
          </a:p>
          <a:p>
            <a:pPr lvl="1"/>
            <a:r>
              <a:rPr lang="en-US" smtClean="0"/>
              <a:t>As well as to access DNS and DHCP servers</a:t>
            </a:r>
          </a:p>
          <a:p>
            <a:r>
              <a:rPr lang="en-US" smtClean="0"/>
              <a:t>Client’s computer can also be managed from the domain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81750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DirectAccess (2 of 4)</a:t>
            </a:r>
            <a:endParaRPr lang="en-US" dirty="0"/>
          </a:p>
        </p:txBody>
      </p:sp>
      <p:sp>
        <p:nvSpPr>
          <p:cNvPr id="2" name="Content Placeholder 1"/>
          <p:cNvSpPr>
            <a:spLocks noGrp="1"/>
          </p:cNvSpPr>
          <p:nvPr>
            <p:ph idx="1"/>
          </p:nvPr>
        </p:nvSpPr>
        <p:spPr/>
        <p:txBody>
          <a:bodyPr/>
          <a:lstStyle/>
          <a:p>
            <a:r>
              <a:rPr lang="en-US" smtClean="0"/>
              <a:t>To use DirectAccess, the server must have:</a:t>
            </a:r>
          </a:p>
          <a:p>
            <a:pPr lvl="1"/>
            <a:r>
              <a:rPr lang="en-US" smtClean="0"/>
              <a:t>IPv6 enabled at the server and clients</a:t>
            </a:r>
          </a:p>
          <a:p>
            <a:pPr lvl="1"/>
            <a:r>
              <a:rPr lang="en-US" smtClean="0"/>
              <a:t>Applications that are IPv6 aware</a:t>
            </a:r>
          </a:p>
          <a:p>
            <a:pPr lvl="1"/>
            <a:r>
              <a:rPr lang="en-US" smtClean="0"/>
              <a:t>Use of digital certificates that are either self-signed certificates or are managed through implementing a PKI to assign digital certificates</a:t>
            </a:r>
          </a:p>
          <a:p>
            <a:pPr lvl="1"/>
            <a:r>
              <a:rPr lang="en-US" smtClean="0"/>
              <a:t>A security group containing the accounts of participating computers</a:t>
            </a:r>
          </a:p>
          <a:p>
            <a:pPr lvl="1"/>
            <a:r>
              <a:rPr lang="en-US" smtClean="0"/>
              <a:t>Client computers running Windows 7 or above</a:t>
            </a:r>
          </a:p>
          <a:p>
            <a:pPr lvl="1"/>
            <a:r>
              <a:rPr lang="en-US" smtClean="0"/>
              <a:t>Client computer that use Windows Firewall with the domain and public profiles configured to be 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36698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DirectAccess (3 of 4)</a:t>
            </a:r>
            <a:endParaRPr lang="en-US" dirty="0"/>
          </a:p>
        </p:txBody>
      </p:sp>
      <p:sp>
        <p:nvSpPr>
          <p:cNvPr id="2" name="Content Placeholder 1"/>
          <p:cNvSpPr>
            <a:spLocks noGrp="1"/>
          </p:cNvSpPr>
          <p:nvPr>
            <p:ph idx="1"/>
          </p:nvPr>
        </p:nvSpPr>
        <p:spPr/>
        <p:txBody>
          <a:bodyPr/>
          <a:lstStyle/>
          <a:p>
            <a:r>
              <a:rPr lang="en-US" smtClean="0"/>
              <a:t>DirectAccess is installed using the Routing and Remote Access tool</a:t>
            </a:r>
          </a:p>
          <a:p>
            <a:r>
              <a:rPr lang="en-US" smtClean="0"/>
              <a:t>If you have not previously installed a VPN server</a:t>
            </a:r>
          </a:p>
          <a:p>
            <a:pPr lvl="1"/>
            <a:r>
              <a:rPr lang="en-US" smtClean="0"/>
              <a:t>Open the Routing and Remote Access tool, right-click the server name in the tree, and click Configure and Enable Routing and Remote Access</a:t>
            </a:r>
          </a:p>
          <a:p>
            <a:r>
              <a:rPr lang="en-US" smtClean="0"/>
              <a:t>If you have previously installed a VPN</a:t>
            </a:r>
          </a:p>
          <a:p>
            <a:pPr lvl="1"/>
            <a:r>
              <a:rPr lang="en-US" smtClean="0"/>
              <a:t>You can enable and install DirectAccess to work alongside VPN by using the Enable DirectAccess Wizard</a:t>
            </a:r>
          </a:p>
          <a:p>
            <a:r>
              <a:rPr lang="en-US" smtClean="0"/>
              <a:t>Activity 9-7 steps you through enabling DirectAccess after a VPN has been installed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49440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DirectAccess (4 of 4)</a:t>
            </a:r>
            <a:endParaRPr lang="en-US" dirty="0"/>
          </a:p>
        </p:txBody>
      </p:sp>
      <p:pic>
        <p:nvPicPr>
          <p:cNvPr id="6" name="Content Placeholder 5" descr="Figure 9-14, Page No. 398, Complexity level: 2&#10;Screenshot shows the “Routing and Remote Access” dialog box. On the left pane of the dialog box, the cursor points to the Enable Direct Access option that appears by right clicking the Accounting option under the Routing and Remote Access tree.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8800" y="1676400"/>
            <a:ext cx="5503431"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1444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VPN and DirectAccess Installations</a:t>
            </a:r>
            <a:endParaRPr lang="en-US" dirty="0"/>
          </a:p>
        </p:txBody>
      </p:sp>
      <p:sp>
        <p:nvSpPr>
          <p:cNvPr id="2" name="Content Placeholder 1"/>
          <p:cNvSpPr>
            <a:spLocks noGrp="1"/>
          </p:cNvSpPr>
          <p:nvPr>
            <p:ph idx="1"/>
          </p:nvPr>
        </p:nvSpPr>
        <p:spPr/>
        <p:txBody>
          <a:bodyPr/>
          <a:lstStyle/>
          <a:p>
            <a:r>
              <a:rPr lang="en-US" smtClean="0"/>
              <a:t>Troubleshooting a VPN or DirectAccess server communications problem can be divided into hardware and software troubleshooting tips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46458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Hardware Solutions</a:t>
            </a:r>
            <a:endParaRPr lang="en-US" dirty="0"/>
          </a:p>
        </p:txBody>
      </p:sp>
      <p:sp>
        <p:nvSpPr>
          <p:cNvPr id="2" name="Content Placeholder 1"/>
          <p:cNvSpPr>
            <a:spLocks noGrp="1"/>
          </p:cNvSpPr>
          <p:nvPr>
            <p:ph idx="1"/>
          </p:nvPr>
        </p:nvSpPr>
        <p:spPr/>
        <p:txBody>
          <a:bodyPr/>
          <a:lstStyle/>
          <a:p>
            <a:r>
              <a:rPr lang="en-US" smtClean="0"/>
              <a:t>Use Device Manager to make sure network adapters and WAN adapters are working properly</a:t>
            </a:r>
          </a:p>
          <a:p>
            <a:pPr lvl="1"/>
            <a:r>
              <a:rPr lang="en-US" smtClean="0"/>
              <a:t>Also use Device Manager to make sure that an adapter has no resource conflicts</a:t>
            </a:r>
          </a:p>
          <a:p>
            <a:r>
              <a:rPr lang="en-US" smtClean="0"/>
              <a:t>For an external DSL adapter or a combined DSL adapter and router</a:t>
            </a:r>
          </a:p>
          <a:p>
            <a:pPr lvl="1"/>
            <a:r>
              <a:rPr lang="en-US" smtClean="0"/>
              <a:t>Make sure the device is properly configured and connected</a:t>
            </a:r>
          </a:p>
          <a:p>
            <a:pPr lvl="1"/>
            <a:r>
              <a:rPr lang="en-US" smtClean="0"/>
              <a:t>Check its monitor lights for problems</a:t>
            </a:r>
          </a:p>
          <a:p>
            <a:r>
              <a:rPr lang="en-US" smtClean="0"/>
              <a:t>Call your ISP to determine if problems are present on the ISP’s WAN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85696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Software Solutions (1 of 2)</a:t>
            </a:r>
            <a:endParaRPr lang="en-US" dirty="0"/>
          </a:p>
        </p:txBody>
      </p:sp>
      <p:sp>
        <p:nvSpPr>
          <p:cNvPr id="2" name="Content Placeholder 1"/>
          <p:cNvSpPr>
            <a:spLocks noGrp="1"/>
          </p:cNvSpPr>
          <p:nvPr>
            <p:ph idx="1"/>
          </p:nvPr>
        </p:nvSpPr>
        <p:spPr/>
        <p:txBody>
          <a:bodyPr/>
          <a:lstStyle/>
          <a:p>
            <a:r>
              <a:rPr lang="en-US" smtClean="0"/>
              <a:t>Use the Services tool or Server Manager to make sure the following services are started:</a:t>
            </a:r>
          </a:p>
          <a:p>
            <a:pPr lvl="1"/>
            <a:r>
              <a:rPr lang="en-US" smtClean="0"/>
              <a:t>IP Helper, Remote Access Connection Manager, IKE and AuthIP IPsec Keying Modules, Routing and Remote Access, Netlogon, Remote Access Management service, Base Filtering Engine, Windows Firewall, and Secure Socket Tunneling Protocol Service</a:t>
            </a:r>
          </a:p>
          <a:p>
            <a:r>
              <a:rPr lang="en-US" smtClean="0"/>
              <a:t>Ensure that the Windows Firewall is set up to allow remote access</a:t>
            </a:r>
          </a:p>
          <a:p>
            <a:r>
              <a:rPr lang="en-US" smtClean="0"/>
              <a:t>Make sure that the VPN/DirectAccess server is enabled</a:t>
            </a:r>
          </a:p>
          <a:p>
            <a:r>
              <a:rPr lang="en-US" smtClean="0"/>
              <a:t>Check the remote access policy to be sure that access permission is granted</a:t>
            </a:r>
          </a:p>
          <a:p>
            <a:r>
              <a:rPr lang="en-US" smtClean="0"/>
              <a:t>Be certain that the VPN/DirectAccess server is started</a:t>
            </a:r>
          </a:p>
          <a:p>
            <a:r>
              <a:rPr lang="en-US" smtClean="0"/>
              <a:t>In the Routing and Remote Access tool, check the network interface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93711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Software Solutions (2 of 2)</a:t>
            </a:r>
            <a:endParaRPr lang="en-US" dirty="0"/>
          </a:p>
        </p:txBody>
      </p:sp>
      <p:sp>
        <p:nvSpPr>
          <p:cNvPr id="2" name="Content Placeholder 1"/>
          <p:cNvSpPr>
            <a:spLocks noGrp="1"/>
          </p:cNvSpPr>
          <p:nvPr>
            <p:ph idx="1"/>
          </p:nvPr>
        </p:nvSpPr>
        <p:spPr/>
        <p:txBody>
          <a:bodyPr/>
          <a:lstStyle/>
          <a:p>
            <a:r>
              <a:rPr lang="en-US" smtClean="0"/>
              <a:t>Make sure that the IP parameters are correctly configured to provide an address pool for either a VPN/DirectAccess server</a:t>
            </a:r>
          </a:p>
          <a:p>
            <a:r>
              <a:rPr lang="en-US" smtClean="0"/>
              <a:t>Check to be sure the remote access policy is consistent with the users’ access needs</a:t>
            </a:r>
          </a:p>
          <a:p>
            <a:r>
              <a:rPr lang="en-US" smtClean="0"/>
              <a:t>Open the Remote Access Management Console and click Dashboard in the left pane</a:t>
            </a:r>
          </a:p>
          <a:p>
            <a:r>
              <a:rPr lang="en-US" smtClean="0"/>
              <a:t>If only certain clients but not all are having connection problems, try these solutions:</a:t>
            </a:r>
          </a:p>
          <a:p>
            <a:pPr lvl="1"/>
            <a:r>
              <a:rPr lang="en-US" smtClean="0"/>
              <a:t>Make sure the clients are using the same communications protocol as the server</a:t>
            </a:r>
          </a:p>
          <a:p>
            <a:pPr lvl="1"/>
            <a:r>
              <a:rPr lang="en-US" smtClean="0"/>
              <a:t>If you manage access to a VPN/DirectAccess server by using security groups, make sure that each user account or computer account that needs access is in the appropriate group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42547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(1 of 6)</a:t>
            </a:r>
            <a:endParaRPr lang="en-US" dirty="0"/>
          </a:p>
        </p:txBody>
      </p:sp>
      <p:sp>
        <p:nvSpPr>
          <p:cNvPr id="2" name="Content Placeholder 1"/>
          <p:cNvSpPr>
            <a:spLocks noGrp="1"/>
          </p:cNvSpPr>
          <p:nvPr>
            <p:ph idx="1"/>
          </p:nvPr>
        </p:nvSpPr>
        <p:spPr/>
        <p:txBody>
          <a:bodyPr/>
          <a:lstStyle/>
          <a:p>
            <a:r>
              <a:rPr lang="en-US" smtClean="0"/>
              <a:t>Remote Desktop Services (RDS) server</a:t>
            </a:r>
          </a:p>
          <a:p>
            <a:pPr lvl="1"/>
            <a:r>
              <a:rPr lang="en-US" smtClean="0"/>
              <a:t>Enables clients to run sessions-based desktops, virtual desktops, and software applications on Windows Server 2016 instead of at the client</a:t>
            </a:r>
          </a:p>
          <a:p>
            <a:r>
              <a:rPr lang="en-US" smtClean="0"/>
              <a:t>Using session-based desktops</a:t>
            </a:r>
          </a:p>
          <a:p>
            <a:pPr lvl="1"/>
            <a:r>
              <a:rPr lang="en-US" smtClean="0"/>
              <a:t>The client accesses an RDS server to run applications on that server during a connection session</a:t>
            </a:r>
          </a:p>
          <a:p>
            <a:r>
              <a:rPr lang="en-US" smtClean="0"/>
              <a:t>Virtual desktops</a:t>
            </a:r>
          </a:p>
          <a:p>
            <a:pPr lvl="1"/>
            <a:r>
              <a:rPr lang="en-US" smtClean="0"/>
              <a:t>Are used in association with accessing virtual machines on a virtual server through Hyper-V</a:t>
            </a:r>
          </a:p>
          <a:p>
            <a:pPr lvl="1"/>
            <a:r>
              <a:rPr lang="en-US" smtClean="0"/>
              <a:t>Multiple virtual desktops can be in a pool of desktops for different purposes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63264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(2 of 6)</a:t>
            </a:r>
            <a:endParaRPr lang="en-US" dirty="0"/>
          </a:p>
        </p:txBody>
      </p:sp>
      <p:sp>
        <p:nvSpPr>
          <p:cNvPr id="2" name="Content Placeholder 1"/>
          <p:cNvSpPr>
            <a:spLocks noGrp="1"/>
          </p:cNvSpPr>
          <p:nvPr>
            <p:ph idx="1"/>
          </p:nvPr>
        </p:nvSpPr>
        <p:spPr/>
        <p:txBody>
          <a:bodyPr/>
          <a:lstStyle/>
          <a:p>
            <a:r>
              <a:rPr lang="en-US" smtClean="0"/>
              <a:t>Windows Server 2016 Remote Desktop Services are used for three broad purposes:</a:t>
            </a:r>
          </a:p>
          <a:p>
            <a:pPr lvl="1"/>
            <a:r>
              <a:rPr lang="en-US" smtClean="0"/>
              <a:t>To run applications on a server instead of the client</a:t>
            </a:r>
          </a:p>
          <a:p>
            <a:pPr lvl="1"/>
            <a:r>
              <a:rPr lang="en-US" smtClean="0"/>
              <a:t>To support thin clients</a:t>
            </a:r>
          </a:p>
          <a:p>
            <a:pPr lvl="1"/>
            <a:r>
              <a:rPr lang="en-US" smtClean="0"/>
              <a:t>To centralize program access</a:t>
            </a:r>
          </a:p>
          <a:p>
            <a:r>
              <a:rPr lang="en-US" smtClean="0"/>
              <a:t>Thin clients </a:t>
            </a:r>
          </a:p>
          <a:p>
            <a:pPr lvl="1"/>
            <a:r>
              <a:rPr lang="en-US" smtClean="0"/>
              <a:t>Downsized PCs that have minimal Windows-based OSs that access a Windows Server 2016 server so that most CPU-intensive operations are performed on the server</a:t>
            </a:r>
          </a:p>
          <a:p>
            <a:pPr lvl="1"/>
            <a:r>
              <a:rPr lang="en-US" smtClean="0"/>
              <a:t>Generally used to save money and reduce training and support requirements</a:t>
            </a:r>
          </a:p>
          <a:p>
            <a:pPr lvl="1"/>
            <a:r>
              <a:rPr lang="en-US" smtClean="0"/>
              <a:t>Also used for portable field or handheld remote devices</a:t>
            </a:r>
          </a:p>
          <a:p>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43848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(3 of 6)</a:t>
            </a:r>
            <a:endParaRPr lang="en-US" dirty="0"/>
          </a:p>
        </p:txBody>
      </p:sp>
      <p:sp>
        <p:nvSpPr>
          <p:cNvPr id="2" name="Content Placeholder 1"/>
          <p:cNvSpPr>
            <a:spLocks noGrp="1"/>
          </p:cNvSpPr>
          <p:nvPr>
            <p:ph idx="1"/>
          </p:nvPr>
        </p:nvSpPr>
        <p:spPr/>
        <p:txBody>
          <a:bodyPr/>
          <a:lstStyle/>
          <a:p>
            <a:r>
              <a:rPr lang="en-US" smtClean="0"/>
              <a:t>Centralize control of how programs are used</a:t>
            </a:r>
          </a:p>
          <a:p>
            <a:pPr lvl="1"/>
            <a:r>
              <a:rPr lang="en-US" smtClean="0"/>
              <a:t>Highly-classified or sensitive documents can be stored and modified only on the server</a:t>
            </a:r>
          </a:p>
          <a:p>
            <a:pPr lvl="1"/>
            <a:r>
              <a:rPr lang="en-US" smtClean="0"/>
              <a:t>Server can be configured to provide a high level of security</a:t>
            </a:r>
          </a:p>
          <a:p>
            <a:r>
              <a:rPr lang="en-US" smtClean="0"/>
              <a:t>RDS not only supports thin clients, but also other types of OSs including:</a:t>
            </a:r>
          </a:p>
          <a:p>
            <a:pPr lvl="1"/>
            <a:r>
              <a:rPr lang="en-US" smtClean="0"/>
              <a:t>Windows 10</a:t>
            </a:r>
          </a:p>
          <a:p>
            <a:pPr lvl="1"/>
            <a:r>
              <a:rPr lang="en-US" smtClean="0"/>
              <a:t>Windows Server 2016</a:t>
            </a:r>
          </a:p>
          <a:p>
            <a:pPr lvl="1"/>
            <a:r>
              <a:rPr lang="en-US" smtClean="0"/>
              <a:t>UNIX and UNIX-based X-terminals</a:t>
            </a:r>
          </a:p>
          <a:p>
            <a:pPr lvl="1"/>
            <a:r>
              <a:rPr lang="en-US" smtClean="0"/>
              <a:t>Linux</a:t>
            </a:r>
          </a:p>
          <a:p>
            <a:pPr lvl="1"/>
            <a:r>
              <a:rPr lang="en-US" smtClean="0"/>
              <a:t>Mac OS</a:t>
            </a:r>
          </a:p>
          <a:p>
            <a:pPr lvl="1"/>
            <a:r>
              <a:rPr lang="en-US" smtClean="0"/>
              <a:t>Table operating systems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69886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(4 of 6)</a:t>
            </a:r>
            <a:endParaRPr lang="en-US" dirty="0"/>
          </a:p>
        </p:txBody>
      </p:sp>
      <p:sp>
        <p:nvSpPr>
          <p:cNvPr id="2" name="Content Placeholder 1"/>
          <p:cNvSpPr>
            <a:spLocks noGrp="1"/>
          </p:cNvSpPr>
          <p:nvPr>
            <p:ph idx="1"/>
          </p:nvPr>
        </p:nvSpPr>
        <p:spPr/>
        <p:txBody>
          <a:bodyPr/>
          <a:lstStyle/>
          <a:p>
            <a:r>
              <a:rPr lang="en-US" smtClean="0"/>
              <a:t>Four main components enable remote desktop server connectivity:	</a:t>
            </a:r>
          </a:p>
          <a:p>
            <a:pPr lvl="1"/>
            <a:r>
              <a:rPr lang="en-US" smtClean="0"/>
              <a:t>Windows Server 2016 multiuser Remote Desktop Services</a:t>
            </a:r>
          </a:p>
          <a:p>
            <a:pPr lvl="1"/>
            <a:r>
              <a:rPr lang="en-US" smtClean="0"/>
              <a:t>Remote desktop services client</a:t>
            </a:r>
          </a:p>
          <a:p>
            <a:pPr lvl="1"/>
            <a:r>
              <a:rPr lang="en-US" smtClean="0"/>
              <a:t>Remote Desktop Protocol (RDP)</a:t>
            </a:r>
          </a:p>
          <a:p>
            <a:pPr lvl="1"/>
            <a:r>
              <a:rPr lang="en-US" smtClean="0"/>
              <a:t>Remote Desktop Services administration tools</a:t>
            </a:r>
          </a:p>
          <a:p>
            <a:r>
              <a:rPr lang="en-US" smtClean="0"/>
              <a:t>See Table 9-6 for a description of these components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14296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(5 of 6)</a:t>
            </a:r>
            <a:endParaRPr lang="en-US" dirty="0"/>
          </a:p>
        </p:txBody>
      </p:sp>
      <p:sp>
        <p:nvSpPr>
          <p:cNvPr id="2" name="Content Placeholder 1"/>
          <p:cNvSpPr>
            <a:spLocks noGrp="1"/>
          </p:cNvSpPr>
          <p:nvPr>
            <p:ph idx="1"/>
          </p:nvPr>
        </p:nvSpPr>
        <p:spPr/>
        <p:txBody>
          <a:bodyPr/>
          <a:lstStyle/>
          <a:p>
            <a:r>
              <a:rPr lang="en-US" smtClean="0"/>
              <a:t>When you install RDS, you can install different role services:</a:t>
            </a:r>
          </a:p>
          <a:p>
            <a:pPr lvl="1"/>
            <a:r>
              <a:rPr lang="en-US" smtClean="0"/>
              <a:t>Remote Desktop Session Host</a:t>
            </a:r>
          </a:p>
          <a:p>
            <a:pPr lvl="1"/>
            <a:r>
              <a:rPr lang="en-US" smtClean="0"/>
              <a:t>Remote Desktop Web Access</a:t>
            </a:r>
          </a:p>
          <a:p>
            <a:pPr lvl="1"/>
            <a:r>
              <a:rPr lang="en-US" smtClean="0"/>
              <a:t>Remote Desktop Virtualization Host</a:t>
            </a:r>
          </a:p>
          <a:p>
            <a:pPr lvl="1"/>
            <a:r>
              <a:rPr lang="en-US" smtClean="0"/>
              <a:t>Remote Desktop Licensing</a:t>
            </a:r>
          </a:p>
          <a:p>
            <a:pPr lvl="1"/>
            <a:r>
              <a:rPr lang="en-US" smtClean="0"/>
              <a:t>Remote Desktop Gateway</a:t>
            </a:r>
          </a:p>
          <a:p>
            <a:pPr lvl="1"/>
            <a:r>
              <a:rPr lang="en-US" smtClean="0"/>
              <a:t>Remote Desktop Connection Broker</a:t>
            </a:r>
          </a:p>
          <a:p>
            <a:r>
              <a:rPr lang="en-US" smtClean="0"/>
              <a:t>See Table 9-7 for a description of these services</a:t>
            </a:r>
          </a:p>
          <a:p>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85407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Connecting Through Remote Desktop Services (6 of 6)</a:t>
            </a:r>
            <a:endParaRPr lang="en-US" dirty="0"/>
          </a:p>
        </p:txBody>
      </p:sp>
      <p:sp>
        <p:nvSpPr>
          <p:cNvPr id="2" name="Content Placeholder 1"/>
          <p:cNvSpPr>
            <a:spLocks noGrp="1"/>
          </p:cNvSpPr>
          <p:nvPr>
            <p:ph idx="1"/>
          </p:nvPr>
        </p:nvSpPr>
        <p:spPr/>
        <p:txBody>
          <a:bodyPr/>
          <a:lstStyle/>
          <a:p>
            <a:r>
              <a:rPr lang="en-US" smtClean="0"/>
              <a:t>An RDS server employs RemoteApp</a:t>
            </a:r>
          </a:p>
          <a:p>
            <a:pPr lvl="1"/>
            <a:r>
              <a:rPr lang="en-US" smtClean="0"/>
              <a:t>A feature that enables a client to run an application without loading a remote desktop on the client computer</a:t>
            </a:r>
          </a:p>
          <a:p>
            <a:pPr lvl="1"/>
            <a:r>
              <a:rPr lang="en-US" smtClean="0"/>
              <a:t>The program appears to be just another program in a window running on the local computer</a:t>
            </a:r>
          </a:p>
          <a:p>
            <a:r>
              <a:rPr lang="en-US" smtClean="0"/>
              <a:t>A RemoteApp program is started by clients in the following ways:</a:t>
            </a:r>
          </a:p>
          <a:p>
            <a:pPr lvl="1"/>
            <a:r>
              <a:rPr lang="en-US" smtClean="0"/>
              <a:t>From an icon on the client’s desktop </a:t>
            </a:r>
          </a:p>
          <a:p>
            <a:pPr lvl="1"/>
            <a:r>
              <a:rPr lang="en-US" smtClean="0"/>
              <a:t>From the client’s Start menu</a:t>
            </a:r>
          </a:p>
          <a:p>
            <a:pPr lvl="1"/>
            <a:r>
              <a:rPr lang="en-US" smtClean="0"/>
              <a:t>As a link on a website via Remote Desktop Web Access</a:t>
            </a:r>
          </a:p>
          <a:p>
            <a:pPr lvl="1"/>
            <a:r>
              <a:rPr lang="en-US" smtClean="0"/>
              <a:t>As an .rdp (remote desktop protocol) file</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74779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Remote Desktop Services (1 of 4)</a:t>
            </a:r>
            <a:endParaRPr lang="en-US" dirty="0"/>
          </a:p>
        </p:txBody>
      </p:sp>
      <p:sp>
        <p:nvSpPr>
          <p:cNvPr id="2" name="Content Placeholder 1"/>
          <p:cNvSpPr>
            <a:spLocks noGrp="1"/>
          </p:cNvSpPr>
          <p:nvPr>
            <p:ph idx="1"/>
          </p:nvPr>
        </p:nvSpPr>
        <p:spPr/>
        <p:txBody>
          <a:bodyPr/>
          <a:lstStyle/>
          <a:p>
            <a:r>
              <a:rPr lang="en-US" smtClean="0"/>
              <a:t>When you install the Remote Desktop Services role, you also need to install the RDS Licensing role service</a:t>
            </a:r>
          </a:p>
          <a:p>
            <a:pPr lvl="1"/>
            <a:r>
              <a:rPr lang="en-US" smtClean="0"/>
              <a:t>To manage the number of terminal server user licenses you have obtained from Microsoft</a:t>
            </a:r>
          </a:p>
          <a:p>
            <a:r>
              <a:rPr lang="en-US" smtClean="0"/>
              <a:t>The RDS Licensing role server can be installed when you install the Remote Desktop Services role</a:t>
            </a:r>
          </a:p>
          <a:p>
            <a:r>
              <a:rPr lang="en-US" smtClean="0"/>
              <a:t>Licenses can be purchased either per user account or by client device</a:t>
            </a:r>
          </a:p>
          <a:p>
            <a:r>
              <a:rPr lang="en-US" smtClean="0"/>
              <a:t>When you install the RDS role, you implement Network Level Authentication (NLA)</a:t>
            </a:r>
          </a:p>
          <a:p>
            <a:pPr lvl="1"/>
            <a:r>
              <a:rPr lang="en-US" smtClean="0"/>
              <a:t>NLA enables authentication to take place before the RDS connection is established</a:t>
            </a:r>
          </a:p>
          <a:p>
            <a:pPr lvl="1"/>
            <a:r>
              <a:rPr lang="en-US" smtClean="0"/>
              <a:t>Designed to eliminate man-in-the-middle attacks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12055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Remote Desktop Services (2 of 4)</a:t>
            </a:r>
            <a:endParaRPr lang="en-US" dirty="0"/>
          </a:p>
        </p:txBody>
      </p:sp>
      <p:sp>
        <p:nvSpPr>
          <p:cNvPr id="2" name="Content Placeholder 1"/>
          <p:cNvSpPr>
            <a:spLocks noGrp="1"/>
          </p:cNvSpPr>
          <p:nvPr>
            <p:ph idx="1"/>
          </p:nvPr>
        </p:nvSpPr>
        <p:spPr/>
        <p:txBody>
          <a:bodyPr/>
          <a:lstStyle/>
          <a:p>
            <a:r>
              <a:rPr lang="en-US" smtClean="0"/>
              <a:t>Another element to consider before you install the RDS role is who will be allowed to access the RDS server</a:t>
            </a:r>
          </a:p>
          <a:p>
            <a:pPr lvl="1"/>
            <a:r>
              <a:rPr lang="en-US" smtClean="0"/>
              <a:t>Create groups of user accounts in advance so that you can add these groups during the installation</a:t>
            </a:r>
          </a:p>
          <a:p>
            <a:r>
              <a:rPr lang="en-US" smtClean="0"/>
              <a:t>If operating in an Active Directory environment</a:t>
            </a:r>
          </a:p>
          <a:p>
            <a:pPr lvl="1"/>
            <a:r>
              <a:rPr lang="en-US" smtClean="0"/>
              <a:t>Consider creating a domain local group, such as RDS Users</a:t>
            </a:r>
          </a:p>
          <a:p>
            <a:pPr lvl="1"/>
            <a:r>
              <a:rPr lang="en-US" smtClean="0"/>
              <a:t>Next, create different global groups of users, such as a global group for each department that will access the RDS server</a:t>
            </a:r>
          </a:p>
          <a:p>
            <a:pPr lvl="1"/>
            <a:r>
              <a:rPr lang="en-US" smtClean="0"/>
              <a:t>Add the appropriate user accounts for each department’s global group</a:t>
            </a:r>
          </a:p>
          <a:p>
            <a:pPr lvl="1"/>
            <a:r>
              <a:rPr lang="en-US" smtClean="0"/>
              <a:t>Finally, add the global groups to the single domain local group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46441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Remote Desktop Services (3 of 4)</a:t>
            </a:r>
            <a:endParaRPr lang="en-US" dirty="0"/>
          </a:p>
        </p:txBody>
      </p:sp>
      <p:sp>
        <p:nvSpPr>
          <p:cNvPr id="2" name="Content Placeholder 1"/>
          <p:cNvSpPr>
            <a:spLocks noGrp="1"/>
          </p:cNvSpPr>
          <p:nvPr>
            <p:ph idx="1"/>
          </p:nvPr>
        </p:nvSpPr>
        <p:spPr/>
        <p:txBody>
          <a:bodyPr/>
          <a:lstStyle/>
          <a:p>
            <a:r>
              <a:rPr lang="en-US" smtClean="0"/>
              <a:t>Activity 9-8 shows you how to install the Remote Desktop Service role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69142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Remote Desktop Services (4 of 4)</a:t>
            </a:r>
            <a:endParaRPr lang="en-US" dirty="0"/>
          </a:p>
        </p:txBody>
      </p:sp>
      <p:pic>
        <p:nvPicPr>
          <p:cNvPr id="5" name="Picture 4" descr="Figure 9-19, Page No. 406, Complexity level: 2&#10;Screenshot shows the “Add Roles and Features Wizard” dialog box. On the left pane of the dialog box, the Roles Services option is selected. On the content pane of the dialog box, check boxes are selected for Remote Desktop Connection Broker, Remote Desktop Session Host, and Remote Desktop Web Access options. The Install button shown below is selected.&#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057400"/>
            <a:ext cx="4602480" cy="3499104"/>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53471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Remote Desktop Services</a:t>
            </a:r>
            <a:endParaRPr lang="en-US" dirty="0"/>
          </a:p>
        </p:txBody>
      </p:sp>
      <p:sp>
        <p:nvSpPr>
          <p:cNvPr id="2" name="Content Placeholder 1"/>
          <p:cNvSpPr>
            <a:spLocks noGrp="1"/>
          </p:cNvSpPr>
          <p:nvPr>
            <p:ph idx="1"/>
          </p:nvPr>
        </p:nvSpPr>
        <p:spPr/>
        <p:txBody>
          <a:bodyPr/>
          <a:lstStyle/>
          <a:p>
            <a:r>
              <a:rPr lang="en-US" smtClean="0"/>
              <a:t>After you have installed the RDS role and associated role services</a:t>
            </a:r>
          </a:p>
          <a:p>
            <a:pPr lvl="1"/>
            <a:r>
              <a:rPr lang="en-US" smtClean="0"/>
              <a:t>Use Server Manager to complete a basic configuration as in Activity 9-9</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72998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Accessing an RDS Server from a Client</a:t>
            </a:r>
            <a:endParaRPr lang="en-US" dirty="0"/>
          </a:p>
        </p:txBody>
      </p:sp>
      <p:sp>
        <p:nvSpPr>
          <p:cNvPr id="2" name="Content Placeholder 1"/>
          <p:cNvSpPr>
            <a:spLocks noGrp="1"/>
          </p:cNvSpPr>
          <p:nvPr>
            <p:ph idx="1"/>
          </p:nvPr>
        </p:nvSpPr>
        <p:spPr/>
        <p:txBody>
          <a:bodyPr/>
          <a:lstStyle/>
          <a:p>
            <a:r>
              <a:rPr lang="en-US" smtClean="0"/>
              <a:t>Remote Desktop Services client computers can sign in using the Remote Desktop Connection (RDC) client</a:t>
            </a:r>
          </a:p>
          <a:p>
            <a:pPr lvl="1"/>
            <a:r>
              <a:rPr lang="en-US" smtClean="0"/>
              <a:t>The RDC client is already installed in Windows Vista through Windows 10 and in Windows Server 2016</a:t>
            </a:r>
          </a:p>
          <a:p>
            <a:r>
              <a:rPr lang="en-US" smtClean="0"/>
              <a:t>The general steps to start RDC client in Windows 10 or Windows Server 2016 are as follows:</a:t>
            </a:r>
          </a:p>
          <a:p>
            <a:pPr lvl="1"/>
            <a:r>
              <a:rPr lang="en-US" smtClean="0"/>
              <a:t>Click Start and click the Windows Accessories folder</a:t>
            </a:r>
          </a:p>
          <a:p>
            <a:pPr lvl="1"/>
            <a:r>
              <a:rPr lang="en-US" smtClean="0"/>
              <a:t>Click Remote Desktop Connection</a:t>
            </a:r>
          </a:p>
          <a:p>
            <a:pPr lvl="1"/>
            <a:r>
              <a:rPr lang="en-US" smtClean="0"/>
              <a:t>Enter the name of the computer to access and click Connect</a:t>
            </a:r>
          </a:p>
          <a:p>
            <a:pPr lvl="1"/>
            <a:r>
              <a:rPr lang="en-US" smtClean="0"/>
              <a:t>Provide the username and password and click OK</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27765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Publishing Applications for RemoteApp on an RDS Server</a:t>
            </a:r>
            <a:endParaRPr lang="en-US" dirty="0"/>
          </a:p>
        </p:txBody>
      </p:sp>
      <p:sp>
        <p:nvSpPr>
          <p:cNvPr id="2" name="Content Placeholder 1"/>
          <p:cNvSpPr>
            <a:spLocks noGrp="1"/>
          </p:cNvSpPr>
          <p:nvPr>
            <p:ph idx="1"/>
          </p:nvPr>
        </p:nvSpPr>
        <p:spPr/>
        <p:txBody>
          <a:bodyPr/>
          <a:lstStyle/>
          <a:p>
            <a:r>
              <a:rPr lang="en-US" smtClean="0"/>
              <a:t>After you configure an RDS server</a:t>
            </a:r>
          </a:p>
          <a:p>
            <a:pPr lvl="1"/>
            <a:r>
              <a:rPr lang="en-US" smtClean="0"/>
              <a:t>You can create a collection of RemoteApp programs that are published</a:t>
            </a:r>
          </a:p>
          <a:p>
            <a:r>
              <a:rPr lang="en-US" smtClean="0"/>
              <a:t>The first step is to create a collection</a:t>
            </a:r>
          </a:p>
          <a:p>
            <a:r>
              <a:rPr lang="en-US" smtClean="0"/>
              <a:t>Next, you select RemoteApps appplications on the server to include in the collection</a:t>
            </a:r>
          </a:p>
          <a:p>
            <a:pPr lvl="1"/>
            <a:r>
              <a:rPr lang="en-US" smtClean="0"/>
              <a:t>As in Activity 9-10</a:t>
            </a:r>
            <a:endParaRPr lang="en-US"/>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83991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Windows Server 2016 offers Remote Access Services to enable users to have remote access to a server</a:t>
            </a:r>
          </a:p>
          <a:p>
            <a:r>
              <a:rPr lang="en-US" smtClean="0"/>
              <a:t>Remote Access Services includes virtual private network (VPN) and DirectAccess services that can be installed individually or together on a server</a:t>
            </a:r>
          </a:p>
          <a:p>
            <a:r>
              <a:rPr lang="en-US" smtClean="0"/>
              <a:t>Remote access protocols include PPP, PPTP, L2TP, and SSTP</a:t>
            </a:r>
          </a:p>
          <a:p>
            <a:r>
              <a:rPr lang="en-US" smtClean="0"/>
              <a:t>Use Server Manager to install the Network Policy and Access Services and the Remote Access roles in Windows Server 2016</a:t>
            </a:r>
          </a:p>
          <a:p>
            <a:r>
              <a:rPr lang="en-US" smtClean="0"/>
              <a:t>Use Server Manager to initially configure a VPN</a:t>
            </a:r>
          </a:p>
          <a:p>
            <a:r>
              <a:rPr lang="en-US" smtClean="0"/>
              <a:t>After a VPN is installed, it should be configured to be a DHCP Relay Agent</a:t>
            </a:r>
          </a:p>
          <a:p>
            <a:r>
              <a:rPr lang="en-US" smtClean="0"/>
              <a:t>A VPN has many properties that can be configured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Plan to configure a remote access policy to govern how a VPN server is accessed</a:t>
            </a:r>
          </a:p>
          <a:p>
            <a:r>
              <a:rPr lang="en-US" smtClean="0"/>
              <a:t>DirectAccess is another remote access service that can be configured with VPN or stand-alone</a:t>
            </a:r>
          </a:p>
          <a:p>
            <a:r>
              <a:rPr lang="en-US" smtClean="0"/>
              <a:t>Many troubleshooting strategies can be used if your VPN or DirectAccess remote access server is having problems</a:t>
            </a:r>
          </a:p>
          <a:p>
            <a:r>
              <a:rPr lang="en-US" smtClean="0"/>
              <a:t>Use Server Manager to install the Remote Desktop Services role and to configure the role after it is installed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19903</TotalTime>
  <Words>5084</Words>
  <Application>Microsoft Office PowerPoint</Application>
  <PresentationFormat>On-screen Show (4:3)</PresentationFormat>
  <Paragraphs>333</Paragraphs>
  <Slides>44</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Hands-On Microsoft Windows Server 2016  2nd Edition</vt:lpstr>
      <vt:lpstr>Objectives</vt:lpstr>
      <vt:lpstr>Introduction to Remote Access</vt:lpstr>
      <vt:lpstr>Implementing a Virtual Private Network (1 of 3)</vt:lpstr>
      <vt:lpstr>Implementing a Virtual Private Network (2 of 3)</vt:lpstr>
      <vt:lpstr>Implementing a Virtual Private Network (3 of 3)</vt:lpstr>
      <vt:lpstr>Using Remote Access Protocols (1 of 4)</vt:lpstr>
      <vt:lpstr>Using Remote Access Protocols (2 of 4)</vt:lpstr>
      <vt:lpstr>Using Remote Access Protocols (3 of 4)</vt:lpstr>
      <vt:lpstr>Using Remote Access Protocols (4 of 4)</vt:lpstr>
      <vt:lpstr>Configuring a VPN Server</vt:lpstr>
      <vt:lpstr>Configuring the Server’s Firewall</vt:lpstr>
      <vt:lpstr>Configuring a DHCP Relay Agent (1 of 2)</vt:lpstr>
      <vt:lpstr>Configuring a DHCP Relay Agent (2 of 2)</vt:lpstr>
      <vt:lpstr>Configuring VPN Properties (1 of 2)</vt:lpstr>
      <vt:lpstr>Configuring VPN Properties (2 of 2)</vt:lpstr>
      <vt:lpstr>Configuring VPN Security (1 of 4)</vt:lpstr>
      <vt:lpstr>Configuring VPN Security (2 of 4)</vt:lpstr>
      <vt:lpstr>Configuring VPN Security (3 of 4)</vt:lpstr>
      <vt:lpstr>Configuring VPN Security (4 of 4)</vt:lpstr>
      <vt:lpstr>Monitoring VPN Users</vt:lpstr>
      <vt:lpstr>Implementing DirectAccess (1 of 4)</vt:lpstr>
      <vt:lpstr>Implementing DirectAccess (2 of 4)</vt:lpstr>
      <vt:lpstr>Implementing DirectAccess (3 of 4)</vt:lpstr>
      <vt:lpstr>Implementing DirectAccess (4 of 4)</vt:lpstr>
      <vt:lpstr>Troubleshooting VPN and DirectAccess Installations</vt:lpstr>
      <vt:lpstr>Hardware Solutions</vt:lpstr>
      <vt:lpstr>Software Solutions (1 of 2)</vt:lpstr>
      <vt:lpstr>Software Solutions (2 of 2)</vt:lpstr>
      <vt:lpstr>Connecting Through Remote Desktop Services (1 of 6)</vt:lpstr>
      <vt:lpstr>Connecting Through Remote Desktop Services (2 of 6)</vt:lpstr>
      <vt:lpstr>Connecting Through Remote Desktop Services (3 of 6)</vt:lpstr>
      <vt:lpstr>Connecting Through Remote Desktop Services (4 of 6)</vt:lpstr>
      <vt:lpstr>Connecting Through Remote Desktop Services (5 of 6)</vt:lpstr>
      <vt:lpstr>Connecting Through Remote Desktop Services (6 of 6)</vt:lpstr>
      <vt:lpstr>Installing Remote Desktop Services (1 of 4)</vt:lpstr>
      <vt:lpstr>Installing Remote Desktop Services (2 of 4)</vt:lpstr>
      <vt:lpstr>Installing Remote Desktop Services (3 of 4)</vt:lpstr>
      <vt:lpstr>Installing Remote Desktop Services (4 of 4)</vt:lpstr>
      <vt:lpstr>Configuring Remote Desktop Services</vt:lpstr>
      <vt:lpstr>Accessing an RDS Server from a Client</vt:lpstr>
      <vt:lpstr>Publishing Applications for RemoteApp on an RDS Server</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682</cp:revision>
  <cp:lastPrinted>2017-07-11T22:16:56Z</cp:lastPrinted>
  <dcterms:created xsi:type="dcterms:W3CDTF">2007-02-15T20:50:52Z</dcterms:created>
  <dcterms:modified xsi:type="dcterms:W3CDTF">2017-07-11T22:17:00Z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