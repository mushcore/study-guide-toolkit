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51" r:id="rId1"/>
  </p:sldMasterIdLst>
  <p:notesMasterIdLst>
    <p:notesMasterId r:id="rId65"/>
  </p:notesMasterIdLst>
  <p:handoutMasterIdLst>
    <p:handoutMasterId r:id="rId66"/>
  </p:handoutMasterIdLst>
  <p:sldIdLst>
    <p:sldId id="256" r:id="rId2"/>
    <p:sldId id="257" r:id="rId3"/>
    <p:sldId id="260" r:id="rId4"/>
    <p:sldId id="258" r:id="rId5"/>
    <p:sldId id="309" r:id="rId6"/>
    <p:sldId id="311" r:id="rId7"/>
    <p:sldId id="312" r:id="rId8"/>
    <p:sldId id="313" r:id="rId9"/>
    <p:sldId id="314" r:id="rId10"/>
    <p:sldId id="315" r:id="rId11"/>
    <p:sldId id="316" r:id="rId12"/>
    <p:sldId id="317" r:id="rId13"/>
    <p:sldId id="318" r:id="rId14"/>
    <p:sldId id="319" r:id="rId15"/>
    <p:sldId id="320" r:id="rId16"/>
    <p:sldId id="322" r:id="rId17"/>
    <p:sldId id="323" r:id="rId18"/>
    <p:sldId id="324" r:id="rId19"/>
    <p:sldId id="325" r:id="rId20"/>
    <p:sldId id="326" r:id="rId21"/>
    <p:sldId id="327" r:id="rId22"/>
    <p:sldId id="328" r:id="rId23"/>
    <p:sldId id="329" r:id="rId24"/>
    <p:sldId id="330" r:id="rId25"/>
    <p:sldId id="331" r:id="rId26"/>
    <p:sldId id="332" r:id="rId27"/>
    <p:sldId id="333" r:id="rId28"/>
    <p:sldId id="335" r:id="rId29"/>
    <p:sldId id="336" r:id="rId30"/>
    <p:sldId id="337" r:id="rId31"/>
    <p:sldId id="334" r:id="rId32"/>
    <p:sldId id="338" r:id="rId33"/>
    <p:sldId id="339" r:id="rId34"/>
    <p:sldId id="340" r:id="rId35"/>
    <p:sldId id="341" r:id="rId36"/>
    <p:sldId id="342" r:id="rId37"/>
    <p:sldId id="343" r:id="rId38"/>
    <p:sldId id="344" r:id="rId39"/>
    <p:sldId id="345" r:id="rId40"/>
    <p:sldId id="346" r:id="rId41"/>
    <p:sldId id="347" r:id="rId42"/>
    <p:sldId id="348" r:id="rId43"/>
    <p:sldId id="349" r:id="rId44"/>
    <p:sldId id="350" r:id="rId45"/>
    <p:sldId id="351" r:id="rId46"/>
    <p:sldId id="352" r:id="rId47"/>
    <p:sldId id="353" r:id="rId48"/>
    <p:sldId id="354" r:id="rId49"/>
    <p:sldId id="356" r:id="rId50"/>
    <p:sldId id="355" r:id="rId51"/>
    <p:sldId id="357" r:id="rId52"/>
    <p:sldId id="359" r:id="rId53"/>
    <p:sldId id="360" r:id="rId54"/>
    <p:sldId id="361" r:id="rId55"/>
    <p:sldId id="362" r:id="rId56"/>
    <p:sldId id="363" r:id="rId57"/>
    <p:sldId id="364" r:id="rId58"/>
    <p:sldId id="365" r:id="rId59"/>
    <p:sldId id="366" r:id="rId60"/>
    <p:sldId id="367" r:id="rId61"/>
    <p:sldId id="368" r:id="rId62"/>
    <p:sldId id="307" r:id="rId63"/>
    <p:sldId id="308" r:id="rId64"/>
  </p:sldIdLst>
  <p:sldSz cx="9144000" cy="6858000" type="screen4x3"/>
  <p:notesSz cx="6858000" cy="9296400"/>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Nanette Stillwell" initials="NBS" lastIdx="5" clrIdx="0"/>
  <p:cmAuthor id="1" name="Gerald Titchener" initials="GT" lastIdx="1" clrIdx="1">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B70A5"/>
    <a:srgbClr val="FFFFFF"/>
    <a:srgbClr val="96CDEE"/>
    <a:srgbClr val="0F3F5D"/>
    <a:srgbClr val="01773A"/>
    <a:srgbClr val="156B13"/>
    <a:srgbClr val="008000"/>
    <a:srgbClr val="F20000"/>
    <a:srgbClr val="66CCFF"/>
    <a:srgbClr val="33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1849" autoAdjust="0"/>
    <p:restoredTop sz="76197" autoAdjust="0"/>
  </p:normalViewPr>
  <p:slideViewPr>
    <p:cSldViewPr>
      <p:cViewPr varScale="1">
        <p:scale>
          <a:sx n="74" d="100"/>
          <a:sy n="74" d="100"/>
        </p:scale>
        <p:origin x="1146" y="66"/>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commentAuthors" Target="commentAuthor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64820"/>
          </a:xfrm>
          <a:prstGeom prst="rect">
            <a:avLst/>
          </a:prstGeom>
        </p:spPr>
        <p:txBody>
          <a:bodyPr vert="horz" lIns="92297" tIns="46148" rIns="92297" bIns="46148"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64820"/>
          </a:xfrm>
          <a:prstGeom prst="rect">
            <a:avLst/>
          </a:prstGeom>
        </p:spPr>
        <p:txBody>
          <a:bodyPr vert="horz" lIns="92297" tIns="46148" rIns="92297" bIns="46148" rtlCol="0"/>
          <a:lstStyle>
            <a:lvl1pPr algn="r">
              <a:defRPr sz="1200"/>
            </a:lvl1pPr>
          </a:lstStyle>
          <a:p>
            <a:fld id="{4EE4060F-EC6E-45B5-96F1-A60F0585115B}" type="datetimeFigureOut">
              <a:rPr lang="en-US" smtClean="0"/>
              <a:pPr/>
              <a:t>7/11/2017</a:t>
            </a:fld>
            <a:endParaRPr lang="en-US"/>
          </a:p>
        </p:txBody>
      </p:sp>
      <p:sp>
        <p:nvSpPr>
          <p:cNvPr id="4" name="Footer Placeholder 3"/>
          <p:cNvSpPr>
            <a:spLocks noGrp="1"/>
          </p:cNvSpPr>
          <p:nvPr>
            <p:ph type="ftr" sz="quarter" idx="2"/>
          </p:nvPr>
        </p:nvSpPr>
        <p:spPr>
          <a:xfrm>
            <a:off x="0" y="8829966"/>
            <a:ext cx="2971800" cy="464820"/>
          </a:xfrm>
          <a:prstGeom prst="rect">
            <a:avLst/>
          </a:prstGeom>
        </p:spPr>
        <p:txBody>
          <a:bodyPr vert="horz" lIns="92297" tIns="46148" rIns="92297" bIns="46148"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829966"/>
            <a:ext cx="2971800" cy="464820"/>
          </a:xfrm>
          <a:prstGeom prst="rect">
            <a:avLst/>
          </a:prstGeom>
        </p:spPr>
        <p:txBody>
          <a:bodyPr vert="horz" lIns="92297" tIns="46148" rIns="92297" bIns="46148" rtlCol="0" anchor="b"/>
          <a:lstStyle>
            <a:lvl1pPr algn="r">
              <a:defRPr sz="1200"/>
            </a:lvl1pPr>
          </a:lstStyle>
          <a:p>
            <a:fld id="{A987596C-5E44-4393-BE44-DB7D499825F1}" type="slidenum">
              <a:rPr lang="en-US" smtClean="0"/>
              <a:pPr/>
              <a:t>‹#›</a:t>
            </a:fld>
            <a:endParaRPr lang="en-US"/>
          </a:p>
        </p:txBody>
      </p:sp>
    </p:spTree>
    <p:extLst>
      <p:ext uri="{BB962C8B-B14F-4D97-AF65-F5344CB8AC3E}">
        <p14:creationId xmlns:p14="http://schemas.microsoft.com/office/powerpoint/2010/main" val="283420640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64820"/>
          </a:xfrm>
          <a:prstGeom prst="rect">
            <a:avLst/>
          </a:prstGeom>
        </p:spPr>
        <p:txBody>
          <a:bodyPr vert="horz" lIns="92297" tIns="46148" rIns="92297" bIns="46148" rtlCol="0"/>
          <a:lstStyle>
            <a:lvl1pPr algn="l">
              <a:defRPr sz="1200"/>
            </a:lvl1pPr>
          </a:lstStyle>
          <a:p>
            <a:pPr>
              <a:defRPr/>
            </a:pPr>
            <a:endParaRPr lang="en-US" dirty="0"/>
          </a:p>
        </p:txBody>
      </p:sp>
      <p:sp>
        <p:nvSpPr>
          <p:cNvPr id="3" name="Date Placeholder 2"/>
          <p:cNvSpPr>
            <a:spLocks noGrp="1"/>
          </p:cNvSpPr>
          <p:nvPr>
            <p:ph type="dt" idx="1"/>
          </p:nvPr>
        </p:nvSpPr>
        <p:spPr>
          <a:xfrm>
            <a:off x="3884613" y="0"/>
            <a:ext cx="2971800" cy="464820"/>
          </a:xfrm>
          <a:prstGeom prst="rect">
            <a:avLst/>
          </a:prstGeom>
        </p:spPr>
        <p:txBody>
          <a:bodyPr vert="horz" lIns="92297" tIns="46148" rIns="92297" bIns="46148" rtlCol="0"/>
          <a:lstStyle>
            <a:lvl1pPr algn="r">
              <a:defRPr sz="1200"/>
            </a:lvl1pPr>
          </a:lstStyle>
          <a:p>
            <a:pPr>
              <a:defRPr/>
            </a:pPr>
            <a:fld id="{46950642-C6F2-4E46-90C1-0B12B643B3D7}" type="datetimeFigureOut">
              <a:rPr lang="en-US"/>
              <a:pPr>
                <a:defRPr/>
              </a:pPr>
              <a:t>7/11/2017</a:t>
            </a:fld>
            <a:endParaRPr lang="en-US" dirty="0"/>
          </a:p>
        </p:txBody>
      </p:sp>
      <p:sp>
        <p:nvSpPr>
          <p:cNvPr id="4" name="Slide Image Placeholder 3"/>
          <p:cNvSpPr>
            <a:spLocks noGrp="1" noRot="1" noChangeAspect="1"/>
          </p:cNvSpPr>
          <p:nvPr>
            <p:ph type="sldImg" idx="2"/>
          </p:nvPr>
        </p:nvSpPr>
        <p:spPr>
          <a:xfrm>
            <a:off x="1104900" y="696913"/>
            <a:ext cx="4648200" cy="3486150"/>
          </a:xfrm>
          <a:prstGeom prst="rect">
            <a:avLst/>
          </a:prstGeom>
          <a:noFill/>
          <a:ln w="12700">
            <a:solidFill>
              <a:prstClr val="black"/>
            </a:solidFill>
          </a:ln>
        </p:spPr>
        <p:txBody>
          <a:bodyPr vert="horz" lIns="92297" tIns="46148" rIns="92297" bIns="46148" rtlCol="0" anchor="ctr"/>
          <a:lstStyle/>
          <a:p>
            <a:pPr lvl="0"/>
            <a:endParaRPr lang="en-US" noProof="0" dirty="0"/>
          </a:p>
        </p:txBody>
      </p:sp>
      <p:sp>
        <p:nvSpPr>
          <p:cNvPr id="5" name="Notes Placeholder 4"/>
          <p:cNvSpPr>
            <a:spLocks noGrp="1"/>
          </p:cNvSpPr>
          <p:nvPr>
            <p:ph type="body" sz="quarter" idx="3"/>
          </p:nvPr>
        </p:nvSpPr>
        <p:spPr>
          <a:xfrm>
            <a:off x="685800" y="4415790"/>
            <a:ext cx="5486400" cy="4183380"/>
          </a:xfrm>
          <a:prstGeom prst="rect">
            <a:avLst/>
          </a:prstGeom>
        </p:spPr>
        <p:txBody>
          <a:bodyPr vert="horz" lIns="92297" tIns="46148" rIns="92297" bIns="46148"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829966"/>
            <a:ext cx="2971800" cy="464820"/>
          </a:xfrm>
          <a:prstGeom prst="rect">
            <a:avLst/>
          </a:prstGeom>
        </p:spPr>
        <p:txBody>
          <a:bodyPr vert="horz" lIns="92297" tIns="46148" rIns="92297" bIns="46148" rtlCol="0" anchor="b"/>
          <a:lstStyle>
            <a:lvl1pPr algn="l">
              <a:defRPr sz="1200"/>
            </a:lvl1pPr>
          </a:lstStyle>
          <a:p>
            <a:pPr>
              <a:defRPr/>
            </a:pPr>
            <a:endParaRPr lang="en-US" dirty="0"/>
          </a:p>
        </p:txBody>
      </p:sp>
      <p:sp>
        <p:nvSpPr>
          <p:cNvPr id="7" name="Slide Number Placeholder 6"/>
          <p:cNvSpPr>
            <a:spLocks noGrp="1"/>
          </p:cNvSpPr>
          <p:nvPr>
            <p:ph type="sldNum" sz="quarter" idx="5"/>
          </p:nvPr>
        </p:nvSpPr>
        <p:spPr>
          <a:xfrm>
            <a:off x="3884613" y="8829966"/>
            <a:ext cx="2971800" cy="464820"/>
          </a:xfrm>
          <a:prstGeom prst="rect">
            <a:avLst/>
          </a:prstGeom>
        </p:spPr>
        <p:txBody>
          <a:bodyPr vert="horz" lIns="92297" tIns="46148" rIns="92297" bIns="46148" rtlCol="0" anchor="b"/>
          <a:lstStyle>
            <a:lvl1pPr algn="r">
              <a:defRPr sz="1200"/>
            </a:lvl1pPr>
          </a:lstStyle>
          <a:p>
            <a:pPr>
              <a:defRPr/>
            </a:pPr>
            <a:fld id="{CAA8545F-A231-4F50-B1F1-95F56EBB643D}" type="slidenum">
              <a:rPr lang="en-US"/>
              <a:pPr>
                <a:defRPr/>
              </a:pPr>
              <a:t>‹#›</a:t>
            </a:fld>
            <a:endParaRPr lang="en-US" dirty="0"/>
          </a:p>
        </p:txBody>
      </p:sp>
    </p:spTree>
    <p:extLst>
      <p:ext uri="{BB962C8B-B14F-4D97-AF65-F5344CB8AC3E}">
        <p14:creationId xmlns:p14="http://schemas.microsoft.com/office/powerpoint/2010/main" val="315464050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1</a:t>
            </a:fld>
            <a:endParaRPr lang="en-US" dirty="0"/>
          </a:p>
        </p:txBody>
      </p:sp>
    </p:spTree>
    <p:extLst>
      <p:ext uri="{BB962C8B-B14F-4D97-AF65-F5344CB8AC3E}">
        <p14:creationId xmlns:p14="http://schemas.microsoft.com/office/powerpoint/2010/main" val="40835262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2</a:t>
            </a:fld>
            <a:endParaRPr lang="en-US" dirty="0"/>
          </a:p>
        </p:txBody>
      </p:sp>
    </p:spTree>
    <p:extLst>
      <p:ext uri="{BB962C8B-B14F-4D97-AF65-F5344CB8AC3E}">
        <p14:creationId xmlns:p14="http://schemas.microsoft.com/office/powerpoint/2010/main" val="32999446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3</a:t>
            </a:fld>
            <a:endParaRPr lang="en-US" dirty="0"/>
          </a:p>
        </p:txBody>
      </p:sp>
    </p:spTree>
    <p:extLst>
      <p:ext uri="{BB962C8B-B14F-4D97-AF65-F5344CB8AC3E}">
        <p14:creationId xmlns:p14="http://schemas.microsoft.com/office/powerpoint/2010/main" val="21798321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4</a:t>
            </a:fld>
            <a:endParaRPr lang="en-US" dirty="0"/>
          </a:p>
        </p:txBody>
      </p:sp>
    </p:spTree>
    <p:extLst>
      <p:ext uri="{BB962C8B-B14F-4D97-AF65-F5344CB8AC3E}">
        <p14:creationId xmlns:p14="http://schemas.microsoft.com/office/powerpoint/2010/main" val="30584610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5</a:t>
            </a:fld>
            <a:endParaRPr lang="en-US" dirty="0"/>
          </a:p>
        </p:txBody>
      </p:sp>
    </p:spTree>
    <p:extLst>
      <p:ext uri="{BB962C8B-B14F-4D97-AF65-F5344CB8AC3E}">
        <p14:creationId xmlns:p14="http://schemas.microsoft.com/office/powerpoint/2010/main" val="362503449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6</a:t>
            </a:fld>
            <a:endParaRPr lang="en-US" dirty="0"/>
          </a:p>
        </p:txBody>
      </p:sp>
    </p:spTree>
    <p:extLst>
      <p:ext uri="{BB962C8B-B14F-4D97-AF65-F5344CB8AC3E}">
        <p14:creationId xmlns:p14="http://schemas.microsoft.com/office/powerpoint/2010/main" val="4528616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7</a:t>
            </a:fld>
            <a:endParaRPr lang="en-US" dirty="0"/>
          </a:p>
        </p:txBody>
      </p:sp>
    </p:spTree>
    <p:extLst>
      <p:ext uri="{BB962C8B-B14F-4D97-AF65-F5344CB8AC3E}">
        <p14:creationId xmlns:p14="http://schemas.microsoft.com/office/powerpoint/2010/main" val="27726461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8</a:t>
            </a:fld>
            <a:endParaRPr lang="en-US" dirty="0"/>
          </a:p>
        </p:txBody>
      </p:sp>
    </p:spTree>
    <p:extLst>
      <p:ext uri="{BB962C8B-B14F-4D97-AF65-F5344CB8AC3E}">
        <p14:creationId xmlns:p14="http://schemas.microsoft.com/office/powerpoint/2010/main" val="8595348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9</a:t>
            </a:fld>
            <a:endParaRPr lang="en-US" dirty="0"/>
          </a:p>
        </p:txBody>
      </p:sp>
    </p:spTree>
    <p:extLst>
      <p:ext uri="{BB962C8B-B14F-4D97-AF65-F5344CB8AC3E}">
        <p14:creationId xmlns:p14="http://schemas.microsoft.com/office/powerpoint/2010/main" val="25539608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10</a:t>
            </a:fld>
            <a:endParaRPr lang="en-US" dirty="0"/>
          </a:p>
        </p:txBody>
      </p:sp>
    </p:spTree>
    <p:extLst>
      <p:ext uri="{BB962C8B-B14F-4D97-AF65-F5344CB8AC3E}">
        <p14:creationId xmlns:p14="http://schemas.microsoft.com/office/powerpoint/2010/main" val="393561759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11</a:t>
            </a:fld>
            <a:endParaRPr lang="en-US" dirty="0"/>
          </a:p>
        </p:txBody>
      </p:sp>
    </p:spTree>
    <p:extLst>
      <p:ext uri="{BB962C8B-B14F-4D97-AF65-F5344CB8AC3E}">
        <p14:creationId xmlns:p14="http://schemas.microsoft.com/office/powerpoint/2010/main" val="356388894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12</a:t>
            </a:fld>
            <a:endParaRPr lang="en-US" dirty="0"/>
          </a:p>
        </p:txBody>
      </p:sp>
    </p:spTree>
    <p:extLst>
      <p:ext uri="{BB962C8B-B14F-4D97-AF65-F5344CB8AC3E}">
        <p14:creationId xmlns:p14="http://schemas.microsoft.com/office/powerpoint/2010/main" val="342642028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13</a:t>
            </a:fld>
            <a:endParaRPr lang="en-US" dirty="0"/>
          </a:p>
        </p:txBody>
      </p:sp>
    </p:spTree>
    <p:extLst>
      <p:ext uri="{BB962C8B-B14F-4D97-AF65-F5344CB8AC3E}">
        <p14:creationId xmlns:p14="http://schemas.microsoft.com/office/powerpoint/2010/main" val="292399287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14</a:t>
            </a:fld>
            <a:endParaRPr lang="en-US" dirty="0"/>
          </a:p>
        </p:txBody>
      </p:sp>
    </p:spTree>
    <p:extLst>
      <p:ext uri="{BB962C8B-B14F-4D97-AF65-F5344CB8AC3E}">
        <p14:creationId xmlns:p14="http://schemas.microsoft.com/office/powerpoint/2010/main" val="317642573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15</a:t>
            </a:fld>
            <a:endParaRPr lang="en-US" dirty="0"/>
          </a:p>
        </p:txBody>
      </p:sp>
    </p:spTree>
    <p:extLst>
      <p:ext uri="{BB962C8B-B14F-4D97-AF65-F5344CB8AC3E}">
        <p14:creationId xmlns:p14="http://schemas.microsoft.com/office/powerpoint/2010/main" val="349963538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16</a:t>
            </a:fld>
            <a:endParaRPr lang="en-US" dirty="0"/>
          </a:p>
        </p:txBody>
      </p:sp>
    </p:spTree>
    <p:extLst>
      <p:ext uri="{BB962C8B-B14F-4D97-AF65-F5344CB8AC3E}">
        <p14:creationId xmlns:p14="http://schemas.microsoft.com/office/powerpoint/2010/main" val="17791546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17</a:t>
            </a:fld>
            <a:endParaRPr lang="en-US" dirty="0"/>
          </a:p>
        </p:txBody>
      </p:sp>
    </p:spTree>
    <p:extLst>
      <p:ext uri="{BB962C8B-B14F-4D97-AF65-F5344CB8AC3E}">
        <p14:creationId xmlns:p14="http://schemas.microsoft.com/office/powerpoint/2010/main" val="7222921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18</a:t>
            </a:fld>
            <a:endParaRPr lang="en-US" dirty="0"/>
          </a:p>
        </p:txBody>
      </p:sp>
    </p:spTree>
    <p:extLst>
      <p:ext uri="{BB962C8B-B14F-4D97-AF65-F5344CB8AC3E}">
        <p14:creationId xmlns:p14="http://schemas.microsoft.com/office/powerpoint/2010/main" val="339329997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19</a:t>
            </a:fld>
            <a:endParaRPr lang="en-US" dirty="0"/>
          </a:p>
        </p:txBody>
      </p:sp>
    </p:spTree>
    <p:extLst>
      <p:ext uri="{BB962C8B-B14F-4D97-AF65-F5344CB8AC3E}">
        <p14:creationId xmlns:p14="http://schemas.microsoft.com/office/powerpoint/2010/main" val="45526383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20</a:t>
            </a:fld>
            <a:endParaRPr lang="en-US" dirty="0"/>
          </a:p>
        </p:txBody>
      </p:sp>
    </p:spTree>
    <p:extLst>
      <p:ext uri="{BB962C8B-B14F-4D97-AF65-F5344CB8AC3E}">
        <p14:creationId xmlns:p14="http://schemas.microsoft.com/office/powerpoint/2010/main" val="224218898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21</a:t>
            </a:fld>
            <a:endParaRPr lang="en-US" dirty="0"/>
          </a:p>
        </p:txBody>
      </p:sp>
    </p:spTree>
    <p:extLst>
      <p:ext uri="{BB962C8B-B14F-4D97-AF65-F5344CB8AC3E}">
        <p14:creationId xmlns:p14="http://schemas.microsoft.com/office/powerpoint/2010/main" val="115551460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22</a:t>
            </a:fld>
            <a:endParaRPr lang="en-US" dirty="0"/>
          </a:p>
        </p:txBody>
      </p:sp>
    </p:spTree>
    <p:extLst>
      <p:ext uri="{BB962C8B-B14F-4D97-AF65-F5344CB8AC3E}">
        <p14:creationId xmlns:p14="http://schemas.microsoft.com/office/powerpoint/2010/main" val="265909114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23</a:t>
            </a:fld>
            <a:endParaRPr lang="en-US" dirty="0"/>
          </a:p>
        </p:txBody>
      </p:sp>
    </p:spTree>
    <p:extLst>
      <p:ext uri="{BB962C8B-B14F-4D97-AF65-F5344CB8AC3E}">
        <p14:creationId xmlns:p14="http://schemas.microsoft.com/office/powerpoint/2010/main" val="335636754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24</a:t>
            </a:fld>
            <a:endParaRPr lang="en-US" dirty="0"/>
          </a:p>
        </p:txBody>
      </p:sp>
    </p:spTree>
    <p:extLst>
      <p:ext uri="{BB962C8B-B14F-4D97-AF65-F5344CB8AC3E}">
        <p14:creationId xmlns:p14="http://schemas.microsoft.com/office/powerpoint/2010/main" val="355033746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25</a:t>
            </a:fld>
            <a:endParaRPr lang="en-US" dirty="0"/>
          </a:p>
        </p:txBody>
      </p:sp>
    </p:spTree>
    <p:extLst>
      <p:ext uri="{BB962C8B-B14F-4D97-AF65-F5344CB8AC3E}">
        <p14:creationId xmlns:p14="http://schemas.microsoft.com/office/powerpoint/2010/main" val="312596239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26</a:t>
            </a:fld>
            <a:endParaRPr lang="en-US" dirty="0"/>
          </a:p>
        </p:txBody>
      </p:sp>
    </p:spTree>
    <p:extLst>
      <p:ext uri="{BB962C8B-B14F-4D97-AF65-F5344CB8AC3E}">
        <p14:creationId xmlns:p14="http://schemas.microsoft.com/office/powerpoint/2010/main" val="361480568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27</a:t>
            </a:fld>
            <a:endParaRPr lang="en-US" dirty="0"/>
          </a:p>
        </p:txBody>
      </p:sp>
    </p:spTree>
    <p:extLst>
      <p:ext uri="{BB962C8B-B14F-4D97-AF65-F5344CB8AC3E}">
        <p14:creationId xmlns:p14="http://schemas.microsoft.com/office/powerpoint/2010/main" val="103738870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28</a:t>
            </a:fld>
            <a:endParaRPr lang="en-US" dirty="0"/>
          </a:p>
        </p:txBody>
      </p:sp>
    </p:spTree>
    <p:extLst>
      <p:ext uri="{BB962C8B-B14F-4D97-AF65-F5344CB8AC3E}">
        <p14:creationId xmlns:p14="http://schemas.microsoft.com/office/powerpoint/2010/main" val="92208125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29</a:t>
            </a:fld>
            <a:endParaRPr lang="en-US" dirty="0"/>
          </a:p>
        </p:txBody>
      </p:sp>
    </p:spTree>
    <p:extLst>
      <p:ext uri="{BB962C8B-B14F-4D97-AF65-F5344CB8AC3E}">
        <p14:creationId xmlns:p14="http://schemas.microsoft.com/office/powerpoint/2010/main" val="50791625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30</a:t>
            </a:fld>
            <a:endParaRPr lang="en-US" dirty="0"/>
          </a:p>
        </p:txBody>
      </p:sp>
    </p:spTree>
    <p:extLst>
      <p:ext uri="{BB962C8B-B14F-4D97-AF65-F5344CB8AC3E}">
        <p14:creationId xmlns:p14="http://schemas.microsoft.com/office/powerpoint/2010/main" val="28757538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31</a:t>
            </a:fld>
            <a:endParaRPr lang="en-US" dirty="0"/>
          </a:p>
        </p:txBody>
      </p:sp>
    </p:spTree>
    <p:extLst>
      <p:ext uri="{BB962C8B-B14F-4D97-AF65-F5344CB8AC3E}">
        <p14:creationId xmlns:p14="http://schemas.microsoft.com/office/powerpoint/2010/main" val="175363248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32</a:t>
            </a:fld>
            <a:endParaRPr lang="en-US" dirty="0"/>
          </a:p>
        </p:txBody>
      </p:sp>
    </p:spTree>
    <p:extLst>
      <p:ext uri="{BB962C8B-B14F-4D97-AF65-F5344CB8AC3E}">
        <p14:creationId xmlns:p14="http://schemas.microsoft.com/office/powerpoint/2010/main" val="205583278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33</a:t>
            </a:fld>
            <a:endParaRPr lang="en-US" dirty="0"/>
          </a:p>
        </p:txBody>
      </p:sp>
    </p:spTree>
    <p:extLst>
      <p:ext uri="{BB962C8B-B14F-4D97-AF65-F5344CB8AC3E}">
        <p14:creationId xmlns:p14="http://schemas.microsoft.com/office/powerpoint/2010/main" val="175185537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34</a:t>
            </a:fld>
            <a:endParaRPr lang="en-US" dirty="0"/>
          </a:p>
        </p:txBody>
      </p:sp>
    </p:spTree>
    <p:extLst>
      <p:ext uri="{BB962C8B-B14F-4D97-AF65-F5344CB8AC3E}">
        <p14:creationId xmlns:p14="http://schemas.microsoft.com/office/powerpoint/2010/main" val="387136676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35</a:t>
            </a:fld>
            <a:endParaRPr lang="en-US" dirty="0"/>
          </a:p>
        </p:txBody>
      </p:sp>
    </p:spTree>
    <p:extLst>
      <p:ext uri="{BB962C8B-B14F-4D97-AF65-F5344CB8AC3E}">
        <p14:creationId xmlns:p14="http://schemas.microsoft.com/office/powerpoint/2010/main" val="151057721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36</a:t>
            </a:fld>
            <a:endParaRPr lang="en-US" dirty="0"/>
          </a:p>
        </p:txBody>
      </p:sp>
    </p:spTree>
    <p:extLst>
      <p:ext uri="{BB962C8B-B14F-4D97-AF65-F5344CB8AC3E}">
        <p14:creationId xmlns:p14="http://schemas.microsoft.com/office/powerpoint/2010/main" val="111370135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37</a:t>
            </a:fld>
            <a:endParaRPr lang="en-US" dirty="0"/>
          </a:p>
        </p:txBody>
      </p:sp>
    </p:spTree>
    <p:extLst>
      <p:ext uri="{BB962C8B-B14F-4D97-AF65-F5344CB8AC3E}">
        <p14:creationId xmlns:p14="http://schemas.microsoft.com/office/powerpoint/2010/main" val="216994102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38</a:t>
            </a:fld>
            <a:endParaRPr lang="en-US" dirty="0"/>
          </a:p>
        </p:txBody>
      </p:sp>
    </p:spTree>
    <p:extLst>
      <p:ext uri="{BB962C8B-B14F-4D97-AF65-F5344CB8AC3E}">
        <p14:creationId xmlns:p14="http://schemas.microsoft.com/office/powerpoint/2010/main" val="98884263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39</a:t>
            </a:fld>
            <a:endParaRPr lang="en-US" dirty="0"/>
          </a:p>
        </p:txBody>
      </p:sp>
    </p:spTree>
    <p:extLst>
      <p:ext uri="{BB962C8B-B14F-4D97-AF65-F5344CB8AC3E}">
        <p14:creationId xmlns:p14="http://schemas.microsoft.com/office/powerpoint/2010/main" val="152134045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40</a:t>
            </a:fld>
            <a:endParaRPr lang="en-US" dirty="0"/>
          </a:p>
        </p:txBody>
      </p:sp>
    </p:spTree>
    <p:extLst>
      <p:ext uri="{BB962C8B-B14F-4D97-AF65-F5344CB8AC3E}">
        <p14:creationId xmlns:p14="http://schemas.microsoft.com/office/powerpoint/2010/main" val="106362903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41</a:t>
            </a:fld>
            <a:endParaRPr lang="en-US" dirty="0"/>
          </a:p>
        </p:txBody>
      </p:sp>
    </p:spTree>
    <p:extLst>
      <p:ext uri="{BB962C8B-B14F-4D97-AF65-F5344CB8AC3E}">
        <p14:creationId xmlns:p14="http://schemas.microsoft.com/office/powerpoint/2010/main" val="277119551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42</a:t>
            </a:fld>
            <a:endParaRPr lang="en-US" dirty="0"/>
          </a:p>
        </p:txBody>
      </p:sp>
    </p:spTree>
    <p:extLst>
      <p:ext uri="{BB962C8B-B14F-4D97-AF65-F5344CB8AC3E}">
        <p14:creationId xmlns:p14="http://schemas.microsoft.com/office/powerpoint/2010/main" val="385505080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43</a:t>
            </a:fld>
            <a:endParaRPr lang="en-US" dirty="0"/>
          </a:p>
        </p:txBody>
      </p:sp>
    </p:spTree>
    <p:extLst>
      <p:ext uri="{BB962C8B-B14F-4D97-AF65-F5344CB8AC3E}">
        <p14:creationId xmlns:p14="http://schemas.microsoft.com/office/powerpoint/2010/main" val="135550509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44</a:t>
            </a:fld>
            <a:endParaRPr lang="en-US" dirty="0"/>
          </a:p>
        </p:txBody>
      </p:sp>
    </p:spTree>
    <p:extLst>
      <p:ext uri="{BB962C8B-B14F-4D97-AF65-F5344CB8AC3E}">
        <p14:creationId xmlns:p14="http://schemas.microsoft.com/office/powerpoint/2010/main" val="147569684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45</a:t>
            </a:fld>
            <a:endParaRPr lang="en-US" dirty="0"/>
          </a:p>
        </p:txBody>
      </p:sp>
    </p:spTree>
    <p:extLst>
      <p:ext uri="{BB962C8B-B14F-4D97-AF65-F5344CB8AC3E}">
        <p14:creationId xmlns:p14="http://schemas.microsoft.com/office/powerpoint/2010/main" val="119302294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46</a:t>
            </a:fld>
            <a:endParaRPr lang="en-US" dirty="0"/>
          </a:p>
        </p:txBody>
      </p:sp>
    </p:spTree>
    <p:extLst>
      <p:ext uri="{BB962C8B-B14F-4D97-AF65-F5344CB8AC3E}">
        <p14:creationId xmlns:p14="http://schemas.microsoft.com/office/powerpoint/2010/main" val="344784902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47</a:t>
            </a:fld>
            <a:endParaRPr lang="en-US" dirty="0"/>
          </a:p>
        </p:txBody>
      </p:sp>
    </p:spTree>
    <p:extLst>
      <p:ext uri="{BB962C8B-B14F-4D97-AF65-F5344CB8AC3E}">
        <p14:creationId xmlns:p14="http://schemas.microsoft.com/office/powerpoint/2010/main" val="328425995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48</a:t>
            </a:fld>
            <a:endParaRPr lang="en-US" dirty="0"/>
          </a:p>
        </p:txBody>
      </p:sp>
    </p:spTree>
    <p:extLst>
      <p:ext uri="{BB962C8B-B14F-4D97-AF65-F5344CB8AC3E}">
        <p14:creationId xmlns:p14="http://schemas.microsoft.com/office/powerpoint/2010/main" val="228221132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49</a:t>
            </a:fld>
            <a:endParaRPr lang="en-US" dirty="0"/>
          </a:p>
        </p:txBody>
      </p:sp>
    </p:spTree>
    <p:extLst>
      <p:ext uri="{BB962C8B-B14F-4D97-AF65-F5344CB8AC3E}">
        <p14:creationId xmlns:p14="http://schemas.microsoft.com/office/powerpoint/2010/main" val="2514301259"/>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50</a:t>
            </a:fld>
            <a:endParaRPr lang="en-US" dirty="0"/>
          </a:p>
        </p:txBody>
      </p:sp>
    </p:spTree>
    <p:extLst>
      <p:ext uri="{BB962C8B-B14F-4D97-AF65-F5344CB8AC3E}">
        <p14:creationId xmlns:p14="http://schemas.microsoft.com/office/powerpoint/2010/main" val="47686647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51</a:t>
            </a:fld>
            <a:endParaRPr lang="en-US" dirty="0"/>
          </a:p>
        </p:txBody>
      </p:sp>
    </p:spTree>
    <p:extLst>
      <p:ext uri="{BB962C8B-B14F-4D97-AF65-F5344CB8AC3E}">
        <p14:creationId xmlns:p14="http://schemas.microsoft.com/office/powerpoint/2010/main" val="2237659529"/>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52</a:t>
            </a:fld>
            <a:endParaRPr lang="en-US" dirty="0"/>
          </a:p>
        </p:txBody>
      </p:sp>
    </p:spTree>
    <p:extLst>
      <p:ext uri="{BB962C8B-B14F-4D97-AF65-F5344CB8AC3E}">
        <p14:creationId xmlns:p14="http://schemas.microsoft.com/office/powerpoint/2010/main" val="2894150185"/>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53</a:t>
            </a:fld>
            <a:endParaRPr lang="en-US" dirty="0"/>
          </a:p>
        </p:txBody>
      </p:sp>
    </p:spTree>
    <p:extLst>
      <p:ext uri="{BB962C8B-B14F-4D97-AF65-F5344CB8AC3E}">
        <p14:creationId xmlns:p14="http://schemas.microsoft.com/office/powerpoint/2010/main" val="1436062760"/>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54</a:t>
            </a:fld>
            <a:endParaRPr lang="en-US" dirty="0"/>
          </a:p>
        </p:txBody>
      </p:sp>
    </p:spTree>
    <p:extLst>
      <p:ext uri="{BB962C8B-B14F-4D97-AF65-F5344CB8AC3E}">
        <p14:creationId xmlns:p14="http://schemas.microsoft.com/office/powerpoint/2010/main" val="113447203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55</a:t>
            </a:fld>
            <a:endParaRPr lang="en-US" dirty="0"/>
          </a:p>
        </p:txBody>
      </p:sp>
    </p:spTree>
    <p:extLst>
      <p:ext uri="{BB962C8B-B14F-4D97-AF65-F5344CB8AC3E}">
        <p14:creationId xmlns:p14="http://schemas.microsoft.com/office/powerpoint/2010/main" val="6770046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56</a:t>
            </a:fld>
            <a:endParaRPr lang="en-US" dirty="0"/>
          </a:p>
        </p:txBody>
      </p:sp>
    </p:spTree>
    <p:extLst>
      <p:ext uri="{BB962C8B-B14F-4D97-AF65-F5344CB8AC3E}">
        <p14:creationId xmlns:p14="http://schemas.microsoft.com/office/powerpoint/2010/main" val="321628405"/>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57</a:t>
            </a:fld>
            <a:endParaRPr lang="en-US" dirty="0"/>
          </a:p>
        </p:txBody>
      </p:sp>
    </p:spTree>
    <p:extLst>
      <p:ext uri="{BB962C8B-B14F-4D97-AF65-F5344CB8AC3E}">
        <p14:creationId xmlns:p14="http://schemas.microsoft.com/office/powerpoint/2010/main" val="3931166978"/>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58</a:t>
            </a:fld>
            <a:endParaRPr lang="en-US" dirty="0"/>
          </a:p>
        </p:txBody>
      </p:sp>
    </p:spTree>
    <p:extLst>
      <p:ext uri="{BB962C8B-B14F-4D97-AF65-F5344CB8AC3E}">
        <p14:creationId xmlns:p14="http://schemas.microsoft.com/office/powerpoint/2010/main" val="3519638862"/>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59</a:t>
            </a:fld>
            <a:endParaRPr lang="en-US" dirty="0"/>
          </a:p>
        </p:txBody>
      </p:sp>
    </p:spTree>
    <p:extLst>
      <p:ext uri="{BB962C8B-B14F-4D97-AF65-F5344CB8AC3E}">
        <p14:creationId xmlns:p14="http://schemas.microsoft.com/office/powerpoint/2010/main" val="350746218"/>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60</a:t>
            </a:fld>
            <a:endParaRPr lang="en-US" dirty="0"/>
          </a:p>
        </p:txBody>
      </p:sp>
    </p:spTree>
    <p:extLst>
      <p:ext uri="{BB962C8B-B14F-4D97-AF65-F5344CB8AC3E}">
        <p14:creationId xmlns:p14="http://schemas.microsoft.com/office/powerpoint/2010/main" val="2007094715"/>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61</a:t>
            </a:fld>
            <a:endParaRPr lang="en-US" dirty="0"/>
          </a:p>
        </p:txBody>
      </p:sp>
    </p:spTree>
    <p:extLst>
      <p:ext uri="{BB962C8B-B14F-4D97-AF65-F5344CB8AC3E}">
        <p14:creationId xmlns:p14="http://schemas.microsoft.com/office/powerpoint/2010/main" val="835625804"/>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62</a:t>
            </a:fld>
            <a:endParaRPr lang="en-US" dirty="0"/>
          </a:p>
        </p:txBody>
      </p:sp>
    </p:spTree>
    <p:extLst>
      <p:ext uri="{BB962C8B-B14F-4D97-AF65-F5344CB8AC3E}">
        <p14:creationId xmlns:p14="http://schemas.microsoft.com/office/powerpoint/2010/main" val="2302620083"/>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63</a:t>
            </a:fld>
            <a:endParaRPr lang="en-US" dirty="0"/>
          </a:p>
        </p:txBody>
      </p:sp>
    </p:spTree>
    <p:extLst>
      <p:ext uri="{BB962C8B-B14F-4D97-AF65-F5344CB8AC3E}">
        <p14:creationId xmlns:p14="http://schemas.microsoft.com/office/powerpoint/2010/main" val="2976098089"/>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7.jpe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jpeg"/><Relationship Id="rId4" Type="http://schemas.openxmlformats.org/officeDocument/2006/relationships/image" Target="../media/image3.png"/><Relationship Id="rId9" Type="http://schemas.openxmlformats.org/officeDocument/2006/relationships/image" Target="../media/image8.png"/></Relationships>
</file>

<file path=ppt/slideLayouts/_rels/slideLayout2.xml.rels><?xml version="1.0" encoding="UTF-8" standalone="yes"?>
<Relationships xmlns="http://schemas.openxmlformats.org/package/2006/relationships"><Relationship Id="rId8" Type="http://schemas.openxmlformats.org/officeDocument/2006/relationships/image" Target="../media/image14.jpe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12.jpeg"/><Relationship Id="rId5" Type="http://schemas.openxmlformats.org/officeDocument/2006/relationships/image" Target="../media/image11.png"/><Relationship Id="rId4" Type="http://schemas.openxmlformats.org/officeDocument/2006/relationships/image" Target="../media/image10.png"/><Relationship Id="rId9" Type="http://schemas.openxmlformats.org/officeDocument/2006/relationships/image" Target="../media/image8.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png"/><Relationship Id="rId1" Type="http://schemas.openxmlformats.org/officeDocument/2006/relationships/slideMaster" Target="../slideMasters/slideMaster1.xml"/><Relationship Id="rId5" Type="http://schemas.openxmlformats.org/officeDocument/2006/relationships/image" Target="../media/image8.png"/><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png"/><Relationship Id="rId1" Type="http://schemas.openxmlformats.org/officeDocument/2006/relationships/slideMaster" Target="../slideMasters/slideMaster1.xml"/><Relationship Id="rId5" Type="http://schemas.openxmlformats.org/officeDocument/2006/relationships/image" Target="../media/image8.png"/><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98500" y="2712698"/>
            <a:ext cx="7747000" cy="377026"/>
          </a:xfrm>
        </p:spPr>
        <p:txBody>
          <a:bodyPr anchor="b"/>
          <a:lstStyle>
            <a:lvl1pPr algn="ctr">
              <a:defRPr sz="2800">
                <a:solidFill>
                  <a:schemeClr val="accent2"/>
                </a:solidFill>
              </a:defRPr>
            </a:lvl1pPr>
          </a:lstStyle>
          <a:p>
            <a:r>
              <a:rPr lang="en-US" dirty="0"/>
              <a:t>Click to edit Master title style</a:t>
            </a:r>
          </a:p>
        </p:txBody>
      </p:sp>
      <p:sp>
        <p:nvSpPr>
          <p:cNvPr id="3" name="Subtitle 2"/>
          <p:cNvSpPr>
            <a:spLocks noGrp="1"/>
          </p:cNvSpPr>
          <p:nvPr>
            <p:ph type="subTitle" idx="1"/>
          </p:nvPr>
        </p:nvSpPr>
        <p:spPr>
          <a:xfrm>
            <a:off x="698500" y="3352800"/>
            <a:ext cx="7747000" cy="235962"/>
          </a:xfrm>
        </p:spPr>
        <p:txBody>
          <a:bodyPr/>
          <a:lstStyle>
            <a:lvl1pPr marL="0" indent="0" algn="ctr">
              <a:buNone/>
              <a:defRPr sz="16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6" name="Footer Placeholder 5"/>
          <p:cNvSpPr>
            <a:spLocks noGrp="1"/>
          </p:cNvSpPr>
          <p:nvPr>
            <p:ph type="ftr" sz="quarter" idx="10"/>
          </p:nvPr>
        </p:nvSpPr>
        <p:spPr>
          <a:xfrm>
            <a:off x="1204120" y="6363869"/>
            <a:ext cx="6201666" cy="366183"/>
          </a:xfrm>
        </p:spPr>
        <p:txBody>
          <a:bodyPr/>
          <a:lstStyle>
            <a:lvl1pPr>
              <a:defRPr sz="600"/>
            </a:lvl1pPr>
          </a:lstStyle>
          <a:p>
            <a:r>
              <a:rPr lang="en-US" dirty="0"/>
              <a:t>© 2018 Cengage. May not be copied, scanned, or duplicated, in whole or in part, except for use as permitted in a license distributed with a certain product or service or otherwise on a password-protected website for classroom use.</a:t>
            </a:r>
          </a:p>
        </p:txBody>
      </p:sp>
      <p:pic>
        <p:nvPicPr>
          <p:cNvPr id="11" name="Picture 10" descr="Title_Slide.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78134" y="254000"/>
            <a:ext cx="8713465" cy="6526752"/>
          </a:xfrm>
          <a:prstGeom prst="rect">
            <a:avLst/>
          </a:prstGeom>
        </p:spPr>
      </p:pic>
      <p:sp>
        <p:nvSpPr>
          <p:cNvPr id="4" name="Rectangle 3"/>
          <p:cNvSpPr/>
          <p:nvPr userDrawn="1"/>
        </p:nvSpPr>
        <p:spPr>
          <a:xfrm>
            <a:off x="3482340" y="223520"/>
            <a:ext cx="2125980" cy="9855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Rules_Single_A.png"/>
          <p:cNvPicPr>
            <a:picLocks noChangeAspect="1"/>
          </p:cNvPicPr>
          <p:nvPr userDrawn="1"/>
        </p:nvPicPr>
        <p:blipFill rotWithShape="1">
          <a:blip r:embed="rId3" cstate="print">
            <a:extLst>
              <a:ext uri="{28A0092B-C50C-407E-A947-70E740481C1C}">
                <a14:useLocalDpi xmlns:a14="http://schemas.microsoft.com/office/drawing/2010/main" val="0"/>
              </a:ext>
            </a:extLst>
          </a:blip>
          <a:srcRect l="25529" r="-57141"/>
          <a:stretch/>
        </p:blipFill>
        <p:spPr>
          <a:xfrm>
            <a:off x="1627124" y="481304"/>
            <a:ext cx="10034016" cy="99113"/>
          </a:xfrm>
          <a:prstGeom prst="rect">
            <a:avLst/>
          </a:prstGeom>
        </p:spPr>
      </p:pic>
      <p:sp>
        <p:nvSpPr>
          <p:cNvPr id="5" name="Rectangle 4"/>
          <p:cNvSpPr/>
          <p:nvPr userDrawn="1"/>
        </p:nvSpPr>
        <p:spPr>
          <a:xfrm>
            <a:off x="6812283" y="4885106"/>
            <a:ext cx="2080291" cy="1926127"/>
          </a:xfrm>
          <a:custGeom>
            <a:avLst/>
            <a:gdLst>
              <a:gd name="connsiteX0" fmla="*/ 0 w 1973580"/>
              <a:gd name="connsiteY0" fmla="*/ 0 h 1389864"/>
              <a:gd name="connsiteX1" fmla="*/ 1973580 w 1973580"/>
              <a:gd name="connsiteY1" fmla="*/ 0 h 1389864"/>
              <a:gd name="connsiteX2" fmla="*/ 1973580 w 1973580"/>
              <a:gd name="connsiteY2" fmla="*/ 1389864 h 1389864"/>
              <a:gd name="connsiteX3" fmla="*/ 0 w 1973580"/>
              <a:gd name="connsiteY3" fmla="*/ 1389864 h 1389864"/>
              <a:gd name="connsiteX4" fmla="*/ 0 w 1973580"/>
              <a:gd name="connsiteY4" fmla="*/ 0 h 1389864"/>
              <a:gd name="connsiteX0" fmla="*/ 0 w 1973580"/>
              <a:gd name="connsiteY0" fmla="*/ 0 h 1389864"/>
              <a:gd name="connsiteX1" fmla="*/ 1935480 w 1973580"/>
              <a:gd name="connsiteY1" fmla="*/ 60960 h 1389864"/>
              <a:gd name="connsiteX2" fmla="*/ 1973580 w 1973580"/>
              <a:gd name="connsiteY2" fmla="*/ 1389864 h 1389864"/>
              <a:gd name="connsiteX3" fmla="*/ 0 w 1973580"/>
              <a:gd name="connsiteY3" fmla="*/ 1389864 h 1389864"/>
              <a:gd name="connsiteX4" fmla="*/ 0 w 1973580"/>
              <a:gd name="connsiteY4" fmla="*/ 0 h 1389864"/>
              <a:gd name="connsiteX0" fmla="*/ 0 w 1973580"/>
              <a:gd name="connsiteY0" fmla="*/ 54731 h 1444595"/>
              <a:gd name="connsiteX1" fmla="*/ 1577340 w 1973580"/>
              <a:gd name="connsiteY1" fmla="*/ 1391 h 1444595"/>
              <a:gd name="connsiteX2" fmla="*/ 1935480 w 1973580"/>
              <a:gd name="connsiteY2" fmla="*/ 115691 h 1444595"/>
              <a:gd name="connsiteX3" fmla="*/ 1973580 w 1973580"/>
              <a:gd name="connsiteY3" fmla="*/ 1444595 h 1444595"/>
              <a:gd name="connsiteX4" fmla="*/ 0 w 1973580"/>
              <a:gd name="connsiteY4" fmla="*/ 1444595 h 1444595"/>
              <a:gd name="connsiteX5" fmla="*/ 0 w 1973580"/>
              <a:gd name="connsiteY5" fmla="*/ 54731 h 1444595"/>
              <a:gd name="connsiteX0" fmla="*/ 0 w 2080291"/>
              <a:gd name="connsiteY0" fmla="*/ 54731 h 1444595"/>
              <a:gd name="connsiteX1" fmla="*/ 1577340 w 2080291"/>
              <a:gd name="connsiteY1" fmla="*/ 1391 h 1444595"/>
              <a:gd name="connsiteX2" fmla="*/ 1935480 w 2080291"/>
              <a:gd name="connsiteY2" fmla="*/ 115691 h 1444595"/>
              <a:gd name="connsiteX3" fmla="*/ 2080260 w 2080291"/>
              <a:gd name="connsiteY3" fmla="*/ 428112 h 1444595"/>
              <a:gd name="connsiteX4" fmla="*/ 1973580 w 2080291"/>
              <a:gd name="connsiteY4" fmla="*/ 1444595 h 1444595"/>
              <a:gd name="connsiteX5" fmla="*/ 0 w 2080291"/>
              <a:gd name="connsiteY5" fmla="*/ 1444595 h 1444595"/>
              <a:gd name="connsiteX6" fmla="*/ 0 w 2080291"/>
              <a:gd name="connsiteY6" fmla="*/ 54731 h 1444595"/>
              <a:gd name="connsiteX0" fmla="*/ 0 w 2080291"/>
              <a:gd name="connsiteY0" fmla="*/ 54731 h 1444595"/>
              <a:gd name="connsiteX1" fmla="*/ 1577340 w 2080291"/>
              <a:gd name="connsiteY1" fmla="*/ 1391 h 1444595"/>
              <a:gd name="connsiteX2" fmla="*/ 1935480 w 2080291"/>
              <a:gd name="connsiteY2" fmla="*/ 115691 h 1444595"/>
              <a:gd name="connsiteX3" fmla="*/ 2080260 w 2080291"/>
              <a:gd name="connsiteY3" fmla="*/ 428112 h 1444595"/>
              <a:gd name="connsiteX4" fmla="*/ 1973580 w 2080291"/>
              <a:gd name="connsiteY4" fmla="*/ 1444595 h 1444595"/>
              <a:gd name="connsiteX5" fmla="*/ 0 w 2080291"/>
              <a:gd name="connsiteY5" fmla="*/ 1444595 h 1444595"/>
              <a:gd name="connsiteX6" fmla="*/ 60960 w 2080291"/>
              <a:gd name="connsiteY6" fmla="*/ 1030092 h 1444595"/>
              <a:gd name="connsiteX7" fmla="*/ 0 w 2080291"/>
              <a:gd name="connsiteY7" fmla="*/ 54731 h 1444595"/>
              <a:gd name="connsiteX0" fmla="*/ 0 w 2080291"/>
              <a:gd name="connsiteY0" fmla="*/ 54731 h 1444595"/>
              <a:gd name="connsiteX1" fmla="*/ 1577340 w 2080291"/>
              <a:gd name="connsiteY1" fmla="*/ 1391 h 1444595"/>
              <a:gd name="connsiteX2" fmla="*/ 1935480 w 2080291"/>
              <a:gd name="connsiteY2" fmla="*/ 115691 h 1444595"/>
              <a:gd name="connsiteX3" fmla="*/ 2080260 w 2080291"/>
              <a:gd name="connsiteY3" fmla="*/ 428112 h 1444595"/>
              <a:gd name="connsiteX4" fmla="*/ 1973580 w 2080291"/>
              <a:gd name="connsiteY4" fmla="*/ 1444595 h 1444595"/>
              <a:gd name="connsiteX5" fmla="*/ 0 w 2080291"/>
              <a:gd name="connsiteY5" fmla="*/ 1444595 h 1444595"/>
              <a:gd name="connsiteX6" fmla="*/ 144780 w 2080291"/>
              <a:gd name="connsiteY6" fmla="*/ 999612 h 1444595"/>
              <a:gd name="connsiteX7" fmla="*/ 0 w 2080291"/>
              <a:gd name="connsiteY7" fmla="*/ 54731 h 1444595"/>
              <a:gd name="connsiteX0" fmla="*/ 0 w 2080291"/>
              <a:gd name="connsiteY0" fmla="*/ 54731 h 1444595"/>
              <a:gd name="connsiteX1" fmla="*/ 1577340 w 2080291"/>
              <a:gd name="connsiteY1" fmla="*/ 1391 h 1444595"/>
              <a:gd name="connsiteX2" fmla="*/ 1935480 w 2080291"/>
              <a:gd name="connsiteY2" fmla="*/ 115691 h 1444595"/>
              <a:gd name="connsiteX3" fmla="*/ 2080260 w 2080291"/>
              <a:gd name="connsiteY3" fmla="*/ 428112 h 1444595"/>
              <a:gd name="connsiteX4" fmla="*/ 1973580 w 2080291"/>
              <a:gd name="connsiteY4" fmla="*/ 1444595 h 1444595"/>
              <a:gd name="connsiteX5" fmla="*/ 0 w 2080291"/>
              <a:gd name="connsiteY5" fmla="*/ 1444595 h 1444595"/>
              <a:gd name="connsiteX6" fmla="*/ 144780 w 2080291"/>
              <a:gd name="connsiteY6" fmla="*/ 999612 h 1444595"/>
              <a:gd name="connsiteX7" fmla="*/ 0 w 2080291"/>
              <a:gd name="connsiteY7" fmla="*/ 54731 h 1444595"/>
              <a:gd name="connsiteX0" fmla="*/ 0 w 2080291"/>
              <a:gd name="connsiteY0" fmla="*/ 54731 h 1444595"/>
              <a:gd name="connsiteX1" fmla="*/ 1577340 w 2080291"/>
              <a:gd name="connsiteY1" fmla="*/ 1391 h 1444595"/>
              <a:gd name="connsiteX2" fmla="*/ 1935480 w 2080291"/>
              <a:gd name="connsiteY2" fmla="*/ 115691 h 1444595"/>
              <a:gd name="connsiteX3" fmla="*/ 2080260 w 2080291"/>
              <a:gd name="connsiteY3" fmla="*/ 428112 h 1444595"/>
              <a:gd name="connsiteX4" fmla="*/ 1973580 w 2080291"/>
              <a:gd name="connsiteY4" fmla="*/ 1444595 h 1444595"/>
              <a:gd name="connsiteX5" fmla="*/ 0 w 2080291"/>
              <a:gd name="connsiteY5" fmla="*/ 1444595 h 1444595"/>
              <a:gd name="connsiteX6" fmla="*/ 99060 w 2080291"/>
              <a:gd name="connsiteY6" fmla="*/ 991992 h 1444595"/>
              <a:gd name="connsiteX7" fmla="*/ 0 w 2080291"/>
              <a:gd name="connsiteY7" fmla="*/ 54731 h 1444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80291" h="1444595">
                <a:moveTo>
                  <a:pt x="0" y="54731"/>
                </a:moveTo>
                <a:cubicBezTo>
                  <a:pt x="520700" y="67431"/>
                  <a:pt x="1056640" y="-11309"/>
                  <a:pt x="1577340" y="1391"/>
                </a:cubicBezTo>
                <a:lnTo>
                  <a:pt x="1935480" y="115691"/>
                </a:lnTo>
                <a:cubicBezTo>
                  <a:pt x="1932940" y="209671"/>
                  <a:pt x="2082800" y="334132"/>
                  <a:pt x="2080260" y="428112"/>
                </a:cubicBezTo>
                <a:lnTo>
                  <a:pt x="1973580" y="1444595"/>
                </a:lnTo>
                <a:lnTo>
                  <a:pt x="0" y="1444595"/>
                </a:lnTo>
                <a:cubicBezTo>
                  <a:pt x="0" y="1319127"/>
                  <a:pt x="99060" y="1117460"/>
                  <a:pt x="99060" y="991992"/>
                </a:cubicBezTo>
                <a:lnTo>
                  <a:pt x="0" y="54731"/>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descr="Audio.png"/>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6865369" y="5389519"/>
            <a:ext cx="987056" cy="1040948"/>
          </a:xfrm>
          <a:prstGeom prst="rect">
            <a:avLst/>
          </a:prstGeom>
        </p:spPr>
      </p:pic>
      <p:pic>
        <p:nvPicPr>
          <p:cNvPr id="12" name="Picture 11"/>
          <p:cNvPicPr>
            <a:picLocks noChangeAspect="1"/>
          </p:cNvPicPr>
          <p:nvPr userDrawn="1"/>
        </p:nvPicPr>
        <p:blipFill rotWithShape="1">
          <a:blip r:embed="rId5" cstate="print">
            <a:extLst>
              <a:ext uri="{28A0092B-C50C-407E-A947-70E740481C1C}">
                <a14:useLocalDpi xmlns:a14="http://schemas.microsoft.com/office/drawing/2010/main" val="0"/>
              </a:ext>
            </a:extLst>
          </a:blip>
          <a:srcRect l="24476" r="23794"/>
          <a:stretch/>
        </p:blipFill>
        <p:spPr>
          <a:xfrm>
            <a:off x="8674488" y="5121741"/>
            <a:ext cx="275507" cy="710099"/>
          </a:xfrm>
          <a:prstGeom prst="rect">
            <a:avLst/>
          </a:prstGeom>
        </p:spPr>
      </p:pic>
      <p:pic>
        <p:nvPicPr>
          <p:cNvPr id="13" name="Picture 12" descr="Swirl_3.png"/>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rot="9688654">
            <a:off x="7441068" y="6393019"/>
            <a:ext cx="386047" cy="285072"/>
          </a:xfrm>
          <a:prstGeom prst="rect">
            <a:avLst/>
          </a:prstGeom>
        </p:spPr>
      </p:pic>
      <p:pic>
        <p:nvPicPr>
          <p:cNvPr id="14" name="Picture 13" descr="Swirl_3.png"/>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rot="18073124">
            <a:off x="7908376" y="5449329"/>
            <a:ext cx="591497" cy="245691"/>
          </a:xfrm>
          <a:prstGeom prst="rect">
            <a:avLst/>
          </a:prstGeom>
        </p:spPr>
      </p:pic>
      <p:pic>
        <p:nvPicPr>
          <p:cNvPr id="16" name="Picture 15"/>
          <p:cNvPicPr>
            <a:picLocks noChangeAspect="1"/>
          </p:cNvPicPr>
          <p:nvPr userDrawn="1"/>
        </p:nvPicPr>
        <p:blipFill rotWithShape="1">
          <a:blip r:embed="rId8" cstate="print">
            <a:extLst>
              <a:ext uri="{28A0092B-C50C-407E-A947-70E740481C1C}">
                <a14:useLocalDpi xmlns:a14="http://schemas.microsoft.com/office/drawing/2010/main" val="0"/>
              </a:ext>
            </a:extLst>
          </a:blip>
          <a:srcRect l="4669" t="13753" r="6579" b="12460"/>
          <a:stretch/>
        </p:blipFill>
        <p:spPr>
          <a:xfrm>
            <a:off x="7939373" y="5831840"/>
            <a:ext cx="672857" cy="745880"/>
          </a:xfrm>
          <a:prstGeom prst="rect">
            <a:avLst/>
          </a:prstGeom>
        </p:spPr>
      </p:pic>
      <p:pic>
        <p:nvPicPr>
          <p:cNvPr id="9" name="Picture 8"/>
          <p:cNvPicPr>
            <a:picLocks noChangeAspect="1"/>
          </p:cNvPicPr>
          <p:nvPr userDrawn="1"/>
        </p:nvPicPr>
        <p:blipFill>
          <a:blip r:embed="rId9"/>
          <a:stretch>
            <a:fillRect/>
          </a:stretch>
        </p:blipFill>
        <p:spPr>
          <a:xfrm>
            <a:off x="0" y="6415635"/>
            <a:ext cx="1151034" cy="354164"/>
          </a:xfrm>
          <a:prstGeom prst="rect">
            <a:avLst/>
          </a:prstGeom>
        </p:spPr>
      </p:pic>
    </p:spTree>
    <p:extLst>
      <p:ext uri="{BB962C8B-B14F-4D97-AF65-F5344CB8AC3E}">
        <p14:creationId xmlns:p14="http://schemas.microsoft.com/office/powerpoint/2010/main" val="25940843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641600" y="2228188"/>
            <a:ext cx="6172200" cy="377026"/>
          </a:xfrm>
        </p:spPr>
        <p:txBody>
          <a:bodyPr anchor="ctr"/>
          <a:lstStyle>
            <a:lvl1pPr algn="l">
              <a:defRPr sz="2800" b="0" cap="none" baseline="0">
                <a:solidFill>
                  <a:srgbClr val="055C91"/>
                </a:solidFill>
              </a:defRPr>
            </a:lvl1pPr>
          </a:lstStyle>
          <a:p>
            <a:r>
              <a:rPr lang="en-US" dirty="0"/>
              <a:t>Click to edit Master title style</a:t>
            </a:r>
          </a:p>
        </p:txBody>
      </p:sp>
      <p:sp>
        <p:nvSpPr>
          <p:cNvPr id="3" name="Text Placeholder 2"/>
          <p:cNvSpPr>
            <a:spLocks noGrp="1"/>
          </p:cNvSpPr>
          <p:nvPr>
            <p:ph type="body" idx="1"/>
          </p:nvPr>
        </p:nvSpPr>
        <p:spPr>
          <a:xfrm>
            <a:off x="2641600" y="2942670"/>
            <a:ext cx="6172200" cy="265457"/>
          </a:xfrm>
        </p:spPr>
        <p:txBody>
          <a:bodyPr anchor="t"/>
          <a:lstStyle>
            <a:lvl1pPr marL="0" indent="0">
              <a:buNone/>
              <a:defRPr sz="18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7" name="Footer Placeholder 6"/>
          <p:cNvSpPr>
            <a:spLocks noGrp="1"/>
          </p:cNvSpPr>
          <p:nvPr>
            <p:ph type="ftr" sz="quarter" idx="10"/>
          </p:nvPr>
        </p:nvSpPr>
        <p:spPr>
          <a:xfrm>
            <a:off x="1597682" y="6578465"/>
            <a:ext cx="6781693" cy="244535"/>
          </a:xfrm>
        </p:spPr>
        <p:txBody>
          <a:bodyPr/>
          <a:lstStyle>
            <a:lvl1pPr>
              <a:defRPr sz="600"/>
            </a:lvl1pPr>
          </a:lstStyle>
          <a:p>
            <a:r>
              <a:rPr lang="en-US" dirty="0"/>
              <a:t>© 2018 Cengage. May not be copied, scanned, or duplicated, in whole or in part, except for use as permitted in a license distributed with a certain product or service or otherwise on a password-protected website for classroom use.</a:t>
            </a:r>
          </a:p>
        </p:txBody>
      </p:sp>
      <p:pic>
        <p:nvPicPr>
          <p:cNvPr id="6" name="Picture 5" descr="Rules_Single_A.png"/>
          <p:cNvPicPr>
            <a:picLocks noChangeAspect="1"/>
          </p:cNvPicPr>
          <p:nvPr userDrawn="1"/>
        </p:nvPicPr>
        <p:blipFill rotWithShape="1">
          <a:blip r:embed="rId2" cstate="print">
            <a:extLst>
              <a:ext uri="{28A0092B-C50C-407E-A947-70E740481C1C}">
                <a14:useLocalDpi xmlns:a14="http://schemas.microsoft.com/office/drawing/2010/main" val="0"/>
              </a:ext>
            </a:extLst>
          </a:blip>
          <a:srcRect l="25529" r="-57141"/>
          <a:stretch/>
        </p:blipFill>
        <p:spPr>
          <a:xfrm>
            <a:off x="1597682" y="6487629"/>
            <a:ext cx="11423745" cy="90835"/>
          </a:xfrm>
          <a:prstGeom prst="rect">
            <a:avLst/>
          </a:prstGeom>
        </p:spPr>
      </p:pic>
      <p:pic>
        <p:nvPicPr>
          <p:cNvPr id="4" name="Picture 3" descr="Audio.png"/>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0707" y="361953"/>
            <a:ext cx="1840495" cy="1940983"/>
          </a:xfrm>
          <a:prstGeom prst="rect">
            <a:avLst/>
          </a:prstGeom>
        </p:spPr>
      </p:pic>
      <p:pic>
        <p:nvPicPr>
          <p:cNvPr id="11" name="Picture 10" descr="Swirl_3.png"/>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rot="2569126">
            <a:off x="1431691" y="1916271"/>
            <a:ext cx="908570" cy="670924"/>
          </a:xfrm>
          <a:prstGeom prst="rect">
            <a:avLst/>
          </a:prstGeom>
        </p:spPr>
      </p:pic>
      <p:pic>
        <p:nvPicPr>
          <p:cNvPr id="12" name="Picture 11" descr="Swirl_2.png"/>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rot="3873741" flipH="1">
            <a:off x="218018" y="3551101"/>
            <a:ext cx="795867" cy="833254"/>
          </a:xfrm>
          <a:prstGeom prst="rect">
            <a:avLst/>
          </a:prstGeom>
        </p:spPr>
      </p:pic>
      <p:pic>
        <p:nvPicPr>
          <p:cNvPr id="14" name="Picture 13"/>
          <p:cNvPicPr>
            <a:picLocks noChangeAspect="1"/>
          </p:cNvPicPr>
          <p:nvPr userDrawn="1"/>
        </p:nvPicPr>
        <p:blipFill rotWithShape="1">
          <a:blip r:embed="rId6" cstate="print">
            <a:extLst>
              <a:ext uri="{28A0092B-C50C-407E-A947-70E740481C1C}">
                <a14:useLocalDpi xmlns:a14="http://schemas.microsoft.com/office/drawing/2010/main" val="0"/>
              </a:ext>
            </a:extLst>
          </a:blip>
          <a:srcRect l="4669" t="13753" r="6579" b="12460"/>
          <a:stretch/>
        </p:blipFill>
        <p:spPr>
          <a:xfrm>
            <a:off x="879649" y="2604920"/>
            <a:ext cx="1101550" cy="1221097"/>
          </a:xfrm>
          <a:prstGeom prst="rect">
            <a:avLst/>
          </a:prstGeom>
        </p:spPr>
      </p:pic>
      <p:pic>
        <p:nvPicPr>
          <p:cNvPr id="15" name="Picture 14"/>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140704" y="4534755"/>
            <a:ext cx="596838" cy="795784"/>
          </a:xfrm>
          <a:prstGeom prst="rect">
            <a:avLst/>
          </a:prstGeom>
        </p:spPr>
      </p:pic>
      <p:pic>
        <p:nvPicPr>
          <p:cNvPr id="16" name="Picture 15"/>
          <p:cNvPicPr>
            <a:picLocks noChangeAspect="1"/>
          </p:cNvPicPr>
          <p:nvPr userDrawn="1"/>
        </p:nvPicPr>
        <p:blipFill rotWithShape="1">
          <a:blip r:embed="rId8" cstate="print">
            <a:extLst>
              <a:ext uri="{28A0092B-C50C-407E-A947-70E740481C1C}">
                <a14:useLocalDpi xmlns:a14="http://schemas.microsoft.com/office/drawing/2010/main" val="0"/>
              </a:ext>
            </a:extLst>
          </a:blip>
          <a:srcRect l="24476" r="23794"/>
          <a:stretch/>
        </p:blipFill>
        <p:spPr>
          <a:xfrm>
            <a:off x="737542" y="4804753"/>
            <a:ext cx="252342" cy="650393"/>
          </a:xfrm>
          <a:prstGeom prst="rect">
            <a:avLst/>
          </a:prstGeom>
        </p:spPr>
      </p:pic>
      <p:pic>
        <p:nvPicPr>
          <p:cNvPr id="17" name="Picture 16"/>
          <p:cNvPicPr>
            <a:picLocks noChangeAspect="1"/>
          </p:cNvPicPr>
          <p:nvPr userDrawn="1"/>
        </p:nvPicPr>
        <p:blipFill>
          <a:blip r:embed="rId9"/>
          <a:stretch>
            <a:fillRect/>
          </a:stretch>
        </p:blipFill>
        <p:spPr>
          <a:xfrm>
            <a:off x="118720" y="6363035"/>
            <a:ext cx="1400289" cy="430858"/>
          </a:xfrm>
          <a:prstGeom prst="rect">
            <a:avLst/>
          </a:prstGeom>
        </p:spPr>
      </p:pic>
    </p:spTree>
    <p:extLst>
      <p:ext uri="{BB962C8B-B14F-4D97-AF65-F5344CB8AC3E}">
        <p14:creationId xmlns:p14="http://schemas.microsoft.com/office/powerpoint/2010/main" val="27067353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Title 1"/>
          <p:cNvSpPr>
            <a:spLocks noGrp="1"/>
          </p:cNvSpPr>
          <p:nvPr>
            <p:ph type="title"/>
          </p:nvPr>
        </p:nvSpPr>
        <p:spPr>
          <a:xfrm>
            <a:off x="762000" y="406258"/>
            <a:ext cx="8026400" cy="296235"/>
          </a:xfrm>
        </p:spPr>
        <p:txBody>
          <a:bodyPr/>
          <a:lstStyle/>
          <a:p>
            <a:r>
              <a:rPr lang="en-US" dirty="0"/>
              <a:t>Click to edit Master title style</a:t>
            </a:r>
          </a:p>
        </p:txBody>
      </p:sp>
      <p:sp>
        <p:nvSpPr>
          <p:cNvPr id="3" name="Content Placeholder 2"/>
          <p:cNvSpPr>
            <a:spLocks noGrp="1"/>
          </p:cNvSpPr>
          <p:nvPr>
            <p:ph idx="1"/>
          </p:nvPr>
        </p:nvSpPr>
        <p:spPr/>
        <p:txBody>
          <a:bodyPr/>
          <a:lstStyle>
            <a:lvl1pPr marL="171450" indent="-171450">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Footer Placeholder 1"/>
          <p:cNvSpPr>
            <a:spLocks noGrp="1"/>
          </p:cNvSpPr>
          <p:nvPr>
            <p:ph type="ftr" sz="quarter" idx="10"/>
          </p:nvPr>
        </p:nvSpPr>
        <p:spPr>
          <a:xfrm>
            <a:off x="1597682" y="6578465"/>
            <a:ext cx="6781693" cy="244535"/>
          </a:xfrm>
        </p:spPr>
        <p:txBody>
          <a:bodyPr/>
          <a:lstStyle>
            <a:lvl1pPr>
              <a:defRPr sz="600"/>
            </a:lvl1pPr>
          </a:lstStyle>
          <a:p>
            <a:r>
              <a:rPr lang="en-US" dirty="0"/>
              <a:t>© 2018 Cengage. All Rights Reserved. May not be copied, scanned, or duplicated, in whole or in part, except for use as permitted in a license distributed with a certain product or service or otherwise on a password-protected website for classroom use.</a:t>
            </a:r>
          </a:p>
        </p:txBody>
      </p:sp>
      <p:pic>
        <p:nvPicPr>
          <p:cNvPr id="7" name="Picture 6" descr="Rules_Single_B.png"/>
          <p:cNvPicPr>
            <a:picLocks noChangeAspect="1"/>
          </p:cNvPicPr>
          <p:nvPr userDrawn="1"/>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userDrawn="1"/>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3"/>
            <a:ext cx="628992" cy="697255"/>
          </a:xfrm>
          <a:prstGeom prst="rect">
            <a:avLst/>
          </a:prstGeom>
        </p:spPr>
      </p:pic>
      <p:pic>
        <p:nvPicPr>
          <p:cNvPr id="18" name="Picture 17" descr="Rules_Single_A.png"/>
          <p:cNvPicPr>
            <a:picLocks noChangeAspect="1"/>
          </p:cNvPicPr>
          <p:nvPr userDrawn="1"/>
        </p:nvPicPr>
        <p:blipFill rotWithShape="1">
          <a:blip r:embed="rId4" cstate="print">
            <a:extLst>
              <a:ext uri="{28A0092B-C50C-407E-A947-70E740481C1C}">
                <a14:useLocalDpi xmlns:a14="http://schemas.microsoft.com/office/drawing/2010/main" val="0"/>
              </a:ext>
            </a:extLst>
          </a:blip>
          <a:srcRect l="25529" r="-57141"/>
          <a:stretch/>
        </p:blipFill>
        <p:spPr>
          <a:xfrm>
            <a:off x="1597682" y="6487629"/>
            <a:ext cx="11423745" cy="90835"/>
          </a:xfrm>
          <a:prstGeom prst="rect">
            <a:avLst/>
          </a:prstGeom>
        </p:spPr>
      </p:pic>
      <p:pic>
        <p:nvPicPr>
          <p:cNvPr id="5" name="Picture 4"/>
          <p:cNvPicPr>
            <a:picLocks noChangeAspect="1"/>
          </p:cNvPicPr>
          <p:nvPr userDrawn="1"/>
        </p:nvPicPr>
        <p:blipFill>
          <a:blip r:embed="rId5"/>
          <a:stretch>
            <a:fillRect/>
          </a:stretch>
        </p:blipFill>
        <p:spPr>
          <a:xfrm>
            <a:off x="47177" y="6324600"/>
            <a:ext cx="1439449" cy="442907"/>
          </a:xfrm>
          <a:prstGeom prst="rect">
            <a:avLst/>
          </a:prstGeom>
        </p:spPr>
      </p:pic>
    </p:spTree>
    <p:extLst>
      <p:ext uri="{BB962C8B-B14F-4D97-AF65-F5344CB8AC3E}">
        <p14:creationId xmlns:p14="http://schemas.microsoft.com/office/powerpoint/2010/main" val="40246106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762000" y="406258"/>
            <a:ext cx="8026400" cy="296235"/>
          </a:xfrm>
        </p:spPr>
        <p:txBody>
          <a:bodyPr/>
          <a:lstStyle/>
          <a:p>
            <a:r>
              <a:rPr lang="en-US" dirty="0"/>
              <a:t>Click to edit Master title style</a:t>
            </a:r>
          </a:p>
        </p:txBody>
      </p:sp>
      <p:pic>
        <p:nvPicPr>
          <p:cNvPr id="8" name="Picture 7" descr="Rules_Single_B.png"/>
          <p:cNvPicPr>
            <a:picLocks noChangeAspect="1"/>
          </p:cNvPicPr>
          <p:nvPr userDrawn="1"/>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4" name="Picture 13"/>
          <p:cNvPicPr>
            <a:picLocks noChangeAspect="1"/>
          </p:cNvPicPr>
          <p:nvPr userDrawn="1"/>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3"/>
            <a:ext cx="628992" cy="697255"/>
          </a:xfrm>
          <a:prstGeom prst="rect">
            <a:avLst/>
          </a:prstGeom>
        </p:spPr>
      </p:pic>
      <p:pic>
        <p:nvPicPr>
          <p:cNvPr id="22" name="Picture 21" descr="Rules_Single_A.png"/>
          <p:cNvPicPr>
            <a:picLocks noChangeAspect="1"/>
          </p:cNvPicPr>
          <p:nvPr userDrawn="1"/>
        </p:nvPicPr>
        <p:blipFill rotWithShape="1">
          <a:blip r:embed="rId4" cstate="print">
            <a:extLst>
              <a:ext uri="{28A0092B-C50C-407E-A947-70E740481C1C}">
                <a14:useLocalDpi xmlns:a14="http://schemas.microsoft.com/office/drawing/2010/main" val="0"/>
              </a:ext>
            </a:extLst>
          </a:blip>
          <a:srcRect l="25529" r="-57141"/>
          <a:stretch/>
        </p:blipFill>
        <p:spPr>
          <a:xfrm>
            <a:off x="1597682" y="6487629"/>
            <a:ext cx="11423745" cy="90835"/>
          </a:xfrm>
          <a:prstGeom prst="rect">
            <a:avLst/>
          </a:prstGeom>
        </p:spPr>
      </p:pic>
      <p:sp>
        <p:nvSpPr>
          <p:cNvPr id="3" name="Footer Placeholder 2"/>
          <p:cNvSpPr>
            <a:spLocks noGrp="1"/>
          </p:cNvSpPr>
          <p:nvPr>
            <p:ph type="ftr" sz="quarter" idx="10"/>
          </p:nvPr>
        </p:nvSpPr>
        <p:spPr>
          <a:xfrm>
            <a:off x="1597682" y="6578465"/>
            <a:ext cx="6781693" cy="244535"/>
          </a:xfrm>
        </p:spPr>
        <p:txBody>
          <a:bodyPr/>
          <a:lstStyle>
            <a:lvl1pPr>
              <a:defRPr sz="600"/>
            </a:lvl1pPr>
          </a:lstStyle>
          <a:p>
            <a:r>
              <a:rPr lang="en-US" dirty="0"/>
              <a:t>© 2018 Cengage. All Rights Reserved. May not be copied, scanned, or duplicated, in whole or in part, except for use as permitted in a license distributed with a certain product or service or otherwise on a password-protected website for classroom use.</a:t>
            </a:r>
          </a:p>
        </p:txBody>
      </p:sp>
      <p:pic>
        <p:nvPicPr>
          <p:cNvPr id="9" name="Picture 8"/>
          <p:cNvPicPr>
            <a:picLocks noChangeAspect="1"/>
          </p:cNvPicPr>
          <p:nvPr userDrawn="1"/>
        </p:nvPicPr>
        <p:blipFill>
          <a:blip r:embed="rId5"/>
          <a:stretch>
            <a:fillRect/>
          </a:stretch>
        </p:blipFill>
        <p:spPr>
          <a:xfrm>
            <a:off x="60488" y="6305978"/>
            <a:ext cx="1403024" cy="431699"/>
          </a:xfrm>
          <a:prstGeom prst="rect">
            <a:avLst/>
          </a:prstGeom>
        </p:spPr>
      </p:pic>
    </p:spTree>
    <p:extLst>
      <p:ext uri="{BB962C8B-B14F-4D97-AF65-F5344CB8AC3E}">
        <p14:creationId xmlns:p14="http://schemas.microsoft.com/office/powerpoint/2010/main" val="13363938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1"/>
          <p:cNvSpPr>
            <a:spLocks noGrp="1"/>
          </p:cNvSpPr>
          <p:nvPr>
            <p:ph type="ftr" sz="quarter" idx="10"/>
          </p:nvPr>
        </p:nvSpPr>
        <p:spPr/>
        <p:txBody>
          <a:bodyPr/>
          <a:lstStyle/>
          <a:p>
            <a:r>
              <a:rPr lang="en-US" dirty="0"/>
              <a:t>© 2018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64703309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365125" y="1538818"/>
            <a:ext cx="8415338" cy="1412951"/>
          </a:xfrm>
          <a:prstGeom prst="rect">
            <a:avLst/>
          </a:prstGeom>
        </p:spPr>
        <p:txBody>
          <a:bodyPr vert="horz" wrap="square" lIns="0" tIns="0" rIns="0" bIns="0" rtlCol="0">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5"/>
          <p:cNvSpPr txBox="1">
            <a:spLocks/>
          </p:cNvSpPr>
          <p:nvPr userDrawn="1"/>
        </p:nvSpPr>
        <p:spPr>
          <a:xfrm>
            <a:off x="8376166" y="6513743"/>
            <a:ext cx="312906" cy="215444"/>
          </a:xfrm>
          <a:prstGeom prst="rect">
            <a:avLst/>
          </a:prstGeom>
        </p:spPr>
        <p:txBody>
          <a:bodyPr vert="horz" wrap="none" lIns="91440" tIns="45720" rIns="91440" bIns="45720" rtlCol="0" anchor="ctr">
            <a:spAutoFit/>
          </a:bodyPr>
          <a:lstStyle>
            <a:lvl1pPr algn="r">
              <a:defRPr sz="1200">
                <a:solidFill>
                  <a:schemeClr val="tx1">
                    <a:tint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48B40067-BD2A-418A-98BB-08A98047DC47}" type="slidenum">
              <a:rPr kumimoji="0" lang="en-US" sz="800" b="0" i="0" u="none" strike="noStrike" kern="1200" cap="none" spc="0" normalizeH="0" baseline="0" noProof="0" smtClean="0">
                <a:ln>
                  <a:noFill/>
                </a:ln>
                <a:solidFill>
                  <a:schemeClr val="tx1">
                    <a:tint val="75000"/>
                  </a:schemeClr>
                </a:solidFill>
                <a:effectLst/>
                <a:uLnTx/>
                <a:uFillTx/>
                <a:latin typeface="+mn-l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2" name="Title Placeholder 1"/>
          <p:cNvSpPr>
            <a:spLocks noGrp="1"/>
          </p:cNvSpPr>
          <p:nvPr>
            <p:ph type="title"/>
          </p:nvPr>
        </p:nvSpPr>
        <p:spPr>
          <a:xfrm>
            <a:off x="365125" y="480785"/>
            <a:ext cx="8415338" cy="296235"/>
          </a:xfrm>
          <a:prstGeom prst="rect">
            <a:avLst/>
          </a:prstGeom>
        </p:spPr>
        <p:txBody>
          <a:bodyPr vert="horz" wrap="square" lIns="0" tIns="0" rIns="0" bIns="0" rtlCol="0" anchor="ctr">
            <a:spAutoFit/>
          </a:bodyPr>
          <a:lstStyle/>
          <a:p>
            <a:r>
              <a:rPr lang="en-US" dirty="0"/>
              <a:t>Click to edit Master title style</a:t>
            </a:r>
          </a:p>
        </p:txBody>
      </p:sp>
      <p:sp>
        <p:nvSpPr>
          <p:cNvPr id="4" name="Footer Placeholder 3"/>
          <p:cNvSpPr>
            <a:spLocks noGrp="1"/>
          </p:cNvSpPr>
          <p:nvPr>
            <p:ph type="ftr" sz="quarter" idx="3"/>
          </p:nvPr>
        </p:nvSpPr>
        <p:spPr>
          <a:xfrm>
            <a:off x="365126" y="6611007"/>
            <a:ext cx="8014247" cy="211991"/>
          </a:xfrm>
          <a:prstGeom prst="rect">
            <a:avLst/>
          </a:prstGeom>
        </p:spPr>
        <p:txBody>
          <a:bodyPr vert="horz" lIns="91440" tIns="45720" rIns="91440" bIns="45720" rtlCol="0" anchor="ctr"/>
          <a:lstStyle>
            <a:lvl1pPr algn="ctr">
              <a:defRPr sz="600">
                <a:solidFill>
                  <a:schemeClr val="tx1">
                    <a:tint val="75000"/>
                  </a:schemeClr>
                </a:solidFill>
              </a:defRPr>
            </a:lvl1pPr>
          </a:lstStyle>
          <a:p>
            <a:r>
              <a:rPr lang="en-US" dirty="0"/>
              <a:t>© 2018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4092161740"/>
      </p:ext>
    </p:extLst>
  </p:cSld>
  <p:clrMap bg1="lt1" tx1="dk1" bg2="lt2" tx2="dk2" accent1="accent1" accent2="accent2" accent3="accent3" accent4="accent4" accent5="accent5" accent6="accent6" hlink="hlink" folHlink="folHlink"/>
  <p:sldLayoutIdLst>
    <p:sldLayoutId id="2147483752" r:id="rId1"/>
    <p:sldLayoutId id="2147483753" r:id="rId2"/>
    <p:sldLayoutId id="2147483754" r:id="rId3"/>
    <p:sldLayoutId id="2147483755" r:id="rId4"/>
    <p:sldLayoutId id="2147483756" r:id="rId5"/>
  </p:sldLayoutIdLst>
  <p:hf hdr="0" dt="0"/>
  <p:txStyles>
    <p:titleStyle>
      <a:lvl1pPr algn="l" defTabSz="914400" rtl="0" eaLnBrk="1" latinLnBrk="0" hangingPunct="1">
        <a:lnSpc>
          <a:spcPct val="85000"/>
        </a:lnSpc>
        <a:spcBef>
          <a:spcPct val="0"/>
        </a:spcBef>
        <a:buNone/>
        <a:defRPr sz="2200" kern="1200">
          <a:solidFill>
            <a:schemeClr val="accent2"/>
          </a:solidFill>
          <a:latin typeface="+mj-lt"/>
          <a:ea typeface="+mj-ea"/>
          <a:cs typeface="+mj-cs"/>
        </a:defRPr>
      </a:lvl1pPr>
    </p:titleStyle>
    <p:bodyStyle>
      <a:lvl1pPr marL="171450" indent="-171450" algn="l" defTabSz="914400" rtl="0" eaLnBrk="1" latinLnBrk="0" hangingPunct="1">
        <a:lnSpc>
          <a:spcPct val="95000"/>
        </a:lnSpc>
        <a:spcBef>
          <a:spcPts val="1200"/>
        </a:spcBef>
        <a:buClr>
          <a:schemeClr val="accent2"/>
        </a:buClr>
        <a:buFont typeface="Arial" pitchFamily="34" charset="0"/>
        <a:buChar char="•"/>
        <a:defRPr sz="2000" kern="1200">
          <a:solidFill>
            <a:schemeClr val="tx1">
              <a:lumMod val="75000"/>
              <a:lumOff val="25000"/>
            </a:schemeClr>
          </a:solidFill>
          <a:latin typeface="+mn-lt"/>
          <a:ea typeface="+mn-ea"/>
          <a:cs typeface="+mn-cs"/>
        </a:defRPr>
      </a:lvl1pPr>
      <a:lvl2pPr marL="400050" indent="-171450" algn="l" defTabSz="914400" rtl="0" eaLnBrk="1" latinLnBrk="0" hangingPunct="1">
        <a:lnSpc>
          <a:spcPct val="95000"/>
        </a:lnSpc>
        <a:spcBef>
          <a:spcPts val="600"/>
        </a:spcBef>
        <a:buClr>
          <a:schemeClr val="accent1"/>
        </a:buClr>
        <a:buFont typeface="Arial" pitchFamily="34" charset="0"/>
        <a:buChar char="•"/>
        <a:defRPr sz="1800" kern="1200">
          <a:solidFill>
            <a:schemeClr val="tx1">
              <a:lumMod val="75000"/>
              <a:lumOff val="25000"/>
            </a:schemeClr>
          </a:solidFill>
          <a:latin typeface="+mn-lt"/>
          <a:ea typeface="+mn-ea"/>
          <a:cs typeface="+mn-cs"/>
        </a:defRPr>
      </a:lvl2pPr>
      <a:lvl3pPr marL="571500" indent="-114300" algn="l" defTabSz="914400" rtl="0" eaLnBrk="1" latinLnBrk="0" hangingPunct="1">
        <a:lnSpc>
          <a:spcPct val="95000"/>
        </a:lnSpc>
        <a:spcBef>
          <a:spcPct val="20000"/>
        </a:spcBef>
        <a:buClr>
          <a:schemeClr val="tx1">
            <a:lumMod val="75000"/>
            <a:lumOff val="25000"/>
          </a:schemeClr>
        </a:buClr>
        <a:buFont typeface="Arial" pitchFamily="34" charset="0"/>
        <a:buChar char="-"/>
        <a:defRPr sz="1600" kern="1200">
          <a:solidFill>
            <a:schemeClr val="tx1">
              <a:lumMod val="75000"/>
              <a:lumOff val="25000"/>
            </a:schemeClr>
          </a:solidFill>
          <a:latin typeface="+mn-lt"/>
          <a:ea typeface="+mn-ea"/>
          <a:cs typeface="+mn-cs"/>
        </a:defRPr>
      </a:lvl3pPr>
      <a:lvl4pPr marL="742950" indent="-114300" algn="l" defTabSz="914400" rtl="0" eaLnBrk="1" latinLnBrk="0" hangingPunct="1">
        <a:lnSpc>
          <a:spcPct val="95000"/>
        </a:lnSpc>
        <a:spcBef>
          <a:spcPct val="20000"/>
        </a:spcBef>
        <a:buFont typeface="Arial" pitchFamily="34" charset="0"/>
        <a:buChar char="•"/>
        <a:defRPr sz="1400" kern="1200">
          <a:solidFill>
            <a:schemeClr val="tx1">
              <a:lumMod val="75000"/>
              <a:lumOff val="25000"/>
            </a:schemeClr>
          </a:solidFill>
          <a:latin typeface="+mn-lt"/>
          <a:ea typeface="+mn-ea"/>
          <a:cs typeface="+mn-cs"/>
        </a:defRPr>
      </a:lvl4pPr>
      <a:lvl5pPr marL="914400" indent="-114300" algn="l" defTabSz="914400" rtl="0" eaLnBrk="1" latinLnBrk="0" hangingPunct="1">
        <a:lnSpc>
          <a:spcPct val="95000"/>
        </a:lnSpc>
        <a:spcBef>
          <a:spcPct val="20000"/>
        </a:spcBef>
        <a:buFont typeface="Arial" pitchFamily="34" charset="0"/>
        <a:buChar char="-"/>
        <a:defRPr sz="1400" kern="1200">
          <a:solidFill>
            <a:schemeClr val="tx1">
              <a:lumMod val="75000"/>
              <a:lumOff val="2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notesSlide" Target="../notesSlides/notesSlide50.xml"/><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58.xml"/><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smtClean="0"/>
              <a:t>Hands-On Microsoft Windows Server 2016</a:t>
            </a:r>
            <a:br>
              <a:rPr lang="en-US" smtClean="0"/>
            </a:br>
            <a:r>
              <a:rPr lang="en-US" smtClean="0"/>
              <a:t> 2nd Edition</a:t>
            </a:r>
            <a:endParaRPr lang="en-US" dirty="0"/>
          </a:p>
        </p:txBody>
      </p:sp>
      <p:sp>
        <p:nvSpPr>
          <p:cNvPr id="3" name="Subtitle 2"/>
          <p:cNvSpPr>
            <a:spLocks noGrp="1"/>
          </p:cNvSpPr>
          <p:nvPr>
            <p:ph type="subTitle" idx="1"/>
          </p:nvPr>
        </p:nvSpPr>
        <p:spPr/>
        <p:txBody>
          <a:bodyPr/>
          <a:lstStyle/>
          <a:p>
            <a:r>
              <a:rPr lang="en-US" smtClean="0"/>
              <a:t>Chapter 1</a:t>
            </a:r>
          </a:p>
          <a:p>
            <a:r>
              <a:rPr lang="en-US" smtClean="0"/>
              <a:t>Introduction to Windows Server 2016</a:t>
            </a:r>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36997529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Objectives (1 of 2)</a:t>
            </a:r>
            <a:endParaRPr lang="en-US" dirty="0"/>
          </a:p>
        </p:txBody>
      </p:sp>
      <p:sp>
        <p:nvSpPr>
          <p:cNvPr id="3" name="Text Placeholder 2"/>
          <p:cNvSpPr>
            <a:spLocks noGrp="1"/>
          </p:cNvSpPr>
          <p:nvPr>
            <p:ph type="body" idx="1"/>
          </p:nvPr>
        </p:nvSpPr>
        <p:spPr/>
        <p:txBody>
          <a:bodyPr/>
          <a:lstStyle/>
          <a:p>
            <a:r>
              <a:rPr lang="en-US" smtClean="0"/>
              <a:t>Identify the key features of each Windows Server 2016 edition</a:t>
            </a:r>
          </a:p>
          <a:p>
            <a:r>
              <a:rPr lang="en-US" smtClean="0"/>
              <a:t>Understand the hardware requirements for Windows Server 2016</a:t>
            </a:r>
          </a:p>
          <a:p>
            <a:r>
              <a:rPr lang="en-US" smtClean="0"/>
              <a:t>Identify client systems that can be used with Windows Server 2016</a:t>
            </a:r>
          </a:p>
          <a:p>
            <a:r>
              <a:rPr lang="en-US" smtClean="0"/>
              <a:t>Understand important general features of Windows Server 2016</a:t>
            </a:r>
          </a:p>
          <a:p>
            <a:r>
              <a:rPr lang="en-US" smtClean="0"/>
              <a:t>Plan a Windows Server 2016 networking model</a:t>
            </a:r>
          </a:p>
          <a:p>
            <a:endParaRPr lang="en-US" dirty="0"/>
          </a:p>
        </p:txBody>
      </p:sp>
      <p:sp>
        <p:nvSpPr>
          <p:cNvPr id="4" name="Footer Placeholder 3"/>
          <p:cNvSpPr>
            <a:spLocks noGrp="1"/>
          </p:cNvSpPr>
          <p:nvPr>
            <p:ph type="ftr" sz="quarter" idx="10"/>
          </p:nvPr>
        </p:nvSpPr>
        <p:spPr/>
        <p:txBody>
          <a:bodyPr/>
          <a:lstStyle/>
          <a:p>
            <a:r>
              <a:rPr lang="en-US" smtClean="0"/>
              <a:t>© 2018 Cengage.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26858418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Objectives (2 of 2)</a:t>
            </a:r>
            <a:endParaRPr lang="en-US" dirty="0"/>
          </a:p>
        </p:txBody>
      </p:sp>
      <p:sp>
        <p:nvSpPr>
          <p:cNvPr id="3" name="Text Placeholder 2"/>
          <p:cNvSpPr>
            <a:spLocks noGrp="1"/>
          </p:cNvSpPr>
          <p:nvPr>
            <p:ph type="body" idx="1"/>
          </p:nvPr>
        </p:nvSpPr>
        <p:spPr/>
        <p:txBody>
          <a:bodyPr/>
          <a:lstStyle/>
          <a:p>
            <a:r>
              <a:rPr lang="en-US" smtClean="0"/>
              <a:t>Explore introductory concepts for the networking protocols, IPv4 and IPv6, used by Windows Server 2016</a:t>
            </a:r>
          </a:p>
          <a:p>
            <a:r>
              <a:rPr lang="en-US" smtClean="0"/>
              <a:t>Configure and enable TCP/IP in Windows Server 2016</a:t>
            </a:r>
            <a:endParaRPr lang="en-US" dirty="0"/>
          </a:p>
        </p:txBody>
      </p:sp>
      <p:sp>
        <p:nvSpPr>
          <p:cNvPr id="4" name="Footer Placeholder 3"/>
          <p:cNvSpPr>
            <a:spLocks noGrp="1"/>
          </p:cNvSpPr>
          <p:nvPr>
            <p:ph type="ftr" sz="quarter" idx="10"/>
          </p:nvPr>
        </p:nvSpPr>
        <p:spPr/>
        <p:txBody>
          <a:bodyPr/>
          <a:lstStyle/>
          <a:p>
            <a:r>
              <a:rPr lang="en-US" smtClean="0"/>
              <a:t>© 2018 Cengage.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16183950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ltLang="en-US" smtClean="0"/>
              <a:t>Windows Server 2016 Editions</a:t>
            </a:r>
            <a:endParaRPr lang="en-US" dirty="0"/>
          </a:p>
        </p:txBody>
      </p:sp>
      <p:sp>
        <p:nvSpPr>
          <p:cNvPr id="2" name="Content Placeholder 1"/>
          <p:cNvSpPr>
            <a:spLocks noGrp="1"/>
          </p:cNvSpPr>
          <p:nvPr>
            <p:ph idx="1"/>
          </p:nvPr>
        </p:nvSpPr>
        <p:spPr/>
        <p:txBody>
          <a:bodyPr/>
          <a:lstStyle/>
          <a:p>
            <a:r>
              <a:rPr lang="en-US" smtClean="0"/>
              <a:t>Windows Server 2016 platforms:</a:t>
            </a:r>
          </a:p>
          <a:p>
            <a:pPr lvl="1"/>
            <a:r>
              <a:rPr lang="en-US" smtClean="0"/>
              <a:t>Windows Server 2016 Essentials Edition</a:t>
            </a:r>
          </a:p>
          <a:p>
            <a:pPr lvl="1"/>
            <a:r>
              <a:rPr lang="en-US" smtClean="0"/>
              <a:t>Windows Server 2016 Standard Edition</a:t>
            </a:r>
          </a:p>
          <a:p>
            <a:pPr lvl="1"/>
            <a:r>
              <a:rPr lang="en-US" smtClean="0"/>
              <a:t>Windows Server 2016 Datacenter Edition</a:t>
            </a:r>
          </a:p>
          <a:p>
            <a:r>
              <a:rPr lang="en-US" smtClean="0"/>
              <a:t>Additional Windows Server 2016 platforms targeted for specific-purpose niches:</a:t>
            </a:r>
          </a:p>
          <a:p>
            <a:pPr lvl="1"/>
            <a:r>
              <a:rPr lang="en-US" smtClean="0"/>
              <a:t>Windows Server 2016 Multipoint Premium Server</a:t>
            </a:r>
          </a:p>
          <a:p>
            <a:pPr lvl="1"/>
            <a:r>
              <a:rPr lang="en-US" smtClean="0"/>
              <a:t>Windows Storage Server 2016</a:t>
            </a:r>
          </a:p>
          <a:p>
            <a:pPr lvl="1"/>
            <a:r>
              <a:rPr lang="en-US" smtClean="0"/>
              <a:t>Windows Hyper-V Server 2016</a:t>
            </a:r>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11392965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Windows Server 2016 Essentials Edition</a:t>
            </a:r>
            <a:endParaRPr lang="en-US" dirty="0"/>
          </a:p>
        </p:txBody>
      </p:sp>
      <p:sp>
        <p:nvSpPr>
          <p:cNvPr id="2" name="Content Placeholder 1"/>
          <p:cNvSpPr>
            <a:spLocks noGrp="1"/>
          </p:cNvSpPr>
          <p:nvPr>
            <p:ph idx="1"/>
          </p:nvPr>
        </p:nvSpPr>
        <p:spPr/>
        <p:txBody>
          <a:bodyPr/>
          <a:lstStyle/>
          <a:p>
            <a:r>
              <a:rPr lang="en-US" smtClean="0"/>
              <a:t>Windows Server 2016 Essentials Edition supports a maximum of:</a:t>
            </a:r>
          </a:p>
          <a:p>
            <a:pPr lvl="1"/>
            <a:r>
              <a:rPr lang="en-US" smtClean="0"/>
              <a:t>25 users</a:t>
            </a:r>
          </a:p>
          <a:p>
            <a:pPr lvl="1"/>
            <a:r>
              <a:rPr lang="en-US" smtClean="0"/>
              <a:t>16.8 million connections for file sharing through Server Message Block (SMB) services</a:t>
            </a:r>
          </a:p>
          <a:p>
            <a:pPr lvl="1"/>
            <a:r>
              <a:rPr lang="en-US" smtClean="0"/>
              <a:t>2 central processor sockets</a:t>
            </a:r>
          </a:p>
          <a:p>
            <a:pPr lvl="1"/>
            <a:r>
              <a:rPr lang="en-US" smtClean="0"/>
              <a:t>50 Remote Desktop connections</a:t>
            </a:r>
          </a:p>
          <a:p>
            <a:pPr lvl="1"/>
            <a:r>
              <a:rPr lang="en-US" smtClean="0"/>
              <a:t>50 Routing and Remote Access connections</a:t>
            </a:r>
          </a:p>
          <a:p>
            <a:r>
              <a:rPr lang="en-US" smtClean="0"/>
              <a:t>In addition:</a:t>
            </a:r>
          </a:p>
          <a:p>
            <a:pPr lvl="1"/>
            <a:r>
              <a:rPr lang="en-US" smtClean="0"/>
              <a:t>This edition cannot join a domain, other than to migrate files and data from one server to another</a:t>
            </a:r>
          </a:p>
          <a:p>
            <a:pPr lvl="1"/>
            <a:r>
              <a:rPr lang="en-US" smtClean="0"/>
              <a:t>Provides most, but not all server roles</a:t>
            </a:r>
          </a:p>
          <a:p>
            <a:pPr lvl="2"/>
            <a:r>
              <a:rPr lang="en-US" smtClean="0"/>
              <a:t>Does not provide a role for hosting virtual machines and cannot provide cloud services</a:t>
            </a:r>
            <a:endParaRPr lang="en-US" dirty="0" smtClean="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16176068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Windows Server 2016 Standard Edition (1 of 5)</a:t>
            </a:r>
            <a:endParaRPr lang="en-US" dirty="0"/>
          </a:p>
        </p:txBody>
      </p:sp>
      <p:sp>
        <p:nvSpPr>
          <p:cNvPr id="2" name="Content Placeholder 1"/>
          <p:cNvSpPr>
            <a:spLocks noGrp="1"/>
          </p:cNvSpPr>
          <p:nvPr>
            <p:ph idx="1"/>
          </p:nvPr>
        </p:nvSpPr>
        <p:spPr/>
        <p:txBody>
          <a:bodyPr/>
          <a:lstStyle/>
          <a:p>
            <a:r>
              <a:rPr lang="en-US" smtClean="0"/>
              <a:t>Standard Edition provides:</a:t>
            </a:r>
          </a:p>
          <a:p>
            <a:pPr lvl="1"/>
            <a:r>
              <a:rPr lang="en-US" smtClean="0"/>
              <a:t>File and print services</a:t>
            </a:r>
          </a:p>
          <a:p>
            <a:pPr lvl="1"/>
            <a:r>
              <a:rPr lang="en-US" smtClean="0"/>
              <a:t>Secure Internet connectivity</a:t>
            </a:r>
          </a:p>
          <a:p>
            <a:pPr lvl="1"/>
            <a:r>
              <a:rPr lang="en-US" smtClean="0"/>
              <a:t>Centralized management of users</a:t>
            </a:r>
          </a:p>
          <a:p>
            <a:pPr lvl="1"/>
            <a:r>
              <a:rPr lang="en-US" smtClean="0"/>
              <a:t>Centralized management of applications and network resources</a:t>
            </a:r>
          </a:p>
          <a:p>
            <a:r>
              <a:rPr lang="en-US" smtClean="0"/>
              <a:t>New features in Windows Server 2016 Standard Edition:</a:t>
            </a:r>
          </a:p>
          <a:p>
            <a:pPr lvl="1"/>
            <a:r>
              <a:rPr lang="en-US" smtClean="0"/>
              <a:t>Start button and Start menu are back on the desktop</a:t>
            </a:r>
          </a:p>
          <a:p>
            <a:pPr lvl="1"/>
            <a:r>
              <a:rPr lang="en-US" smtClean="0"/>
              <a:t>Active Directory is easier to set up and has improved file security</a:t>
            </a:r>
          </a:p>
          <a:p>
            <a:pPr lvl="1"/>
            <a:r>
              <a:rPr lang="en-US" smtClean="0"/>
              <a:t>A domain controller can be cloned to quickly create additional domain controllers</a:t>
            </a:r>
          </a:p>
          <a:p>
            <a:pPr lvl="1"/>
            <a:r>
              <a:rPr lang="en-US" smtClean="0"/>
              <a:t>Generic Routing Encapsulation (GRE) tunneling to enable virtual private networks to go over external networks</a:t>
            </a:r>
          </a:p>
          <a:p>
            <a:pPr lvl="1"/>
            <a:r>
              <a:rPr lang="en-US" smtClean="0"/>
              <a:t>Desired State Configuration is used to monitor specific server states and roles so that desired states don’t change as other elements are changed on one or many servers</a:t>
            </a:r>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12632569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Windows Server 2016 Standard Edition (2 of 5)</a:t>
            </a:r>
            <a:endParaRPr lang="en-US" dirty="0"/>
          </a:p>
        </p:txBody>
      </p:sp>
      <p:sp>
        <p:nvSpPr>
          <p:cNvPr id="2" name="Content Placeholder 1"/>
          <p:cNvSpPr>
            <a:spLocks noGrp="1"/>
          </p:cNvSpPr>
          <p:nvPr>
            <p:ph idx="1"/>
          </p:nvPr>
        </p:nvSpPr>
        <p:spPr/>
        <p:txBody>
          <a:bodyPr/>
          <a:lstStyle/>
          <a:p>
            <a:r>
              <a:rPr lang="en-US" smtClean="0"/>
              <a:t>New features in Windows Server 2016 Standard Edition (cont’d):</a:t>
            </a:r>
          </a:p>
          <a:p>
            <a:pPr lvl="1"/>
            <a:r>
              <a:rPr lang="en-US" smtClean="0"/>
              <a:t>Windows Defender is automatically included as an antivirus and antimalware program</a:t>
            </a:r>
          </a:p>
          <a:p>
            <a:pPr lvl="1"/>
            <a:r>
              <a:rPr lang="en-US" smtClean="0"/>
              <a:t>Storage tiering allows selected blocks of data to be moved to different storage locations</a:t>
            </a:r>
          </a:p>
          <a:p>
            <a:pPr lvl="1"/>
            <a:r>
              <a:rPr lang="en-US" smtClean="0"/>
              <a:t>Storage pinning works with storage tiering to enable you to move specific files to a desired type of storage</a:t>
            </a:r>
          </a:p>
          <a:p>
            <a:pPr lvl="1"/>
            <a:r>
              <a:rPr lang="en-US" smtClean="0"/>
              <a:t>A new network controller role that provides information about the network structure</a:t>
            </a:r>
          </a:p>
          <a:p>
            <a:pPr lvl="1"/>
            <a:r>
              <a:rPr lang="en-US" smtClean="0"/>
              <a:t>Parallel rebuild that enables a failed disk in RAID to be rebuilt significantly faster</a:t>
            </a:r>
          </a:p>
          <a:p>
            <a:pPr lvl="1"/>
            <a:r>
              <a:rPr lang="en-US" smtClean="0"/>
              <a:t>Virtual desktops enables you to run different desktops side-by-side</a:t>
            </a:r>
            <a:endParaRPr lang="en-US" dirty="0" smtClean="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7200213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Windows Server 2016 Standard Edition (3 of 5)</a:t>
            </a:r>
            <a:endParaRPr lang="en-US" dirty="0"/>
          </a:p>
        </p:txBody>
      </p:sp>
      <p:sp>
        <p:nvSpPr>
          <p:cNvPr id="2" name="Content Placeholder 1"/>
          <p:cNvSpPr>
            <a:spLocks noGrp="1"/>
          </p:cNvSpPr>
          <p:nvPr>
            <p:ph idx="1"/>
          </p:nvPr>
        </p:nvSpPr>
        <p:spPr/>
        <p:txBody>
          <a:bodyPr/>
          <a:lstStyle/>
          <a:p>
            <a:r>
              <a:rPr lang="en-US" smtClean="0"/>
              <a:t>Included:</a:t>
            </a:r>
          </a:p>
          <a:p>
            <a:pPr lvl="1"/>
            <a:r>
              <a:rPr lang="en-US" smtClean="0"/>
              <a:t>Hyper-V which enables servers to offer a virtualization environment</a:t>
            </a:r>
          </a:p>
          <a:p>
            <a:r>
              <a:rPr lang="en-US" smtClean="0"/>
              <a:t>Hyper-V improvements:</a:t>
            </a:r>
          </a:p>
          <a:p>
            <a:pPr lvl="1"/>
            <a:r>
              <a:rPr lang="en-US" smtClean="0"/>
              <a:t>Faster cloning</a:t>
            </a:r>
          </a:p>
          <a:p>
            <a:pPr lvl="1"/>
            <a:r>
              <a:rPr lang="en-US" smtClean="0"/>
              <a:t>Migration of individual VMs</a:t>
            </a:r>
          </a:p>
          <a:p>
            <a:pPr lvl="1"/>
            <a:r>
              <a:rPr lang="en-US" smtClean="0"/>
              <a:t>VM information is stored in a new file format that protects VM information from being directly edited</a:t>
            </a:r>
          </a:p>
          <a:p>
            <a:r>
              <a:rPr lang="en-US" smtClean="0"/>
              <a:t>New to Windows Server 2016 is the option to use containers</a:t>
            </a:r>
          </a:p>
          <a:p>
            <a:pPr lvl="1"/>
            <a:r>
              <a:rPr lang="en-US" smtClean="0"/>
              <a:t>Containers enable applications on one computer to run in an isolated fashion with the ability to execute multiple applications</a:t>
            </a:r>
          </a:p>
          <a:p>
            <a:pPr lvl="1"/>
            <a:r>
              <a:rPr lang="en-US" smtClean="0"/>
              <a:t>Two types of containers:</a:t>
            </a:r>
          </a:p>
          <a:p>
            <a:pPr lvl="2"/>
            <a:r>
              <a:rPr lang="en-US" smtClean="0"/>
              <a:t>Windows Server containers</a:t>
            </a:r>
          </a:p>
          <a:p>
            <a:pPr lvl="2"/>
            <a:r>
              <a:rPr lang="en-US" smtClean="0"/>
              <a:t>Hyper-V containers</a:t>
            </a:r>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814011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Windows Server 2016 Standard Edition (4 of 5)</a:t>
            </a:r>
            <a:endParaRPr lang="en-US" dirty="0"/>
          </a:p>
        </p:txBody>
      </p:sp>
      <p:sp>
        <p:nvSpPr>
          <p:cNvPr id="2" name="Content Placeholder 1"/>
          <p:cNvSpPr>
            <a:spLocks noGrp="1"/>
          </p:cNvSpPr>
          <p:nvPr>
            <p:ph idx="1"/>
          </p:nvPr>
        </p:nvSpPr>
        <p:spPr/>
        <p:txBody>
          <a:bodyPr/>
          <a:lstStyle/>
          <a:p>
            <a:r>
              <a:rPr lang="en-US" smtClean="0"/>
              <a:t>All editions of Windows Server 2016 are compatible with the common language runtime used in:</a:t>
            </a:r>
          </a:p>
          <a:p>
            <a:pPr lvl="1"/>
            <a:r>
              <a:rPr lang="en-US" smtClean="0"/>
              <a:t>Microsoft .NET Framework and Microsoft Visual Studio .NET</a:t>
            </a:r>
          </a:p>
          <a:p>
            <a:r>
              <a:rPr lang="en-US" smtClean="0"/>
              <a:t>Another feature of Windows Server 2016 Standard Edition</a:t>
            </a:r>
          </a:p>
          <a:p>
            <a:pPr lvl="1"/>
            <a:r>
              <a:rPr lang="en-US" smtClean="0"/>
              <a:t>Clustering – the ability to increase the access to server resources and provide fail-safe services by linking two or more computer systems so they appear to function as one</a:t>
            </a:r>
          </a:p>
          <a:p>
            <a:pPr lvl="1"/>
            <a:endParaRPr lang="en-US" dirty="0" smtClean="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38212666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Windows Server 2016 Standard Edition (5 of 5)</a:t>
            </a:r>
            <a:endParaRPr lang="en-US" dirty="0"/>
          </a:p>
        </p:txBody>
      </p:sp>
      <p:pic>
        <p:nvPicPr>
          <p:cNvPr id="6" name="Content Placeholder 5" descr="Figure 1-1 Page No: 6; Complexity level: 1 Figure shows a Connecting switch at the center. It is connected to a Laptop computer, four Desktop computers, and three Windows Servers 2016. The three Windows Servers 2016 are interconnected to each other with the help of double headed arrows and are collectively labeled as “Clustered servers acting as one.”" title="Figure 1-1"/>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2133600" y="1600200"/>
            <a:ext cx="4478062" cy="4252912"/>
          </a:xfrm>
        </p:spPr>
      </p:pic>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21745266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Windows Server 2016 Datacenter Edition (1 of 2)</a:t>
            </a:r>
            <a:endParaRPr lang="en-US" dirty="0"/>
          </a:p>
        </p:txBody>
      </p:sp>
      <p:sp>
        <p:nvSpPr>
          <p:cNvPr id="2" name="Content Placeholder 1"/>
          <p:cNvSpPr>
            <a:spLocks noGrp="1"/>
          </p:cNvSpPr>
          <p:nvPr>
            <p:ph idx="1"/>
          </p:nvPr>
        </p:nvSpPr>
        <p:spPr/>
        <p:txBody>
          <a:bodyPr/>
          <a:lstStyle/>
          <a:p>
            <a:r>
              <a:rPr lang="en-US" smtClean="0"/>
              <a:t>Designed for environments with:</a:t>
            </a:r>
          </a:p>
          <a:p>
            <a:pPr lvl="1"/>
            <a:r>
              <a:rPr lang="en-US" smtClean="0"/>
              <a:t>Mission-critical applications</a:t>
            </a:r>
          </a:p>
          <a:p>
            <a:pPr lvl="1"/>
            <a:r>
              <a:rPr lang="en-US" smtClean="0"/>
              <a:t>Very large databases</a:t>
            </a:r>
          </a:p>
          <a:p>
            <a:pPr lvl="1"/>
            <a:r>
              <a:rPr lang="en-US" smtClean="0"/>
              <a:t>Very large virtualization requirements</a:t>
            </a:r>
          </a:p>
          <a:p>
            <a:pPr lvl="1"/>
            <a:r>
              <a:rPr lang="en-US" smtClean="0"/>
              <a:t>Cloud computing needs</a:t>
            </a:r>
          </a:p>
          <a:p>
            <a:pPr lvl="1"/>
            <a:r>
              <a:rPr lang="en-US" smtClean="0"/>
              <a:t>Information access requiring high availability </a:t>
            </a:r>
          </a:p>
          <a:p>
            <a:r>
              <a:rPr lang="en-US" smtClean="0"/>
              <a:t>Offers support for clustering up to 64 computers</a:t>
            </a:r>
          </a:p>
          <a:p>
            <a:r>
              <a:rPr lang="en-US" smtClean="0"/>
              <a:t>See Table 1-1 for maximums for Datacenter Edition</a:t>
            </a:r>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14956574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Windows Server 2016 Datacenter Edition (2 of 2)</a:t>
            </a:r>
            <a:endParaRPr lang="en-US" dirty="0"/>
          </a:p>
        </p:txBody>
      </p:sp>
      <p:sp>
        <p:nvSpPr>
          <p:cNvPr id="2" name="Content Placeholder 1"/>
          <p:cNvSpPr>
            <a:spLocks noGrp="1"/>
          </p:cNvSpPr>
          <p:nvPr>
            <p:ph idx="1"/>
          </p:nvPr>
        </p:nvSpPr>
        <p:spPr/>
        <p:txBody>
          <a:bodyPr/>
          <a:lstStyle/>
          <a:p>
            <a:r>
              <a:rPr lang="en-US" smtClean="0"/>
              <a:t>Differences between Standard Edition and Datacenter Edition focus on Datacenter Edition’s industrial strength capabilities in the areas of:</a:t>
            </a:r>
          </a:p>
          <a:p>
            <a:pPr lvl="1"/>
            <a:r>
              <a:rPr lang="en-US" smtClean="0"/>
              <a:t>Virtualization</a:t>
            </a:r>
          </a:p>
          <a:p>
            <a:pPr lvl="1"/>
            <a:r>
              <a:rPr lang="en-US" smtClean="0"/>
              <a:t>Cloud computing</a:t>
            </a:r>
          </a:p>
          <a:p>
            <a:pPr lvl="1"/>
            <a:r>
              <a:rPr lang="en-US" smtClean="0"/>
              <a:t>Database handling</a:t>
            </a:r>
          </a:p>
          <a:p>
            <a:r>
              <a:rPr lang="en-US" smtClean="0"/>
              <a:t>Datacenter Edition does not come with database software</a:t>
            </a:r>
          </a:p>
          <a:p>
            <a:pPr lvl="1"/>
            <a:r>
              <a:rPr lang="en-US" smtClean="0"/>
              <a:t>But it is designed to provide  the OS resources to accommodate large database applications </a:t>
            </a:r>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25842579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Windows Server 2016 Multipoint Premium Server</a:t>
            </a:r>
            <a:endParaRPr lang="en-US" dirty="0"/>
          </a:p>
        </p:txBody>
      </p:sp>
      <p:sp>
        <p:nvSpPr>
          <p:cNvPr id="2" name="Content Placeholder 1"/>
          <p:cNvSpPr>
            <a:spLocks noGrp="1"/>
          </p:cNvSpPr>
          <p:nvPr>
            <p:ph idx="1"/>
          </p:nvPr>
        </p:nvSpPr>
        <p:spPr/>
        <p:txBody>
          <a:bodyPr/>
          <a:lstStyle/>
          <a:p>
            <a:r>
              <a:rPr lang="en-US" smtClean="0"/>
              <a:t>Multipoint services</a:t>
            </a:r>
          </a:p>
          <a:p>
            <a:pPr lvl="1"/>
            <a:r>
              <a:rPr lang="en-US" smtClean="0"/>
              <a:t>Enable many users to share the same physical computer through each person connecting a keyboard, monitor, and mouse to a USB hub that is connected to a server</a:t>
            </a:r>
          </a:p>
          <a:p>
            <a:r>
              <a:rPr lang="en-US" smtClean="0"/>
              <a:t>Windows Server 2016 Multipoint Premium Server</a:t>
            </a:r>
          </a:p>
          <a:p>
            <a:pPr lvl="1"/>
            <a:r>
              <a:rPr lang="en-US" smtClean="0"/>
              <a:t>Offered to educational customers as a way to provide volume licensing</a:t>
            </a:r>
          </a:p>
          <a:p>
            <a:pPr lvl="1"/>
            <a:r>
              <a:rPr lang="en-US" smtClean="0"/>
              <a:t>The Multipoint Services role is included as a regular server role in Standard and Datacenter Editions</a:t>
            </a:r>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701779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Windows Storage Server 2016</a:t>
            </a:r>
            <a:endParaRPr lang="en-US" dirty="0"/>
          </a:p>
        </p:txBody>
      </p:sp>
      <p:sp>
        <p:nvSpPr>
          <p:cNvPr id="2" name="Content Placeholder 1"/>
          <p:cNvSpPr>
            <a:spLocks noGrp="1"/>
          </p:cNvSpPr>
          <p:nvPr>
            <p:ph idx="1"/>
          </p:nvPr>
        </p:nvSpPr>
        <p:spPr/>
        <p:txBody>
          <a:bodyPr/>
          <a:lstStyle/>
          <a:p>
            <a:r>
              <a:rPr lang="en-US" smtClean="0"/>
              <a:t>Original equipment manufacturers (OEMs) that focus on storage solutions for organizations</a:t>
            </a:r>
          </a:p>
          <a:p>
            <a:pPr lvl="1"/>
            <a:r>
              <a:rPr lang="en-US" smtClean="0"/>
              <a:t>Can offer Windows Storage Server 2016 on the server-based products they sell</a:t>
            </a:r>
          </a:p>
          <a:p>
            <a:r>
              <a:rPr lang="en-US" smtClean="0"/>
              <a:t>Windows Storage Server 2016</a:t>
            </a:r>
          </a:p>
          <a:p>
            <a:pPr lvl="1"/>
            <a:r>
              <a:rPr lang="en-US" smtClean="0"/>
              <a:t>Turns a server into a central storage center for data</a:t>
            </a:r>
          </a:p>
          <a:p>
            <a:pPr lvl="1"/>
            <a:r>
              <a:rPr lang="en-US" smtClean="0"/>
              <a:t>Takes advantage of storage utilities offered in Windows Server 2016</a:t>
            </a:r>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40175636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Microsoft Hyper-V Server 2016</a:t>
            </a:r>
            <a:endParaRPr lang="en-US" dirty="0"/>
          </a:p>
        </p:txBody>
      </p:sp>
      <p:sp>
        <p:nvSpPr>
          <p:cNvPr id="2" name="Content Placeholder 1"/>
          <p:cNvSpPr>
            <a:spLocks noGrp="1"/>
          </p:cNvSpPr>
          <p:nvPr>
            <p:ph idx="1"/>
          </p:nvPr>
        </p:nvSpPr>
        <p:spPr/>
        <p:txBody>
          <a:bodyPr/>
          <a:lstStyle/>
          <a:p>
            <a:r>
              <a:rPr lang="en-US" smtClean="0"/>
              <a:t>Microsoft Hyper-V Server 2016</a:t>
            </a:r>
          </a:p>
          <a:p>
            <a:pPr lvl="1"/>
            <a:r>
              <a:rPr lang="en-US" smtClean="0"/>
              <a:t>A free download of a basic server system that enables you to use Hyper-V</a:t>
            </a:r>
          </a:p>
          <a:p>
            <a:pPr lvl="1"/>
            <a:r>
              <a:rPr lang="en-US" smtClean="0"/>
              <a:t>Use this if you want to learn more about how Hyper-V works or to set up a basic Hyper-V system</a:t>
            </a:r>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41152413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Using Windows Server 2016 with Client Systems</a:t>
            </a:r>
            <a:endParaRPr lang="en-US" dirty="0"/>
          </a:p>
        </p:txBody>
      </p:sp>
      <p:sp>
        <p:nvSpPr>
          <p:cNvPr id="2" name="Content Placeholder 1"/>
          <p:cNvSpPr>
            <a:spLocks noGrp="1"/>
          </p:cNvSpPr>
          <p:nvPr>
            <p:ph idx="1"/>
          </p:nvPr>
        </p:nvSpPr>
        <p:spPr/>
        <p:txBody>
          <a:bodyPr/>
          <a:lstStyle/>
          <a:p>
            <a:r>
              <a:rPr lang="en-US" smtClean="0"/>
              <a:t>The client workstation operating system most compatible with Windows Server 2016:</a:t>
            </a:r>
          </a:p>
          <a:p>
            <a:pPr lvl="1"/>
            <a:r>
              <a:rPr lang="en-US" smtClean="0"/>
              <a:t>Windows versions 7, 8, 8.1, and 10</a:t>
            </a:r>
          </a:p>
          <a:p>
            <a:pPr lvl="1"/>
            <a:r>
              <a:rPr lang="en-US" smtClean="0"/>
              <a:t>Windows 10 being the most compatible in terms of client management</a:t>
            </a:r>
          </a:p>
          <a:p>
            <a:r>
              <a:rPr lang="en-US" smtClean="0"/>
              <a:t>Client </a:t>
            </a:r>
          </a:p>
          <a:p>
            <a:pPr lvl="1"/>
            <a:r>
              <a:rPr lang="en-US" smtClean="0"/>
              <a:t>A computer that accesses resources on another computer via a network</a:t>
            </a:r>
          </a:p>
          <a:p>
            <a:r>
              <a:rPr lang="en-US" smtClean="0"/>
              <a:t>Workstation</a:t>
            </a:r>
          </a:p>
          <a:p>
            <a:pPr lvl="1"/>
            <a:r>
              <a:rPr lang="en-US" smtClean="0"/>
              <a:t>A computer that has its own central processing unit (CPU) and can be used as a stand-alone or network computer</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22099986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Using Windows Server 2016 with Client Systems (1 of 3)</a:t>
            </a:r>
            <a:endParaRPr lang="en-US" dirty="0"/>
          </a:p>
        </p:txBody>
      </p:sp>
      <p:sp>
        <p:nvSpPr>
          <p:cNvPr id="2" name="Content Placeholder 1"/>
          <p:cNvSpPr>
            <a:spLocks noGrp="1"/>
          </p:cNvSpPr>
          <p:nvPr>
            <p:ph idx="1"/>
          </p:nvPr>
        </p:nvSpPr>
        <p:spPr/>
        <p:txBody>
          <a:bodyPr/>
          <a:lstStyle/>
          <a:p>
            <a:r>
              <a:rPr lang="en-US" smtClean="0"/>
              <a:t>The overall goal of Microsoft is to achieve a lower total cost of ownership (TCO)</a:t>
            </a:r>
          </a:p>
          <a:p>
            <a:pPr lvl="1"/>
            <a:r>
              <a:rPr lang="en-US" smtClean="0"/>
              <a:t>TCO is the full cost of owning a network, including hardware, software, training, maintenance, and user support costs</a:t>
            </a:r>
          </a:p>
          <a:p>
            <a:r>
              <a:rPr lang="en-US" smtClean="0"/>
              <a:t>Domain</a:t>
            </a:r>
          </a:p>
          <a:p>
            <a:pPr lvl="1"/>
            <a:r>
              <a:rPr lang="en-US" smtClean="0"/>
              <a:t>A grouping of network objects, such as computers, servers, and user accounts, that provides for easier management</a:t>
            </a:r>
          </a:p>
          <a:p>
            <a:pPr lvl="1"/>
            <a:r>
              <a:rPr lang="en-US" smtClean="0"/>
              <a:t>Computers and users in a domain can be managed to determine what resources they can access</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16156694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Using Windows Server 2016 with Client Systems (2 of 3)</a:t>
            </a:r>
            <a:endParaRPr lang="en-US" dirty="0"/>
          </a:p>
        </p:txBody>
      </p:sp>
      <p:sp>
        <p:nvSpPr>
          <p:cNvPr id="2" name="Content Placeholder 1"/>
          <p:cNvSpPr>
            <a:spLocks noGrp="1"/>
          </p:cNvSpPr>
          <p:nvPr>
            <p:ph idx="1"/>
          </p:nvPr>
        </p:nvSpPr>
        <p:spPr/>
        <p:txBody>
          <a:bodyPr/>
          <a:lstStyle/>
          <a:p>
            <a:r>
              <a:rPr lang="en-US" smtClean="0"/>
              <a:t>Advantages of using Windows Server 2016 and Windows versions 7 through 10 together include the following:</a:t>
            </a:r>
          </a:p>
          <a:p>
            <a:pPr lvl="1"/>
            <a:r>
              <a:rPr lang="en-US" smtClean="0"/>
              <a:t>Enhanced capabilities to recover from many types of network communications problems</a:t>
            </a:r>
          </a:p>
          <a:p>
            <a:pPr lvl="1"/>
            <a:r>
              <a:rPr lang="en-US" smtClean="0"/>
              <a:t>Computer code for more efficient network communications</a:t>
            </a:r>
          </a:p>
          <a:p>
            <a:pPr lvl="1"/>
            <a:r>
              <a:rPr lang="en-US" smtClean="0"/>
              <a:t>More network diagnostic capabilities</a:t>
            </a:r>
          </a:p>
          <a:p>
            <a:pPr lvl="1"/>
            <a:r>
              <a:rPr lang="en-US" smtClean="0"/>
              <a:t>Computer code for better use of the network communications protocols</a:t>
            </a:r>
          </a:p>
          <a:p>
            <a:pPr lvl="1"/>
            <a:r>
              <a:rPr lang="en-US" smtClean="0"/>
              <a:t>Continuing upgrades for Windows PowerShell commands and scripts in both Windows Server 2016 and Windows 7 through 10</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5434247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Using Windows Server 2016 with Client Systems (3 of 3)</a:t>
            </a:r>
            <a:endParaRPr lang="en-US" dirty="0"/>
          </a:p>
        </p:txBody>
      </p:sp>
      <p:sp>
        <p:nvSpPr>
          <p:cNvPr id="2" name="Content Placeholder 1"/>
          <p:cNvSpPr>
            <a:spLocks noGrp="1"/>
          </p:cNvSpPr>
          <p:nvPr>
            <p:ph idx="1"/>
          </p:nvPr>
        </p:nvSpPr>
        <p:spPr/>
        <p:txBody>
          <a:bodyPr/>
          <a:lstStyle/>
          <a:p>
            <a:r>
              <a:rPr lang="en-US" smtClean="0"/>
              <a:t>Active Directory</a:t>
            </a:r>
          </a:p>
          <a:p>
            <a:pPr lvl="1"/>
            <a:r>
              <a:rPr lang="en-US" smtClean="0"/>
              <a:t>Database of computers, users, groups of users, shared printers, shared folders, and other network resources</a:t>
            </a:r>
          </a:p>
          <a:p>
            <a:r>
              <a:rPr lang="en-US" smtClean="0"/>
              <a:t>Windows Server 2016 supports Linux through Linus Integration Services (LIS)</a:t>
            </a:r>
          </a:p>
          <a:p>
            <a:pPr lvl="1"/>
            <a:r>
              <a:rPr lang="en-US" smtClean="0"/>
              <a:t>Enables Linux clients to access a Linux VM in Hyper-V</a:t>
            </a:r>
          </a:p>
          <a:p>
            <a:r>
              <a:rPr lang="en-US" smtClean="0"/>
              <a:t>New capabilities in LIS:</a:t>
            </a:r>
          </a:p>
          <a:p>
            <a:pPr lvl="1"/>
            <a:r>
              <a:rPr lang="en-US" smtClean="0"/>
              <a:t>New software for enhanced desktop graphics performance on Linux clients</a:t>
            </a:r>
          </a:p>
          <a:p>
            <a:pPr lvl="1"/>
            <a:r>
              <a:rPr lang="en-US" smtClean="0"/>
              <a:t>Improved backup support functions</a:t>
            </a:r>
          </a:p>
          <a:p>
            <a:pPr lvl="1"/>
            <a:r>
              <a:rPr lang="en-US" smtClean="0"/>
              <a:t>Creation of kernel dumps for Linux VMs</a:t>
            </a:r>
          </a:p>
          <a:p>
            <a:pPr lvl="1"/>
            <a:r>
              <a:rPr lang="en-US" smtClean="0"/>
              <a:t>Better control of available RAM in Linux VMs</a:t>
            </a:r>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24892468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Windows Server 2016 Features</a:t>
            </a:r>
            <a:endParaRPr lang="en-US" dirty="0"/>
          </a:p>
        </p:txBody>
      </p:sp>
      <p:sp>
        <p:nvSpPr>
          <p:cNvPr id="2" name="Content Placeholder 1"/>
          <p:cNvSpPr>
            <a:spLocks noGrp="1"/>
          </p:cNvSpPr>
          <p:nvPr>
            <p:ph idx="1"/>
          </p:nvPr>
        </p:nvSpPr>
        <p:spPr/>
        <p:txBody>
          <a:bodyPr/>
          <a:lstStyle/>
          <a:p>
            <a:r>
              <a:rPr lang="en-US" smtClean="0"/>
              <a:t>Features include:</a:t>
            </a:r>
          </a:p>
          <a:p>
            <a:pPr lvl="1"/>
            <a:r>
              <a:rPr lang="en-US" smtClean="0"/>
              <a:t>Server Manager</a:t>
            </a:r>
          </a:p>
          <a:p>
            <a:pPr lvl="1"/>
            <a:r>
              <a:rPr lang="en-US" smtClean="0"/>
              <a:t>Security</a:t>
            </a:r>
          </a:p>
          <a:p>
            <a:pPr lvl="1"/>
            <a:r>
              <a:rPr lang="en-US" smtClean="0"/>
              <a:t>Clustering</a:t>
            </a:r>
          </a:p>
          <a:p>
            <a:pPr lvl="1"/>
            <a:r>
              <a:rPr lang="en-US" smtClean="0"/>
              <a:t>Enhanced Web services</a:t>
            </a:r>
          </a:p>
          <a:p>
            <a:pPr lvl="1"/>
            <a:r>
              <a:rPr lang="en-US" smtClean="0"/>
              <a:t>Windows Server Core and Nano Server</a:t>
            </a:r>
          </a:p>
          <a:p>
            <a:pPr lvl="1"/>
            <a:r>
              <a:rPr lang="en-US" smtClean="0"/>
              <a:t>Windows PowerShell</a:t>
            </a:r>
          </a:p>
          <a:p>
            <a:pPr lvl="1"/>
            <a:r>
              <a:rPr lang="en-US" smtClean="0"/>
              <a:t>Virtualization</a:t>
            </a:r>
          </a:p>
          <a:p>
            <a:pPr lvl="1"/>
            <a:r>
              <a:rPr lang="en-US" smtClean="0"/>
              <a:t>Reliability</a:t>
            </a:r>
          </a:p>
          <a:p>
            <a:pPr lvl="1"/>
            <a:r>
              <a:rPr lang="en-US" smtClean="0"/>
              <a:t>Multitasking and multithreading</a:t>
            </a:r>
          </a:p>
          <a:p>
            <a:pPr lvl="1"/>
            <a:r>
              <a:rPr lang="en-US" smtClean="0"/>
              <a:t>Physical and logical processors</a:t>
            </a:r>
          </a:p>
          <a:p>
            <a:pPr lvl="1"/>
            <a:r>
              <a:rPr lang="en-US" smtClean="0"/>
              <a:t>Containers</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412272838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Server Manager (1 of 2)</a:t>
            </a:r>
            <a:endParaRPr lang="en-US" dirty="0"/>
          </a:p>
        </p:txBody>
      </p:sp>
      <p:sp>
        <p:nvSpPr>
          <p:cNvPr id="2" name="Content Placeholder 1"/>
          <p:cNvSpPr>
            <a:spLocks noGrp="1"/>
          </p:cNvSpPr>
          <p:nvPr>
            <p:ph idx="1"/>
          </p:nvPr>
        </p:nvSpPr>
        <p:spPr/>
        <p:txBody>
          <a:bodyPr/>
          <a:lstStyle/>
          <a:p>
            <a:r>
              <a:rPr lang="en-US" smtClean="0"/>
              <a:t>Server Manager</a:t>
            </a:r>
          </a:p>
          <a:p>
            <a:pPr lvl="1"/>
            <a:r>
              <a:rPr lang="en-US" smtClean="0"/>
              <a:t>Enables the server administrator to manage critical configuration features from inside one tool</a:t>
            </a:r>
          </a:p>
          <a:p>
            <a:r>
              <a:rPr lang="en-US" smtClean="0"/>
              <a:t>Server Manager is used to:</a:t>
            </a:r>
          </a:p>
          <a:p>
            <a:pPr lvl="1"/>
            <a:r>
              <a:rPr lang="en-US" smtClean="0"/>
              <a:t>Configure a server from the beginning</a:t>
            </a:r>
          </a:p>
          <a:p>
            <a:pPr lvl="1"/>
            <a:r>
              <a:rPr lang="en-US" smtClean="0"/>
              <a:t>View computer configuration information.</a:t>
            </a:r>
          </a:p>
          <a:p>
            <a:pPr lvl="1"/>
            <a:r>
              <a:rPr lang="en-US" smtClean="0"/>
              <a:t>Change server roles and system properties</a:t>
            </a:r>
          </a:p>
          <a:p>
            <a:pPr lvl="1"/>
            <a:r>
              <a:rPr lang="en-US" smtClean="0"/>
              <a:t>Configure networking</a:t>
            </a:r>
          </a:p>
          <a:p>
            <a:pPr lvl="1"/>
            <a:r>
              <a:rPr lang="en-US" smtClean="0"/>
              <a:t>Configure Remote Desktop</a:t>
            </a:r>
          </a:p>
          <a:p>
            <a:pPr lvl="1"/>
            <a:r>
              <a:rPr lang="en-US" smtClean="0"/>
              <a:t>Configure security, including the firewall</a:t>
            </a:r>
          </a:p>
          <a:p>
            <a:pPr lvl="1"/>
            <a:r>
              <a:rPr lang="en-US" smtClean="0"/>
              <a:t>Add and remove features</a:t>
            </a:r>
          </a:p>
          <a:p>
            <a:pPr lvl="1"/>
            <a:r>
              <a:rPr lang="en-US" smtClean="0"/>
              <a:t>Run diagnostics</a:t>
            </a:r>
          </a:p>
          <a:p>
            <a:pPr lvl="1"/>
            <a:r>
              <a:rPr lang="en-US" smtClean="0"/>
              <a:t>Manage storage and backups</a:t>
            </a:r>
          </a:p>
          <a:p>
            <a:pPr lvl="1"/>
            <a:r>
              <a:rPr lang="en-US" smtClean="0"/>
              <a:t>Manage multiple servers from one place</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198983091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Server Manager (2 of 2)</a:t>
            </a:r>
            <a:endParaRPr lang="en-US" dirty="0"/>
          </a:p>
        </p:txBody>
      </p:sp>
      <p:sp>
        <p:nvSpPr>
          <p:cNvPr id="2" name="Content Placeholder 1"/>
          <p:cNvSpPr>
            <a:spLocks noGrp="1"/>
          </p:cNvSpPr>
          <p:nvPr>
            <p:ph idx="1"/>
          </p:nvPr>
        </p:nvSpPr>
        <p:spPr/>
        <p:txBody>
          <a:bodyPr/>
          <a:lstStyle/>
          <a:p>
            <a:r>
              <a:rPr lang="en-US" smtClean="0"/>
              <a:t>New features of Server Manager include the following advantages:</a:t>
            </a:r>
          </a:p>
          <a:p>
            <a:pPr lvl="1"/>
            <a:r>
              <a:rPr lang="en-US" smtClean="0"/>
              <a:t>Local Server option makes all of the local server properties available to manage</a:t>
            </a:r>
          </a:p>
          <a:p>
            <a:pPr lvl="1"/>
            <a:r>
              <a:rPr lang="en-US" smtClean="0"/>
              <a:t>Multiple servers are easier to manage from one place</a:t>
            </a:r>
          </a:p>
          <a:p>
            <a:pPr lvl="1"/>
            <a:r>
              <a:rPr lang="en-US" smtClean="0"/>
              <a:t>Servers can be grouped so that all servers in a specific group received one or more commands simultaneously</a:t>
            </a:r>
          </a:p>
          <a:p>
            <a:pPr lvl="1"/>
            <a:r>
              <a:rPr lang="en-US" smtClean="0"/>
              <a:t>The Dashboard offers more quick-start guidance for setting up one or more servers and establishing groupings used to manage specific kinds of servers</a:t>
            </a:r>
          </a:p>
          <a:p>
            <a:pPr lvl="1"/>
            <a:r>
              <a:rPr lang="en-US" smtClean="0"/>
              <a:t>The Server Manager GUI has a new look with added features, such as greater ability to add and manage remote servers</a:t>
            </a:r>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72018805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Security</a:t>
            </a:r>
            <a:endParaRPr lang="en-US" dirty="0"/>
          </a:p>
        </p:txBody>
      </p:sp>
      <p:sp>
        <p:nvSpPr>
          <p:cNvPr id="2" name="Content Placeholder 1"/>
          <p:cNvSpPr>
            <a:spLocks noGrp="1"/>
          </p:cNvSpPr>
          <p:nvPr>
            <p:ph idx="1"/>
          </p:nvPr>
        </p:nvSpPr>
        <p:spPr/>
        <p:txBody>
          <a:bodyPr/>
          <a:lstStyle/>
          <a:p>
            <a:r>
              <a:rPr lang="en-US" smtClean="0"/>
              <a:t>When you install Windows Server 2016, add a feature, or install a Windows component</a:t>
            </a:r>
          </a:p>
          <a:p>
            <a:pPr lvl="1"/>
            <a:r>
              <a:rPr lang="en-US" smtClean="0"/>
              <a:t>An essential level of security is automatically implemented</a:t>
            </a:r>
          </a:p>
          <a:p>
            <a:r>
              <a:rPr lang="en-US" smtClean="0"/>
              <a:t>Other security features include:</a:t>
            </a:r>
          </a:p>
          <a:p>
            <a:pPr lvl="1"/>
            <a:r>
              <a:rPr lang="en-US" smtClean="0"/>
              <a:t>File and folder permissions</a:t>
            </a:r>
          </a:p>
          <a:p>
            <a:pPr lvl="1"/>
            <a:r>
              <a:rPr lang="en-US" smtClean="0"/>
              <a:t>Security policies</a:t>
            </a:r>
          </a:p>
          <a:p>
            <a:pPr lvl="1"/>
            <a:r>
              <a:rPr lang="en-US" smtClean="0"/>
              <a:t>Encryption of data</a:t>
            </a:r>
          </a:p>
          <a:p>
            <a:pPr lvl="1"/>
            <a:r>
              <a:rPr lang="en-US" smtClean="0"/>
              <a:t>Event auditing</a:t>
            </a:r>
          </a:p>
          <a:p>
            <a:pPr lvl="1"/>
            <a:r>
              <a:rPr lang="en-US" smtClean="0"/>
              <a:t>Various authentication methods</a:t>
            </a:r>
          </a:p>
          <a:p>
            <a:pPr lvl="1"/>
            <a:r>
              <a:rPr lang="en-US" smtClean="0"/>
              <a:t>Server management and monitoring tools</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217094632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Clustering and Clustering Tools</a:t>
            </a:r>
            <a:endParaRPr lang="en-US" dirty="0"/>
          </a:p>
        </p:txBody>
      </p:sp>
      <p:sp>
        <p:nvSpPr>
          <p:cNvPr id="2" name="Content Placeholder 1"/>
          <p:cNvSpPr>
            <a:spLocks noGrp="1"/>
          </p:cNvSpPr>
          <p:nvPr>
            <p:ph idx="1"/>
          </p:nvPr>
        </p:nvSpPr>
        <p:spPr/>
        <p:txBody>
          <a:bodyPr/>
          <a:lstStyle/>
          <a:p>
            <a:r>
              <a:rPr lang="en-US" smtClean="0"/>
              <a:t>Windows Server 2016 offers tools to:</a:t>
            </a:r>
          </a:p>
          <a:p>
            <a:pPr lvl="1"/>
            <a:r>
              <a:rPr lang="en-US" smtClean="0"/>
              <a:t>Test a cluster to ensure it is set up to accomplish the tasks for which it is intended</a:t>
            </a:r>
          </a:p>
          <a:p>
            <a:pPr lvl="1"/>
            <a:r>
              <a:rPr lang="en-US" smtClean="0"/>
              <a:t>Migrate configuration settings from one cluster to another</a:t>
            </a:r>
          </a:p>
          <a:p>
            <a:pPr lvl="1"/>
            <a:r>
              <a:rPr lang="en-US" smtClean="0"/>
              <a:t>Quickly configure a cluster and troubleshoot problems</a:t>
            </a:r>
          </a:p>
          <a:p>
            <a:pPr lvl="1"/>
            <a:r>
              <a:rPr lang="en-US" smtClean="0"/>
              <a:t>Set up storage used in a cluster</a:t>
            </a:r>
          </a:p>
          <a:p>
            <a:pPr lvl="1"/>
            <a:r>
              <a:rPr lang="en-US" smtClean="0"/>
              <a:t>Create better cluster storage performance and reliability</a:t>
            </a:r>
          </a:p>
          <a:p>
            <a:pPr lvl="1"/>
            <a:r>
              <a:rPr lang="en-US" smtClean="0"/>
              <a:t>Secure a cluster and enable it to use new network capabilities</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258058260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Enhanced Web Services</a:t>
            </a:r>
            <a:endParaRPr lang="en-US" dirty="0"/>
          </a:p>
        </p:txBody>
      </p:sp>
      <p:sp>
        <p:nvSpPr>
          <p:cNvPr id="2" name="Content Placeholder 1"/>
          <p:cNvSpPr>
            <a:spLocks noGrp="1"/>
          </p:cNvSpPr>
          <p:nvPr>
            <p:ph idx="1"/>
          </p:nvPr>
        </p:nvSpPr>
        <p:spPr/>
        <p:txBody>
          <a:bodyPr/>
          <a:lstStyle/>
          <a:p>
            <a:r>
              <a:rPr lang="fr-FR" smtClean="0"/>
              <a:t>Microsoft Internet Information Services (IIS)</a:t>
            </a:r>
          </a:p>
          <a:p>
            <a:pPr lvl="1"/>
            <a:r>
              <a:rPr lang="en-US" smtClean="0"/>
              <a:t>Transforms Windows Server 2016 into a versatile Web server</a:t>
            </a:r>
          </a:p>
          <a:p>
            <a:r>
              <a:rPr lang="en-US" smtClean="0"/>
              <a:t>IIS has been designed to:</a:t>
            </a:r>
          </a:p>
          <a:p>
            <a:pPr lvl="1"/>
            <a:r>
              <a:rPr lang="en-US" smtClean="0"/>
              <a:t>Include over 40 modules</a:t>
            </a:r>
          </a:p>
          <a:p>
            <a:pPr lvl="2"/>
            <a:r>
              <a:rPr lang="en-US" smtClean="0"/>
              <a:t>Intended to enable IIS to have a lower attack surface</a:t>
            </a:r>
          </a:p>
          <a:p>
            <a:pPr lvl="1"/>
            <a:r>
              <a:rPr lang="en-US" smtClean="0"/>
              <a:t>Provide easier application of IIS patches</a:t>
            </a:r>
          </a:p>
          <a:p>
            <a:pPr lvl="1"/>
            <a:r>
              <a:rPr lang="en-US" smtClean="0"/>
              <a:t>Make it easier for network programmers to write network applications and configure applications for the Web</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184695415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Windows Server Core and Nano Server (1 of 2)</a:t>
            </a:r>
            <a:endParaRPr lang="en-US" dirty="0"/>
          </a:p>
        </p:txBody>
      </p:sp>
      <p:sp>
        <p:nvSpPr>
          <p:cNvPr id="2" name="Content Placeholder 1"/>
          <p:cNvSpPr>
            <a:spLocks noGrp="1"/>
          </p:cNvSpPr>
          <p:nvPr>
            <p:ph idx="1"/>
          </p:nvPr>
        </p:nvSpPr>
        <p:spPr/>
        <p:txBody>
          <a:bodyPr/>
          <a:lstStyle/>
          <a:p>
            <a:r>
              <a:rPr lang="en-US" smtClean="0"/>
              <a:t>Windows Server Core</a:t>
            </a:r>
          </a:p>
          <a:p>
            <a:pPr lvl="1"/>
            <a:r>
              <a:rPr lang="en-US" smtClean="0"/>
              <a:t>A minimum server configuration</a:t>
            </a:r>
          </a:p>
          <a:p>
            <a:pPr lvl="1"/>
            <a:r>
              <a:rPr lang="en-US" smtClean="0"/>
              <a:t>Designed to function in a fashion similar to traditional UNIX and Linux servers</a:t>
            </a:r>
          </a:p>
          <a:p>
            <a:pPr lvl="1"/>
            <a:r>
              <a:rPr lang="en-US" smtClean="0"/>
              <a:t>Does not provide the following:</a:t>
            </a:r>
          </a:p>
          <a:p>
            <a:pPr lvl="2"/>
            <a:r>
              <a:rPr lang="en-US" smtClean="0"/>
              <a:t>A graphical interface, just a command line</a:t>
            </a:r>
          </a:p>
          <a:p>
            <a:pPr lvl="2"/>
            <a:r>
              <a:rPr lang="en-US" smtClean="0"/>
              <a:t>Graphical tools to configure the server</a:t>
            </a:r>
          </a:p>
          <a:p>
            <a:pPr lvl="2"/>
            <a:r>
              <a:rPr lang="en-US" smtClean="0"/>
              <a:t>Extra services that you do not need</a:t>
            </a:r>
          </a:p>
          <a:p>
            <a:pPr lvl="2"/>
            <a:r>
              <a:rPr lang="en-US" smtClean="0"/>
              <a:t>A mouse pointer on the screen</a:t>
            </a:r>
          </a:p>
          <a:p>
            <a:pPr lvl="2"/>
            <a:r>
              <a:rPr lang="en-US" smtClean="0"/>
              <a:t>Windows Mail, Microsoft Word, search windows, and other software</a:t>
            </a:r>
          </a:p>
          <a:p>
            <a:r>
              <a:rPr lang="en-US" smtClean="0"/>
              <a:t>Windows Nano Server</a:t>
            </a:r>
          </a:p>
          <a:p>
            <a:pPr lvl="1"/>
            <a:r>
              <a:rPr lang="en-US" smtClean="0"/>
              <a:t>A new installation option in Windows Server 2016</a:t>
            </a:r>
          </a:p>
          <a:p>
            <a:pPr lvl="1"/>
            <a:r>
              <a:rPr lang="en-US" smtClean="0"/>
              <a:t>Smaller footprint than Server Core</a:t>
            </a:r>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259158790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Windows Server Core and Nano Server (2 of 2)</a:t>
            </a:r>
            <a:endParaRPr lang="en-US" dirty="0"/>
          </a:p>
        </p:txBody>
      </p:sp>
      <p:sp>
        <p:nvSpPr>
          <p:cNvPr id="2" name="Content Placeholder 1"/>
          <p:cNvSpPr>
            <a:spLocks noGrp="1"/>
          </p:cNvSpPr>
          <p:nvPr>
            <p:ph idx="1"/>
          </p:nvPr>
        </p:nvSpPr>
        <p:spPr/>
        <p:txBody>
          <a:bodyPr/>
          <a:lstStyle/>
          <a:p>
            <a:r>
              <a:rPr lang="en-US" smtClean="0"/>
              <a:t>Windows Nano Server (cont’d)</a:t>
            </a:r>
          </a:p>
          <a:p>
            <a:pPr lvl="1"/>
            <a:r>
              <a:rPr lang="en-US" smtClean="0"/>
              <a:t>Provides a basic foundation for server computing</a:t>
            </a:r>
          </a:p>
          <a:p>
            <a:pPr lvl="1"/>
            <a:r>
              <a:rPr lang="en-US" smtClean="0"/>
              <a:t>Intended to be faster and need less maintenance</a:t>
            </a:r>
          </a:p>
          <a:p>
            <a:r>
              <a:rPr lang="en-US" smtClean="0"/>
              <a:t>Microsoft views Nano Server as a platform on which to run a (an):</a:t>
            </a:r>
          </a:p>
          <a:p>
            <a:pPr lvl="1"/>
            <a:r>
              <a:rPr lang="en-US" smtClean="0"/>
              <a:t>DNS or DHCP server</a:t>
            </a:r>
          </a:p>
          <a:p>
            <a:pPr lvl="1"/>
            <a:r>
              <a:rPr lang="en-US" smtClean="0"/>
              <a:t>Applications server, such as from the cloud</a:t>
            </a:r>
          </a:p>
          <a:p>
            <a:pPr lvl="1"/>
            <a:r>
              <a:rPr lang="en-US" smtClean="0"/>
              <a:t>Web server</a:t>
            </a:r>
          </a:p>
          <a:p>
            <a:pPr lvl="1"/>
            <a:r>
              <a:rPr lang="en-US" smtClean="0"/>
              <a:t>Database or file server</a:t>
            </a:r>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251400650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Windows PowerShell (1 of 3)</a:t>
            </a:r>
            <a:endParaRPr lang="en-US" dirty="0"/>
          </a:p>
        </p:txBody>
      </p:sp>
      <p:sp>
        <p:nvSpPr>
          <p:cNvPr id="2" name="Content Placeholder 1"/>
          <p:cNvSpPr>
            <a:spLocks noGrp="1"/>
          </p:cNvSpPr>
          <p:nvPr>
            <p:ph idx="1"/>
          </p:nvPr>
        </p:nvSpPr>
        <p:spPr/>
        <p:txBody>
          <a:bodyPr/>
          <a:lstStyle/>
          <a:p>
            <a:r>
              <a:rPr lang="en-US" smtClean="0"/>
              <a:t>Windows PowerShell</a:t>
            </a:r>
          </a:p>
          <a:p>
            <a:pPr lvl="1"/>
            <a:r>
              <a:rPr lang="en-US" smtClean="0"/>
              <a:t>A command-line interface that offers a shell</a:t>
            </a:r>
          </a:p>
          <a:p>
            <a:pPr lvl="2"/>
            <a:r>
              <a:rPr lang="en-US" smtClean="0"/>
              <a:t>A customized environment for executing commands and scripts</a:t>
            </a:r>
          </a:p>
          <a:p>
            <a:pPr lvl="1"/>
            <a:r>
              <a:rPr lang="en-US" smtClean="0"/>
              <a:t>Scripts are files that contain commands to be run by a computer OS</a:t>
            </a:r>
          </a:p>
          <a:p>
            <a:r>
              <a:rPr lang="en-US" smtClean="0"/>
              <a:t>Can perform the following tasks with PowerShell:</a:t>
            </a:r>
          </a:p>
          <a:p>
            <a:pPr lvl="1"/>
            <a:r>
              <a:rPr lang="en-US" smtClean="0"/>
              <a:t>Work with files and folders</a:t>
            </a:r>
          </a:p>
          <a:p>
            <a:pPr lvl="1"/>
            <a:r>
              <a:rPr lang="en-US" smtClean="0"/>
              <a:t>Manage disk storage</a:t>
            </a:r>
          </a:p>
          <a:p>
            <a:pPr lvl="1"/>
            <a:r>
              <a:rPr lang="en-US" smtClean="0"/>
              <a:t>Manage network tasks</a:t>
            </a:r>
          </a:p>
          <a:p>
            <a:pPr lvl="1"/>
            <a:r>
              <a:rPr lang="en-US" smtClean="0"/>
              <a:t>Set up local and network printing options</a:t>
            </a:r>
          </a:p>
          <a:p>
            <a:pPr lvl="1"/>
            <a:r>
              <a:rPr lang="en-US" smtClean="0"/>
              <a:t>Install, list, and remove software applications</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201685527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Windows PowerShell (2 of 3)</a:t>
            </a:r>
            <a:endParaRPr lang="en-US" dirty="0"/>
          </a:p>
        </p:txBody>
      </p:sp>
      <p:sp>
        <p:nvSpPr>
          <p:cNvPr id="2" name="Content Placeholder 1"/>
          <p:cNvSpPr>
            <a:spLocks noGrp="1"/>
          </p:cNvSpPr>
          <p:nvPr>
            <p:ph idx="1"/>
          </p:nvPr>
        </p:nvSpPr>
        <p:spPr/>
        <p:txBody>
          <a:bodyPr/>
          <a:lstStyle/>
          <a:p>
            <a:r>
              <a:rPr lang="en-US" smtClean="0"/>
              <a:t>Can perform the following tasks with PowerShell (cont’d):</a:t>
            </a:r>
          </a:p>
          <a:p>
            <a:pPr lvl="1"/>
            <a:r>
              <a:rPr lang="en-US" smtClean="0"/>
              <a:t>View information about the local computer, including user accounts</a:t>
            </a:r>
          </a:p>
          <a:p>
            <a:pPr lvl="1"/>
            <a:r>
              <a:rPr lang="en-US" smtClean="0"/>
              <a:t>Manage services and processes</a:t>
            </a:r>
          </a:p>
          <a:p>
            <a:pPr lvl="1"/>
            <a:r>
              <a:rPr lang="en-US" smtClean="0"/>
              <a:t>Lock a computer or log off</a:t>
            </a:r>
          </a:p>
          <a:p>
            <a:pPr lvl="1"/>
            <a:r>
              <a:rPr lang="en-US" smtClean="0"/>
              <a:t>Manage IIS Web services</a:t>
            </a:r>
          </a:p>
          <a:p>
            <a:r>
              <a:rPr lang="en-US" smtClean="0"/>
              <a:t>Windows PowerShell offers over 130 command-line tools, also called cmdlets</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159222485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Windows PowerShell (3 of 3)</a:t>
            </a:r>
            <a:endParaRPr lang="en-US" dirty="0"/>
          </a:p>
        </p:txBody>
      </p:sp>
      <p:pic>
        <p:nvPicPr>
          <p:cNvPr id="6" name="Content Placeholder 5" descr="Figure 1-4 Page No.16; Complexity level: 1&#10;Screenshot shows an “Administrator: Windows PowerShell” prompt window. &#10;"/>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981200" y="1752600"/>
            <a:ext cx="4726009" cy="3871912"/>
          </a:xfrm>
        </p:spPr>
      </p:pic>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60046668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Virtualization</a:t>
            </a:r>
            <a:endParaRPr lang="en-US" dirty="0"/>
          </a:p>
        </p:txBody>
      </p:sp>
      <p:sp>
        <p:nvSpPr>
          <p:cNvPr id="2" name="Content Placeholder 1"/>
          <p:cNvSpPr>
            <a:spLocks noGrp="1"/>
          </p:cNvSpPr>
          <p:nvPr>
            <p:ph idx="1"/>
          </p:nvPr>
        </p:nvSpPr>
        <p:spPr/>
        <p:txBody>
          <a:bodyPr/>
          <a:lstStyle/>
          <a:p>
            <a:r>
              <a:rPr lang="en-US" smtClean="0"/>
              <a:t>Hyper-V provides the ability to run two or more operating systems on a single computer</a:t>
            </a:r>
          </a:p>
          <a:p>
            <a:r>
              <a:rPr lang="en-US" smtClean="0"/>
              <a:t>The Hyper-V capabilities include the following:</a:t>
            </a:r>
          </a:p>
          <a:p>
            <a:pPr lvl="1"/>
            <a:r>
              <a:rPr lang="en-US" smtClean="0"/>
              <a:t>Compatible with clustering</a:t>
            </a:r>
          </a:p>
          <a:p>
            <a:pPr lvl="1"/>
            <a:r>
              <a:rPr lang="en-US" smtClean="0"/>
              <a:t>Can be used with Windows and Linux operating systems</a:t>
            </a:r>
          </a:p>
          <a:p>
            <a:pPr lvl="1"/>
            <a:r>
              <a:rPr lang="en-US" smtClean="0"/>
              <a:t>Compatible with different types of disk storage methods</a:t>
            </a:r>
          </a:p>
          <a:p>
            <a:pPr lvl="1"/>
            <a:r>
              <a:rPr lang="en-US" smtClean="0"/>
              <a:t>Enables fast migration from one computer to another</a:t>
            </a:r>
          </a:p>
          <a:p>
            <a:pPr lvl="1"/>
            <a:r>
              <a:rPr lang="en-US" smtClean="0"/>
              <a:t>Can house 64-bit and 32-bit operating systems</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404607504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Reliability</a:t>
            </a:r>
            <a:endParaRPr lang="en-US" dirty="0"/>
          </a:p>
        </p:txBody>
      </p:sp>
      <p:sp>
        <p:nvSpPr>
          <p:cNvPr id="2" name="Content Placeholder 1"/>
          <p:cNvSpPr>
            <a:spLocks noGrp="1"/>
          </p:cNvSpPr>
          <p:nvPr>
            <p:ph idx="1"/>
          </p:nvPr>
        </p:nvSpPr>
        <p:spPr/>
        <p:txBody>
          <a:bodyPr/>
          <a:lstStyle/>
          <a:p>
            <a:r>
              <a:rPr lang="en-US" smtClean="0"/>
              <a:t>The operating system kernel runs in privileged mode</a:t>
            </a:r>
          </a:p>
          <a:p>
            <a:pPr lvl="1"/>
            <a:r>
              <a:rPr lang="en-US" smtClean="0"/>
              <a:t>Protects it from problems created by a malfunctioning program or process</a:t>
            </a:r>
          </a:p>
          <a:p>
            <a:r>
              <a:rPr lang="en-US" smtClean="0"/>
              <a:t>The kernel consists of the core programs and the computer code of the operating system</a:t>
            </a:r>
          </a:p>
          <a:p>
            <a:r>
              <a:rPr lang="en-US" smtClean="0"/>
              <a:t>Privileged mode gives the operating system kernel an extra level of security from intruders</a:t>
            </a:r>
          </a:p>
          <a:p>
            <a:pPr lvl="1"/>
            <a:r>
              <a:rPr lang="en-US" smtClean="0"/>
              <a:t>Prevents system crashes due to poorly written applications</a:t>
            </a:r>
          </a:p>
          <a:p>
            <a:r>
              <a:rPr lang="en-US" smtClean="0"/>
              <a:t>Process</a:t>
            </a:r>
          </a:p>
          <a:p>
            <a:pPr lvl="1"/>
            <a:r>
              <a:rPr lang="en-US" smtClean="0"/>
              <a:t>A computer program or portion of a program that is currently running</a:t>
            </a:r>
          </a:p>
          <a:p>
            <a:r>
              <a:rPr lang="en-US" smtClean="0"/>
              <a:t>Protected process</a:t>
            </a:r>
          </a:p>
          <a:p>
            <a:pPr lvl="1"/>
            <a:r>
              <a:rPr lang="en-US" smtClean="0"/>
              <a:t>One for which outside influences are restricted</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420069619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Multitasking and Multithreading</a:t>
            </a:r>
            <a:endParaRPr lang="en-US" dirty="0"/>
          </a:p>
        </p:txBody>
      </p:sp>
      <p:sp>
        <p:nvSpPr>
          <p:cNvPr id="2" name="Content Placeholder 1"/>
          <p:cNvSpPr>
            <a:spLocks noGrp="1"/>
          </p:cNvSpPr>
          <p:nvPr>
            <p:ph idx="1"/>
          </p:nvPr>
        </p:nvSpPr>
        <p:spPr/>
        <p:txBody>
          <a:bodyPr/>
          <a:lstStyle/>
          <a:p>
            <a:r>
              <a:rPr lang="en-US" smtClean="0"/>
              <a:t>Multitasking</a:t>
            </a:r>
          </a:p>
          <a:p>
            <a:pPr lvl="1"/>
            <a:r>
              <a:rPr lang="en-US" smtClean="0"/>
              <a:t>The ability to run two or more programs at the same time</a:t>
            </a:r>
          </a:p>
          <a:p>
            <a:r>
              <a:rPr lang="en-US" smtClean="0"/>
              <a:t>Multithreading</a:t>
            </a:r>
          </a:p>
          <a:p>
            <a:pPr lvl="1"/>
            <a:r>
              <a:rPr lang="en-US" smtClean="0"/>
              <a:t>The capability of programs written to run several program code blocks, or ‘‘threads,’’ at the same time</a:t>
            </a:r>
          </a:p>
          <a:p>
            <a:r>
              <a:rPr lang="en-US" smtClean="0"/>
              <a:t>Preemptive multitasking</a:t>
            </a:r>
          </a:p>
          <a:p>
            <a:pPr lvl="1"/>
            <a:r>
              <a:rPr lang="en-US" smtClean="0"/>
              <a:t>Each program runs in an area of memory separate from areas used by other programs</a:t>
            </a:r>
          </a:p>
          <a:p>
            <a:pPr lvl="1"/>
            <a:r>
              <a:rPr lang="en-US" smtClean="0"/>
              <a:t>Reduces the risk of one program interfering with the smooth running of another program</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86393244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Physical and Logical Processors</a:t>
            </a:r>
            <a:endParaRPr lang="en-US" dirty="0"/>
          </a:p>
        </p:txBody>
      </p:sp>
      <p:sp>
        <p:nvSpPr>
          <p:cNvPr id="2" name="Content Placeholder 1"/>
          <p:cNvSpPr>
            <a:spLocks noGrp="1"/>
          </p:cNvSpPr>
          <p:nvPr>
            <p:ph idx="1"/>
          </p:nvPr>
        </p:nvSpPr>
        <p:spPr/>
        <p:txBody>
          <a:bodyPr/>
          <a:lstStyle/>
          <a:p>
            <a:r>
              <a:rPr lang="en-US" smtClean="0"/>
              <a:t>Physical processor</a:t>
            </a:r>
          </a:p>
          <a:p>
            <a:pPr lvl="1"/>
            <a:r>
              <a:rPr lang="en-US" smtClean="0"/>
              <a:t>Is plugged into a processor socket on the motherboard of the computer</a:t>
            </a:r>
          </a:p>
          <a:p>
            <a:pPr lvl="1"/>
            <a:r>
              <a:rPr lang="en-US" smtClean="0"/>
              <a:t>Windows Server 2016 can support up to 64 sockets for physical processors</a:t>
            </a:r>
          </a:p>
          <a:p>
            <a:r>
              <a:rPr lang="en-US" smtClean="0"/>
              <a:t>Logical processor</a:t>
            </a:r>
          </a:p>
          <a:p>
            <a:pPr lvl="1"/>
            <a:r>
              <a:rPr lang="en-US" smtClean="0"/>
              <a:t>A core than can run its own executable threads</a:t>
            </a:r>
          </a:p>
          <a:p>
            <a:pPr lvl="1"/>
            <a:r>
              <a:rPr lang="en-US" smtClean="0"/>
              <a:t>One physical processor can house several logical processors</a:t>
            </a:r>
          </a:p>
          <a:p>
            <a:r>
              <a:rPr lang="en-US" smtClean="0"/>
              <a:t>Virtual processor</a:t>
            </a:r>
          </a:p>
          <a:p>
            <a:pPr lvl="1"/>
            <a:r>
              <a:rPr lang="en-US" smtClean="0"/>
              <a:t>A logical processor or one or more of its cores that function for the use of a specific VM</a:t>
            </a:r>
          </a:p>
          <a:p>
            <a:r>
              <a:rPr lang="en-US" smtClean="0"/>
              <a:t>With Hyper-V in use</a:t>
            </a:r>
          </a:p>
          <a:p>
            <a:pPr lvl="1"/>
            <a:r>
              <a:rPr lang="en-US" smtClean="0"/>
              <a:t>Windows Server 2016 supports up to 320 logical processors</a:t>
            </a:r>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313795558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Containers (1 of 2)</a:t>
            </a:r>
            <a:endParaRPr lang="en-US" dirty="0"/>
          </a:p>
        </p:txBody>
      </p:sp>
      <p:sp>
        <p:nvSpPr>
          <p:cNvPr id="2" name="Content Placeholder 1"/>
          <p:cNvSpPr>
            <a:spLocks noGrp="1"/>
          </p:cNvSpPr>
          <p:nvPr>
            <p:ph idx="1"/>
          </p:nvPr>
        </p:nvSpPr>
        <p:spPr/>
        <p:txBody>
          <a:bodyPr/>
          <a:lstStyle/>
          <a:p>
            <a:r>
              <a:rPr lang="en-US" smtClean="0"/>
              <a:t>Using a container establishes a separate layer or engine for each application</a:t>
            </a:r>
          </a:p>
          <a:p>
            <a:r>
              <a:rPr lang="en-US" smtClean="0"/>
              <a:t>Windows Server 2016 offers two types of containers:</a:t>
            </a:r>
          </a:p>
          <a:p>
            <a:pPr lvl="1"/>
            <a:r>
              <a:rPr lang="en-US" smtClean="0"/>
              <a:t>Windows server containers – run through process and user-mode isolation</a:t>
            </a:r>
          </a:p>
          <a:p>
            <a:pPr lvl="1"/>
            <a:r>
              <a:rPr lang="en-US" smtClean="0"/>
              <a:t>Hyper-V containers – involve a separate container for each VM running in Hyper-V</a:t>
            </a:r>
          </a:p>
          <a:p>
            <a:pPr lvl="2"/>
            <a:r>
              <a:rPr lang="en-US" smtClean="0"/>
              <a:t>This approach eliminates the change that a rogue application in one container might attack other containers</a:t>
            </a:r>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46450380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Containers (2 of 2)</a:t>
            </a:r>
            <a:endParaRPr lang="en-US" dirty="0"/>
          </a:p>
        </p:txBody>
      </p:sp>
      <p:pic>
        <p:nvPicPr>
          <p:cNvPr id="6" name="Content Placeholder 5" descr="Figure 1-7 Page No. 20; Complexity level: 3&#10;A figure shows the Windows server containers and Hyper-V containers. In the Windows server containers, a small rectangular box is labeled “Operating system kernel.” Another rectangular box labeled “User mode” consists of Application libraries such as ContainerApp A, ContainerApp B, ContainerApp C, ContainerApp D, and ContainerApp E. A double headed arrow is drawn between the Operating system kernel and User mode and is enclosed within a large rectangular box. The Hyper-V containers consists of two rectangular boxes named as Virtual machine 1 and Virtual machine 2. In Virtual machine 1, a small rectangular box is labeled as “Operating system kernel.” Another rectangular box labeled “User mode” consists of Application libraries such as Container App A. In Virtual machine 2, a small rectangular box is labeled as “Operating system kernel.” Another rectangular box labeled “User mode” consists of Application libraries such as Container App B." title="Figure 1-7"/>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2590800" y="1524000"/>
            <a:ext cx="3284210" cy="4294739"/>
          </a:xfrm>
        </p:spPr>
      </p:pic>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361290383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Planning a Windows Server 2016 Networking Model (1 of 2)</a:t>
            </a:r>
            <a:endParaRPr lang="en-US" dirty="0"/>
          </a:p>
        </p:txBody>
      </p:sp>
      <p:sp>
        <p:nvSpPr>
          <p:cNvPr id="2" name="Content Placeholder 1"/>
          <p:cNvSpPr>
            <a:spLocks noGrp="1"/>
          </p:cNvSpPr>
          <p:nvPr>
            <p:ph idx="1"/>
          </p:nvPr>
        </p:nvSpPr>
        <p:spPr/>
        <p:txBody>
          <a:bodyPr/>
          <a:lstStyle/>
          <a:p>
            <a:r>
              <a:rPr lang="en-US" smtClean="0"/>
              <a:t>Network</a:t>
            </a:r>
          </a:p>
          <a:p>
            <a:pPr lvl="1"/>
            <a:r>
              <a:rPr lang="en-US" smtClean="0"/>
              <a:t>A communications system enabling computer users to share computer equipment, application software, and data, voice, and video transmissions</a:t>
            </a:r>
          </a:p>
          <a:p>
            <a:pPr lvl="1"/>
            <a:r>
              <a:rPr lang="en-US" smtClean="0"/>
              <a:t>Contains computers joined by communications cabling or sometimes by wireless devices</a:t>
            </a:r>
          </a:p>
          <a:p>
            <a:r>
              <a:rPr lang="en-US" smtClean="0"/>
              <a:t>Workstation or client network operating system</a:t>
            </a:r>
          </a:p>
          <a:p>
            <a:pPr lvl="1"/>
            <a:r>
              <a:rPr lang="en-US" smtClean="0"/>
              <a:t>Enables individual computer to access a network, and in some cases to share resources</a:t>
            </a:r>
          </a:p>
          <a:p>
            <a:r>
              <a:rPr lang="en-US" smtClean="0"/>
              <a:t>Peer-to-peer networking</a:t>
            </a:r>
          </a:p>
          <a:p>
            <a:pPr lvl="1"/>
            <a:r>
              <a:rPr lang="en-US" smtClean="0"/>
              <a:t>Focuses on spreading network resource administration among server and nonserver members of a network</a:t>
            </a:r>
          </a:p>
          <a:p>
            <a:r>
              <a:rPr lang="en-US" smtClean="0"/>
              <a:t>Server-based networking</a:t>
            </a:r>
          </a:p>
          <a:p>
            <a:pPr lvl="1"/>
            <a:r>
              <a:rPr lang="en-US" smtClean="0"/>
              <a:t>Centralizes the network administration on one or more servers</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352610468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Planning a Windows Server 2016 Networking Model</a:t>
            </a:r>
            <a:endParaRPr lang="en-US" dirty="0"/>
          </a:p>
        </p:txBody>
      </p:sp>
      <p:pic>
        <p:nvPicPr>
          <p:cNvPr id="6" name="Content Placeholder 5" descr="Figure 1-8 Page No. 21; Complexity level: 2&#10;A figure shows a global map at the center. The global map is connected to five computers on the top left which are placed alternatively as three at the top and two at the bottom and is labeled as “Network in the United States.” Five computers on the bottom right which are placed alternatively as three at the top and two at the bottom and is labeled as “Network in Australia.” The group of computers on the either side are linked together with the help of double headed arrow crossing via the global map. &#10;" title="Figure 1-8"/>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371600" y="1600200"/>
            <a:ext cx="6179074" cy="4176712"/>
          </a:xfrm>
        </p:spPr>
      </p:pic>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181822724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Peer-to-Peer Networking (1 of 2)</a:t>
            </a:r>
            <a:endParaRPr lang="en-US" dirty="0"/>
          </a:p>
        </p:txBody>
      </p:sp>
      <p:sp>
        <p:nvSpPr>
          <p:cNvPr id="2" name="Content Placeholder 1"/>
          <p:cNvSpPr>
            <a:spLocks noGrp="1"/>
          </p:cNvSpPr>
          <p:nvPr>
            <p:ph idx="1"/>
          </p:nvPr>
        </p:nvSpPr>
        <p:spPr/>
        <p:txBody>
          <a:bodyPr/>
          <a:lstStyle/>
          <a:p>
            <a:r>
              <a:rPr lang="en-US" smtClean="0"/>
              <a:t>Uses workstations to share resources such as files and printers and to connect to resources on other computers</a:t>
            </a:r>
          </a:p>
          <a:p>
            <a:pPr lvl="1"/>
            <a:r>
              <a:rPr lang="en-US" smtClean="0"/>
              <a:t>No special computer is needed to enable workstations to communicate and share resources</a:t>
            </a:r>
          </a:p>
          <a:p>
            <a:r>
              <a:rPr lang="en-US" smtClean="0"/>
              <a:t>Can be effective for very small networks</a:t>
            </a:r>
          </a:p>
          <a:p>
            <a:r>
              <a:rPr lang="en-US" smtClean="0"/>
              <a:t>Disadvantages</a:t>
            </a:r>
          </a:p>
          <a:p>
            <a:pPr lvl="1"/>
            <a:r>
              <a:rPr lang="en-US" smtClean="0"/>
              <a:t>Management of network resources is decentralized</a:t>
            </a:r>
          </a:p>
          <a:p>
            <a:pPr lvl="1"/>
            <a:r>
              <a:rPr lang="en-US" smtClean="0"/>
              <a:t>As the network increases in size, administration becomes more difficult</a:t>
            </a:r>
          </a:p>
          <a:p>
            <a:pPr lvl="1"/>
            <a:r>
              <a:rPr lang="en-US" smtClean="0"/>
              <a:t>Lack of security of resources</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56097088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Peer-to-Peer Networking</a:t>
            </a:r>
            <a:endParaRPr lang="en-US" dirty="0"/>
          </a:p>
        </p:txBody>
      </p:sp>
      <p:pic>
        <p:nvPicPr>
          <p:cNvPr id="6" name="Content Placeholder 5" descr="Figure 1-9 Page No. 21; Complexity level: 1&#10;A figure shows five computers that are linked alternatively by connecting three computers at the top and two computers at the bottom. Each of the five computers is labeled as “Workstation.” &#10;" title="Figure 1-9"/>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752600" y="1600200"/>
            <a:ext cx="5366844" cy="4100512"/>
          </a:xfrm>
        </p:spPr>
      </p:pic>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231420008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Server-Based Networking (1 of 3)</a:t>
            </a:r>
            <a:endParaRPr lang="en-US" dirty="0"/>
          </a:p>
        </p:txBody>
      </p:sp>
      <p:sp>
        <p:nvSpPr>
          <p:cNvPr id="2" name="Content Placeholder 1"/>
          <p:cNvSpPr>
            <a:spLocks noGrp="1"/>
          </p:cNvSpPr>
          <p:nvPr>
            <p:ph idx="1"/>
          </p:nvPr>
        </p:nvSpPr>
        <p:spPr/>
        <p:txBody>
          <a:bodyPr/>
          <a:lstStyle/>
          <a:p>
            <a:r>
              <a:rPr lang="en-US" smtClean="0"/>
              <a:t>Server</a:t>
            </a:r>
          </a:p>
          <a:p>
            <a:pPr lvl="1"/>
            <a:r>
              <a:rPr lang="en-US" smtClean="0"/>
              <a:t>A single computer that provides extensive multiuser access to network resources</a:t>
            </a:r>
          </a:p>
          <a:p>
            <a:pPr lvl="1"/>
            <a:r>
              <a:rPr lang="en-US" smtClean="0"/>
              <a:t>Can handle hundreds of users at once</a:t>
            </a:r>
          </a:p>
          <a:p>
            <a:pPr lvl="2"/>
            <a:r>
              <a:rPr lang="en-US" smtClean="0"/>
              <a:t>Fast response when delivering the shared resource</a:t>
            </a:r>
          </a:p>
          <a:p>
            <a:pPr lvl="2"/>
            <a:r>
              <a:rPr lang="en-US" smtClean="0"/>
              <a:t>Less network congestion when multiple workstations access that resource</a:t>
            </a:r>
          </a:p>
          <a:p>
            <a:r>
              <a:rPr lang="en-US" smtClean="0"/>
              <a:t>Advantages</a:t>
            </a:r>
          </a:p>
          <a:p>
            <a:pPr lvl="1"/>
            <a:r>
              <a:rPr lang="en-US" smtClean="0"/>
              <a:t>Users only need to log on once to gain access to network resources</a:t>
            </a:r>
          </a:p>
          <a:p>
            <a:pPr lvl="1"/>
            <a:r>
              <a:rPr lang="en-US" smtClean="0"/>
              <a:t>Security is stronger</a:t>
            </a:r>
          </a:p>
          <a:p>
            <a:pPr lvl="1"/>
            <a:r>
              <a:rPr lang="en-US" smtClean="0"/>
              <a:t>All members can share computer files</a:t>
            </a:r>
          </a:p>
          <a:p>
            <a:pPr lvl="1"/>
            <a:r>
              <a:rPr lang="en-US" smtClean="0"/>
              <a:t>Printers and other resources can be shared</a:t>
            </a:r>
          </a:p>
          <a:p>
            <a:pPr lvl="1"/>
            <a:r>
              <a:rPr lang="en-US" smtClean="0"/>
              <a:t>All members can have e-mail and send messages to other office members through an e-mail server</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24636256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Server-Based Networking (1 of 2)</a:t>
            </a:r>
            <a:endParaRPr lang="en-US" dirty="0"/>
          </a:p>
        </p:txBody>
      </p:sp>
      <p:sp>
        <p:nvSpPr>
          <p:cNvPr id="2" name="Content Placeholder 1"/>
          <p:cNvSpPr>
            <a:spLocks noGrp="1"/>
          </p:cNvSpPr>
          <p:nvPr>
            <p:ph idx="1"/>
          </p:nvPr>
        </p:nvSpPr>
        <p:spPr/>
        <p:txBody>
          <a:bodyPr/>
          <a:lstStyle/>
          <a:p>
            <a:r>
              <a:rPr lang="en-US" smtClean="0"/>
              <a:t>Advantages (cont’d)</a:t>
            </a:r>
          </a:p>
          <a:p>
            <a:pPr lvl="1"/>
            <a:r>
              <a:rPr lang="en-US" smtClean="0"/>
              <a:t>Software applications can be stored and shared in a central location</a:t>
            </a:r>
          </a:p>
          <a:p>
            <a:pPr lvl="1"/>
            <a:r>
              <a:rPr lang="en-US" smtClean="0"/>
              <a:t>Important databases can be managed and secured from one computer</a:t>
            </a:r>
          </a:p>
          <a:p>
            <a:pPr lvl="1"/>
            <a:r>
              <a:rPr lang="en-US" smtClean="0"/>
              <a:t>All computers can be backed up more easily</a:t>
            </a:r>
          </a:p>
          <a:p>
            <a:pPr lvl="1"/>
            <a:r>
              <a:rPr lang="en-US" smtClean="0"/>
              <a:t>Computer resource sharing can be arranged to reflect the work patterns of groups within an organization</a:t>
            </a:r>
          </a:p>
          <a:p>
            <a:pPr lvl="1"/>
            <a:r>
              <a:rPr lang="en-US" smtClean="0"/>
              <a:t>The server administrator can save time when installing software upgrades</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348497119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Server-Based Networking (2 of 2)</a:t>
            </a:r>
            <a:endParaRPr lang="en-US" dirty="0"/>
          </a:p>
        </p:txBody>
      </p:sp>
      <p:pic>
        <p:nvPicPr>
          <p:cNvPr id="6" name="Content Placeholder 5" descr="Figure 1-11 Page No. 24; Complexity level: 1&#10;Figure shows a Connecting switch at the center. It is connected to a Macintosh, a Linux, a Windows Server 2016, a pair of Windows 10, and three Windows 8.1.&#10;" title="Figure 1-11"/>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2362200" y="1676400"/>
            <a:ext cx="4116590" cy="4267200"/>
          </a:xfrm>
        </p:spPr>
      </p:pic>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7142626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Protocols for the Windows Server 2016 Networking Model</a:t>
            </a:r>
            <a:endParaRPr lang="en-US" dirty="0"/>
          </a:p>
        </p:txBody>
      </p:sp>
      <p:sp>
        <p:nvSpPr>
          <p:cNvPr id="2" name="Content Placeholder 1"/>
          <p:cNvSpPr>
            <a:spLocks noGrp="1"/>
          </p:cNvSpPr>
          <p:nvPr>
            <p:ph idx="1"/>
          </p:nvPr>
        </p:nvSpPr>
        <p:spPr/>
        <p:txBody>
          <a:bodyPr/>
          <a:lstStyle/>
          <a:p>
            <a:r>
              <a:rPr lang="en-US" smtClean="0"/>
              <a:t>A protocol consists of guidelines for the following:</a:t>
            </a:r>
          </a:p>
          <a:p>
            <a:pPr lvl="1"/>
            <a:r>
              <a:rPr lang="en-US" smtClean="0"/>
              <a:t>How data is formatted into discrete units called packets and frames</a:t>
            </a:r>
          </a:p>
          <a:p>
            <a:pPr lvl="1"/>
            <a:r>
              <a:rPr lang="en-US" smtClean="0"/>
              <a:t>How packets and frames are transmitted across one or more networks</a:t>
            </a:r>
          </a:p>
          <a:p>
            <a:pPr lvl="1"/>
            <a:r>
              <a:rPr lang="en-US" smtClean="0"/>
              <a:t>How packets and frames are interpreted at the receiving end</a:t>
            </a:r>
          </a:p>
          <a:p>
            <a:r>
              <a:rPr lang="en-US" smtClean="0"/>
              <a:t>Packets and frames</a:t>
            </a:r>
          </a:p>
          <a:p>
            <a:pPr lvl="1"/>
            <a:r>
              <a:rPr lang="en-US" smtClean="0"/>
              <a:t>Units of data transmitted from a sending computer to a receiving computer</a:t>
            </a:r>
          </a:p>
          <a:p>
            <a:r>
              <a:rPr lang="en-US" smtClean="0"/>
              <a:t>Windows Server 2016 and its clients primarily use the Transmission Control Protocol/Internet Protocol (TCP/IP)</a:t>
            </a:r>
          </a:p>
          <a:p>
            <a:pPr lvl="1"/>
            <a:r>
              <a:rPr lang="en-US" smtClean="0"/>
              <a:t>A suite of protocols and utilities that support communication across LANs and the Internet</a:t>
            </a:r>
          </a:p>
          <a:p>
            <a:r>
              <a:rPr lang="en-US" smtClean="0"/>
              <a:t>Local area network (LAN)</a:t>
            </a:r>
          </a:p>
          <a:p>
            <a:pPr lvl="1"/>
            <a:r>
              <a:rPr lang="en-US" smtClean="0"/>
              <a:t>A network of computers in relatively close proximity</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130688072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Transmission Control Protocol</a:t>
            </a:r>
            <a:endParaRPr lang="en-US" dirty="0"/>
          </a:p>
        </p:txBody>
      </p:sp>
      <p:sp>
        <p:nvSpPr>
          <p:cNvPr id="2" name="Content Placeholder 1"/>
          <p:cNvSpPr>
            <a:spLocks noGrp="1"/>
          </p:cNvSpPr>
          <p:nvPr>
            <p:ph idx="1"/>
          </p:nvPr>
        </p:nvSpPr>
        <p:spPr/>
        <p:txBody>
          <a:bodyPr/>
          <a:lstStyle/>
          <a:p>
            <a:r>
              <a:rPr lang="en-US" smtClean="0"/>
              <a:t>Transmission Control Protocol (TCP)</a:t>
            </a:r>
          </a:p>
          <a:p>
            <a:pPr lvl="1"/>
            <a:r>
              <a:rPr lang="en-US" smtClean="0"/>
              <a:t>Provides for reliable end-to-end delivery of data by controlling data flow</a:t>
            </a:r>
          </a:p>
          <a:p>
            <a:pPr lvl="1"/>
            <a:r>
              <a:rPr lang="en-US" smtClean="0"/>
              <a:t>Computer agree on a “window” for data transmission that includes the number of bytes to be sent</a:t>
            </a:r>
          </a:p>
          <a:p>
            <a:pPr lvl="1"/>
            <a:r>
              <a:rPr lang="en-US" smtClean="0"/>
              <a:t>Window is constantly adjusted to account for existing network traffic</a:t>
            </a:r>
          </a:p>
          <a:p>
            <a:r>
              <a:rPr lang="en-US" smtClean="0"/>
              <a:t>TCP is also considered a connection-oriented communication</a:t>
            </a:r>
          </a:p>
          <a:p>
            <a:pPr lvl="1"/>
            <a:r>
              <a:rPr lang="en-US" smtClean="0"/>
              <a:t>Ensures that packets are delivered, that they are delivered in the right sequence, and that their contents are accurate</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390424329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Internet Protocol (1 of 11) </a:t>
            </a:r>
            <a:endParaRPr lang="en-US" dirty="0"/>
          </a:p>
        </p:txBody>
      </p:sp>
      <p:sp>
        <p:nvSpPr>
          <p:cNvPr id="2" name="Content Placeholder 1"/>
          <p:cNvSpPr>
            <a:spLocks noGrp="1"/>
          </p:cNvSpPr>
          <p:nvPr>
            <p:ph idx="1"/>
          </p:nvPr>
        </p:nvSpPr>
        <p:spPr/>
        <p:txBody>
          <a:bodyPr/>
          <a:lstStyle/>
          <a:p>
            <a:r>
              <a:rPr lang="en-US" smtClean="0"/>
              <a:t>Internet Protocol (IP)</a:t>
            </a:r>
          </a:p>
          <a:p>
            <a:pPr lvl="1"/>
            <a:r>
              <a:rPr lang="en-US" smtClean="0"/>
              <a:t>Provides network addressing to ensure data packets quickly reach the correct destination</a:t>
            </a:r>
          </a:p>
          <a:p>
            <a:r>
              <a:rPr lang="en-US" smtClean="0"/>
              <a:t>Two versions: IPv4 and IPv6</a:t>
            </a:r>
          </a:p>
          <a:p>
            <a:pPr lvl="1"/>
            <a:r>
              <a:rPr lang="en-US" smtClean="0"/>
              <a:t>IPv4 is used by default on most networks</a:t>
            </a:r>
          </a:p>
          <a:p>
            <a:r>
              <a:rPr lang="en-US" smtClean="0"/>
              <a:t>IP also provides for routing data over different networks</a:t>
            </a:r>
          </a:p>
          <a:p>
            <a:pPr lvl="1"/>
            <a:r>
              <a:rPr lang="en-US" smtClean="0"/>
              <a:t>Routing is accomplished through a device called a router</a:t>
            </a:r>
          </a:p>
          <a:p>
            <a:r>
              <a:rPr lang="en-US" smtClean="0"/>
              <a:t>IP also handles fragmenting packets</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283252779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Internet Protocol (2 of 11) </a:t>
            </a:r>
            <a:endParaRPr lang="en-US" dirty="0"/>
          </a:p>
        </p:txBody>
      </p:sp>
      <p:pic>
        <p:nvPicPr>
          <p:cNvPr id="6" name="Content Placeholder 5" descr="Figure 1-12 Page No. 26; Complexity level: 3&#10;Figure shows a Router at the center. The Router is connected to five Ethernets. On the left side of router, the first Ethernet consist of two computers, a TCP/IP-based intranet server, and an Ethernet switch. The second Ethernet consist of three computers, an Ethernet switch, and a TCP/IP-based intranet server. On the right side of router, the first Ethernet consist of three computers and an Ethernet switch. The second Ethernet consist of four computers and an Ethernet switch. The fifth Ethernet is connected below the router which consists of three computers and an Ethernet switch. The packets are forwarded in the first Ethernet from the TCP/IP-based intranet server denoted by an arrow and are labeled as “Transmitted packet.” The first Ethernet sends packet to the fifth Ethernet passing through the router and is labeled as “Packet forwarded to the right network by the router.” The packets are received by the fifth Ethernet which is denoted by an arrow and labeled as “Packet reaches the designated workstation.”  " title="Figure 1-12"/>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2582427" y="1552123"/>
            <a:ext cx="4385545" cy="4176712"/>
          </a:xfrm>
        </p:spPr>
      </p:pic>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68667062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Internet Protocol (3 of 11) </a:t>
            </a:r>
            <a:endParaRPr lang="en-US" dirty="0"/>
          </a:p>
        </p:txBody>
      </p:sp>
      <p:sp>
        <p:nvSpPr>
          <p:cNvPr id="2" name="Content Placeholder 1"/>
          <p:cNvSpPr>
            <a:spLocks noGrp="1"/>
          </p:cNvSpPr>
          <p:nvPr>
            <p:ph idx="1"/>
          </p:nvPr>
        </p:nvSpPr>
        <p:spPr/>
        <p:txBody>
          <a:bodyPr/>
          <a:lstStyle/>
          <a:p>
            <a:r>
              <a:rPr lang="en-US" smtClean="0"/>
              <a:t>The IP address format is called the dotted decimal notation</a:t>
            </a:r>
          </a:p>
          <a:p>
            <a:pPr lvl="1"/>
            <a:r>
              <a:rPr lang="en-US" smtClean="0"/>
              <a:t>32 bits long and contains four fields of decimal values representing eight-bit binary octets</a:t>
            </a:r>
          </a:p>
          <a:p>
            <a:pPr lvl="1"/>
            <a:r>
              <a:rPr lang="en-US" smtClean="0"/>
              <a:t>Example: 192.51.100.0</a:t>
            </a:r>
          </a:p>
          <a:p>
            <a:r>
              <a:rPr lang="en-US" smtClean="0"/>
              <a:t>Unicast</a:t>
            </a:r>
          </a:p>
          <a:p>
            <a:pPr lvl="1"/>
            <a:r>
              <a:rPr lang="en-US" smtClean="0"/>
              <a:t>A transmission in which one packet is sent from a server to each client that requests a file or application</a:t>
            </a:r>
          </a:p>
          <a:p>
            <a:r>
              <a:rPr lang="en-US" smtClean="0"/>
              <a:t>Multicast</a:t>
            </a:r>
          </a:p>
          <a:p>
            <a:pPr lvl="1"/>
            <a:r>
              <a:rPr lang="en-US" smtClean="0"/>
              <a:t>Server is able to treat all clients as a group and send one packet per transmission that reaches all clients</a:t>
            </a:r>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286222139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Internet Protocol (4 of 11) </a:t>
            </a:r>
            <a:endParaRPr lang="en-US" dirty="0"/>
          </a:p>
        </p:txBody>
      </p:sp>
      <p:sp>
        <p:nvSpPr>
          <p:cNvPr id="2" name="Content Placeholder 1"/>
          <p:cNvSpPr>
            <a:spLocks noGrp="1"/>
          </p:cNvSpPr>
          <p:nvPr>
            <p:ph idx="1"/>
          </p:nvPr>
        </p:nvSpPr>
        <p:spPr/>
        <p:txBody>
          <a:bodyPr/>
          <a:lstStyle/>
          <a:p>
            <a:r>
              <a:rPr lang="en-US" smtClean="0"/>
              <a:t>Broadcast</a:t>
            </a:r>
          </a:p>
          <a:p>
            <a:pPr lvl="1"/>
            <a:r>
              <a:rPr lang="en-US" smtClean="0"/>
              <a:t>Sends a communication to all points on a specific network</a:t>
            </a:r>
          </a:p>
          <a:p>
            <a:r>
              <a:rPr lang="en-US" smtClean="0"/>
              <a:t>Subnet mask</a:t>
            </a:r>
          </a:p>
          <a:p>
            <a:pPr lvl="1"/>
            <a:r>
              <a:rPr lang="en-US" smtClean="0"/>
              <a:t>Shows the class of addressing used</a:t>
            </a:r>
          </a:p>
          <a:p>
            <a:pPr lvl="1"/>
            <a:r>
              <a:rPr lang="en-US" smtClean="0"/>
              <a:t>Divides a network into subnetworks or subnets to control network traffic</a:t>
            </a:r>
          </a:p>
          <a:p>
            <a:pPr lvl="1"/>
            <a:r>
              <a:rPr lang="en-US" smtClean="0"/>
              <a:t>Consists of a subnet ID within the network and a host ID</a:t>
            </a:r>
          </a:p>
          <a:p>
            <a:endParaRPr lang="en-US" smtClean="0"/>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20973831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Internet Protocol (5 of 11) </a:t>
            </a:r>
            <a:endParaRPr lang="en-US" dirty="0"/>
          </a:p>
        </p:txBody>
      </p:sp>
      <p:pic>
        <p:nvPicPr>
          <p:cNvPr id="5" name="Picture 4" descr="Figure 1-13 Page No. 27; Complexity level: 3&#10; A Figure shows three illustrations. The first illustration shows “Unicasting to reach three clients” which consists of Window Server 2016 on the left side and five computers on the right side. Three arrows from the Windows Server 2016 points to the first two computers and the last computer which is labeled as “Three separate transmissions to separate workstations.” The second illustration shows “Broadcasting to reach three clients” which consists of Window Server 2016 on the left side and five computers on the right side. An arrow from the Windows Server 2016 further splits into five arrows each pointing to the five computers that are labeled as “One Broadcast to all regardless of who wants to receive it.” The third illustration shows “Multicasting to reach three clients” which consists of Window Server 2016 on the left side and five computers on the right side. An arrow from the Windows Server 2016 further splits into three arrows points to the first two computers and the last computer which is labeled as “One transmission to the receiving groups only.” The arrows represent the “Receiving group.”   " title="Figure 1-1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95600" y="1447800"/>
            <a:ext cx="2878470" cy="4684776"/>
          </a:xfrm>
          <a:prstGeom prst="rect">
            <a:avLst/>
          </a:prstGeom>
        </p:spPr>
      </p:pic>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177558090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Internet Protocol (6 of 11) </a:t>
            </a:r>
            <a:endParaRPr lang="en-US" dirty="0"/>
          </a:p>
        </p:txBody>
      </p:sp>
      <p:sp>
        <p:nvSpPr>
          <p:cNvPr id="2" name="Content Placeholder 1"/>
          <p:cNvSpPr>
            <a:spLocks noGrp="1"/>
          </p:cNvSpPr>
          <p:nvPr>
            <p:ph idx="1"/>
          </p:nvPr>
        </p:nvSpPr>
        <p:spPr/>
        <p:txBody>
          <a:bodyPr/>
          <a:lstStyle/>
          <a:p>
            <a:r>
              <a:rPr lang="en-US" smtClean="0"/>
              <a:t>IP address considerations</a:t>
            </a:r>
          </a:p>
          <a:p>
            <a:pPr lvl="1"/>
            <a:r>
              <a:rPr lang="en-US" smtClean="0"/>
              <a:t>The network number 127.0.0.0 cannot be assigned to any network</a:t>
            </a:r>
          </a:p>
          <a:p>
            <a:pPr lvl="2"/>
            <a:r>
              <a:rPr lang="en-US" smtClean="0"/>
              <a:t>The address 127.0.0.1 is known as the loopback address</a:t>
            </a:r>
          </a:p>
          <a:p>
            <a:pPr lvl="1"/>
            <a:r>
              <a:rPr lang="en-US" smtClean="0"/>
              <a:t>No one can use private IP addresses on the Internet</a:t>
            </a:r>
          </a:p>
          <a:p>
            <a:pPr lvl="2"/>
            <a:r>
              <a:rPr lang="en-US" smtClean="0"/>
              <a:t>Designed for use on a private network behind a Network Address Translation (NAT) device</a:t>
            </a:r>
          </a:p>
          <a:p>
            <a:pPr lvl="2"/>
            <a:r>
              <a:rPr lang="en-US" smtClean="0"/>
              <a:t>See Table 1-3</a:t>
            </a:r>
          </a:p>
          <a:p>
            <a:pPr lvl="1"/>
            <a:r>
              <a:rPr lang="en-US" smtClean="0"/>
              <a:t>Cannot assign a network number to a computer or any other host on the network</a:t>
            </a:r>
          </a:p>
          <a:p>
            <a:pPr lvl="2"/>
            <a:r>
              <a:rPr lang="en-US" smtClean="0"/>
              <a:t>Example: 198.51.100.0 is assigned as the network number and cannot be assigned to a host</a:t>
            </a:r>
          </a:p>
          <a:p>
            <a:pPr lvl="1"/>
            <a:r>
              <a:rPr lang="en-US" smtClean="0"/>
              <a:t>Cannot assign the highest number on a network to a host</a:t>
            </a:r>
          </a:p>
          <a:p>
            <a:pPr lvl="2"/>
            <a:r>
              <a:rPr lang="en-US" smtClean="0"/>
              <a:t>Example: 198.42.4.255 is reserved for broadcast messages</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381214867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Internet Protocol (7 of 11)</a:t>
            </a:r>
            <a:endParaRPr lang="en-US" dirty="0"/>
          </a:p>
        </p:txBody>
      </p:sp>
      <p:sp>
        <p:nvSpPr>
          <p:cNvPr id="2" name="Content Placeholder 1"/>
          <p:cNvSpPr>
            <a:spLocks noGrp="1"/>
          </p:cNvSpPr>
          <p:nvPr>
            <p:ph idx="1"/>
          </p:nvPr>
        </p:nvSpPr>
        <p:spPr/>
        <p:txBody>
          <a:bodyPr/>
          <a:lstStyle/>
          <a:p>
            <a:r>
              <a:rPr lang="en-US" smtClean="0"/>
              <a:t>Internet Protocol Version 6</a:t>
            </a:r>
          </a:p>
          <a:p>
            <a:pPr lvl="1"/>
            <a:r>
              <a:rPr lang="en-US" smtClean="0"/>
              <a:t>Provides a logical growth path from IPv4</a:t>
            </a:r>
          </a:p>
          <a:p>
            <a:r>
              <a:rPr lang="en-US" smtClean="0"/>
              <a:t>New features include:</a:t>
            </a:r>
          </a:p>
          <a:p>
            <a:pPr lvl="1"/>
            <a:r>
              <a:rPr lang="en-US" smtClean="0"/>
              <a:t>A 128-bit address capability</a:t>
            </a:r>
          </a:p>
          <a:p>
            <a:pPr lvl="1"/>
            <a:r>
              <a:rPr lang="en-US" smtClean="0"/>
              <a:t>A single address associated with multiple network interfaces</a:t>
            </a:r>
          </a:p>
          <a:p>
            <a:pPr lvl="1"/>
            <a:r>
              <a:rPr lang="en-US" smtClean="0"/>
              <a:t>Address autoconfiguration</a:t>
            </a:r>
          </a:p>
          <a:p>
            <a:pPr lvl="1"/>
            <a:r>
              <a:rPr lang="en-US" smtClean="0"/>
              <a:t>A 40-byte header instead of IPv4’s 20-byte header</a:t>
            </a:r>
          </a:p>
          <a:p>
            <a:pPr lvl="1"/>
            <a:r>
              <a:rPr lang="en-US" smtClean="0"/>
              <a:t>New IP extension headers that can be implemented for special needs, including more routing and security options</a:t>
            </a:r>
          </a:p>
          <a:p>
            <a:pPr lvl="1"/>
            <a:r>
              <a:rPr lang="en-US" smtClean="0"/>
              <a:t>Use of IP security (IPsec) to enhance network security</a:t>
            </a:r>
          </a:p>
          <a:p>
            <a:pPr lvl="1"/>
            <a:r>
              <a:rPr lang="en-US" smtClean="0"/>
              <a:t>More compact and efficient routing capabilities</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119136822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Internet Protocol (8 of 11)</a:t>
            </a:r>
            <a:endParaRPr lang="en-US" dirty="0"/>
          </a:p>
        </p:txBody>
      </p:sp>
      <p:sp>
        <p:nvSpPr>
          <p:cNvPr id="2" name="Content Placeholder 1"/>
          <p:cNvSpPr>
            <a:spLocks noGrp="1"/>
          </p:cNvSpPr>
          <p:nvPr>
            <p:ph idx="1"/>
          </p:nvPr>
        </p:nvSpPr>
        <p:spPr/>
        <p:txBody>
          <a:bodyPr/>
          <a:lstStyle/>
          <a:p>
            <a:r>
              <a:rPr lang="en-US" smtClean="0"/>
              <a:t>IPv6 is designed so that addresses can be configured using a wide range of options</a:t>
            </a:r>
          </a:p>
          <a:p>
            <a:pPr lvl="1"/>
            <a:r>
              <a:rPr lang="en-US" smtClean="0"/>
              <a:t>Enables better communications for routing and subnetting</a:t>
            </a:r>
          </a:p>
          <a:p>
            <a:pPr lvl="1"/>
            <a:r>
              <a:rPr lang="en-US" smtClean="0"/>
              <a:t>Offers options to create distinctions within a single address for network size, network location, organization, organization type, workgroups within an organization, etc…</a:t>
            </a:r>
          </a:p>
          <a:p>
            <a:r>
              <a:rPr lang="en-US" smtClean="0"/>
              <a:t>IPv6 addressing is autoconfiguring</a:t>
            </a:r>
          </a:p>
          <a:p>
            <a:pPr lvl="1"/>
            <a:r>
              <a:rPr lang="en-US" smtClean="0"/>
              <a:t>Reduces the workload of the network administrator</a:t>
            </a:r>
          </a:p>
          <a:p>
            <a:r>
              <a:rPr lang="en-US" smtClean="0"/>
              <a:t>IPv6 packet can be encrypted for security</a:t>
            </a:r>
          </a:p>
          <a:p>
            <a:pPr lvl="1"/>
            <a:r>
              <a:rPr lang="en-US" smtClean="0"/>
              <a:t>Can increase the communication delays on a network</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364533548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Internet Protocol (9 of 11)</a:t>
            </a:r>
            <a:endParaRPr lang="en-US" dirty="0"/>
          </a:p>
        </p:txBody>
      </p:sp>
      <p:sp>
        <p:nvSpPr>
          <p:cNvPr id="2" name="Content Placeholder 1"/>
          <p:cNvSpPr>
            <a:spLocks noGrp="1"/>
          </p:cNvSpPr>
          <p:nvPr>
            <p:ph idx="1"/>
          </p:nvPr>
        </p:nvSpPr>
        <p:spPr/>
        <p:txBody>
          <a:bodyPr/>
          <a:lstStyle/>
          <a:p>
            <a:r>
              <a:rPr lang="en-US" smtClean="0"/>
              <a:t>Static and dynamic addressing</a:t>
            </a:r>
          </a:p>
          <a:p>
            <a:pPr lvl="1"/>
            <a:r>
              <a:rPr lang="en-US" smtClean="0"/>
              <a:t>Static addressing </a:t>
            </a:r>
          </a:p>
          <a:p>
            <a:pPr lvl="2"/>
            <a:r>
              <a:rPr lang="en-US" smtClean="0"/>
              <a:t>Involves assigning a dotted decimal address that becomes each workstation’s permanent, unique IP address</a:t>
            </a:r>
          </a:p>
          <a:p>
            <a:pPr lvl="1"/>
            <a:r>
              <a:rPr lang="en-US" smtClean="0"/>
              <a:t>Dynamic addressing</a:t>
            </a:r>
          </a:p>
          <a:p>
            <a:pPr lvl="2"/>
            <a:r>
              <a:rPr lang="en-US" smtClean="0"/>
              <a:t>Automatically assigns an IP address to a computer each time it is logged on</a:t>
            </a:r>
          </a:p>
          <a:p>
            <a:pPr lvl="2"/>
            <a:r>
              <a:rPr lang="en-US" smtClean="0"/>
              <a:t>Uses the Dynamic Host Configuration Protocol (DHCP) to detect the presence of a new workstation and assign an IP address to that workstation</a:t>
            </a:r>
          </a:p>
          <a:p>
            <a:r>
              <a:rPr lang="en-US" smtClean="0"/>
              <a:t>Default gateway</a:t>
            </a:r>
          </a:p>
          <a:p>
            <a:pPr lvl="1"/>
            <a:r>
              <a:rPr lang="en-US" smtClean="0"/>
              <a:t>The IP address of the router that has a connection to other networks</a:t>
            </a:r>
          </a:p>
          <a:p>
            <a:pPr lvl="1"/>
            <a:r>
              <a:rPr lang="en-US" smtClean="0"/>
              <a:t>Used when the host computer you are trying to contact exists on another network</a:t>
            </a:r>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277012222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Internet Protocol (10 of 11)</a:t>
            </a:r>
            <a:endParaRPr lang="en-US" dirty="0"/>
          </a:p>
        </p:txBody>
      </p:sp>
      <p:sp>
        <p:nvSpPr>
          <p:cNvPr id="2" name="Content Placeholder 1"/>
          <p:cNvSpPr>
            <a:spLocks noGrp="1"/>
          </p:cNvSpPr>
          <p:nvPr>
            <p:ph idx="1"/>
          </p:nvPr>
        </p:nvSpPr>
        <p:spPr/>
        <p:txBody>
          <a:bodyPr/>
          <a:lstStyle/>
          <a:p>
            <a:r>
              <a:rPr lang="en-US" smtClean="0"/>
              <a:t>Name resolution</a:t>
            </a:r>
          </a:p>
          <a:p>
            <a:pPr lvl="1"/>
            <a:r>
              <a:rPr lang="en-US" smtClean="0"/>
              <a:t>Domain Name System (DNS)</a:t>
            </a:r>
          </a:p>
          <a:p>
            <a:pPr lvl="2"/>
            <a:r>
              <a:rPr lang="en-US" smtClean="0"/>
              <a:t>A TCP/IP application protocol that enables a DNS server to resolve (translate) domain and computer names to IP addresses, or IP addresses to domain and computer names</a:t>
            </a:r>
          </a:p>
          <a:p>
            <a:r>
              <a:rPr lang="en-US" smtClean="0"/>
              <a:t>NetBIOS Names</a:t>
            </a:r>
          </a:p>
          <a:p>
            <a:pPr lvl="1"/>
            <a:r>
              <a:rPr lang="en-US" smtClean="0"/>
              <a:t>The primary means of locating computers on a Windows-based network</a:t>
            </a:r>
          </a:p>
          <a:p>
            <a:pPr lvl="2"/>
            <a:r>
              <a:rPr lang="en-US" smtClean="0"/>
              <a:t>Prior to Windows 2000 Server</a:t>
            </a:r>
          </a:p>
          <a:p>
            <a:pPr lvl="1"/>
            <a:r>
              <a:rPr lang="en-US" smtClean="0"/>
              <a:t>Windows Internet Naming Service (WINS)</a:t>
            </a:r>
          </a:p>
          <a:p>
            <a:pPr lvl="2"/>
            <a:r>
              <a:rPr lang="en-US" smtClean="0"/>
              <a:t>Windows Server (all versions) service that enables the server to convert NetBIOS workstation names to IP addresses</a:t>
            </a:r>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168620726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Internet Protocol (11 of 11)</a:t>
            </a:r>
            <a:endParaRPr lang="en-US" dirty="0"/>
          </a:p>
        </p:txBody>
      </p:sp>
      <p:sp>
        <p:nvSpPr>
          <p:cNvPr id="2" name="Content Placeholder 1"/>
          <p:cNvSpPr>
            <a:spLocks noGrp="1"/>
          </p:cNvSpPr>
          <p:nvPr>
            <p:ph idx="1"/>
          </p:nvPr>
        </p:nvSpPr>
        <p:spPr/>
        <p:txBody>
          <a:bodyPr/>
          <a:lstStyle/>
          <a:p>
            <a:r>
              <a:rPr lang="en-US" smtClean="0"/>
              <a:t>Host names</a:t>
            </a:r>
          </a:p>
          <a:p>
            <a:pPr lvl="1"/>
            <a:r>
              <a:rPr lang="en-US" smtClean="0"/>
              <a:t>The preferred method of resolving computer names to IP addresses in Windows Server 2016</a:t>
            </a:r>
          </a:p>
          <a:p>
            <a:pPr lvl="1"/>
            <a:r>
              <a:rPr lang="en-US" smtClean="0"/>
              <a:t>Dynamic Domain Name System (DDNS)</a:t>
            </a:r>
          </a:p>
          <a:p>
            <a:pPr lvl="2"/>
            <a:r>
              <a:rPr lang="en-US" smtClean="0"/>
              <a:t>A modern DNS application</a:t>
            </a:r>
          </a:p>
          <a:p>
            <a:pPr lvl="2"/>
            <a:r>
              <a:rPr lang="en-US" smtClean="0"/>
              <a:t>Enables client computers to automatically register their IP addresses in DNS without intervention by a user or network administrator</a:t>
            </a:r>
          </a:p>
          <a:p>
            <a:pPr lvl="1"/>
            <a:r>
              <a:rPr lang="en-US" smtClean="0"/>
              <a:t>If a DNS server is not available, HOSTS files and broadcasts can be used to resolve IP addresses to host names</a:t>
            </a:r>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425918456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Physical Addresses and the Address Resolution Protocol (1 of 2)</a:t>
            </a:r>
            <a:endParaRPr lang="en-US" dirty="0"/>
          </a:p>
        </p:txBody>
      </p:sp>
      <p:sp>
        <p:nvSpPr>
          <p:cNvPr id="2" name="Content Placeholder 1"/>
          <p:cNvSpPr>
            <a:spLocks noGrp="1"/>
          </p:cNvSpPr>
          <p:nvPr>
            <p:ph idx="1"/>
          </p:nvPr>
        </p:nvSpPr>
        <p:spPr/>
        <p:txBody>
          <a:bodyPr/>
          <a:lstStyle/>
          <a:p>
            <a:r>
              <a:rPr lang="en-US" smtClean="0"/>
              <a:t>Address Resolution Protocol (ARP)</a:t>
            </a:r>
          </a:p>
          <a:p>
            <a:pPr lvl="1"/>
            <a:r>
              <a:rPr lang="en-US" smtClean="0"/>
              <a:t>Used to acquire the physical addresses associated with a computer’s network interface card (NIC)</a:t>
            </a:r>
          </a:p>
          <a:p>
            <a:r>
              <a:rPr lang="en-US" smtClean="0"/>
              <a:t>Every NIC has a physical address, or media access control (MAC) address</a:t>
            </a:r>
          </a:p>
          <a:p>
            <a:r>
              <a:rPr lang="en-US" smtClean="0"/>
              <a:t>For computers to communicate with each other</a:t>
            </a:r>
          </a:p>
          <a:p>
            <a:pPr lvl="1"/>
            <a:r>
              <a:rPr lang="en-US" smtClean="0"/>
              <a:t>They must know the MAC addresses of each other’s network interface cards</a:t>
            </a:r>
          </a:p>
          <a:p>
            <a:r>
              <a:rPr lang="en-US" smtClean="0"/>
              <a:t>Proper communications using TCP/IP rely on both IP addresses and MAC addresses</a:t>
            </a:r>
          </a:p>
          <a:p>
            <a:r>
              <a:rPr lang="en-US" smtClean="0"/>
              <a:t>Every computer running Windows Server 2016 has an ARP cache</a:t>
            </a:r>
          </a:p>
          <a:p>
            <a:pPr lvl="1"/>
            <a:r>
              <a:rPr lang="en-US" smtClean="0"/>
              <a:t>Contains recently resolved MAC addresses as well as statically assigned values in the ARP cache</a:t>
            </a:r>
          </a:p>
          <a:p>
            <a:pPr lvl="1"/>
            <a:r>
              <a:rPr lang="en-US" smtClean="0"/>
              <a:t>arp –a command shows the contents of ARP cache</a:t>
            </a:r>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388132619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Physical Addresses and the Address Resolution Protocol (2 of 2)</a:t>
            </a:r>
            <a:endParaRPr lang="en-US" dirty="0"/>
          </a:p>
        </p:txBody>
      </p:sp>
      <p:pic>
        <p:nvPicPr>
          <p:cNvPr id="6" name="Content Placeholder 5" descr="Figure 1-15 Page No. 34; Complexity level: 2&#10;&#10;Figure shows a Network switch at the center. The Network switch is connected to the server 00-60-92-EE-CB-52 (MAC address), 192.168.1.200 (IP address). A Laptop computer with 00-52-D4-2B-44-07 (MAC address) and 192.168.1.18 (IP address) is connected to three Desktop computers, the first Desktop computer with 00-75-85-F4-28-78 (Mac address) and 192.168.1.15 (IP address), the second Desktop computers with 00-22-42-CB-A4-7F (Mac address) and 192.168.1.22 (IP address), and the third desktop computer with 00-50-17-1A-EB-03 (Mac address) and 192.168.1.24 (IP address). The third desktop computer sends a packet to the server with an IP = 192.1.68.200 and MAC address =?  (denoted by an arrow). It receives a packet with an IP = 192.168.1.200 and MAC address = 00-60-92-EE-CB-52 which is denoted by an arrow and labeled as “ARP query and response.”&#10;" title="Figure 1-15"/>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2667000" y="1676400"/>
            <a:ext cx="3820460" cy="4176712"/>
          </a:xfrm>
        </p:spPr>
      </p:pic>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355438534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Implementing TCP/IP in Windows Server 2016</a:t>
            </a:r>
            <a:endParaRPr lang="en-US" dirty="0"/>
          </a:p>
        </p:txBody>
      </p:sp>
      <p:sp>
        <p:nvSpPr>
          <p:cNvPr id="2" name="Content Placeholder 1"/>
          <p:cNvSpPr>
            <a:spLocks noGrp="1"/>
          </p:cNvSpPr>
          <p:nvPr>
            <p:ph idx="1"/>
          </p:nvPr>
        </p:nvSpPr>
        <p:spPr/>
        <p:txBody>
          <a:bodyPr/>
          <a:lstStyle/>
          <a:p>
            <a:r>
              <a:rPr lang="en-US" smtClean="0"/>
              <a:t>Implementing TCP/IP involves two tasks:</a:t>
            </a:r>
          </a:p>
          <a:p>
            <a:pPr lvl="1"/>
            <a:r>
              <a:rPr lang="en-US" smtClean="0"/>
              <a:t>Verifying it is enabled</a:t>
            </a:r>
          </a:p>
          <a:p>
            <a:pPr lvl="1"/>
            <a:r>
              <a:rPr lang="en-US" smtClean="0"/>
              <a:t>Configuring it</a:t>
            </a:r>
          </a:p>
          <a:p>
            <a:r>
              <a:rPr lang="en-US" smtClean="0"/>
              <a:t>Enabling TCP/IP</a:t>
            </a:r>
          </a:p>
          <a:p>
            <a:pPr lvl="1"/>
            <a:r>
              <a:rPr lang="en-US" smtClean="0"/>
              <a:t>Activity 1-6: Verifying TCP/IP and the NIC are Enabled</a:t>
            </a:r>
          </a:p>
          <a:p>
            <a:r>
              <a:rPr lang="en-US" smtClean="0"/>
              <a:t>Configuring TCP/IP</a:t>
            </a:r>
          </a:p>
          <a:p>
            <a:pPr lvl="1"/>
            <a:r>
              <a:rPr lang="en-US" smtClean="0"/>
              <a:t>Activity 1-7: Configuring TCP/IP for Static Addressing</a:t>
            </a:r>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96647346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Automated Address Configuration (1 of 2)</a:t>
            </a:r>
            <a:endParaRPr lang="en-US" dirty="0"/>
          </a:p>
        </p:txBody>
      </p:sp>
      <p:sp>
        <p:nvSpPr>
          <p:cNvPr id="2" name="Content Placeholder 1"/>
          <p:cNvSpPr>
            <a:spLocks noGrp="1"/>
          </p:cNvSpPr>
          <p:nvPr>
            <p:ph idx="1"/>
          </p:nvPr>
        </p:nvSpPr>
        <p:spPr/>
        <p:txBody>
          <a:bodyPr/>
          <a:lstStyle/>
          <a:p>
            <a:r>
              <a:rPr lang="en-US" smtClean="0"/>
              <a:t>Automatic Private IP Addressing (APIPA)</a:t>
            </a:r>
          </a:p>
          <a:p>
            <a:pPr lvl="1"/>
            <a:r>
              <a:rPr lang="en-US" smtClean="0"/>
              <a:t>Used to automatically configure the TCP/IP settings for a computer without using a DHCP server</a:t>
            </a:r>
          </a:p>
          <a:p>
            <a:pPr lvl="1"/>
            <a:r>
              <a:rPr lang="en-US" smtClean="0"/>
              <a:t>Computer automatically assigns itself an IP address from the reserved range of 169.254.0.1 to 169.254.255.254 and a subnet mask of 255.255.0.0</a:t>
            </a:r>
          </a:p>
          <a:p>
            <a:pPr lvl="1"/>
            <a:r>
              <a:rPr lang="en-US" smtClean="0"/>
              <a:t>Appropriate for small organizations that have only one network segment and do not need to access another network or the Internet</a:t>
            </a:r>
          </a:p>
          <a:p>
            <a:r>
              <a:rPr lang="en-US" smtClean="0"/>
              <a:t>Automatic configuration can be disabled through the Windows Server 2016 Registry</a:t>
            </a:r>
          </a:p>
          <a:p>
            <a:pPr lvl="1"/>
            <a:r>
              <a:rPr lang="en-US" smtClean="0"/>
              <a:t>Registry is a database used to store information about the configuration, program setup, devices, drivers, and other data important to the setup of Windows OSs</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292245192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Automated Address Configuration (2 of 2)</a:t>
            </a:r>
            <a:endParaRPr lang="en-US" dirty="0"/>
          </a:p>
        </p:txBody>
      </p:sp>
      <p:sp>
        <p:nvSpPr>
          <p:cNvPr id="2" name="Content Placeholder 1"/>
          <p:cNvSpPr>
            <a:spLocks noGrp="1"/>
          </p:cNvSpPr>
          <p:nvPr>
            <p:ph idx="1"/>
          </p:nvPr>
        </p:nvSpPr>
        <p:spPr/>
        <p:txBody>
          <a:bodyPr/>
          <a:lstStyle/>
          <a:p>
            <a:r>
              <a:rPr lang="en-US" smtClean="0"/>
              <a:t>Dynamic Addressing Through a DHCP Server</a:t>
            </a:r>
          </a:p>
          <a:p>
            <a:pPr lvl="1"/>
            <a:r>
              <a:rPr lang="en-US" smtClean="0"/>
              <a:t>Common for medium-sized and large networks</a:t>
            </a:r>
          </a:p>
          <a:p>
            <a:pPr lvl="1"/>
            <a:r>
              <a:rPr lang="en-US" smtClean="0"/>
              <a:t>You must first install and configure a DHCP server on the network</a:t>
            </a:r>
          </a:p>
          <a:p>
            <a:pPr lvl="1"/>
            <a:r>
              <a:rPr lang="en-US" smtClean="0"/>
              <a:t>In addition to assigning the IP address, the DHCP server can also assign the subnet mask, default gateway, DNS server, and other IP settings</a:t>
            </a:r>
          </a:p>
          <a:p>
            <a:pPr lvl="1"/>
            <a:r>
              <a:rPr lang="en-US" smtClean="0"/>
              <a:t>Using a DHCP server can save you a great deal of administrative effort</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204116256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Chapter Summary (1 of 2)</a:t>
            </a:r>
            <a:endParaRPr lang="en-US" dirty="0"/>
          </a:p>
        </p:txBody>
      </p:sp>
      <p:sp>
        <p:nvSpPr>
          <p:cNvPr id="2" name="Content Placeholder 1"/>
          <p:cNvSpPr>
            <a:spLocks noGrp="1"/>
          </p:cNvSpPr>
          <p:nvPr>
            <p:ph idx="1"/>
          </p:nvPr>
        </p:nvSpPr>
        <p:spPr/>
        <p:txBody>
          <a:bodyPr/>
          <a:lstStyle/>
          <a:p>
            <a:r>
              <a:rPr lang="en-US" smtClean="0"/>
              <a:t>The Windows Server 2016 main platforms include Essentials Edition, Standard Edition, and Datacenter Edition</a:t>
            </a:r>
          </a:p>
          <a:p>
            <a:r>
              <a:rPr lang="en-US" smtClean="0"/>
              <a:t>Windows Server 2016 also offers specific-purpose platforms that include Windows Server 2016 Multipoint Premium Server, Windows Storage Server 2016, and Windows Hyper-V Server 2016</a:t>
            </a:r>
          </a:p>
          <a:p>
            <a:r>
              <a:rPr lang="en-US" smtClean="0"/>
              <a:t>Windows Server 2016 includes many vital features for security, networking, clustering, virtualization, cloud computing, reliability, database handling, and multitasking and multithreading</a:t>
            </a:r>
          </a:p>
          <a:p>
            <a:r>
              <a:rPr lang="en-US" smtClean="0"/>
              <a:t>The two types of networking models used by Windows Server 2016 are peer-to-peer networks and server-based networks</a:t>
            </a:r>
          </a:p>
          <a:p>
            <a:r>
              <a:rPr lang="en-US" smtClean="0"/>
              <a:t>Peer-to-peer networking is intended for small networks </a:t>
            </a:r>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26940593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Chapter Summary (2 of 2)</a:t>
            </a:r>
            <a:endParaRPr lang="en-US" dirty="0"/>
          </a:p>
        </p:txBody>
      </p:sp>
      <p:sp>
        <p:nvSpPr>
          <p:cNvPr id="2" name="Content Placeholder 1"/>
          <p:cNvSpPr>
            <a:spLocks noGrp="1"/>
          </p:cNvSpPr>
          <p:nvPr>
            <p:ph idx="1"/>
          </p:nvPr>
        </p:nvSpPr>
        <p:spPr/>
        <p:txBody>
          <a:bodyPr/>
          <a:lstStyle/>
          <a:p>
            <a:r>
              <a:rPr lang="en-US" smtClean="0"/>
              <a:t>TCP/IP is the default protocol installed with Windows Server 2016 and is an industry-standard suite of protocols and application utilities that enable communication across local and wide area networks</a:t>
            </a:r>
          </a:p>
          <a:p>
            <a:r>
              <a:rPr lang="en-US" smtClean="0"/>
              <a:t>Two versions of IP are IPv4 and IPv6</a:t>
            </a:r>
          </a:p>
          <a:p>
            <a:r>
              <a:rPr lang="en-US" smtClean="0"/>
              <a:t>Every network device must have a unique IP address to ensure network connectivity and the delivery of data</a:t>
            </a:r>
          </a:p>
          <a:p>
            <a:r>
              <a:rPr lang="en-US" smtClean="0"/>
              <a:t>An IPv6 address uses eight 16-bit fields in hexadecimal format separated by colons and includes addressing rules to enable address prefixes</a:t>
            </a:r>
          </a:p>
          <a:p>
            <a:r>
              <a:rPr lang="en-US" smtClean="0"/>
              <a:t>IP addresses can be manually configured using static addressing or automatically configured, using APIPA or dynamic addressing through a DHCP server</a:t>
            </a:r>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1001442182"/>
      </p:ext>
    </p:extLst>
  </p:cSld>
  <p:clrMapOvr>
    <a:masterClrMapping/>
  </p:clrMapOvr>
</p:sld>
</file>

<file path=ppt/theme/theme1.xml><?xml version="1.0" encoding="utf-8"?>
<a:theme xmlns:a="http://schemas.openxmlformats.org/drawingml/2006/main" name="Office Theme">
  <a:themeElements>
    <a:clrScheme name="Cengage">
      <a:dk1>
        <a:srgbClr val="000000"/>
      </a:dk1>
      <a:lt1>
        <a:srgbClr val="FFFFFF"/>
      </a:lt1>
      <a:dk2>
        <a:srgbClr val="000000"/>
      </a:dk2>
      <a:lt2>
        <a:srgbClr val="AAAEB4"/>
      </a:lt2>
      <a:accent1>
        <a:srgbClr val="0D3857"/>
      </a:accent1>
      <a:accent2>
        <a:srgbClr val="055C91"/>
      </a:accent2>
      <a:accent3>
        <a:srgbClr val="81C0DA"/>
      </a:accent3>
      <a:accent4>
        <a:srgbClr val="B0D3DF"/>
      </a:accent4>
      <a:accent5>
        <a:srgbClr val="E0DCCD"/>
      </a:accent5>
      <a:accent6>
        <a:srgbClr val="7C7666"/>
      </a:accent6>
      <a:hlink>
        <a:srgbClr val="055C91"/>
      </a:hlink>
      <a:folHlink>
        <a:srgbClr val="81C0DA"/>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9118</TotalTime>
  <Words>7204</Words>
  <Application>Microsoft Office PowerPoint</Application>
  <PresentationFormat>On-screen Show (4:3)</PresentationFormat>
  <Paragraphs>587</Paragraphs>
  <Slides>63</Slides>
  <Notes>63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63</vt:i4>
      </vt:variant>
    </vt:vector>
  </HeadingPairs>
  <TitlesOfParts>
    <vt:vector size="67" baseType="lpstr">
      <vt:lpstr>Arial</vt:lpstr>
      <vt:lpstr>Calibri</vt:lpstr>
      <vt:lpstr>Calibri Light</vt:lpstr>
      <vt:lpstr>Office Theme</vt:lpstr>
      <vt:lpstr>Hands-On Microsoft Windows Server 2016  2nd Edition</vt:lpstr>
      <vt:lpstr>Objectives (1 of 2)</vt:lpstr>
      <vt:lpstr>Objectives (2 of 2)</vt:lpstr>
      <vt:lpstr>Windows Server 2016 Editions</vt:lpstr>
      <vt:lpstr>Windows Server 2016 Essentials Edition</vt:lpstr>
      <vt:lpstr>Windows Server 2016 Standard Edition (1 of 5)</vt:lpstr>
      <vt:lpstr>Windows Server 2016 Standard Edition (2 of 5)</vt:lpstr>
      <vt:lpstr>Windows Server 2016 Standard Edition (3 of 5)</vt:lpstr>
      <vt:lpstr>Windows Server 2016 Standard Edition (4 of 5)</vt:lpstr>
      <vt:lpstr>Windows Server 2016 Standard Edition (5 of 5)</vt:lpstr>
      <vt:lpstr>Windows Server 2016 Datacenter Edition (1 of 2)</vt:lpstr>
      <vt:lpstr>Windows Server 2016 Datacenter Edition (2 of 2)</vt:lpstr>
      <vt:lpstr>Windows Server 2016 Multipoint Premium Server</vt:lpstr>
      <vt:lpstr>Windows Storage Server 2016</vt:lpstr>
      <vt:lpstr>Microsoft Hyper-V Server 2016</vt:lpstr>
      <vt:lpstr>Using Windows Server 2016 with Client Systems</vt:lpstr>
      <vt:lpstr>Using Windows Server 2016 with Client Systems (1 of 3)</vt:lpstr>
      <vt:lpstr>Using Windows Server 2016 with Client Systems (2 of 3)</vt:lpstr>
      <vt:lpstr>Using Windows Server 2016 with Client Systems (3 of 3)</vt:lpstr>
      <vt:lpstr>Windows Server 2016 Features</vt:lpstr>
      <vt:lpstr>Server Manager (1 of 2)</vt:lpstr>
      <vt:lpstr>Server Manager (2 of 2)</vt:lpstr>
      <vt:lpstr>Security</vt:lpstr>
      <vt:lpstr>Clustering and Clustering Tools</vt:lpstr>
      <vt:lpstr>Enhanced Web Services</vt:lpstr>
      <vt:lpstr>Windows Server Core and Nano Server (1 of 2)</vt:lpstr>
      <vt:lpstr>Windows Server Core and Nano Server (2 of 2)</vt:lpstr>
      <vt:lpstr>Windows PowerShell (1 of 3)</vt:lpstr>
      <vt:lpstr>Windows PowerShell (2 of 3)</vt:lpstr>
      <vt:lpstr>Windows PowerShell (3 of 3)</vt:lpstr>
      <vt:lpstr>Virtualization</vt:lpstr>
      <vt:lpstr>Reliability</vt:lpstr>
      <vt:lpstr>Multitasking and Multithreading</vt:lpstr>
      <vt:lpstr>Physical and Logical Processors</vt:lpstr>
      <vt:lpstr>Containers (1 of 2)</vt:lpstr>
      <vt:lpstr>Containers (2 of 2)</vt:lpstr>
      <vt:lpstr>Planning a Windows Server 2016 Networking Model (1 of 2)</vt:lpstr>
      <vt:lpstr>Planning a Windows Server 2016 Networking Model</vt:lpstr>
      <vt:lpstr>Peer-to-Peer Networking (1 of 2)</vt:lpstr>
      <vt:lpstr>Peer-to-Peer Networking</vt:lpstr>
      <vt:lpstr>Server-Based Networking (1 of 3)</vt:lpstr>
      <vt:lpstr>Server-Based Networking (1 of 2)</vt:lpstr>
      <vt:lpstr>Server-Based Networking (2 of 2)</vt:lpstr>
      <vt:lpstr>Protocols for the Windows Server 2016 Networking Model</vt:lpstr>
      <vt:lpstr>Transmission Control Protocol</vt:lpstr>
      <vt:lpstr>Internet Protocol (1 of 11) </vt:lpstr>
      <vt:lpstr>Internet Protocol (2 of 11) </vt:lpstr>
      <vt:lpstr>Internet Protocol (3 of 11) </vt:lpstr>
      <vt:lpstr>Internet Protocol (4 of 11) </vt:lpstr>
      <vt:lpstr>Internet Protocol (5 of 11) </vt:lpstr>
      <vt:lpstr>Internet Protocol (6 of 11) </vt:lpstr>
      <vt:lpstr>Internet Protocol (7 of 11)</vt:lpstr>
      <vt:lpstr>Internet Protocol (8 of 11)</vt:lpstr>
      <vt:lpstr>Internet Protocol (9 of 11)</vt:lpstr>
      <vt:lpstr>Internet Protocol (10 of 11)</vt:lpstr>
      <vt:lpstr>Internet Protocol (11 of 11)</vt:lpstr>
      <vt:lpstr>Physical Addresses and the Address Resolution Protocol (1 of 2)</vt:lpstr>
      <vt:lpstr>Physical Addresses and the Address Resolution Protocol (2 of 2)</vt:lpstr>
      <vt:lpstr>Implementing TCP/IP in Windows Server 2016</vt:lpstr>
      <vt:lpstr>Automated Address Configuration (1 of 2)</vt:lpstr>
      <vt:lpstr>Automated Address Configuration (2 of 2)</vt:lpstr>
      <vt:lpstr>Chapter Summary (1 of 2)</vt:lpstr>
      <vt:lpstr>Chapter Summary (2 of 2)</vt:lpstr>
    </vt:vector>
  </TitlesOfParts>
  <Company>Course Technology</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Author</dc:creator>
  <cp:lastModifiedBy>Bruce Link</cp:lastModifiedBy>
  <cp:revision>354</cp:revision>
  <cp:lastPrinted>2017-07-11T22:08:56Z</cp:lastPrinted>
  <dcterms:created xsi:type="dcterms:W3CDTF">2007-02-15T20:50:52Z</dcterms:created>
  <dcterms:modified xsi:type="dcterms:W3CDTF">2017-07-11T22:18:11Z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AdHocReviewCycleID">
    <vt:i4>732539425</vt:i4>
  </property>
  <property fmtid="{D5CDD505-2E9C-101B-9397-08002B2CF9AE}" pid="3" name="_NewReviewCycle">
    <vt:lpwstr/>
  </property>
  <property fmtid="{D5CDD505-2E9C-101B-9397-08002B2CF9AE}" pid="4" name="_EmailSubject">
    <vt:lpwstr>Cengage Branding/Accessibility </vt:lpwstr>
  </property>
  <property fmtid="{D5CDD505-2E9C-101B-9397-08002B2CF9AE}" pid="5" name="_AuthorEmail">
    <vt:lpwstr>maria.garguilo@cengage.com</vt:lpwstr>
  </property>
  <property fmtid="{D5CDD505-2E9C-101B-9397-08002B2CF9AE}" pid="6" name="_AuthorEmailDisplayName">
    <vt:lpwstr>Garguilo, Maria</vt:lpwstr>
  </property>
  <property fmtid="{D5CDD505-2E9C-101B-9397-08002B2CF9AE}" pid="7" name="_PreviousAdHocReviewCycleID">
    <vt:i4>1933890983</vt:i4>
  </property>
</Properties>
</file>