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49"/>
  </p:notesMasterIdLst>
  <p:handoutMasterIdLst>
    <p:handoutMasterId r:id="rId50"/>
  </p:handoutMasterIdLst>
  <p:sldIdLst>
    <p:sldId id="256" r:id="rId2"/>
    <p:sldId id="257" r:id="rId3"/>
    <p:sldId id="312" r:id="rId4"/>
    <p:sldId id="313" r:id="rId5"/>
    <p:sldId id="314" r:id="rId6"/>
    <p:sldId id="315" r:id="rId7"/>
    <p:sldId id="316" r:id="rId8"/>
    <p:sldId id="317" r:id="rId9"/>
    <p:sldId id="319" r:id="rId10"/>
    <p:sldId id="320" r:id="rId11"/>
    <p:sldId id="321" r:id="rId12"/>
    <p:sldId id="322" r:id="rId13"/>
    <p:sldId id="323" r:id="rId14"/>
    <p:sldId id="324" r:id="rId15"/>
    <p:sldId id="326" r:id="rId16"/>
    <p:sldId id="327" r:id="rId17"/>
    <p:sldId id="325" r:id="rId18"/>
    <p:sldId id="329" r:id="rId19"/>
    <p:sldId id="330" r:id="rId20"/>
    <p:sldId id="331" r:id="rId21"/>
    <p:sldId id="332" r:id="rId22"/>
    <p:sldId id="333" r:id="rId23"/>
    <p:sldId id="335" r:id="rId24"/>
    <p:sldId id="336" r:id="rId25"/>
    <p:sldId id="337" r:id="rId26"/>
    <p:sldId id="338" r:id="rId27"/>
    <p:sldId id="339" r:id="rId28"/>
    <p:sldId id="340" r:id="rId29"/>
    <p:sldId id="341" r:id="rId30"/>
    <p:sldId id="342" r:id="rId31"/>
    <p:sldId id="343" r:id="rId32"/>
    <p:sldId id="344" r:id="rId33"/>
    <p:sldId id="345" r:id="rId34"/>
    <p:sldId id="346" r:id="rId35"/>
    <p:sldId id="347" r:id="rId36"/>
    <p:sldId id="348" r:id="rId37"/>
    <p:sldId id="349" r:id="rId38"/>
    <p:sldId id="350" r:id="rId39"/>
    <p:sldId id="351" r:id="rId40"/>
    <p:sldId id="352" r:id="rId41"/>
    <p:sldId id="353" r:id="rId42"/>
    <p:sldId id="354" r:id="rId43"/>
    <p:sldId id="355" r:id="rId44"/>
    <p:sldId id="356" r:id="rId45"/>
    <p:sldId id="357" r:id="rId46"/>
    <p:sldId id="308" r:id="rId47"/>
    <p:sldId id="310" r:id="rId48"/>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27" autoAdjust="0"/>
    <p:restoredTop sz="76197" autoAdjust="0"/>
  </p:normalViewPr>
  <p:slideViewPr>
    <p:cSldViewPr>
      <p:cViewPr varScale="1">
        <p:scale>
          <a:sx n="74" d="100"/>
          <a:sy n="74" d="100"/>
        </p:scale>
        <p:origin x="1386"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46</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47</a:t>
            </a:fld>
            <a:endParaRPr lang="en-US" dirty="0"/>
          </a:p>
        </p:txBody>
      </p:sp>
    </p:spTree>
    <p:extLst>
      <p:ext uri="{BB962C8B-B14F-4D97-AF65-F5344CB8AC3E}">
        <p14:creationId xmlns:p14="http://schemas.microsoft.com/office/powerpoint/2010/main" val="28708147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8</a:t>
            </a:r>
          </a:p>
          <a:p>
            <a:r>
              <a:rPr lang="en-US" smtClean="0"/>
              <a:t>Managing Windows Server 2016 Network Services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a:t>
            </a:r>
            <a:endParaRPr lang="en-US" dirty="0"/>
          </a:p>
        </p:txBody>
      </p:sp>
      <p:sp>
        <p:nvSpPr>
          <p:cNvPr id="3" name="Text Placeholder 2"/>
          <p:cNvSpPr>
            <a:spLocks noGrp="1"/>
          </p:cNvSpPr>
          <p:nvPr>
            <p:ph type="body" idx="1"/>
          </p:nvPr>
        </p:nvSpPr>
        <p:spPr/>
        <p:txBody>
          <a:bodyPr/>
          <a:lstStyle/>
          <a:p>
            <a:r>
              <a:rPr lang="en-US" smtClean="0"/>
              <a:t>Install, configure, and troubleshoot DNS</a:t>
            </a:r>
          </a:p>
          <a:p>
            <a:r>
              <a:rPr lang="en-US" smtClean="0"/>
              <a:t>Create a DNS implementation plan</a:t>
            </a:r>
          </a:p>
          <a:p>
            <a:r>
              <a:rPr lang="en-US" smtClean="0"/>
              <a:t>Install, configure, and troubleshoot DHCP</a:t>
            </a:r>
          </a:p>
          <a:p>
            <a:r>
              <a:rPr lang="en-US" smtClean="0"/>
              <a:t>Install the IP Address Management tool</a:t>
            </a:r>
          </a:p>
          <a:p>
            <a:r>
              <a:rPr lang="en-US" smtClean="0"/>
              <a:t>Configure NIC teaming</a:t>
            </a:r>
          </a:p>
          <a:p>
            <a:r>
              <a:rPr lang="en-US" smtClean="0"/>
              <a:t>Install, configure, and troubleshoot Microsoft Internet Information Services</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Microsoft DNS</a:t>
            </a:r>
            <a:endParaRPr lang="en-US" dirty="0"/>
          </a:p>
        </p:txBody>
      </p:sp>
      <p:sp>
        <p:nvSpPr>
          <p:cNvPr id="2" name="Content Placeholder 1"/>
          <p:cNvSpPr>
            <a:spLocks noGrp="1"/>
          </p:cNvSpPr>
          <p:nvPr>
            <p:ph idx="1"/>
          </p:nvPr>
        </p:nvSpPr>
        <p:spPr/>
        <p:txBody>
          <a:bodyPr/>
          <a:lstStyle/>
          <a:p>
            <a:r>
              <a:rPr lang="en-US" smtClean="0"/>
              <a:t>Domain Name System (DNS)</a:t>
            </a:r>
          </a:p>
          <a:p>
            <a:pPr lvl="1"/>
            <a:r>
              <a:rPr lang="en-US" smtClean="0"/>
              <a:t>A TCP/IP application protocol that enables a DNS server to resolve (translate):</a:t>
            </a:r>
          </a:p>
          <a:p>
            <a:pPr lvl="2"/>
            <a:r>
              <a:rPr lang="en-US" smtClean="0"/>
              <a:t>Domain and computer names to IP addresses</a:t>
            </a:r>
          </a:p>
          <a:p>
            <a:pPr lvl="2"/>
            <a:r>
              <a:rPr lang="en-US" smtClean="0"/>
              <a:t>IP addresses to domain and computer names</a:t>
            </a:r>
          </a:p>
          <a:p>
            <a:r>
              <a:rPr lang="en-US" smtClean="0"/>
              <a:t>DNS servers provide the DNS namespace for an enterprise</a:t>
            </a:r>
          </a:p>
          <a:p>
            <a:r>
              <a:rPr lang="en-US" smtClean="0"/>
              <a:t>One of the requirements for using Active Directory on a Windows Server 2016 network is to have a DNS server on the network</a:t>
            </a:r>
          </a:p>
          <a:p>
            <a:r>
              <a:rPr lang="en-US" smtClean="0"/>
              <a:t>Windows Server 2016 DNS is the most compatible with Active Directory</a:t>
            </a:r>
          </a:p>
          <a:p>
            <a:pPr lvl="1"/>
            <a:r>
              <a:rPr lang="en-US" smtClean="0"/>
              <a:t>Non-Microsoft servers can be used but they must be compatible with Active Directory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48100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DNS Services (1 of 2)</a:t>
            </a:r>
            <a:endParaRPr lang="en-US" dirty="0"/>
          </a:p>
        </p:txBody>
      </p:sp>
      <p:sp>
        <p:nvSpPr>
          <p:cNvPr id="2" name="Content Placeholder 1"/>
          <p:cNvSpPr>
            <a:spLocks noGrp="1"/>
          </p:cNvSpPr>
          <p:nvPr>
            <p:ph idx="1"/>
          </p:nvPr>
        </p:nvSpPr>
        <p:spPr/>
        <p:txBody>
          <a:bodyPr/>
          <a:lstStyle/>
          <a:p>
            <a:r>
              <a:rPr lang="en-US" smtClean="0"/>
              <a:t>DNS is installed as a server role in Windows Server 2016</a:t>
            </a:r>
          </a:p>
          <a:p>
            <a:r>
              <a:rPr lang="en-US" smtClean="0"/>
              <a:t>After you install DNS</a:t>
            </a:r>
          </a:p>
          <a:p>
            <a:pPr lvl="1"/>
            <a:r>
              <a:rPr lang="en-US" smtClean="0"/>
              <a:t>You’ll need to configure elements in DNS such as zones (described in next sections)</a:t>
            </a:r>
          </a:p>
          <a:p>
            <a:r>
              <a:rPr lang="en-US" smtClean="0"/>
              <a:t>For optimal results, develop a DNS implementation plan before you set up DNS in a production environment</a:t>
            </a:r>
          </a:p>
          <a:p>
            <a:r>
              <a:rPr lang="en-US" smtClean="0"/>
              <a:t>Activity 8-1 will step you through installing DNS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04646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DNS Services (2 of 2)</a:t>
            </a:r>
            <a:endParaRPr lang="en-US" dirty="0"/>
          </a:p>
        </p:txBody>
      </p:sp>
      <p:pic>
        <p:nvPicPr>
          <p:cNvPr id="6" name="Content Placeholder 5" descr="Figure 8-1, Page No. 330, Complexity level: 2&#10;Screenshot shows the “Add Roles and Features Wizard” dialog box. On the left pane of the dialog box, the Server Roles option is selected. On the content pane of the dialog box, under the roles option the checkbox is selected for Active Directory Domain Services (Installed) option and Hyper-V (Installed) option. The DNS Server option is selected with a checkmark. The File and storage Services (6 of 12 installed) option and Print and Document Services (1 of 4 installed) option’s radio buttons are selected. The cursor points to the Next button below and it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5000" y="1828800"/>
            <a:ext cx="5101812" cy="3871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9678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DNS Zones (1 of 3)</a:t>
            </a:r>
            <a:endParaRPr lang="en-US" dirty="0"/>
          </a:p>
        </p:txBody>
      </p:sp>
      <p:sp>
        <p:nvSpPr>
          <p:cNvPr id="2" name="Content Placeholder 1"/>
          <p:cNvSpPr>
            <a:spLocks noGrp="1"/>
          </p:cNvSpPr>
          <p:nvPr>
            <p:ph idx="1"/>
          </p:nvPr>
        </p:nvSpPr>
        <p:spPr/>
        <p:txBody>
          <a:bodyPr/>
          <a:lstStyle/>
          <a:p>
            <a:r>
              <a:rPr lang="en-US" smtClean="0"/>
              <a:t>DNS name resolution is enabled through the use of tables of information</a:t>
            </a:r>
          </a:p>
          <a:p>
            <a:pPr lvl="1"/>
            <a:r>
              <a:rPr lang="en-US" smtClean="0"/>
              <a:t>That link computer names and IP addresses</a:t>
            </a:r>
          </a:p>
          <a:p>
            <a:r>
              <a:rPr lang="en-US" smtClean="0"/>
              <a:t>The tables are associated with partitions in a DNS server that are called zones</a:t>
            </a:r>
          </a:p>
          <a:p>
            <a:pPr lvl="1"/>
            <a:r>
              <a:rPr lang="en-US" smtClean="0"/>
              <a:t>Contain resource records</a:t>
            </a:r>
          </a:p>
          <a:p>
            <a:r>
              <a:rPr lang="en-US" smtClean="0"/>
              <a:t>Each zone houses tables of different types of resource records</a:t>
            </a:r>
          </a:p>
          <a:p>
            <a:pPr lvl="1"/>
            <a:r>
              <a:rPr lang="en-US" smtClean="0"/>
              <a:t>Called zone file or zone database</a:t>
            </a:r>
          </a:p>
          <a:p>
            <a:r>
              <a:rPr lang="en-US" smtClean="0"/>
              <a:t>Forward lookup zone</a:t>
            </a:r>
          </a:p>
          <a:p>
            <a:pPr lvl="1"/>
            <a:r>
              <a:rPr lang="en-US" smtClean="0"/>
              <a:t>The zone that links computer names to IP addresses</a:t>
            </a:r>
          </a:p>
          <a:p>
            <a:pPr lvl="1"/>
            <a:r>
              <a:rPr lang="en-US" smtClean="0"/>
              <a:t>Holds host name records called address records</a:t>
            </a:r>
          </a:p>
          <a:p>
            <a:pPr lvl="1"/>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96074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DNS Zones (2 of 3)</a:t>
            </a:r>
            <a:endParaRPr lang="en-US" dirty="0"/>
          </a:p>
        </p:txBody>
      </p:sp>
      <p:sp>
        <p:nvSpPr>
          <p:cNvPr id="2" name="Content Placeholder 1"/>
          <p:cNvSpPr>
            <a:spLocks noGrp="1"/>
          </p:cNvSpPr>
          <p:nvPr>
            <p:ph idx="1"/>
          </p:nvPr>
        </p:nvSpPr>
        <p:spPr/>
        <p:txBody>
          <a:bodyPr/>
          <a:lstStyle/>
          <a:p>
            <a:r>
              <a:rPr lang="en-US" smtClean="0"/>
              <a:t>In IP version 4, a host record is called a host address (A) resource record</a:t>
            </a:r>
          </a:p>
          <a:p>
            <a:r>
              <a:rPr lang="en-US" smtClean="0"/>
              <a:t>An IPv6 record is called an IPv6 host address (AAAA) resource record</a:t>
            </a:r>
          </a:p>
          <a:p>
            <a:r>
              <a:rPr lang="en-US" smtClean="0"/>
              <a:t>When you install DNS on a domain controller (DC) in a domain</a:t>
            </a:r>
          </a:p>
          <a:p>
            <a:pPr lvl="1"/>
            <a:r>
              <a:rPr lang="en-US" smtClean="0"/>
              <a:t>A forward lookup zone is automatically created for the domain with the DNS server’s address record already entered</a:t>
            </a:r>
          </a:p>
          <a:p>
            <a:r>
              <a:rPr lang="en-US" smtClean="0"/>
              <a:t>You must enter the records of other hosts or configure DHCP to automatically update the DNS forward lookup zone each time it leases an IP address</a:t>
            </a:r>
          </a:p>
          <a:p>
            <a:r>
              <a:rPr lang="en-US" smtClean="0"/>
              <a:t>A DNS server can have several forward lookup zones</a:t>
            </a:r>
          </a:p>
          <a:p>
            <a:pPr lvl="1"/>
            <a:r>
              <a:rPr lang="en-US" smtClean="0"/>
              <a:t>There should be at least one for the parent domain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34033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DNS Zones (3 of 3)</a:t>
            </a:r>
            <a:endParaRPr lang="en-US" dirty="0"/>
          </a:p>
        </p:txBody>
      </p:sp>
      <p:sp>
        <p:nvSpPr>
          <p:cNvPr id="2" name="Content Placeholder 1"/>
          <p:cNvSpPr>
            <a:spLocks noGrp="1"/>
          </p:cNvSpPr>
          <p:nvPr>
            <p:ph idx="1"/>
          </p:nvPr>
        </p:nvSpPr>
        <p:spPr/>
        <p:txBody>
          <a:bodyPr/>
          <a:lstStyle/>
          <a:p>
            <a:r>
              <a:rPr lang="en-US" smtClean="0"/>
              <a:t>Reverse lookup zone</a:t>
            </a:r>
          </a:p>
          <a:p>
            <a:pPr lvl="1"/>
            <a:r>
              <a:rPr lang="en-US" smtClean="0"/>
              <a:t>Holds the pointer (PTR) resource record, which contains the IP address-to-host name</a:t>
            </a:r>
          </a:p>
          <a:p>
            <a:pPr lvl="1"/>
            <a:r>
              <a:rPr lang="en-US" smtClean="0"/>
              <a:t>Not used as commonly as the forward lookup zone</a:t>
            </a:r>
          </a:p>
          <a:p>
            <a:r>
              <a:rPr lang="en-US" smtClean="0"/>
              <a:t>Because reverse lookup zones are used less often</a:t>
            </a:r>
          </a:p>
          <a:p>
            <a:pPr lvl="1"/>
            <a:r>
              <a:rPr lang="en-US" smtClean="0"/>
              <a:t>It is not automatically configured when DNS is installed</a:t>
            </a:r>
          </a:p>
          <a:p>
            <a:r>
              <a:rPr lang="en-US" smtClean="0"/>
              <a:t>Activity 8-2 shows you how to create a reverse lookup zone</a:t>
            </a:r>
          </a:p>
          <a:p>
            <a:r>
              <a:rPr lang="en-US" smtClean="0"/>
              <a:t>Activity 8-3 steps you through creating a Host Address A Resource Record</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64475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DNS Dynamic Update Protocol (1 of 2)</a:t>
            </a:r>
            <a:endParaRPr lang="en-US" dirty="0"/>
          </a:p>
        </p:txBody>
      </p:sp>
      <p:sp>
        <p:nvSpPr>
          <p:cNvPr id="2" name="Content Placeholder 1"/>
          <p:cNvSpPr>
            <a:spLocks noGrp="1"/>
          </p:cNvSpPr>
          <p:nvPr>
            <p:ph idx="1"/>
          </p:nvPr>
        </p:nvSpPr>
        <p:spPr/>
        <p:txBody>
          <a:bodyPr/>
          <a:lstStyle/>
          <a:p>
            <a:r>
              <a:rPr lang="en-US" smtClean="0"/>
              <a:t>Microsoft DNS is also called Dynamic DNS (DDNS)</a:t>
            </a:r>
          </a:p>
          <a:p>
            <a:pPr lvl="1"/>
            <a:r>
              <a:rPr lang="en-US" smtClean="0"/>
              <a:t>A modern form of DNS that enables client computers and DHCP servers to automatically register IP addresses</a:t>
            </a:r>
          </a:p>
          <a:p>
            <a:r>
              <a:rPr lang="en-US" smtClean="0"/>
              <a:t>DNS dynamic update protocol</a:t>
            </a:r>
          </a:p>
          <a:p>
            <a:pPr lvl="1"/>
            <a:r>
              <a:rPr lang="en-US" smtClean="0"/>
              <a:t>Enables information in a DNS server to be automatically updated in coordination with DHCP</a:t>
            </a:r>
          </a:p>
          <a:p>
            <a:r>
              <a:rPr lang="en-US" smtClean="0"/>
              <a:t>After configuring DNS</a:t>
            </a:r>
          </a:p>
          <a:p>
            <a:pPr lvl="1"/>
            <a:r>
              <a:rPr lang="en-US" smtClean="0"/>
              <a:t>Always make sure that it is configured to sue the DNS dynamic update protocol</a:t>
            </a:r>
          </a:p>
          <a:p>
            <a:pPr lvl="1"/>
            <a:r>
              <a:rPr lang="en-US" smtClean="0"/>
              <a:t>Saves administrators time because they no longer have to manually register each new workstation or each time a new IP lease is issued</a:t>
            </a:r>
          </a:p>
          <a:p>
            <a:r>
              <a:rPr lang="en-US" smtClean="0"/>
              <a:t>Activity 8-4 shows you how to verify the DNS dynamic update configuration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01341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DNS Dynamic Update Protocol (2 of 2)</a:t>
            </a:r>
            <a:endParaRPr lang="en-US" dirty="0"/>
          </a:p>
        </p:txBody>
      </p:sp>
      <p:pic>
        <p:nvPicPr>
          <p:cNvPr id="6" name="Content Placeholder 5" descr="Figure 8-8, Page No. 337, Complexity level: 2&#10;Screenshot shows the “jpcomp.com Properties” dialog box. The General tab is selected. The window displays the Pause button that is selected under the running status. The Secure only option is selected from the Dynamic updates drop down box. The Aging button is selected to set aging/scavenging properties. The Apply button shown below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895600" y="1600200"/>
            <a:ext cx="3264734" cy="4252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77864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DNS Replication (1 of 2)</a:t>
            </a:r>
            <a:endParaRPr lang="en-US" dirty="0"/>
          </a:p>
        </p:txBody>
      </p:sp>
      <p:sp>
        <p:nvSpPr>
          <p:cNvPr id="2" name="Content Placeholder 1"/>
          <p:cNvSpPr>
            <a:spLocks noGrp="1"/>
          </p:cNvSpPr>
          <p:nvPr>
            <p:ph idx="1"/>
          </p:nvPr>
        </p:nvSpPr>
        <p:spPr/>
        <p:txBody>
          <a:bodyPr/>
          <a:lstStyle/>
          <a:p>
            <a:r>
              <a:rPr lang="en-US" smtClean="0"/>
              <a:t>Primary DNS server</a:t>
            </a:r>
          </a:p>
          <a:p>
            <a:pPr lvl="1"/>
            <a:r>
              <a:rPr lang="en-US" smtClean="0"/>
              <a:t>The DNS server that is the main administrative server for a zone and thus is also the authoritative server for that zone</a:t>
            </a:r>
          </a:p>
          <a:p>
            <a:r>
              <a:rPr lang="en-US" smtClean="0"/>
              <a:t>Secondary DNS server</a:t>
            </a:r>
          </a:p>
          <a:p>
            <a:pPr lvl="1"/>
            <a:r>
              <a:rPr lang="en-US" smtClean="0"/>
              <a:t>Backup DNS server for a primary DNS server</a:t>
            </a:r>
          </a:p>
          <a:p>
            <a:pPr lvl="1"/>
            <a:r>
              <a:rPr lang="en-US" smtClean="0"/>
              <a:t>Contains a read-only copy of the primary DNS server’s zone database, but is not used for administration (is not authoritative)</a:t>
            </a:r>
          </a:p>
          <a:p>
            <a:pPr lvl="1"/>
            <a:r>
              <a:rPr lang="en-US" smtClean="0"/>
              <a:t>Obtains that copy through a zone transfer over the network</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86550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DNS Replication (2 of 2)</a:t>
            </a:r>
            <a:endParaRPr lang="en-US" dirty="0"/>
          </a:p>
        </p:txBody>
      </p:sp>
      <p:sp>
        <p:nvSpPr>
          <p:cNvPr id="2" name="Content Placeholder 1"/>
          <p:cNvSpPr>
            <a:spLocks noGrp="1"/>
          </p:cNvSpPr>
          <p:nvPr>
            <p:ph idx="1"/>
          </p:nvPr>
        </p:nvSpPr>
        <p:spPr/>
        <p:txBody>
          <a:bodyPr/>
          <a:lstStyle/>
          <a:p>
            <a:r>
              <a:rPr lang="en-US" smtClean="0"/>
              <a:t>Vital services performed by secondary DNS servers:</a:t>
            </a:r>
          </a:p>
          <a:p>
            <a:pPr lvl="1"/>
            <a:r>
              <a:rPr lang="en-US" smtClean="0"/>
              <a:t>To make sure that there is a copy of the primary DNS server’s data</a:t>
            </a:r>
          </a:p>
          <a:p>
            <a:pPr lvl="1"/>
            <a:r>
              <a:rPr lang="en-US" smtClean="0"/>
              <a:t>To enable DNS load balancing among a primary DNS server and its secondary servers</a:t>
            </a:r>
          </a:p>
          <a:p>
            <a:pPr lvl="1"/>
            <a:r>
              <a:rPr lang="en-US" smtClean="0"/>
              <a:t>To reduce congestion in one part of the network</a:t>
            </a:r>
          </a:p>
          <a:p>
            <a:r>
              <a:rPr lang="en-US" smtClean="0"/>
              <a:t>If you use Active Directory and have two or more DCs</a:t>
            </a:r>
          </a:p>
          <a:p>
            <a:pPr lvl="1"/>
            <a:r>
              <a:rPr lang="en-US" smtClean="0"/>
              <a:t>Plan to set up Microsoft DNS services on at least two of the DCs</a:t>
            </a:r>
          </a:p>
          <a:p>
            <a:pPr lvl="1"/>
            <a:r>
              <a:rPr lang="en-US" smtClean="0"/>
              <a:t>The multimaster replication model enables you to replicate DNS information on each DC</a:t>
            </a:r>
          </a:p>
          <a:p>
            <a:r>
              <a:rPr lang="en-US" smtClean="0"/>
              <a:t>Advantage of replicating DNS information</a:t>
            </a:r>
          </a:p>
          <a:p>
            <a:pPr lvl="1"/>
            <a:r>
              <a:rPr lang="en-US" smtClean="0"/>
              <a:t>If one DC that hosts DNS services fails, another DC is available to provide uninterrupted DNS services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262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Stub Zone</a:t>
            </a:r>
            <a:endParaRPr lang="en-US" dirty="0"/>
          </a:p>
        </p:txBody>
      </p:sp>
      <p:sp>
        <p:nvSpPr>
          <p:cNvPr id="2" name="Content Placeholder 1"/>
          <p:cNvSpPr>
            <a:spLocks noGrp="1"/>
          </p:cNvSpPr>
          <p:nvPr>
            <p:ph idx="1"/>
          </p:nvPr>
        </p:nvSpPr>
        <p:spPr/>
        <p:txBody>
          <a:bodyPr/>
          <a:lstStyle/>
          <a:p>
            <a:r>
              <a:rPr lang="en-US" smtClean="0"/>
              <a:t>Stub zone has only the bare necessities for DNS functions, which are copies of the following:</a:t>
            </a:r>
          </a:p>
          <a:p>
            <a:pPr lvl="1"/>
            <a:r>
              <a:rPr lang="en-US" smtClean="0"/>
              <a:t>SOA record zone</a:t>
            </a:r>
          </a:p>
          <a:p>
            <a:pPr lvl="1"/>
            <a:r>
              <a:rPr lang="en-US" smtClean="0"/>
              <a:t>Name server (NS) records to identify authoritative servers</a:t>
            </a:r>
          </a:p>
          <a:p>
            <a:pPr lvl="1"/>
            <a:r>
              <a:rPr lang="en-US" smtClean="0"/>
              <a:t>A record for name servers that are authoritative</a:t>
            </a:r>
          </a:p>
          <a:p>
            <a:r>
              <a:rPr lang="en-US" smtClean="0"/>
              <a:t>One common use for a stub zone is to help quickly resolve computer names between two different namespaces</a:t>
            </a:r>
          </a:p>
          <a:p>
            <a:pPr lvl="1"/>
            <a:r>
              <a:rPr lang="en-US" smtClean="0"/>
              <a:t>By enabling clients in one namespace to instantly find an authoritative server in a different namespace</a:t>
            </a:r>
          </a:p>
          <a:p>
            <a:r>
              <a:rPr lang="en-US" smtClean="0"/>
              <a:t>The steps for creating a stub zone are similar to those used to create a primary or secondary zone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040889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Additional DNS Server Roles (1 of 4)</a:t>
            </a:r>
            <a:endParaRPr lang="en-US" dirty="0"/>
          </a:p>
        </p:txBody>
      </p:sp>
      <p:sp>
        <p:nvSpPr>
          <p:cNvPr id="2" name="Content Placeholder 1"/>
          <p:cNvSpPr>
            <a:spLocks noGrp="1"/>
          </p:cNvSpPr>
          <p:nvPr>
            <p:ph idx="1"/>
          </p:nvPr>
        </p:nvSpPr>
        <p:spPr/>
        <p:txBody>
          <a:bodyPr/>
          <a:lstStyle/>
          <a:p>
            <a:r>
              <a:rPr lang="en-US" smtClean="0"/>
              <a:t>It is common to designate one DNS server to forward name resolution requests to a specific remote DNS server</a:t>
            </a:r>
          </a:p>
          <a:p>
            <a:r>
              <a:rPr lang="en-US" smtClean="0"/>
              <a:t>DNS forwarding can be set up that if the DNS server that receives the forwarded request cannot resolve the name</a:t>
            </a:r>
          </a:p>
          <a:p>
            <a:pPr lvl="1"/>
            <a:r>
              <a:rPr lang="en-US" smtClean="0"/>
              <a:t>The server that originally forwarded the request attempts to resolve it</a:t>
            </a:r>
          </a:p>
          <a:p>
            <a:pPr lvl="1"/>
            <a:r>
              <a:rPr lang="en-US" smtClean="0"/>
              <a:t>Called nonexclusive forwarding</a:t>
            </a:r>
          </a:p>
          <a:p>
            <a:r>
              <a:rPr lang="en-US" smtClean="0"/>
              <a:t>Windows Server 2016 supports the use of root hints</a:t>
            </a:r>
          </a:p>
          <a:p>
            <a:pPr lvl="1"/>
            <a:r>
              <a:rPr lang="en-US" smtClean="0"/>
              <a:t>A resource record to enable a DNS server to quickly find an authoritative DNS server in a zone that is not on the DNS server</a:t>
            </a:r>
          </a:p>
          <a:p>
            <a:pPr lvl="1"/>
            <a:r>
              <a:rPr lang="en-US" smtClean="0"/>
              <a:t>Used in particular to find an authoritative DNS server on the Internet</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60200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Additional DNS Server Roles (2 of 4)</a:t>
            </a:r>
            <a:endParaRPr lang="en-US" dirty="0"/>
          </a:p>
        </p:txBody>
      </p:sp>
      <p:pic>
        <p:nvPicPr>
          <p:cNvPr id="6" name="Content Placeholder 5" descr="Figure 8-9, Page No. 336, Complexity level: 2&#10;A figure shows the “DNS Forwarder server.” It consists of two tubes-like structure labeled as “West College” on the front and “Commission network” on the back. The West College is connected to a DNS forwarder server at the top and DNS server at the bottom. The Commission network is connected to the DNS server at the bottom. The DNS forwarder server and the DNS server of the commission network are connected with the help of a dotted arrow. The dotted arrow is labeled as “Forwarding resolution query.”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38400" y="1629290"/>
            <a:ext cx="4176629" cy="4022378"/>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9048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Additional DNS Server Roles (3 of 4)</a:t>
            </a:r>
            <a:endParaRPr lang="en-US" dirty="0"/>
          </a:p>
        </p:txBody>
      </p:sp>
      <p:pic>
        <p:nvPicPr>
          <p:cNvPr id="5" name="Content Placeholder 4" descr=" Figure 8-11, Page No. 341, Complexity level: 1&#10;Screenshot shows the “Accounting Properties” dialog box. The Forwarders tab is selected. The window displays the text that reads “Forwarders are DNS servers that this server can use to resolve DNS queries for records that this server cannot resolve.” The cursor points to the Edit button below the box. The O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743200" y="1524000"/>
            <a:ext cx="3304515"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43282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Additional DNS Server Roles (4 of 4)</a:t>
            </a:r>
            <a:endParaRPr lang="en-US" dirty="0"/>
          </a:p>
        </p:txBody>
      </p:sp>
      <p:sp>
        <p:nvSpPr>
          <p:cNvPr id="2" name="Content Placeholder 1"/>
          <p:cNvSpPr>
            <a:spLocks noGrp="1"/>
          </p:cNvSpPr>
          <p:nvPr>
            <p:ph idx="1"/>
          </p:nvPr>
        </p:nvSpPr>
        <p:spPr/>
        <p:txBody>
          <a:bodyPr/>
          <a:lstStyle/>
          <a:p>
            <a:r>
              <a:rPr lang="en-US" smtClean="0"/>
              <a:t>A DNS server can function as a caching server</a:t>
            </a:r>
          </a:p>
          <a:p>
            <a:pPr lvl="1"/>
            <a:r>
              <a:rPr lang="en-US" smtClean="0"/>
              <a:t>A caching server is used to provide fast queries because the results of each query are stored in RAM</a:t>
            </a:r>
          </a:p>
          <a:p>
            <a:r>
              <a:rPr lang="en-US" smtClean="0"/>
              <a:t>A DNS server without zones is a server that is caching-only</a:t>
            </a:r>
          </a:p>
          <a:p>
            <a:pPr lvl="1"/>
            <a:r>
              <a:rPr lang="en-US" smtClean="0"/>
              <a:t>A caching-only DNS server queries a primary or secondary DNS server and caches the results to provide a fast response for the next identical query</a:t>
            </a:r>
          </a:p>
          <a:p>
            <a:pPr lvl="1"/>
            <a:r>
              <a:rPr lang="en-US" smtClean="0"/>
              <a:t>Used to reduce the number of secondary server and reduce extra network traffic</a:t>
            </a:r>
          </a:p>
          <a:p>
            <a:r>
              <a:rPr lang="en-US" smtClean="0"/>
              <a:t>One limitation of using caching servers is that it takes time for each one to build up a comprehensive set of resolved names to IP addresses</a:t>
            </a:r>
          </a:p>
          <a:p>
            <a:r>
              <a:rPr lang="en-US" smtClean="0"/>
              <a:t>Sometimes it is necessary to flush the DNS server cache</a:t>
            </a:r>
          </a:p>
          <a:p>
            <a:pPr lvl="1"/>
            <a:r>
              <a:rPr lang="en-US" smtClean="0"/>
              <a:t>Steps for clearing the cache on are page 341 of the text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79126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DNS to Balance Application Access</a:t>
            </a:r>
            <a:endParaRPr lang="en-US" dirty="0"/>
          </a:p>
        </p:txBody>
      </p:sp>
      <p:sp>
        <p:nvSpPr>
          <p:cNvPr id="2" name="Content Placeholder 1"/>
          <p:cNvSpPr>
            <a:spLocks noGrp="1"/>
          </p:cNvSpPr>
          <p:nvPr>
            <p:ph idx="1"/>
          </p:nvPr>
        </p:nvSpPr>
        <p:spPr/>
        <p:txBody>
          <a:bodyPr/>
          <a:lstStyle/>
          <a:p>
            <a:r>
              <a:rPr lang="en-US" smtClean="0"/>
              <a:t>In DNS round robin</a:t>
            </a:r>
          </a:p>
          <a:p>
            <a:pPr lvl="1"/>
            <a:r>
              <a:rPr lang="en-US" smtClean="0"/>
              <a:t>Resource records are created for two or more servers that have different IP addresses but are associated with the same host name</a:t>
            </a:r>
          </a:p>
          <a:p>
            <a:pPr lvl="1"/>
            <a:r>
              <a:rPr lang="en-US" smtClean="0"/>
              <a:t>An effective way to help spread the load for frequently used applications that have their own data sets</a:t>
            </a:r>
          </a:p>
          <a:p>
            <a:r>
              <a:rPr lang="en-US" smtClean="0"/>
              <a:t>Through DNS round robin</a:t>
            </a:r>
          </a:p>
          <a:p>
            <a:pPr lvl="1"/>
            <a:r>
              <a:rPr lang="en-US" smtClean="0"/>
              <a:t>Access is evenly distributed among all servers associated with the same host name</a:t>
            </a:r>
          </a:p>
          <a:p>
            <a:pPr lvl="1"/>
            <a:r>
              <a:rPr lang="en-US" smtClean="0"/>
              <a:t>No single server is loaded down with all users while other servers sit idle</a:t>
            </a:r>
          </a:p>
          <a:p>
            <a:r>
              <a:rPr lang="en-US" smtClean="0"/>
              <a:t>The general steps to configure DNS round robin and netmask ordering are found on pages 342-344</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094752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Creating a DNS Implementation Plan (1 of 2)</a:t>
            </a:r>
            <a:endParaRPr lang="en-US" dirty="0"/>
          </a:p>
        </p:txBody>
      </p:sp>
      <p:sp>
        <p:nvSpPr>
          <p:cNvPr id="2" name="Content Placeholder 1"/>
          <p:cNvSpPr>
            <a:spLocks noGrp="1"/>
          </p:cNvSpPr>
          <p:nvPr>
            <p:ph idx="1"/>
          </p:nvPr>
        </p:nvSpPr>
        <p:spPr/>
        <p:txBody>
          <a:bodyPr/>
          <a:lstStyle/>
          <a:p>
            <a:r>
              <a:rPr lang="en-US" smtClean="0"/>
              <a:t>Best practice recommendations</a:t>
            </a:r>
          </a:p>
          <a:p>
            <a:pPr lvl="1"/>
            <a:r>
              <a:rPr lang="en-US" smtClean="0"/>
              <a:t>Implement Windows Server 2016 DNS servers instead of other versions of DNS, and use Active Directory</a:t>
            </a:r>
          </a:p>
          <a:p>
            <a:pPr lvl="1"/>
            <a:r>
              <a:rPr lang="en-US" smtClean="0"/>
              <a:t>The resource records and zones that can be set up for IPv4 can also be set up for IPv6</a:t>
            </a:r>
          </a:p>
          <a:p>
            <a:pPr lvl="1"/>
            <a:r>
              <a:rPr lang="en-US" smtClean="0"/>
              <a:t>Consider using namespaces to represent natural organizational boundaries</a:t>
            </a:r>
          </a:p>
          <a:p>
            <a:pPr lvl="1"/>
            <a:r>
              <a:rPr lang="en-US" smtClean="0"/>
              <a:t>Make sure the DNS servers on a private network are well secured in terms of Windows Server 2016 security options</a:t>
            </a:r>
          </a:p>
          <a:p>
            <a:pPr lvl="1"/>
            <a:r>
              <a:rPr lang="en-US" smtClean="0"/>
              <a:t>Plan to locate a DNS server across most site links</a:t>
            </a:r>
          </a:p>
          <a:p>
            <a:pPr lvl="1"/>
            <a:r>
              <a:rPr lang="en-US" smtClean="0"/>
              <a:t>Create two or more DNS servers to take advantage of the load balancing, the multimaster relationships, and the fault tolerance</a:t>
            </a:r>
          </a:p>
          <a:p>
            <a:pPr lvl="1"/>
            <a:r>
              <a:rPr lang="en-US" smtClean="0"/>
              <a:t>Designate one DNS server as a forwarder to reduce traffic</a:t>
            </a:r>
          </a:p>
          <a:p>
            <a:pPr lvl="1"/>
            <a:r>
              <a:rPr lang="en-US" smtClean="0"/>
              <a:t>The number of DNS servers that you set up can be related to your analysis of an organization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81864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Creating a DNS Implementation Plan (2 of 2)</a:t>
            </a:r>
            <a:endParaRPr lang="en-US" dirty="0"/>
          </a:p>
        </p:txBody>
      </p:sp>
      <p:sp>
        <p:nvSpPr>
          <p:cNvPr id="2" name="Content Placeholder 1"/>
          <p:cNvSpPr>
            <a:spLocks noGrp="1"/>
          </p:cNvSpPr>
          <p:nvPr>
            <p:ph idx="1"/>
          </p:nvPr>
        </p:nvSpPr>
        <p:spPr/>
        <p:txBody>
          <a:bodyPr/>
          <a:lstStyle/>
          <a:p>
            <a:r>
              <a:rPr lang="en-US" smtClean="0"/>
              <a:t>Best practice recommendations (cont’d)</a:t>
            </a:r>
          </a:p>
          <a:p>
            <a:pPr lvl="1"/>
            <a:r>
              <a:rPr lang="en-US" smtClean="0"/>
              <a:t>If a branch location with a read-only domain controller (RODC) needs local DNS services because there are many users, make the RODC a secondary DNS server and not a primary DNS server</a:t>
            </a:r>
          </a:p>
          <a:p>
            <a:pPr lvl="1"/>
            <a:r>
              <a:rPr lang="en-US" smtClean="0"/>
              <a:t>If you have multiple servers used for one application use round robin to distribute the load</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73301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DNS Enhancement in Windows Server 2016</a:t>
            </a:r>
            <a:endParaRPr lang="en-US" dirty="0"/>
          </a:p>
        </p:txBody>
      </p:sp>
      <p:sp>
        <p:nvSpPr>
          <p:cNvPr id="2" name="Content Placeholder 1"/>
          <p:cNvSpPr>
            <a:spLocks noGrp="1"/>
          </p:cNvSpPr>
          <p:nvPr>
            <p:ph idx="1"/>
          </p:nvPr>
        </p:nvSpPr>
        <p:spPr/>
        <p:txBody>
          <a:bodyPr/>
          <a:lstStyle/>
          <a:p>
            <a:r>
              <a:rPr lang="en-US" smtClean="0"/>
              <a:t>DNS group policies for:</a:t>
            </a:r>
          </a:p>
          <a:p>
            <a:pPr lvl="1"/>
            <a:r>
              <a:rPr lang="en-US" smtClean="0"/>
              <a:t>Filtering malicious IP addresses and redirecting malicious clients to a dead end rather than to the computer they want to reach</a:t>
            </a:r>
          </a:p>
          <a:p>
            <a:pPr lvl="1"/>
            <a:r>
              <a:rPr lang="en-US" smtClean="0"/>
              <a:t>Redirecting clients to specific data sources or servers according to the time of day</a:t>
            </a:r>
          </a:p>
          <a:p>
            <a:pPr lvl="1"/>
            <a:r>
              <a:rPr lang="en-US" smtClean="0"/>
              <a:t>Managing client access to account for high traffic situations</a:t>
            </a:r>
          </a:p>
          <a:p>
            <a:pPr lvl="1"/>
            <a:r>
              <a:rPr lang="en-US" smtClean="0"/>
              <a:t>Directing clients to the best source for a specific application</a:t>
            </a:r>
          </a:p>
          <a:p>
            <a:r>
              <a:rPr lang="en-US" smtClean="0"/>
              <a:t>The ability for DNS to work with client computers that have more than one NIC</a:t>
            </a:r>
          </a:p>
          <a:p>
            <a:r>
              <a:rPr lang="en-US" smtClean="0"/>
              <a:t>New PowerShell cmdlets for configuring DNS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44684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DNS</a:t>
            </a:r>
            <a:endParaRPr lang="en-US" dirty="0"/>
          </a:p>
        </p:txBody>
      </p:sp>
      <p:sp>
        <p:nvSpPr>
          <p:cNvPr id="2" name="Content Placeholder 1"/>
          <p:cNvSpPr>
            <a:spLocks noGrp="1"/>
          </p:cNvSpPr>
          <p:nvPr>
            <p:ph idx="1"/>
          </p:nvPr>
        </p:nvSpPr>
        <p:spPr/>
        <p:txBody>
          <a:bodyPr/>
          <a:lstStyle/>
          <a:p>
            <a:r>
              <a:rPr lang="en-US" smtClean="0"/>
              <a:t>Steps to take to troubleshoot DNS problems:</a:t>
            </a:r>
          </a:p>
          <a:p>
            <a:pPr lvl="1"/>
            <a:r>
              <a:rPr lang="en-US" smtClean="0"/>
              <a:t>Restart the DNS Server and the DNS Client services</a:t>
            </a:r>
          </a:p>
          <a:p>
            <a:pPr lvl="1"/>
            <a:r>
              <a:rPr lang="en-US" smtClean="0"/>
              <a:t>Check for the most recent log errors relating to DNS</a:t>
            </a:r>
          </a:p>
          <a:p>
            <a:r>
              <a:rPr lang="en-US" smtClean="0"/>
              <a:t>Activity 8-5 shows you how to restart the DNS Server and Client services</a:t>
            </a:r>
          </a:p>
          <a:p>
            <a:r>
              <a:rPr lang="en-US" smtClean="0"/>
              <a:t>Activity 8-6 shows you how to check for DNS errors in the log information kept by Windows Server 2016</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69233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Microsoft DHCP (1 of 2)</a:t>
            </a:r>
            <a:endParaRPr lang="en-US" dirty="0"/>
          </a:p>
        </p:txBody>
      </p:sp>
      <p:sp>
        <p:nvSpPr>
          <p:cNvPr id="2" name="Content Placeholder 1"/>
          <p:cNvSpPr>
            <a:spLocks noGrp="1"/>
          </p:cNvSpPr>
          <p:nvPr>
            <p:ph idx="1"/>
          </p:nvPr>
        </p:nvSpPr>
        <p:spPr/>
        <p:txBody>
          <a:bodyPr/>
          <a:lstStyle/>
          <a:p>
            <a:r>
              <a:rPr lang="en-US" smtClean="0"/>
              <a:t>Dynamic Host Configuration Protocol (DHCP) </a:t>
            </a:r>
          </a:p>
          <a:p>
            <a:pPr lvl="1"/>
            <a:r>
              <a:rPr lang="en-US" smtClean="0"/>
              <a:t>Enables a Windows Server 2016 server with DHCP services to detect the presence of a new workstation </a:t>
            </a:r>
          </a:p>
          <a:p>
            <a:pPr lvl="1"/>
            <a:r>
              <a:rPr lang="en-US" smtClean="0"/>
              <a:t>Assigns an IP address to that workstation</a:t>
            </a:r>
          </a:p>
          <a:p>
            <a:r>
              <a:rPr lang="en-US" smtClean="0"/>
              <a:t>The DHCP server has a pre-assigned range of IP addresses that it can give to a new client</a:t>
            </a:r>
          </a:p>
          <a:p>
            <a:pPr lvl="1"/>
            <a:r>
              <a:rPr lang="en-US" smtClean="0"/>
              <a:t>Range of contiguous addresses is called the scope</a:t>
            </a:r>
          </a:p>
          <a:p>
            <a:r>
              <a:rPr lang="en-US" smtClean="0"/>
              <a:t>A Windows Server 2016 server can be configured in the role of a DHCP server using Microsoft DHCP services</a:t>
            </a:r>
          </a:p>
          <a:p>
            <a:r>
              <a:rPr lang="en-US" smtClean="0"/>
              <a:t>The DHCP server automatically updates the DNS server at the time it assigns an IP address</a:t>
            </a:r>
          </a:p>
          <a:p>
            <a:pPr lvl="1"/>
            <a:r>
              <a:rPr lang="en-US" smtClean="0"/>
              <a:t>Using dynamic DNS updates can significantly save time in creating DNS lookup zone records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89954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Microsoft DHCP (2 of 2)</a:t>
            </a:r>
            <a:endParaRPr lang="en-US" dirty="0"/>
          </a:p>
        </p:txBody>
      </p:sp>
      <p:sp>
        <p:nvSpPr>
          <p:cNvPr id="2" name="Content Placeholder 1"/>
          <p:cNvSpPr>
            <a:spLocks noGrp="1"/>
          </p:cNvSpPr>
          <p:nvPr>
            <p:ph idx="1"/>
          </p:nvPr>
        </p:nvSpPr>
        <p:spPr/>
        <p:txBody>
          <a:bodyPr/>
          <a:lstStyle/>
          <a:p>
            <a:r>
              <a:rPr lang="en-US" smtClean="0"/>
              <a:t>A Microsoft DHCP server can also:</a:t>
            </a:r>
          </a:p>
          <a:p>
            <a:pPr lvl="1"/>
            <a:r>
              <a:rPr lang="en-US" smtClean="0"/>
              <a:t>Reserve an IP address for a specific computer</a:t>
            </a:r>
          </a:p>
          <a:p>
            <a:pPr lvl="1"/>
            <a:r>
              <a:rPr lang="en-US" smtClean="0"/>
              <a:t>Update all computers on a network for a particular change in DHCP settings</a:t>
            </a:r>
          </a:p>
          <a:p>
            <a:pPr lvl="1"/>
            <a:r>
              <a:rPr lang="en-US" smtClean="0"/>
              <a:t>Provide DHCP services to multiple subnetworks</a:t>
            </a:r>
          </a:p>
          <a:p>
            <a:pPr lvl="1"/>
            <a:r>
              <a:rPr lang="en-US" smtClean="0"/>
              <a:t>Exclude certain IP addresses from a scope</a:t>
            </a:r>
          </a:p>
          <a:p>
            <a:r>
              <a:rPr lang="en-US" smtClean="0"/>
              <a:t>You can configure DHCP failover for redundancy</a:t>
            </a:r>
          </a:p>
          <a:p>
            <a:pPr lvl="1"/>
            <a:r>
              <a:rPr lang="en-US" smtClean="0"/>
              <a:t>Consists of configuring two DHCP servers to lease IP addresses using the same subnet or scope</a:t>
            </a:r>
          </a:p>
          <a:p>
            <a:pPr lvl="1"/>
            <a:r>
              <a:rPr lang="en-US" smtClean="0"/>
              <a:t>DHCP data is replicated between the two servers so that if one goes down, clients can still use the remaining live DHCP server</a:t>
            </a:r>
          </a:p>
          <a:p>
            <a:r>
              <a:rPr lang="en-US" smtClean="0"/>
              <a:t>When you configure two DHCP servers for failover</a:t>
            </a:r>
          </a:p>
          <a:p>
            <a:pPr lvl="1"/>
            <a:r>
              <a:rPr lang="en-US" smtClean="0"/>
              <a:t>You can also configure to use load-balancing</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583170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a DHCP Server (1 of 2)</a:t>
            </a:r>
            <a:endParaRPr lang="en-US" dirty="0"/>
          </a:p>
        </p:txBody>
      </p:sp>
      <p:sp>
        <p:nvSpPr>
          <p:cNvPr id="2" name="Content Placeholder 1"/>
          <p:cNvSpPr>
            <a:spLocks noGrp="1"/>
          </p:cNvSpPr>
          <p:nvPr>
            <p:ph idx="1"/>
          </p:nvPr>
        </p:nvSpPr>
        <p:spPr/>
        <p:txBody>
          <a:bodyPr/>
          <a:lstStyle/>
          <a:p>
            <a:r>
              <a:rPr lang="en-US" smtClean="0"/>
              <a:t>After DHCP is installed, set up one or more scopes of contiguous address ranges and activate each scope</a:t>
            </a:r>
          </a:p>
          <a:p>
            <a:r>
              <a:rPr lang="en-US" smtClean="0"/>
              <a:t>Configuring a scope includes the following:</a:t>
            </a:r>
          </a:p>
          <a:p>
            <a:pPr lvl="1"/>
            <a:r>
              <a:rPr lang="en-US" smtClean="0"/>
              <a:t>Obtain the range of addresses to be used</a:t>
            </a:r>
          </a:p>
          <a:p>
            <a:pPr lvl="1"/>
            <a:r>
              <a:rPr lang="en-US" smtClean="0"/>
              <a:t>Determine the subnet mask for the range of addresses</a:t>
            </a:r>
          </a:p>
          <a:p>
            <a:pPr lvl="1"/>
            <a:r>
              <a:rPr lang="en-US" smtClean="0"/>
              <a:t>Decide on a name for the scope, such as naming it to reflect the name of a department or division in your organization</a:t>
            </a:r>
          </a:p>
          <a:p>
            <a:pPr lvl="1"/>
            <a:r>
              <a:rPr lang="en-US" smtClean="0"/>
              <a:t>Decide how long to lease IP addresses</a:t>
            </a:r>
          </a:p>
          <a:p>
            <a:pPr lvl="1"/>
            <a:r>
              <a:rPr lang="en-US" smtClean="0"/>
              <a:t>Determine whether to exclude specific addresses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8090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a DHCP Server (2 of 2)</a:t>
            </a:r>
            <a:endParaRPr lang="en-US" dirty="0"/>
          </a:p>
        </p:txBody>
      </p:sp>
      <p:sp>
        <p:nvSpPr>
          <p:cNvPr id="2" name="Content Placeholder 1"/>
          <p:cNvSpPr>
            <a:spLocks noGrp="1"/>
          </p:cNvSpPr>
          <p:nvPr>
            <p:ph idx="1"/>
          </p:nvPr>
        </p:nvSpPr>
        <p:spPr/>
        <p:txBody>
          <a:bodyPr/>
          <a:lstStyle/>
          <a:p>
            <a:r>
              <a:rPr lang="en-US" smtClean="0"/>
              <a:t>Next, authorize the DHCP server</a:t>
            </a:r>
          </a:p>
          <a:p>
            <a:pPr lvl="1"/>
            <a:r>
              <a:rPr lang="en-US" smtClean="0"/>
              <a:t>The process of authorizing the server is a security precaution to make sure IP addresses are only assigned by DHCP servers that are managed by network and server administrators</a:t>
            </a:r>
          </a:p>
          <a:p>
            <a:r>
              <a:rPr lang="en-US" smtClean="0"/>
              <a:t>Astep that is not required, but that saves time in managing DNS, is to configure the DHCP server and its clients to automatically update DNS records</a:t>
            </a:r>
          </a:p>
          <a:p>
            <a:r>
              <a:rPr lang="en-US" smtClean="0"/>
              <a:t>Activity 8-8 shows you how to configure a DHCP scope</a:t>
            </a:r>
          </a:p>
          <a:p>
            <a:r>
              <a:rPr lang="en-US" smtClean="0"/>
              <a:t>Activity 8-9 shows how to verify that a DHCP server is configured to automatically register IP addresses with a DNS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698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Lease Times</a:t>
            </a:r>
            <a:endParaRPr lang="en-US" dirty="0"/>
          </a:p>
        </p:txBody>
      </p:sp>
      <p:sp>
        <p:nvSpPr>
          <p:cNvPr id="2" name="Content Placeholder 1"/>
          <p:cNvSpPr>
            <a:spLocks noGrp="1"/>
          </p:cNvSpPr>
          <p:nvPr>
            <p:ph idx="1"/>
          </p:nvPr>
        </p:nvSpPr>
        <p:spPr/>
        <p:txBody>
          <a:bodyPr/>
          <a:lstStyle/>
          <a:p>
            <a:r>
              <a:rPr lang="en-US" smtClean="0"/>
              <a:t>Set the duration of a DHCP lease on the basis of the type of connection</a:t>
            </a:r>
          </a:p>
          <a:p>
            <a:r>
              <a:rPr lang="en-US" smtClean="0"/>
              <a:t>Microsoft recommends the following:</a:t>
            </a:r>
          </a:p>
          <a:p>
            <a:pPr lvl="1"/>
            <a:r>
              <a:rPr lang="en-US" smtClean="0"/>
              <a:t>If you have a small network with no routers, a lease of 8 days or less is appropriate</a:t>
            </a:r>
          </a:p>
          <a:p>
            <a:pPr lvl="1"/>
            <a:r>
              <a:rPr lang="en-US" smtClean="0"/>
              <a:t>On a network with one or more routers, a larger number of clients, and client computer that generally stay put, set leases to expire after a longer period (16-24 days)</a:t>
            </a:r>
          </a:p>
          <a:p>
            <a:pPr lvl="1"/>
            <a:r>
              <a:rPr lang="en-US" smtClean="0"/>
              <a:t>On a network that has a large percentage of mobile devices, set leases to expire after the duration of the communication session (8-24 hours)</a:t>
            </a:r>
          </a:p>
          <a:p>
            <a:pPr lvl="2"/>
            <a:r>
              <a:rPr lang="en-US" smtClean="0"/>
              <a:t>Consider 1-8 hours for high turnover of mobile users, such as a library, doctor’s office, or coffee shop</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07971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DHCPv6 Support</a:t>
            </a:r>
            <a:endParaRPr lang="en-US" dirty="0"/>
          </a:p>
        </p:txBody>
      </p:sp>
      <p:sp>
        <p:nvSpPr>
          <p:cNvPr id="2" name="Content Placeholder 1"/>
          <p:cNvSpPr>
            <a:spLocks noGrp="1"/>
          </p:cNvSpPr>
          <p:nvPr>
            <p:ph idx="1"/>
          </p:nvPr>
        </p:nvSpPr>
        <p:spPr/>
        <p:txBody>
          <a:bodyPr/>
          <a:lstStyle/>
          <a:p>
            <a:r>
              <a:rPr lang="en-US" smtClean="0"/>
              <a:t>Windows Server 2016 and Windows 10 both enable a network to use Dynamic Host Configuration Protocol for IPv6 (DHCPv6)</a:t>
            </a:r>
          </a:p>
          <a:p>
            <a:pPr lvl="1"/>
            <a:r>
              <a:rPr lang="en-US" smtClean="0"/>
              <a:t>For networks that are using IPv6</a:t>
            </a:r>
          </a:p>
          <a:p>
            <a:r>
              <a:rPr lang="en-US" smtClean="0"/>
              <a:t>The Microsoft implementation of DHCPv6 supports:</a:t>
            </a:r>
          </a:p>
          <a:p>
            <a:pPr lvl="1"/>
            <a:r>
              <a:rPr lang="en-US" smtClean="0"/>
              <a:t>Stateful autoconfiguration – the computer or network device using IPv6 contacts a DHCP server for a leased address</a:t>
            </a:r>
          </a:p>
          <a:p>
            <a:pPr lvl="1"/>
            <a:r>
              <a:rPr lang="en-US" smtClean="0"/>
              <a:t>Stateless autoconfiguration – the computer or network device assigns its own IPv6 address, which is constructed from the MAC address of its NIC</a:t>
            </a:r>
          </a:p>
          <a:p>
            <a:r>
              <a:rPr lang="en-US" smtClean="0"/>
              <a:t>Stateless autoconfiguration of an IPv6 address does not require a DHCP server</a:t>
            </a:r>
          </a:p>
          <a:p>
            <a:pPr lvl="1"/>
            <a:r>
              <a:rPr lang="en-US" smtClean="0"/>
              <a:t>But it is included in the DHCPv6 standard for compliance with IPv6 capabilities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0860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DHCP</a:t>
            </a:r>
            <a:endParaRPr lang="en-US" dirty="0"/>
          </a:p>
        </p:txBody>
      </p:sp>
      <p:sp>
        <p:nvSpPr>
          <p:cNvPr id="8" name="Content Placeholder 7"/>
          <p:cNvSpPr>
            <a:spLocks noGrp="1"/>
          </p:cNvSpPr>
          <p:nvPr>
            <p:ph idx="1"/>
          </p:nvPr>
        </p:nvSpPr>
        <p:spPr/>
        <p:txBody>
          <a:bodyPr/>
          <a:lstStyle/>
          <a:p>
            <a:r>
              <a:rPr lang="en-US" smtClean="0"/>
              <a:t>When you set up a DHCP server, some problems may occur, such as:</a:t>
            </a:r>
          </a:p>
          <a:p>
            <a:pPr lvl="1"/>
            <a:r>
              <a:rPr lang="en-US" smtClean="0"/>
              <a:t>The server stopping or not working</a:t>
            </a:r>
          </a:p>
          <a:p>
            <a:pPr lvl="1"/>
            <a:r>
              <a:rPr lang="en-US" smtClean="0"/>
              <a:t>Creating extra network traffic</a:t>
            </a:r>
          </a:p>
          <a:p>
            <a:pPr lvl="1"/>
            <a:r>
              <a:rPr lang="en-US" smtClean="0"/>
              <a:t>Not automatically registering with DNS server</a:t>
            </a:r>
          </a:p>
          <a:p>
            <a:r>
              <a:rPr lang="en-US" smtClean="0"/>
              <a:t>Table 8-4 on page 357 presents several typical problems and their resolutions</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124007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IP Address Management</a:t>
            </a:r>
            <a:endParaRPr lang="en-US" dirty="0"/>
          </a:p>
        </p:txBody>
      </p:sp>
      <p:sp>
        <p:nvSpPr>
          <p:cNvPr id="2" name="Content Placeholder 1"/>
          <p:cNvSpPr>
            <a:spLocks noGrp="1"/>
          </p:cNvSpPr>
          <p:nvPr>
            <p:ph idx="1"/>
          </p:nvPr>
        </p:nvSpPr>
        <p:spPr/>
        <p:txBody>
          <a:bodyPr/>
          <a:lstStyle/>
          <a:p>
            <a:r>
              <a:rPr lang="en-US" smtClean="0"/>
              <a:t>IP Address Management (IPAM)</a:t>
            </a:r>
          </a:p>
          <a:p>
            <a:pPr lvl="1"/>
            <a:r>
              <a:rPr lang="en-US" smtClean="0"/>
              <a:t>A set of tools available in Windows Server 2016 to consolidate IP address management in one place</a:t>
            </a:r>
          </a:p>
          <a:p>
            <a:pPr lvl="1"/>
            <a:r>
              <a:rPr lang="en-US" smtClean="0"/>
              <a:t>Enables you to plan, configure, and manage IP addressing on your network</a:t>
            </a:r>
          </a:p>
          <a:p>
            <a:pPr lvl="1"/>
            <a:r>
              <a:rPr lang="en-US" smtClean="0"/>
              <a:t>Monitors DHCP scopes so that you know when a scope needs to be increased</a:t>
            </a:r>
          </a:p>
          <a:p>
            <a:pPr lvl="1"/>
            <a:r>
              <a:rPr lang="en-US" smtClean="0"/>
              <a:t>Also offers a central location for opening the DNS and DHCP tools</a:t>
            </a:r>
          </a:p>
          <a:p>
            <a:r>
              <a:rPr lang="en-US" smtClean="0"/>
              <a:t>IPAM limitations</a:t>
            </a:r>
          </a:p>
          <a:p>
            <a:pPr lvl="1"/>
            <a:r>
              <a:rPr lang="en-US" smtClean="0"/>
              <a:t>Does not work properly on a computer that is a DC</a:t>
            </a:r>
          </a:p>
          <a:p>
            <a:pPr lvl="1"/>
            <a:r>
              <a:rPr lang="en-US" smtClean="0"/>
              <a:t>Discovery of DHCP servers on a network is turned off when IPAM is installed on a DHCP server</a:t>
            </a:r>
          </a:p>
          <a:p>
            <a:pPr lvl="1"/>
            <a:r>
              <a:rPr lang="en-US" smtClean="0"/>
              <a:t>IPAM must be installed on a non-DC server that is a member of an existing domain</a:t>
            </a:r>
          </a:p>
          <a:p>
            <a:pPr lvl="1"/>
            <a:r>
              <a:rPr lang="en-US" smtClean="0"/>
              <a:t>IPAM does not link up with DHCP services built into network devices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107521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Redundancy Through NIC Teaming (1 of 3)</a:t>
            </a:r>
            <a:endParaRPr lang="en-US" dirty="0"/>
          </a:p>
        </p:txBody>
      </p:sp>
      <p:sp>
        <p:nvSpPr>
          <p:cNvPr id="2" name="Content Placeholder 1"/>
          <p:cNvSpPr>
            <a:spLocks noGrp="1"/>
          </p:cNvSpPr>
          <p:nvPr>
            <p:ph idx="1"/>
          </p:nvPr>
        </p:nvSpPr>
        <p:spPr/>
        <p:txBody>
          <a:bodyPr/>
          <a:lstStyle/>
          <a:p>
            <a:r>
              <a:rPr lang="en-US" smtClean="0"/>
              <a:t>NIC teaming</a:t>
            </a:r>
          </a:p>
          <a:p>
            <a:pPr lvl="1"/>
            <a:r>
              <a:rPr lang="en-US" smtClean="0"/>
              <a:t>Congregated NICs operate as one logical connection</a:t>
            </a:r>
          </a:p>
          <a:p>
            <a:r>
              <a:rPr lang="en-US" smtClean="0"/>
              <a:t>Benefits of NIC teaming</a:t>
            </a:r>
          </a:p>
          <a:p>
            <a:pPr lvl="1"/>
            <a:r>
              <a:rPr lang="en-US" smtClean="0"/>
              <a:t>Distributes the load (for NIC load balancing) among the teamed NICs to provide users faster access to the server</a:t>
            </a:r>
          </a:p>
          <a:p>
            <a:pPr lvl="1"/>
            <a:r>
              <a:rPr lang="en-US" smtClean="0"/>
              <a:t>Users still have access to the server even when one NIC fails</a:t>
            </a:r>
          </a:p>
          <a:p>
            <a:pPr lvl="1"/>
            <a:r>
              <a:rPr lang="en-US" smtClean="0"/>
              <a:t>NIC teaming combines bandwidth for faster access</a:t>
            </a:r>
          </a:p>
          <a:p>
            <a:r>
              <a:rPr lang="en-US" smtClean="0"/>
              <a:t>Three NIC teaming configurations:</a:t>
            </a:r>
          </a:p>
          <a:p>
            <a:pPr lvl="1"/>
            <a:r>
              <a:rPr lang="en-US" smtClean="0"/>
              <a:t>Static teaming</a:t>
            </a:r>
          </a:p>
          <a:p>
            <a:pPr lvl="1"/>
            <a:r>
              <a:rPr lang="en-US" smtClean="0"/>
              <a:t>Switch-independent teaming</a:t>
            </a:r>
          </a:p>
          <a:p>
            <a:pPr lvl="1"/>
            <a:r>
              <a:rPr lang="en-US" smtClean="0"/>
              <a:t>Link Aggregation Control Protocol (LACP)</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524629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Redundancy Through NIC Teaming (2 of 3)</a:t>
            </a:r>
            <a:endParaRPr lang="en-US" dirty="0"/>
          </a:p>
        </p:txBody>
      </p:sp>
      <p:sp>
        <p:nvSpPr>
          <p:cNvPr id="2" name="Content Placeholder 1"/>
          <p:cNvSpPr>
            <a:spLocks noGrp="1"/>
          </p:cNvSpPr>
          <p:nvPr>
            <p:ph idx="1"/>
          </p:nvPr>
        </p:nvSpPr>
        <p:spPr/>
        <p:txBody>
          <a:bodyPr/>
          <a:lstStyle/>
          <a:p>
            <a:r>
              <a:rPr lang="en-US" smtClean="0"/>
              <a:t>When you configure NIC teaming, you have three load-balancing methods from which to choose:</a:t>
            </a:r>
          </a:p>
          <a:p>
            <a:pPr lvl="1"/>
            <a:r>
              <a:rPr lang="en-US" smtClean="0"/>
              <a:t>Hyper-V Port</a:t>
            </a:r>
          </a:p>
          <a:p>
            <a:pPr lvl="1"/>
            <a:r>
              <a:rPr lang="en-US" smtClean="0"/>
              <a:t>Address hash</a:t>
            </a:r>
          </a:p>
          <a:p>
            <a:pPr lvl="1"/>
            <a:r>
              <a:rPr lang="en-US" smtClean="0"/>
              <a:t>Dynamic</a:t>
            </a:r>
          </a:p>
          <a:p>
            <a:r>
              <a:rPr lang="en-US" smtClean="0"/>
              <a:t>The general steps for configuring a NIC team are found on page 359</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78475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Redundancy Through NIC Teaming (3 of 3)</a:t>
            </a:r>
            <a:endParaRPr lang="en-US" dirty="0"/>
          </a:p>
        </p:txBody>
      </p:sp>
      <p:pic>
        <p:nvPicPr>
          <p:cNvPr id="6" name="Content Placeholder 5" descr="Figure 8-22, Page No. 359, Complexity level: 2&#10;Screenshot shows the “Server Manager” dialog box. On the left pane of the dialog box, the Local Server option is selected. On the content pane of the dialog box, the Properties drop down box is displayed and the cursor points to the Disabled of Nic Teaming.&#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28800" y="1828800"/>
            <a:ext cx="5368525" cy="3643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74587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Microsoft Internet Information Services (1 of 2)</a:t>
            </a:r>
            <a:endParaRPr lang="en-US" dirty="0"/>
          </a:p>
        </p:txBody>
      </p:sp>
      <p:sp>
        <p:nvSpPr>
          <p:cNvPr id="2" name="Content Placeholder 1"/>
          <p:cNvSpPr>
            <a:spLocks noGrp="1"/>
          </p:cNvSpPr>
          <p:nvPr>
            <p:ph idx="1"/>
          </p:nvPr>
        </p:nvSpPr>
        <p:spPr/>
        <p:txBody>
          <a:bodyPr/>
          <a:lstStyle/>
          <a:p>
            <a:r>
              <a:rPr lang="en-US" smtClean="0"/>
              <a:t>Microsoft Internet Information Services (IIS)</a:t>
            </a:r>
          </a:p>
          <a:p>
            <a:pPr lvl="1"/>
            <a:r>
              <a:rPr lang="en-US" smtClean="0"/>
              <a:t>Software included with Windows Server 2016 that enables you to offer a complete Web site</a:t>
            </a:r>
          </a:p>
          <a:p>
            <a:r>
              <a:rPr lang="en-US" smtClean="0"/>
              <a:t>Internet Server Application Programming Interface (ISAPI)</a:t>
            </a:r>
          </a:p>
          <a:p>
            <a:pPr lvl="1"/>
            <a:r>
              <a:rPr lang="en-US" smtClean="0"/>
              <a:t>A group of DLL (dynamic link library) files that are applications and filters</a:t>
            </a:r>
          </a:p>
          <a:p>
            <a:pPr lvl="1"/>
            <a:r>
              <a:rPr lang="en-US" smtClean="0"/>
              <a:t>Built-in to IIS, which makes IIS services fast and can be integrated with other programs</a:t>
            </a:r>
          </a:p>
          <a:p>
            <a:r>
              <a:rPr lang="en-US" smtClean="0"/>
              <a:t>Web Server (IIS) role services</a:t>
            </a:r>
          </a:p>
          <a:p>
            <a:pPr lvl="1"/>
            <a:r>
              <a:rPr lang="en-US" smtClean="0"/>
              <a:t>World Wide Web service</a:t>
            </a:r>
          </a:p>
          <a:p>
            <a:pPr lvl="1"/>
            <a:r>
              <a:rPr lang="en-US" smtClean="0"/>
              <a:t>File Transfer Protocol (FTP) service</a:t>
            </a:r>
          </a:p>
          <a:p>
            <a:pPr lvl="1"/>
            <a:r>
              <a:rPr lang="en-US" smtClean="0"/>
              <a:t>Simple Mail Transfer Protocol (SMTP) service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0875640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Microsoft Internet Information Services (2 of 2)</a:t>
            </a:r>
            <a:endParaRPr lang="en-US" dirty="0"/>
          </a:p>
        </p:txBody>
      </p:sp>
      <p:sp>
        <p:nvSpPr>
          <p:cNvPr id="2" name="Content Placeholder 1"/>
          <p:cNvSpPr>
            <a:spLocks noGrp="1"/>
          </p:cNvSpPr>
          <p:nvPr>
            <p:ph idx="1"/>
          </p:nvPr>
        </p:nvSpPr>
        <p:spPr/>
        <p:txBody>
          <a:bodyPr/>
          <a:lstStyle/>
          <a:p>
            <a:r>
              <a:rPr lang="en-US" smtClean="0"/>
              <a:t>Windows Server 2016 is a good candidate for a Web server for several reasons</a:t>
            </a:r>
          </a:p>
          <a:p>
            <a:pPr lvl="1"/>
            <a:r>
              <a:rPr lang="en-US" smtClean="0"/>
              <a:t>Windows Server 2016’s privileged-mode architecture and fault-tolerance capabilities</a:t>
            </a:r>
          </a:p>
          <a:p>
            <a:pPr lvl="1"/>
            <a:r>
              <a:rPr lang="en-US" smtClean="0"/>
              <a:t>Windows Server 2016 is compatible with small and large databases</a:t>
            </a:r>
          </a:p>
          <a:p>
            <a:pPr lvl="2"/>
            <a:r>
              <a:rPr lang="en-US" smtClean="0"/>
              <a:t>Users can log in to a database through the IIS Open Database Connectivity (ODBC) drivers</a:t>
            </a:r>
          </a:p>
          <a:p>
            <a:pPr lvl="1"/>
            <a:r>
              <a:rPr lang="en-US" smtClean="0"/>
              <a:t>IIS is compatible with Microsoft Point-to-Point Encryption (MPPE) security, IP Security (IPsec), and the Secure Sockets Layer (SSL) encryption technique</a:t>
            </a:r>
          </a:p>
          <a:p>
            <a:r>
              <a:rPr lang="en-US" smtClean="0"/>
              <a:t>IIS in Windows Server 2016 is broken into modules or features</a:t>
            </a:r>
          </a:p>
          <a:p>
            <a:pPr lvl="1"/>
            <a:r>
              <a:rPr lang="en-US" smtClean="0"/>
              <a:t>So that you can install only the features you need</a:t>
            </a:r>
          </a:p>
          <a:p>
            <a:pPr lvl="1"/>
            <a:r>
              <a:rPr lang="en-US" smtClean="0"/>
              <a:t>Presents a smaller attack surface and makes IIS more efficient</a:t>
            </a:r>
          </a:p>
          <a:p>
            <a:r>
              <a:rPr lang="en-US" smtClean="0"/>
              <a:t>You can install IIS and most features in Windows Server Core and Nano Server</a:t>
            </a:r>
          </a:p>
          <a:p>
            <a:pPr lvl="1"/>
            <a:r>
              <a:rPr lang="en-US" smtClean="0"/>
              <a:t>As well as in the full version of Server 2016</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17120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a Web Server</a:t>
            </a:r>
            <a:endParaRPr lang="en-US" dirty="0"/>
          </a:p>
        </p:txBody>
      </p:sp>
      <p:sp>
        <p:nvSpPr>
          <p:cNvPr id="2" name="Content Placeholder 1"/>
          <p:cNvSpPr>
            <a:spLocks noGrp="1"/>
          </p:cNvSpPr>
          <p:nvPr>
            <p:ph idx="1"/>
          </p:nvPr>
        </p:nvSpPr>
        <p:spPr/>
        <p:txBody>
          <a:bodyPr/>
          <a:lstStyle/>
          <a:p>
            <a:r>
              <a:rPr lang="en-US" smtClean="0"/>
              <a:t>Installing and using IIS on the Internet requires the following:</a:t>
            </a:r>
          </a:p>
          <a:p>
            <a:pPr lvl="1"/>
            <a:r>
              <a:rPr lang="en-US" smtClean="0"/>
              <a:t>Windows Server 2016 installed on the computer to host IIS</a:t>
            </a:r>
          </a:p>
          <a:p>
            <a:pPr lvl="1"/>
            <a:r>
              <a:rPr lang="en-US" smtClean="0"/>
              <a:t>TCP/IP installed on the IIS host</a:t>
            </a:r>
          </a:p>
          <a:p>
            <a:pPr lvl="1"/>
            <a:r>
              <a:rPr lang="en-US" smtClean="0"/>
              <a:t>Access to an Internet service provider (ISP)</a:t>
            </a:r>
          </a:p>
          <a:p>
            <a:pPr lvl="1"/>
            <a:r>
              <a:rPr lang="en-US" smtClean="0"/>
              <a:t>Sufficient disk space for IIS and for website files</a:t>
            </a:r>
          </a:p>
          <a:p>
            <a:pPr lvl="1"/>
            <a:r>
              <a:rPr lang="en-US" smtClean="0"/>
              <a:t>A method for resolving IP addresses to computer or domain names, such as DNS</a:t>
            </a:r>
          </a:p>
          <a:p>
            <a:pPr lvl="1"/>
            <a:endParaRPr lang="en-US" smtClean="0"/>
          </a:p>
          <a:p>
            <a:r>
              <a:rPr lang="en-US" smtClean="0"/>
              <a:t>Activity 8-11 shows you how to install IIS</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48266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Web Server Best Practices</a:t>
            </a:r>
            <a:endParaRPr lang="en-US" dirty="0"/>
          </a:p>
        </p:txBody>
      </p:sp>
      <p:sp>
        <p:nvSpPr>
          <p:cNvPr id="2" name="Content Placeholder 1"/>
          <p:cNvSpPr>
            <a:spLocks noGrp="1"/>
          </p:cNvSpPr>
          <p:nvPr>
            <p:ph idx="1"/>
          </p:nvPr>
        </p:nvSpPr>
        <p:spPr/>
        <p:txBody>
          <a:bodyPr/>
          <a:lstStyle/>
          <a:p>
            <a:r>
              <a:rPr lang="en-US" smtClean="0"/>
              <a:t>Best practices for your Web Server installation:</a:t>
            </a:r>
          </a:p>
          <a:p>
            <a:pPr lvl="1"/>
            <a:r>
              <a:rPr lang="en-US" smtClean="0"/>
              <a:t>Set the firewall on your network or server to block unneeded applications and to close unused TCP and UDP communication ports</a:t>
            </a:r>
          </a:p>
          <a:p>
            <a:pPr lvl="1"/>
            <a:r>
              <a:rPr lang="en-US" smtClean="0"/>
              <a:t>Place the web server in a demilitarized zone</a:t>
            </a:r>
          </a:p>
          <a:p>
            <a:pPr lvl="1"/>
            <a:r>
              <a:rPr lang="en-US" smtClean="0"/>
              <a:t>Use only those applications and services that are necessary on the web server</a:t>
            </a:r>
          </a:p>
          <a:p>
            <a:pPr lvl="1"/>
            <a:r>
              <a:rPr lang="en-US" smtClean="0"/>
              <a:t>Keep current with security patches to Windows Server 2016, IIS, and the applications on the web server</a:t>
            </a:r>
          </a:p>
          <a:p>
            <a:pPr lvl="1"/>
            <a:r>
              <a:rPr lang="en-US" smtClean="0"/>
              <a:t>Keep logs of all user activity and regularly monitor those logs</a:t>
            </a:r>
          </a:p>
          <a:p>
            <a:pPr lvl="1"/>
            <a:r>
              <a:rPr lang="en-US" smtClean="0"/>
              <a:t>Consider installing traps to help identify attacks when they occur</a:t>
            </a:r>
          </a:p>
          <a:p>
            <a:pPr lvl="1"/>
            <a:r>
              <a:rPr lang="en-US" smtClean="0"/>
              <a:t>Install and regularly use scanning, malware, and intrusion detection software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453464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Information Services (IIS) Manager (1 of 2)</a:t>
            </a:r>
            <a:endParaRPr lang="en-US" dirty="0"/>
          </a:p>
        </p:txBody>
      </p:sp>
      <p:sp>
        <p:nvSpPr>
          <p:cNvPr id="2" name="Content Placeholder 1"/>
          <p:cNvSpPr>
            <a:spLocks noGrp="1"/>
          </p:cNvSpPr>
          <p:nvPr>
            <p:ph idx="1"/>
          </p:nvPr>
        </p:nvSpPr>
        <p:spPr/>
        <p:txBody>
          <a:bodyPr/>
          <a:lstStyle/>
          <a:p>
            <a:r>
              <a:rPr lang="en-US" smtClean="0"/>
              <a:t>Through this tool, you can do the following:</a:t>
            </a:r>
          </a:p>
          <a:p>
            <a:pPr lvl="1"/>
            <a:r>
              <a:rPr lang="en-US" smtClean="0"/>
              <a:t>Connect to a web server on your computer or remotely connect to a web server, an application, or site</a:t>
            </a:r>
          </a:p>
          <a:p>
            <a:pPr lvl="1"/>
            <a:r>
              <a:rPr lang="en-US" smtClean="0"/>
              <a:t>Have connections to multiple web servers, applications, and sites</a:t>
            </a:r>
          </a:p>
          <a:p>
            <a:pPr lvl="1"/>
            <a:r>
              <a:rPr lang="en-US" smtClean="0"/>
              <a:t>Manage a web server</a:t>
            </a:r>
          </a:p>
          <a:p>
            <a:pPr lvl="1"/>
            <a:r>
              <a:rPr lang="en-US" smtClean="0"/>
              <a:t>Manage ASP.NET</a:t>
            </a:r>
          </a:p>
          <a:p>
            <a:pPr lvl="1"/>
            <a:r>
              <a:rPr lang="en-US" smtClean="0"/>
              <a:t>Manage authorization for users and for specific web server roles</a:t>
            </a:r>
          </a:p>
          <a:p>
            <a:pPr lvl="1"/>
            <a:r>
              <a:rPr lang="en-US" smtClean="0"/>
              <a:t>Manage web server logging</a:t>
            </a:r>
          </a:p>
          <a:p>
            <a:pPr lvl="1"/>
            <a:r>
              <a:rPr lang="en-US" smtClean="0"/>
              <a:t>Compress web server files</a:t>
            </a:r>
          </a:p>
          <a:p>
            <a:pPr lvl="1"/>
            <a:r>
              <a:rPr lang="en-US" smtClean="0"/>
              <a:t>Manage code modules and worker processes</a:t>
            </a:r>
          </a:p>
          <a:p>
            <a:pPr lvl="1"/>
            <a:r>
              <a:rPr lang="en-US" smtClean="0"/>
              <a:t>Manage server certificates</a:t>
            </a:r>
          </a:p>
          <a:p>
            <a:pPr lvl="1"/>
            <a:r>
              <a:rPr lang="en-US" smtClean="0"/>
              <a:t>Troubleshoot a web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272024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Information Services (IIS) Manager (2 of 2)</a:t>
            </a:r>
            <a:endParaRPr lang="en-US" dirty="0"/>
          </a:p>
        </p:txBody>
      </p:sp>
      <p:pic>
        <p:nvPicPr>
          <p:cNvPr id="6" name="Content Placeholder 5" descr=" Figure 8-24, Page No. 363, Complexity level: 1&#10;Screenshot show the “Internet Information Services (IIS) Manager” dialog box. On the left pane of the dialog box, the Start page is selected. On the content pane of the dialog box, the Microsoft Internet Information Services 10 Application Server Manager window displays four boxes labeled “Recent connections, Connection tasks, Online resources, and IIS News.”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57400" y="1676400"/>
            <a:ext cx="4744638" cy="3795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13291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Creating a Virtual Directory (1 of 3)</a:t>
            </a:r>
            <a:endParaRPr lang="en-US" dirty="0"/>
          </a:p>
        </p:txBody>
      </p:sp>
      <p:sp>
        <p:nvSpPr>
          <p:cNvPr id="2" name="Content Placeholder 1"/>
          <p:cNvSpPr>
            <a:spLocks noGrp="1"/>
          </p:cNvSpPr>
          <p:nvPr>
            <p:ph idx="1"/>
          </p:nvPr>
        </p:nvSpPr>
        <p:spPr/>
        <p:txBody>
          <a:bodyPr/>
          <a:lstStyle/>
          <a:p>
            <a:r>
              <a:rPr lang="en-US" smtClean="0"/>
              <a:t>Virtual directory</a:t>
            </a:r>
          </a:p>
          <a:p>
            <a:pPr lvl="1"/>
            <a:r>
              <a:rPr lang="en-US" smtClean="0"/>
              <a:t>A physical folder or a redirection to a Uniform Resource Locator (URL) that points to a folder</a:t>
            </a:r>
          </a:p>
          <a:p>
            <a:pPr lvl="2"/>
            <a:r>
              <a:rPr lang="en-US" smtClean="0"/>
              <a:t>So that it can be accessed over the Internet, an intranet, or VPN</a:t>
            </a:r>
          </a:p>
          <a:p>
            <a:r>
              <a:rPr lang="en-US" smtClean="0"/>
              <a:t>The reason for creating a virtual directory is to provide a shortcut path to specific IIS server content</a:t>
            </a:r>
          </a:p>
          <a:p>
            <a:r>
              <a:rPr lang="en-US" smtClean="0"/>
              <a:t>When you set up a virtual directory, you give it an alias</a:t>
            </a:r>
          </a:p>
          <a:p>
            <a:pPr lvl="1"/>
            <a:r>
              <a:rPr lang="en-US" smtClean="0"/>
              <a:t>A name to identify it to a Web browse</a:t>
            </a:r>
          </a:p>
          <a:p>
            <a:r>
              <a:rPr lang="en-US" smtClean="0"/>
              <a:t>The URL format for access a file in a virtual directory entails providing:</a:t>
            </a:r>
          </a:p>
          <a:p>
            <a:pPr lvl="1"/>
            <a:r>
              <a:rPr lang="en-US" smtClean="0"/>
              <a:t>\\Server name\Virtual directory alias\filename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66966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Creating a Virtual Directory (2 of 3)</a:t>
            </a:r>
            <a:endParaRPr lang="en-US" dirty="0"/>
          </a:p>
        </p:txBody>
      </p:sp>
      <p:sp>
        <p:nvSpPr>
          <p:cNvPr id="2" name="Content Placeholder 1"/>
          <p:cNvSpPr>
            <a:spLocks noGrp="1"/>
          </p:cNvSpPr>
          <p:nvPr>
            <p:ph idx="1"/>
          </p:nvPr>
        </p:nvSpPr>
        <p:spPr/>
        <p:txBody>
          <a:bodyPr/>
          <a:lstStyle/>
          <a:p>
            <a:r>
              <a:rPr lang="en-US" smtClean="0"/>
              <a:t>When you create a virtual directory, you can choose the permissions you want to apply</a:t>
            </a:r>
          </a:p>
          <a:p>
            <a:pPr lvl="1"/>
            <a:r>
              <a:rPr lang="en-US" smtClean="0"/>
              <a:t>The same as permissions for a regular NTFS folder and files in the folder</a:t>
            </a:r>
          </a:p>
          <a:p>
            <a:r>
              <a:rPr lang="en-US" smtClean="0"/>
              <a:t>After a virtual directory is created, you can modify its properties in IIS Manager</a:t>
            </a:r>
          </a:p>
          <a:p>
            <a:r>
              <a:rPr lang="en-US" smtClean="0"/>
              <a:t>You can set up the virtual directory to be shared</a:t>
            </a:r>
          </a:p>
          <a:p>
            <a:pPr lvl="1"/>
            <a:r>
              <a:rPr lang="en-US" smtClean="0"/>
              <a:t>So that users who need access to add contents to the directory can do this over the network</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065651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Creating a Virtual Directory (3 of 3)</a:t>
            </a:r>
            <a:endParaRPr lang="en-US" dirty="0"/>
          </a:p>
        </p:txBody>
      </p:sp>
      <p:pic>
        <p:nvPicPr>
          <p:cNvPr id="6" name="Content Placeholder 5" descr="Figure 8-25, Page No. 365, Complexity level: 2&#10;Screenshot shows the “Web DocumentsJR Properties” dialog box. The cursor points to the Security tab and it is selected. The window displays Object name: C:\Users\Administrator\Web DocumentsJR. The System option is selected under the Group or user names. The Permissions for System drop down box is shown. The OK button shown below is selected.&#10; Figure 8-26, Page No. 365, Complexity level: 1&#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971800" y="1447800"/>
            <a:ext cx="2892144" cy="4510689"/>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99351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and Configuring an IIS Web Server (1 of 2)</a:t>
            </a:r>
            <a:endParaRPr lang="en-US" dirty="0"/>
          </a:p>
        </p:txBody>
      </p:sp>
      <p:sp>
        <p:nvSpPr>
          <p:cNvPr id="2" name="Content Placeholder 1"/>
          <p:cNvSpPr>
            <a:spLocks noGrp="1"/>
          </p:cNvSpPr>
          <p:nvPr>
            <p:ph idx="1"/>
          </p:nvPr>
        </p:nvSpPr>
        <p:spPr/>
        <p:txBody>
          <a:bodyPr/>
          <a:lstStyle/>
          <a:p>
            <a:r>
              <a:rPr lang="en-US" smtClean="0"/>
              <a:t>The Internet Information Services Manager tool enables you to manage IIS components including the following:</a:t>
            </a:r>
          </a:p>
          <a:p>
            <a:pPr lvl="1"/>
            <a:r>
              <a:rPr lang="en-US" smtClean="0"/>
              <a:t>Application pools</a:t>
            </a:r>
          </a:p>
          <a:p>
            <a:pPr lvl="1"/>
            <a:r>
              <a:rPr lang="en-US" smtClean="0"/>
              <a:t>Sites</a:t>
            </a:r>
          </a:p>
          <a:p>
            <a:pPr lvl="1"/>
            <a:r>
              <a:rPr lang="en-US" smtClean="0"/>
              <a:t>SMTP e-mail</a:t>
            </a:r>
          </a:p>
          <a:p>
            <a:pPr lvl="1"/>
            <a:r>
              <a:rPr lang="en-US" smtClean="0"/>
              <a:t>Certificates</a:t>
            </a:r>
          </a:p>
          <a:p>
            <a:r>
              <a:rPr lang="en-US" smtClean="0"/>
              <a:t>Application pools enable you to group similar Web applications into pools or groups for management</a:t>
            </a:r>
          </a:p>
          <a:p>
            <a:r>
              <a:rPr lang="en-US" smtClean="0"/>
              <a:t>Sites is a folder used to manage multiple Web sites from one administrative Web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0784322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and Configuring an IIS Web Server (2 of 2)</a:t>
            </a:r>
            <a:endParaRPr lang="en-US" dirty="0"/>
          </a:p>
        </p:txBody>
      </p:sp>
      <p:sp>
        <p:nvSpPr>
          <p:cNvPr id="2" name="Content Placeholder 1"/>
          <p:cNvSpPr>
            <a:spLocks noGrp="1"/>
          </p:cNvSpPr>
          <p:nvPr>
            <p:ph idx="1"/>
          </p:nvPr>
        </p:nvSpPr>
        <p:spPr/>
        <p:txBody>
          <a:bodyPr/>
          <a:lstStyle/>
          <a:p>
            <a:r>
              <a:rPr lang="en-US" smtClean="0"/>
              <a:t>The SMTP E-mail Page feature is used to manage Internet e-mail via e-mail programs</a:t>
            </a:r>
          </a:p>
          <a:p>
            <a:pPr lvl="1"/>
            <a:r>
              <a:rPr lang="en-US" smtClean="0"/>
              <a:t>Takes advantage of the application programming interface, system.net.mail</a:t>
            </a:r>
          </a:p>
          <a:p>
            <a:r>
              <a:rPr lang="en-US" smtClean="0"/>
              <a:t>Through the certificates feature, you can configure and monitor certificate security that is used with other Web sites</a:t>
            </a:r>
          </a:p>
          <a:p>
            <a:r>
              <a:rPr lang="en-US" smtClean="0"/>
              <a:t>A website can be configured in many ways</a:t>
            </a:r>
          </a:p>
          <a:p>
            <a:pPr lvl="1"/>
            <a:r>
              <a:rPr lang="en-US" smtClean="0"/>
              <a:t>Table 8-8 on page 368 lists many of the features you can configure through icons displayed in the middle pane of the IIS Manager</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45279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a Web Server</a:t>
            </a:r>
            <a:endParaRPr lang="en-US" dirty="0"/>
          </a:p>
        </p:txBody>
      </p:sp>
      <p:sp>
        <p:nvSpPr>
          <p:cNvPr id="2" name="Content Placeholder 1"/>
          <p:cNvSpPr>
            <a:spLocks noGrp="1"/>
          </p:cNvSpPr>
          <p:nvPr>
            <p:ph idx="1"/>
          </p:nvPr>
        </p:nvSpPr>
        <p:spPr/>
        <p:txBody>
          <a:bodyPr/>
          <a:lstStyle/>
          <a:p>
            <a:r>
              <a:rPr lang="en-US" smtClean="0"/>
              <a:t>Occasionally a Web server can experience problems, such as users not being able to connect to the server</a:t>
            </a:r>
          </a:p>
          <a:p>
            <a:r>
              <a:rPr lang="en-US" smtClean="0"/>
              <a:t>Table 8-9 lists possible problems and their solutions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440571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2)</a:t>
            </a:r>
            <a:endParaRPr lang="en-US" dirty="0"/>
          </a:p>
        </p:txBody>
      </p:sp>
      <p:sp>
        <p:nvSpPr>
          <p:cNvPr id="2" name="Content Placeholder 1"/>
          <p:cNvSpPr>
            <a:spLocks noGrp="1"/>
          </p:cNvSpPr>
          <p:nvPr>
            <p:ph idx="1"/>
          </p:nvPr>
        </p:nvSpPr>
        <p:spPr/>
        <p:txBody>
          <a:bodyPr/>
          <a:lstStyle/>
          <a:p>
            <a:r>
              <a:rPr lang="en-US" smtClean="0"/>
              <a:t>DNS is used to resolve domain and computer names to IP addresses and vice versa</a:t>
            </a:r>
          </a:p>
          <a:p>
            <a:r>
              <a:rPr lang="en-US" smtClean="0"/>
              <a:t>Before you install DNS, ensure that the server to house this role has a static address</a:t>
            </a:r>
          </a:p>
          <a:p>
            <a:r>
              <a:rPr lang="en-US" smtClean="0"/>
              <a:t>After you install DNS as a server role, the next step is to configure forward and reverse lookup zones, as well as DNS resource records</a:t>
            </a:r>
          </a:p>
          <a:p>
            <a:r>
              <a:rPr lang="en-US" smtClean="0"/>
              <a:t>When you configure Dynamic DNS, you enable automated IP address registration in a coordinated way with a DHCP server</a:t>
            </a:r>
          </a:p>
          <a:p>
            <a:r>
              <a:rPr lang="en-US" smtClean="0"/>
              <a:t>Plan to set up two or more DNS servers on most networks</a:t>
            </a:r>
          </a:p>
          <a:p>
            <a:r>
              <a:rPr lang="en-US" smtClean="0"/>
              <a:t>DHCP dynamically leases IP addresses to client computers</a:t>
            </a:r>
          </a:p>
          <a:p>
            <a:r>
              <a:rPr lang="en-US" smtClean="0"/>
              <a:t>Configuring DHCP involves configuring scopes that are IP address ranges from which addresses are leased to clients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2)</a:t>
            </a:r>
            <a:endParaRPr lang="en-US" dirty="0"/>
          </a:p>
        </p:txBody>
      </p:sp>
      <p:sp>
        <p:nvSpPr>
          <p:cNvPr id="2" name="Content Placeholder 1"/>
          <p:cNvSpPr>
            <a:spLocks noGrp="1"/>
          </p:cNvSpPr>
          <p:nvPr>
            <p:ph idx="1"/>
          </p:nvPr>
        </p:nvSpPr>
        <p:spPr/>
        <p:txBody>
          <a:bodyPr/>
          <a:lstStyle/>
          <a:p>
            <a:r>
              <a:rPr lang="en-US" smtClean="0"/>
              <a:t>Windows Server 2016 DHCP server supports both IPv4 and IPv6</a:t>
            </a:r>
          </a:p>
          <a:p>
            <a:r>
              <a:rPr lang="en-US" smtClean="0"/>
              <a:t>IPAM is a set of tools you can use for IP address management</a:t>
            </a:r>
          </a:p>
          <a:p>
            <a:r>
              <a:rPr lang="en-US" smtClean="0"/>
              <a:t>NIC teaming enables you to aggregate multiple NICs in a server to appear as one logical connection</a:t>
            </a:r>
          </a:p>
          <a:p>
            <a:r>
              <a:rPr lang="en-US" smtClean="0"/>
              <a:t>To create a Windows Server 2016 Web server, install the Web Server (IIS) role to implement Internet Information Services</a:t>
            </a:r>
          </a:p>
          <a:p>
            <a:r>
              <a:rPr lang="en-US" smtClean="0"/>
              <a:t>Create IIS virtual directories to enable multiple users to publish information on a Web site</a:t>
            </a:r>
          </a:p>
          <a:p>
            <a:r>
              <a:rPr lang="en-US" smtClean="0"/>
              <a:t>Use standard NTFS and share permissions to protect virtual directories</a:t>
            </a:r>
          </a:p>
          <a:p>
            <a:r>
              <a:rPr lang="en-US" smtClean="0"/>
              <a:t>After you install a Web server, configure it to customize features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4475693"/>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18700</TotalTime>
  <Words>5968</Words>
  <Application>Microsoft Office PowerPoint</Application>
  <PresentationFormat>On-screen Show (4:3)</PresentationFormat>
  <Paragraphs>378</Paragraphs>
  <Slides>47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Calibri Light</vt:lpstr>
      <vt:lpstr>Office Theme</vt:lpstr>
      <vt:lpstr>Hands-On Microsoft Windows Server 2016  2nd Edition</vt:lpstr>
      <vt:lpstr>Objectives</vt:lpstr>
      <vt:lpstr>Implementing Microsoft DNS</vt:lpstr>
      <vt:lpstr>Installing DNS Services (1 of 2)</vt:lpstr>
      <vt:lpstr>Installing DNS Services (2 of 2)</vt:lpstr>
      <vt:lpstr>DNS Zones (1 of 3)</vt:lpstr>
      <vt:lpstr>DNS Zones (2 of 3)</vt:lpstr>
      <vt:lpstr>DNS Zones (3 of 3)</vt:lpstr>
      <vt:lpstr>Using the DNS Dynamic Update Protocol (1 of 2)</vt:lpstr>
      <vt:lpstr>Using the DNS Dynamic Update Protocol (2 of 2)</vt:lpstr>
      <vt:lpstr>DNS Replication (1 of 2)</vt:lpstr>
      <vt:lpstr>DNS Replication (2 of 2)</vt:lpstr>
      <vt:lpstr>Stub Zone</vt:lpstr>
      <vt:lpstr>Additional DNS Server Roles (1 of 4)</vt:lpstr>
      <vt:lpstr>Additional DNS Server Roles (2 of 4)</vt:lpstr>
      <vt:lpstr>Additional DNS Server Roles (3 of 4)</vt:lpstr>
      <vt:lpstr>Additional DNS Server Roles (4 of 4)</vt:lpstr>
      <vt:lpstr>Using DNS to Balance Application Access</vt:lpstr>
      <vt:lpstr>Creating a DNS Implementation Plan (1 of 2)</vt:lpstr>
      <vt:lpstr>Creating a DNS Implementation Plan (2 of 2)</vt:lpstr>
      <vt:lpstr>DNS Enhancement in Windows Server 2016</vt:lpstr>
      <vt:lpstr>Troubleshooting DNS</vt:lpstr>
      <vt:lpstr>Implementing Microsoft DHCP (1 of 2)</vt:lpstr>
      <vt:lpstr>Implementing Microsoft DHCP (2 of 2)</vt:lpstr>
      <vt:lpstr>Configuring a DHCP Server (1 of 2)</vt:lpstr>
      <vt:lpstr>Configuring a DHCP Server (2 of 2)</vt:lpstr>
      <vt:lpstr>Lease Times</vt:lpstr>
      <vt:lpstr>DHCPv6 Support</vt:lpstr>
      <vt:lpstr>Troubleshooting DHCP</vt:lpstr>
      <vt:lpstr>IP Address Management</vt:lpstr>
      <vt:lpstr>Redundancy Through NIC Teaming (1 of 3)</vt:lpstr>
      <vt:lpstr>Redundancy Through NIC Teaming (2 of 3)</vt:lpstr>
      <vt:lpstr>Redundancy Through NIC Teaming (3 of 3)</vt:lpstr>
      <vt:lpstr>Implementing Microsoft Internet Information Services (1 of 2)</vt:lpstr>
      <vt:lpstr>Implementing Microsoft Internet Information Services (2 of 2)</vt:lpstr>
      <vt:lpstr>Installing a Web Server</vt:lpstr>
      <vt:lpstr>Web Server Best Practices</vt:lpstr>
      <vt:lpstr>Internet Information Services (IIS) Manager (1 of 2)</vt:lpstr>
      <vt:lpstr>Internet Information Services (IIS) Manager (2 of 2)</vt:lpstr>
      <vt:lpstr>Creating a Virtual Directory (1 of 3)</vt:lpstr>
      <vt:lpstr>Creating a Virtual Directory (2 of 3)</vt:lpstr>
      <vt:lpstr>Creating a Virtual Directory (3 of 3)</vt:lpstr>
      <vt:lpstr>Managing and Configuring an IIS Web Server (1 of 2)</vt:lpstr>
      <vt:lpstr>Managing and Configuring an IIS Web Server (2 of 2)</vt:lpstr>
      <vt:lpstr>Troubleshooting a Web Server</vt:lpstr>
      <vt:lpstr>Chapter Summary (1 of 2)</vt:lpstr>
      <vt:lpstr>Chapter Summary (2 of 2)</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644</cp:revision>
  <cp:lastPrinted>2017-07-11T22:16:29Z</cp:lastPrinted>
  <dcterms:created xsi:type="dcterms:W3CDTF">2007-02-15T20:50:52Z</dcterms:created>
  <dcterms:modified xsi:type="dcterms:W3CDTF">2017-07-11T22:16:35Z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