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1" r:id="rId1"/>
  </p:sldMasterIdLst>
  <p:notesMasterIdLst>
    <p:notesMasterId r:id="rId66"/>
  </p:notesMasterIdLst>
  <p:handoutMasterIdLst>
    <p:handoutMasterId r:id="rId67"/>
  </p:handoutMasterIdLst>
  <p:sldIdLst>
    <p:sldId id="256" r:id="rId2"/>
    <p:sldId id="257" r:id="rId3"/>
    <p:sldId id="260" r:id="rId4"/>
    <p:sldId id="309" r:id="rId5"/>
    <p:sldId id="311" r:id="rId6"/>
    <p:sldId id="312" r:id="rId7"/>
    <p:sldId id="314" r:id="rId8"/>
    <p:sldId id="313" r:id="rId9"/>
    <p:sldId id="315" r:id="rId10"/>
    <p:sldId id="316" r:id="rId11"/>
    <p:sldId id="317" r:id="rId12"/>
    <p:sldId id="318" r:id="rId13"/>
    <p:sldId id="319" r:id="rId14"/>
    <p:sldId id="320" r:id="rId15"/>
    <p:sldId id="322" r:id="rId16"/>
    <p:sldId id="321" r:id="rId17"/>
    <p:sldId id="323" r:id="rId18"/>
    <p:sldId id="324" r:id="rId19"/>
    <p:sldId id="325" r:id="rId20"/>
    <p:sldId id="326" r:id="rId21"/>
    <p:sldId id="328" r:id="rId22"/>
    <p:sldId id="329" r:id="rId23"/>
    <p:sldId id="330" r:id="rId24"/>
    <p:sldId id="331" r:id="rId25"/>
    <p:sldId id="332" r:id="rId26"/>
    <p:sldId id="333" r:id="rId27"/>
    <p:sldId id="334" r:id="rId28"/>
    <p:sldId id="335" r:id="rId29"/>
    <p:sldId id="336" r:id="rId30"/>
    <p:sldId id="337" r:id="rId31"/>
    <p:sldId id="338" r:id="rId32"/>
    <p:sldId id="339" r:id="rId33"/>
    <p:sldId id="340" r:id="rId34"/>
    <p:sldId id="341" r:id="rId35"/>
    <p:sldId id="342" r:id="rId36"/>
    <p:sldId id="343" r:id="rId37"/>
    <p:sldId id="344" r:id="rId38"/>
    <p:sldId id="345" r:id="rId39"/>
    <p:sldId id="346" r:id="rId40"/>
    <p:sldId id="347" r:id="rId41"/>
    <p:sldId id="348" r:id="rId42"/>
    <p:sldId id="349" r:id="rId43"/>
    <p:sldId id="351" r:id="rId44"/>
    <p:sldId id="350" r:id="rId45"/>
    <p:sldId id="352" r:id="rId46"/>
    <p:sldId id="353" r:id="rId47"/>
    <p:sldId id="355" r:id="rId48"/>
    <p:sldId id="356" r:id="rId49"/>
    <p:sldId id="357" r:id="rId50"/>
    <p:sldId id="358" r:id="rId51"/>
    <p:sldId id="359" r:id="rId52"/>
    <p:sldId id="360" r:id="rId53"/>
    <p:sldId id="361" r:id="rId54"/>
    <p:sldId id="362" r:id="rId55"/>
    <p:sldId id="363" r:id="rId56"/>
    <p:sldId id="364" r:id="rId57"/>
    <p:sldId id="365" r:id="rId58"/>
    <p:sldId id="366" r:id="rId59"/>
    <p:sldId id="367" r:id="rId60"/>
    <p:sldId id="368" r:id="rId61"/>
    <p:sldId id="369" r:id="rId62"/>
    <p:sldId id="307" r:id="rId63"/>
    <p:sldId id="308" r:id="rId64"/>
    <p:sldId id="310" r:id="rId65"/>
  </p:sldIdLst>
  <p:sldSz cx="9144000" cy="6858000" type="screen4x3"/>
  <p:notesSz cx="68580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nette Stillwell" initials="NBS" lastIdx="5" clrIdx="0"/>
  <p:cmAuthor id="1" name="Gerald Titchener" initials="GT"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70A5"/>
    <a:srgbClr val="FFFFFF"/>
    <a:srgbClr val="96CDEE"/>
    <a:srgbClr val="0F3F5D"/>
    <a:srgbClr val="01773A"/>
    <a:srgbClr val="156B13"/>
    <a:srgbClr val="008000"/>
    <a:srgbClr val="F20000"/>
    <a:srgbClr val="66C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577" autoAdjust="0"/>
    <p:restoredTop sz="76197" autoAdjust="0"/>
  </p:normalViewPr>
  <p:slideViewPr>
    <p:cSldViewPr>
      <p:cViewPr varScale="1">
        <p:scale>
          <a:sx n="74" d="100"/>
          <a:sy n="74" d="100"/>
        </p:scale>
        <p:origin x="1242" y="6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2297" tIns="46148" rIns="92297" bIns="46148"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64820"/>
          </a:xfrm>
          <a:prstGeom prst="rect">
            <a:avLst/>
          </a:prstGeom>
        </p:spPr>
        <p:txBody>
          <a:bodyPr vert="horz" lIns="92297" tIns="46148" rIns="92297" bIns="46148" rtlCol="0"/>
          <a:lstStyle>
            <a:lvl1pPr algn="r">
              <a:defRPr sz="1200"/>
            </a:lvl1pPr>
          </a:lstStyle>
          <a:p>
            <a:fld id="{4EE4060F-EC6E-45B5-96F1-A60F0585115B}" type="datetimeFigureOut">
              <a:rPr lang="en-US" smtClean="0"/>
              <a:pPr/>
              <a:t>7/11/2017</a:t>
            </a:fld>
            <a:endParaRPr lang="en-US"/>
          </a:p>
        </p:txBody>
      </p:sp>
      <p:sp>
        <p:nvSpPr>
          <p:cNvPr id="4" name="Footer Placeholder 3"/>
          <p:cNvSpPr>
            <a:spLocks noGrp="1"/>
          </p:cNvSpPr>
          <p:nvPr>
            <p:ph type="ftr" sz="quarter" idx="2"/>
          </p:nvPr>
        </p:nvSpPr>
        <p:spPr>
          <a:xfrm>
            <a:off x="0" y="8829966"/>
            <a:ext cx="2971800" cy="464820"/>
          </a:xfrm>
          <a:prstGeom prst="rect">
            <a:avLst/>
          </a:prstGeom>
        </p:spPr>
        <p:txBody>
          <a:bodyPr vert="horz" lIns="92297" tIns="46148" rIns="92297" bIns="46148"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829966"/>
            <a:ext cx="2971800" cy="464820"/>
          </a:xfrm>
          <a:prstGeom prst="rect">
            <a:avLst/>
          </a:prstGeom>
        </p:spPr>
        <p:txBody>
          <a:bodyPr vert="horz" lIns="92297" tIns="46148" rIns="92297" bIns="46148" rtlCol="0" anchor="b"/>
          <a:lstStyle>
            <a:lvl1pPr algn="r">
              <a:defRPr sz="1200"/>
            </a:lvl1pPr>
          </a:lstStyle>
          <a:p>
            <a:fld id="{A987596C-5E44-4393-BE44-DB7D499825F1}" type="slidenum">
              <a:rPr lang="en-US" smtClean="0"/>
              <a:pPr/>
              <a:t>‹#›</a:t>
            </a:fld>
            <a:endParaRPr lang="en-US"/>
          </a:p>
        </p:txBody>
      </p:sp>
    </p:spTree>
    <p:extLst>
      <p:ext uri="{BB962C8B-B14F-4D97-AF65-F5344CB8AC3E}">
        <p14:creationId xmlns:p14="http://schemas.microsoft.com/office/powerpoint/2010/main" val="2834206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2297" tIns="46148" rIns="92297" bIns="46148" rtlCol="0"/>
          <a:lstStyle>
            <a:lvl1pPr algn="l">
              <a:defRPr sz="1200"/>
            </a:lvl1pPr>
          </a:lstStyle>
          <a:p>
            <a:pPr>
              <a:defRPr/>
            </a:pPr>
            <a:endParaRPr lang="en-US" dirty="0"/>
          </a:p>
        </p:txBody>
      </p:sp>
      <p:sp>
        <p:nvSpPr>
          <p:cNvPr id="3" name="Date Placeholder 2"/>
          <p:cNvSpPr>
            <a:spLocks noGrp="1"/>
          </p:cNvSpPr>
          <p:nvPr>
            <p:ph type="dt" idx="1"/>
          </p:nvPr>
        </p:nvSpPr>
        <p:spPr>
          <a:xfrm>
            <a:off x="3884613" y="0"/>
            <a:ext cx="2971800" cy="464820"/>
          </a:xfrm>
          <a:prstGeom prst="rect">
            <a:avLst/>
          </a:prstGeom>
        </p:spPr>
        <p:txBody>
          <a:bodyPr vert="horz" lIns="92297" tIns="46148" rIns="92297" bIns="46148" rtlCol="0"/>
          <a:lstStyle>
            <a:lvl1pPr algn="r">
              <a:defRPr sz="1200"/>
            </a:lvl1pPr>
          </a:lstStyle>
          <a:p>
            <a:pPr>
              <a:defRPr/>
            </a:pPr>
            <a:fld id="{46950642-C6F2-4E46-90C1-0B12B643B3D7}" type="datetimeFigureOut">
              <a:rPr lang="en-US"/>
              <a:pPr>
                <a:defRPr/>
              </a:pPr>
              <a:t>7/11/2017</a:t>
            </a:fld>
            <a:endParaRPr lang="en-US" dirty="0"/>
          </a:p>
        </p:txBody>
      </p:sp>
      <p:sp>
        <p:nvSpPr>
          <p:cNvPr id="4" name="Slide Image Placeholder 3"/>
          <p:cNvSpPr>
            <a:spLocks noGrp="1" noRot="1" noChangeAspect="1"/>
          </p:cNvSpPr>
          <p:nvPr>
            <p:ph type="sldImg" idx="2"/>
          </p:nvPr>
        </p:nvSpPr>
        <p:spPr>
          <a:xfrm>
            <a:off x="1104900" y="696913"/>
            <a:ext cx="4648200" cy="3486150"/>
          </a:xfrm>
          <a:prstGeom prst="rect">
            <a:avLst/>
          </a:prstGeom>
          <a:noFill/>
          <a:ln w="12700">
            <a:solidFill>
              <a:prstClr val="black"/>
            </a:solidFill>
          </a:ln>
        </p:spPr>
        <p:txBody>
          <a:bodyPr vert="horz" lIns="92297" tIns="46148" rIns="92297" bIns="46148" rtlCol="0" anchor="ctr"/>
          <a:lstStyle/>
          <a:p>
            <a:pPr lvl="0"/>
            <a:endParaRPr lang="en-US" noProof="0" dirty="0"/>
          </a:p>
        </p:txBody>
      </p:sp>
      <p:sp>
        <p:nvSpPr>
          <p:cNvPr id="5" name="Notes Placeholder 4"/>
          <p:cNvSpPr>
            <a:spLocks noGrp="1"/>
          </p:cNvSpPr>
          <p:nvPr>
            <p:ph type="body" sz="quarter" idx="3"/>
          </p:nvPr>
        </p:nvSpPr>
        <p:spPr>
          <a:xfrm>
            <a:off x="685800" y="4415790"/>
            <a:ext cx="5486400" cy="4183380"/>
          </a:xfrm>
          <a:prstGeom prst="rect">
            <a:avLst/>
          </a:prstGeom>
        </p:spPr>
        <p:txBody>
          <a:bodyPr vert="horz" lIns="92297" tIns="46148" rIns="92297" bIns="46148"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966"/>
            <a:ext cx="2971800" cy="464820"/>
          </a:xfrm>
          <a:prstGeom prst="rect">
            <a:avLst/>
          </a:prstGeom>
        </p:spPr>
        <p:txBody>
          <a:bodyPr vert="horz" lIns="92297" tIns="46148" rIns="92297" bIns="46148"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3884613" y="8829966"/>
            <a:ext cx="2971800" cy="464820"/>
          </a:xfrm>
          <a:prstGeom prst="rect">
            <a:avLst/>
          </a:prstGeom>
        </p:spPr>
        <p:txBody>
          <a:bodyPr vert="horz" lIns="92297" tIns="46148" rIns="92297" bIns="46148" rtlCol="0" anchor="b"/>
          <a:lstStyle>
            <a:lvl1pPr algn="r">
              <a:defRPr sz="1200"/>
            </a:lvl1pPr>
          </a:lstStyle>
          <a:p>
            <a:pPr>
              <a:defRPr/>
            </a:pPr>
            <a:fld id="{CAA8545F-A231-4F50-B1F1-95F56EBB643D}" type="slidenum">
              <a:rPr lang="en-US"/>
              <a:pPr>
                <a:defRPr/>
              </a:pPr>
              <a:t>‹#›</a:t>
            </a:fld>
            <a:endParaRPr lang="en-US" dirty="0"/>
          </a:p>
        </p:txBody>
      </p:sp>
    </p:spTree>
    <p:extLst>
      <p:ext uri="{BB962C8B-B14F-4D97-AF65-F5344CB8AC3E}">
        <p14:creationId xmlns:p14="http://schemas.microsoft.com/office/powerpoint/2010/main" val="31546405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a:t>
            </a:fld>
            <a:endParaRPr lang="en-US" dirty="0"/>
          </a:p>
        </p:txBody>
      </p:sp>
    </p:spTree>
    <p:extLst>
      <p:ext uri="{BB962C8B-B14F-4D97-AF65-F5344CB8AC3E}">
        <p14:creationId xmlns:p14="http://schemas.microsoft.com/office/powerpoint/2010/main" val="40835262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a:t>
            </a:fld>
            <a:endParaRPr lang="en-US" dirty="0"/>
          </a:p>
        </p:txBody>
      </p:sp>
    </p:spTree>
    <p:extLst>
      <p:ext uri="{BB962C8B-B14F-4D97-AF65-F5344CB8AC3E}">
        <p14:creationId xmlns:p14="http://schemas.microsoft.com/office/powerpoint/2010/main" val="3299944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a:t>
            </a:fld>
            <a:endParaRPr lang="en-US" dirty="0"/>
          </a:p>
        </p:txBody>
      </p:sp>
    </p:spTree>
    <p:extLst>
      <p:ext uri="{BB962C8B-B14F-4D97-AF65-F5344CB8AC3E}">
        <p14:creationId xmlns:p14="http://schemas.microsoft.com/office/powerpoint/2010/main" val="21798321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62</a:t>
            </a:fld>
            <a:endParaRPr lang="en-US" dirty="0"/>
          </a:p>
        </p:txBody>
      </p:sp>
    </p:spTree>
    <p:extLst>
      <p:ext uri="{BB962C8B-B14F-4D97-AF65-F5344CB8AC3E}">
        <p14:creationId xmlns:p14="http://schemas.microsoft.com/office/powerpoint/2010/main" val="23026200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63</a:t>
            </a:fld>
            <a:endParaRPr lang="en-US" dirty="0"/>
          </a:p>
        </p:txBody>
      </p:sp>
    </p:spTree>
    <p:extLst>
      <p:ext uri="{BB962C8B-B14F-4D97-AF65-F5344CB8AC3E}">
        <p14:creationId xmlns:p14="http://schemas.microsoft.com/office/powerpoint/2010/main" val="29760980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64</a:t>
            </a:fld>
            <a:endParaRPr lang="en-US" dirty="0"/>
          </a:p>
        </p:txBody>
      </p:sp>
    </p:spTree>
    <p:extLst>
      <p:ext uri="{BB962C8B-B14F-4D97-AF65-F5344CB8AC3E}">
        <p14:creationId xmlns:p14="http://schemas.microsoft.com/office/powerpoint/2010/main" val="2870814711"/>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98500" y="2712698"/>
            <a:ext cx="7747000" cy="377026"/>
          </a:xfrm>
        </p:spPr>
        <p:txBody>
          <a:bodyPr anchor="b"/>
          <a:lstStyle>
            <a:lvl1pPr algn="ctr">
              <a:defRPr sz="2800">
                <a:solidFill>
                  <a:schemeClr val="accent2"/>
                </a:solidFill>
              </a:defRPr>
            </a:lvl1pPr>
          </a:lstStyle>
          <a:p>
            <a:r>
              <a:rPr lang="en-US" dirty="0"/>
              <a:t>Click to edit Master title style</a:t>
            </a:r>
          </a:p>
        </p:txBody>
      </p:sp>
      <p:sp>
        <p:nvSpPr>
          <p:cNvPr id="3" name="Subtitle 2"/>
          <p:cNvSpPr>
            <a:spLocks noGrp="1"/>
          </p:cNvSpPr>
          <p:nvPr>
            <p:ph type="subTitle" idx="1"/>
          </p:nvPr>
        </p:nvSpPr>
        <p:spPr>
          <a:xfrm>
            <a:off x="698500" y="3352800"/>
            <a:ext cx="7747000" cy="235962"/>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6" name="Footer Placeholder 5"/>
          <p:cNvSpPr>
            <a:spLocks noGrp="1"/>
          </p:cNvSpPr>
          <p:nvPr>
            <p:ph type="ftr" sz="quarter" idx="10"/>
          </p:nvPr>
        </p:nvSpPr>
        <p:spPr>
          <a:xfrm>
            <a:off x="1204120" y="6363869"/>
            <a:ext cx="6201666" cy="366183"/>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pic>
        <p:nvPicPr>
          <p:cNvPr id="11" name="Picture 10" descr="Title_Slid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8134" y="254000"/>
            <a:ext cx="8713465" cy="6526752"/>
          </a:xfrm>
          <a:prstGeom prst="rect">
            <a:avLst/>
          </a:prstGeom>
        </p:spPr>
      </p:pic>
      <p:sp>
        <p:nvSpPr>
          <p:cNvPr id="4" name="Rectangle 3"/>
          <p:cNvSpPr/>
          <p:nvPr userDrawn="1"/>
        </p:nvSpPr>
        <p:spPr>
          <a:xfrm>
            <a:off x="3482340" y="223520"/>
            <a:ext cx="212598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Rules_Single_A.png"/>
          <p:cNvPicPr>
            <a:picLocks noChangeAspect="1"/>
          </p:cNvPicPr>
          <p:nvPr userDrawn="1"/>
        </p:nvPicPr>
        <p:blipFill rotWithShape="1">
          <a:blip r:embed="rId3" cstate="print">
            <a:extLst>
              <a:ext uri="{28A0092B-C50C-407E-A947-70E740481C1C}">
                <a14:useLocalDpi xmlns:a14="http://schemas.microsoft.com/office/drawing/2010/main" val="0"/>
              </a:ext>
            </a:extLst>
          </a:blip>
          <a:srcRect l="25529" r="-57141"/>
          <a:stretch/>
        </p:blipFill>
        <p:spPr>
          <a:xfrm>
            <a:off x="1627124" y="481304"/>
            <a:ext cx="10034016" cy="99113"/>
          </a:xfrm>
          <a:prstGeom prst="rect">
            <a:avLst/>
          </a:prstGeom>
        </p:spPr>
      </p:pic>
      <p:sp>
        <p:nvSpPr>
          <p:cNvPr id="5" name="Rectangle 4"/>
          <p:cNvSpPr/>
          <p:nvPr userDrawn="1"/>
        </p:nvSpPr>
        <p:spPr>
          <a:xfrm>
            <a:off x="6812283" y="4885106"/>
            <a:ext cx="2080291" cy="1926127"/>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udio.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865369" y="5389519"/>
            <a:ext cx="987056" cy="1040948"/>
          </a:xfrm>
          <a:prstGeom prst="rect">
            <a:avLst/>
          </a:prstGeom>
        </p:spPr>
      </p:pic>
      <p:pic>
        <p:nvPicPr>
          <p:cNvPr id="12" name="Picture 11"/>
          <p:cNvPicPr>
            <a:picLocks noChangeAspect="1"/>
          </p:cNvPicPr>
          <p:nvPr userDrawn="1"/>
        </p:nvPicPr>
        <p:blipFill rotWithShape="1">
          <a:blip r:embed="rId5" cstate="print">
            <a:extLst>
              <a:ext uri="{28A0092B-C50C-407E-A947-70E740481C1C}">
                <a14:useLocalDpi xmlns:a14="http://schemas.microsoft.com/office/drawing/2010/main" val="0"/>
              </a:ext>
            </a:extLst>
          </a:blip>
          <a:srcRect l="24476" r="23794"/>
          <a:stretch/>
        </p:blipFill>
        <p:spPr>
          <a:xfrm>
            <a:off x="8674488" y="5121741"/>
            <a:ext cx="275507" cy="710099"/>
          </a:xfrm>
          <a:prstGeom prst="rect">
            <a:avLst/>
          </a:prstGeom>
        </p:spPr>
      </p:pic>
      <p:pic>
        <p:nvPicPr>
          <p:cNvPr id="13" name="Picture 12" descr="Swirl_3.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9688654">
            <a:off x="7441068" y="6393019"/>
            <a:ext cx="386047" cy="285072"/>
          </a:xfrm>
          <a:prstGeom prst="rect">
            <a:avLst/>
          </a:prstGeom>
        </p:spPr>
      </p:pic>
      <p:pic>
        <p:nvPicPr>
          <p:cNvPr id="14" name="Picture 13" descr="Swirl_3.png"/>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rot="18073124">
            <a:off x="7908376" y="5449329"/>
            <a:ext cx="591497" cy="245691"/>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4669" t="13753" r="6579" b="12460"/>
          <a:stretch/>
        </p:blipFill>
        <p:spPr>
          <a:xfrm>
            <a:off x="7939373" y="5831840"/>
            <a:ext cx="672857" cy="745880"/>
          </a:xfrm>
          <a:prstGeom prst="rect">
            <a:avLst/>
          </a:prstGeom>
        </p:spPr>
      </p:pic>
      <p:pic>
        <p:nvPicPr>
          <p:cNvPr id="9" name="Picture 8"/>
          <p:cNvPicPr>
            <a:picLocks noChangeAspect="1"/>
          </p:cNvPicPr>
          <p:nvPr userDrawn="1"/>
        </p:nvPicPr>
        <p:blipFill>
          <a:blip r:embed="rId9"/>
          <a:stretch>
            <a:fillRect/>
          </a:stretch>
        </p:blipFill>
        <p:spPr>
          <a:xfrm>
            <a:off x="0" y="6415635"/>
            <a:ext cx="1151034" cy="354164"/>
          </a:xfrm>
          <a:prstGeom prst="rect">
            <a:avLst/>
          </a:prstGeom>
        </p:spPr>
      </p:pic>
    </p:spTree>
    <p:extLst>
      <p:ext uri="{BB962C8B-B14F-4D97-AF65-F5344CB8AC3E}">
        <p14:creationId xmlns:p14="http://schemas.microsoft.com/office/powerpoint/2010/main" val="259408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dirty="0"/>
              <a:t>Click to edit Master title style</a:t>
            </a:r>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7" name="Footer Placeholder 6"/>
          <p:cNvSpPr>
            <a:spLocks noGrp="1"/>
          </p:cNvSpPr>
          <p:nvPr>
            <p:ph type="ftr" sz="quarter" idx="10"/>
          </p:nvPr>
        </p:nvSpPr>
        <p:spPr>
          <a:xfrm>
            <a:off x="1597682" y="6578465"/>
            <a:ext cx="6781693" cy="244535"/>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pic>
        <p:nvPicPr>
          <p:cNvPr id="6" name="Picture 5" descr="Rules_Single_A.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userDrawn="1"/>
        </p:nvPicPr>
        <p:blipFill rotWithShape="1">
          <a:blip r:embed="rId6"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pic>
        <p:nvPicPr>
          <p:cNvPr id="17" name="Picture 16"/>
          <p:cNvPicPr>
            <a:picLocks noChangeAspect="1"/>
          </p:cNvPicPr>
          <p:nvPr userDrawn="1"/>
        </p:nvPicPr>
        <p:blipFill>
          <a:blip r:embed="rId9"/>
          <a:stretch>
            <a:fillRect/>
          </a:stretch>
        </p:blipFill>
        <p:spPr>
          <a:xfrm>
            <a:off x="118720" y="6363035"/>
            <a:ext cx="1400289" cy="430858"/>
          </a:xfrm>
          <a:prstGeom prst="rect">
            <a:avLst/>
          </a:prstGeom>
        </p:spPr>
      </p:pic>
    </p:spTree>
    <p:extLst>
      <p:ext uri="{BB962C8B-B14F-4D97-AF65-F5344CB8AC3E}">
        <p14:creationId xmlns:p14="http://schemas.microsoft.com/office/powerpoint/2010/main" val="270673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p:cNvSpPr>
            <a:spLocks noGrp="1"/>
          </p:cNvSpPr>
          <p:nvPr>
            <p:ph type="title"/>
          </p:nvPr>
        </p:nvSpPr>
        <p:spPr>
          <a:xfrm>
            <a:off x="762000" y="406258"/>
            <a:ext cx="8026400" cy="296235"/>
          </a:xfrm>
        </p:spPr>
        <p:txBody>
          <a:bodyPr/>
          <a:lstStyle/>
          <a:p>
            <a:r>
              <a:rPr lang="en-US" dirty="0"/>
              <a:t>Click to edit Master title style</a:t>
            </a:r>
          </a:p>
        </p:txBody>
      </p:sp>
      <p:sp>
        <p:nvSpPr>
          <p:cNvPr id="3" name="Content Placeholder 2"/>
          <p:cNvSpPr>
            <a:spLocks noGrp="1"/>
          </p:cNvSpPr>
          <p:nvPr>
            <p:ph idx="1"/>
          </p:nvPr>
        </p:nvSpPr>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1"/>
          <p:cNvSpPr>
            <a:spLocks noGrp="1"/>
          </p:cNvSpPr>
          <p:nvPr>
            <p:ph type="ftr" sz="quarter" idx="10"/>
          </p:nvPr>
        </p:nvSpPr>
        <p:spPr>
          <a:xfrm>
            <a:off x="1597682" y="6578465"/>
            <a:ext cx="6781693" cy="244535"/>
          </a:xfrm>
        </p:spPr>
        <p:txBody>
          <a:bodyPr/>
          <a:lstStyle>
            <a:lvl1pPr>
              <a:defRPr sz="600"/>
            </a:lvl1pPr>
          </a:lstStyle>
          <a:p>
            <a:r>
              <a:rPr lang="en-US" dirty="0"/>
              <a:t>© 2018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7" name="Picture 6"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8" name="Picture 17"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5" name="Picture 4"/>
          <p:cNvPicPr>
            <a:picLocks noChangeAspect="1"/>
          </p:cNvPicPr>
          <p:nvPr userDrawn="1"/>
        </p:nvPicPr>
        <p:blipFill>
          <a:blip r:embed="rId5"/>
          <a:stretch>
            <a:fillRect/>
          </a:stretch>
        </p:blipFill>
        <p:spPr>
          <a:xfrm>
            <a:off x="47177" y="6324600"/>
            <a:ext cx="1439449" cy="442907"/>
          </a:xfrm>
          <a:prstGeom prst="rect">
            <a:avLst/>
          </a:prstGeom>
        </p:spPr>
      </p:pic>
    </p:spTree>
    <p:extLst>
      <p:ext uri="{BB962C8B-B14F-4D97-AF65-F5344CB8AC3E}">
        <p14:creationId xmlns:p14="http://schemas.microsoft.com/office/powerpoint/2010/main" val="402461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dirty="0"/>
              <a:t>Click to edit Master title style</a:t>
            </a:r>
          </a:p>
        </p:txBody>
      </p:sp>
      <p:sp>
        <p:nvSpPr>
          <p:cNvPr id="3" name="Footer Placeholder 2"/>
          <p:cNvSpPr>
            <a:spLocks noGrp="1"/>
          </p:cNvSpPr>
          <p:nvPr>
            <p:ph type="ftr" sz="quarter" idx="10"/>
          </p:nvPr>
        </p:nvSpPr>
        <p:spPr>
          <a:xfrm>
            <a:off x="1597682" y="6578465"/>
            <a:ext cx="6781693" cy="244535"/>
          </a:xfrm>
        </p:spPr>
        <p:txBody>
          <a:bodyPr/>
          <a:lstStyle>
            <a:lvl1pPr>
              <a:defRPr sz="600"/>
            </a:lvl1pPr>
          </a:lstStyle>
          <a:p>
            <a:r>
              <a:rPr lang="en-US" dirty="0"/>
              <a:t>© 2018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8" name="Picture 7"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2" name="Picture 21"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9" name="Picture 8"/>
          <p:cNvPicPr>
            <a:picLocks noChangeAspect="1"/>
          </p:cNvPicPr>
          <p:nvPr userDrawn="1"/>
        </p:nvPicPr>
        <p:blipFill>
          <a:blip r:embed="rId5"/>
          <a:stretch>
            <a:fillRect/>
          </a:stretch>
        </p:blipFill>
        <p:spPr>
          <a:xfrm>
            <a:off x="60488" y="6305978"/>
            <a:ext cx="1403024" cy="431699"/>
          </a:xfrm>
          <a:prstGeom prst="rect">
            <a:avLst/>
          </a:prstGeom>
        </p:spPr>
      </p:pic>
    </p:spTree>
    <p:extLst>
      <p:ext uri="{BB962C8B-B14F-4D97-AF65-F5344CB8AC3E}">
        <p14:creationId xmlns:p14="http://schemas.microsoft.com/office/powerpoint/2010/main" val="1336393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dirty="0"/>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470330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5125" y="1538818"/>
            <a:ext cx="8415338" cy="1412951"/>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txBox="1">
            <a:spLocks/>
          </p:cNvSpPr>
          <p:nvPr userDrawn="1"/>
        </p:nvSpPr>
        <p:spPr>
          <a:xfrm>
            <a:off x="8376166" y="6513743"/>
            <a:ext cx="312906"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 name="Title Placeholder 1"/>
          <p:cNvSpPr>
            <a:spLocks noGrp="1"/>
          </p:cNvSpPr>
          <p:nvPr>
            <p:ph type="title"/>
          </p:nvPr>
        </p:nvSpPr>
        <p:spPr>
          <a:xfrm>
            <a:off x="365125" y="480785"/>
            <a:ext cx="8415338" cy="296235"/>
          </a:xfrm>
          <a:prstGeom prst="rect">
            <a:avLst/>
          </a:prstGeom>
        </p:spPr>
        <p:txBody>
          <a:bodyPr vert="horz" wrap="square" lIns="0" tIns="0" rIns="0" bIns="0" rtlCol="0" anchor="ctr">
            <a:spAutoFit/>
          </a:bodyPr>
          <a:lstStyle/>
          <a:p>
            <a:r>
              <a:rPr lang="en-US" dirty="0"/>
              <a:t>Click to edit Master title style</a:t>
            </a:r>
          </a:p>
        </p:txBody>
      </p:sp>
      <p:sp>
        <p:nvSpPr>
          <p:cNvPr id="4" name="Footer Placeholder 3"/>
          <p:cNvSpPr>
            <a:spLocks noGrp="1"/>
          </p:cNvSpPr>
          <p:nvPr>
            <p:ph type="ftr" sz="quarter" idx="3"/>
          </p:nvPr>
        </p:nvSpPr>
        <p:spPr>
          <a:xfrm>
            <a:off x="365126" y="6611007"/>
            <a:ext cx="8014247" cy="211991"/>
          </a:xfrm>
          <a:prstGeom prst="rect">
            <a:avLst/>
          </a:prstGeom>
        </p:spPr>
        <p:txBody>
          <a:bodyPr vert="horz" lIns="91440" tIns="45720" rIns="91440" bIns="45720" rtlCol="0" anchor="ctr"/>
          <a:lstStyle>
            <a:lvl1pPr algn="ctr">
              <a:defRPr sz="600">
                <a:solidFill>
                  <a:schemeClr val="tx1">
                    <a:tint val="75000"/>
                  </a:schemeClr>
                </a:solidFill>
              </a:defRPr>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92161740"/>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Lst>
  <p:hf hdr="0" dt="0"/>
  <p:txStyles>
    <p:titleStyle>
      <a:lvl1pPr algn="l" defTabSz="914400" rtl="0" eaLnBrk="1" latinLnBrk="0" hangingPunct="1">
        <a:lnSpc>
          <a:spcPct val="85000"/>
        </a:lnSpc>
        <a:spcBef>
          <a:spcPct val="0"/>
        </a:spcBef>
        <a:buNone/>
        <a:defRPr sz="2200" kern="1200">
          <a:solidFill>
            <a:schemeClr val="accent2"/>
          </a:solidFill>
          <a:latin typeface="+mj-lt"/>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mtClean="0"/>
              <a:t>Hands-On Microsoft Windows Server 2016</a:t>
            </a:r>
            <a:br>
              <a:rPr lang="en-US" smtClean="0"/>
            </a:br>
            <a:r>
              <a:rPr lang="en-US" smtClean="0"/>
              <a:t> 2nd Edition</a:t>
            </a:r>
            <a:endParaRPr lang="en-US" dirty="0"/>
          </a:p>
        </p:txBody>
      </p:sp>
      <p:sp>
        <p:nvSpPr>
          <p:cNvPr id="3" name="Subtitle 2"/>
          <p:cNvSpPr>
            <a:spLocks noGrp="1"/>
          </p:cNvSpPr>
          <p:nvPr>
            <p:ph type="subTitle" idx="1"/>
          </p:nvPr>
        </p:nvSpPr>
        <p:spPr/>
        <p:txBody>
          <a:bodyPr/>
          <a:lstStyle/>
          <a:p>
            <a:r>
              <a:rPr lang="en-US" smtClean="0"/>
              <a:t>Chapter 4</a:t>
            </a:r>
          </a:p>
          <a:p>
            <a:r>
              <a:rPr lang="en-US" smtClean="0"/>
              <a:t>Introduction to Active Directory and Account Management</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699752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Objectives (1 of 2)</a:t>
            </a:r>
            <a:endParaRPr lang="en-US" dirty="0"/>
          </a:p>
        </p:txBody>
      </p:sp>
      <p:sp>
        <p:nvSpPr>
          <p:cNvPr id="3" name="Text Placeholder 2"/>
          <p:cNvSpPr>
            <a:spLocks noGrp="1"/>
          </p:cNvSpPr>
          <p:nvPr>
            <p:ph type="body" idx="1"/>
          </p:nvPr>
        </p:nvSpPr>
        <p:spPr/>
        <p:txBody>
          <a:bodyPr/>
          <a:lstStyle/>
          <a:p>
            <a:r>
              <a:rPr lang="en-US" smtClean="0"/>
              <a:t>Understand Active Directory basic concepts</a:t>
            </a:r>
          </a:p>
          <a:p>
            <a:r>
              <a:rPr lang="en-US" smtClean="0"/>
              <a:t>Install and configure Active Directory</a:t>
            </a:r>
          </a:p>
          <a:p>
            <a:r>
              <a:rPr lang="en-US" smtClean="0"/>
              <a:t>Implement Active Directory containers</a:t>
            </a:r>
          </a:p>
          <a:p>
            <a:r>
              <a:rPr lang="en-US" smtClean="0"/>
              <a:t>Understand Azure Active Directory</a:t>
            </a:r>
          </a:p>
          <a:p>
            <a:r>
              <a:rPr lang="en-US" smtClean="0"/>
              <a:t>Create and manage user accounts</a:t>
            </a:r>
          </a:p>
          <a:p>
            <a:endParaRPr lang="en-US" dirty="0"/>
          </a:p>
        </p:txBody>
      </p:sp>
      <p:sp>
        <p:nvSpPr>
          <p:cNvPr id="4" name="Footer Placeholder 3"/>
          <p:cNvSpPr>
            <a:spLocks noGrp="1"/>
          </p:cNvSpPr>
          <p:nvPr>
            <p:ph type="ftr" sz="quarter" idx="10"/>
          </p:nvPr>
        </p:nvSpPr>
        <p:spPr/>
        <p:txBody>
          <a:bodyPr/>
          <a:lstStyle/>
          <a:p>
            <a:r>
              <a:rPr lang="en-US" smtClean="0"/>
              <a:t>© 2018 Cengage.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685841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Objectives (2 of 2)</a:t>
            </a:r>
            <a:endParaRPr lang="en-US" dirty="0"/>
          </a:p>
        </p:txBody>
      </p:sp>
      <p:sp>
        <p:nvSpPr>
          <p:cNvPr id="3" name="Text Placeholder 2"/>
          <p:cNvSpPr>
            <a:spLocks noGrp="1"/>
          </p:cNvSpPr>
          <p:nvPr>
            <p:ph type="body" idx="1"/>
          </p:nvPr>
        </p:nvSpPr>
        <p:spPr/>
        <p:txBody>
          <a:bodyPr/>
          <a:lstStyle/>
          <a:p>
            <a:r>
              <a:rPr lang="en-US" smtClean="0"/>
              <a:t>Configure and use security groups</a:t>
            </a:r>
          </a:p>
          <a:p>
            <a:r>
              <a:rPr lang="en-US" smtClean="0"/>
              <a:t>Understand user profiles</a:t>
            </a:r>
          </a:p>
          <a:p>
            <a:r>
              <a:rPr lang="en-US" smtClean="0"/>
              <a:t>Describe important additional features in Active Directory</a:t>
            </a:r>
            <a:endParaRPr lang="en-US" dirty="0"/>
          </a:p>
        </p:txBody>
      </p:sp>
      <p:sp>
        <p:nvSpPr>
          <p:cNvPr id="4" name="Footer Placeholder 3"/>
          <p:cNvSpPr>
            <a:spLocks noGrp="1"/>
          </p:cNvSpPr>
          <p:nvPr>
            <p:ph type="ftr" sz="quarter" idx="10"/>
          </p:nvPr>
        </p:nvSpPr>
        <p:spPr/>
        <p:txBody>
          <a:bodyPr/>
          <a:lstStyle/>
          <a:p>
            <a:r>
              <a:rPr lang="en-US" smtClean="0"/>
              <a:t>© 2018 Cengage.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618395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Active Directory Basics (1 of 4)</a:t>
            </a:r>
            <a:endParaRPr lang="en-US" dirty="0"/>
          </a:p>
        </p:txBody>
      </p:sp>
      <p:sp>
        <p:nvSpPr>
          <p:cNvPr id="2" name="Content Placeholder 1"/>
          <p:cNvSpPr>
            <a:spLocks noGrp="1"/>
          </p:cNvSpPr>
          <p:nvPr>
            <p:ph idx="1"/>
          </p:nvPr>
        </p:nvSpPr>
        <p:spPr/>
        <p:txBody>
          <a:bodyPr/>
          <a:lstStyle/>
          <a:p>
            <a:r>
              <a:rPr lang="en-US" smtClean="0"/>
              <a:t>Active Directory</a:t>
            </a:r>
          </a:p>
          <a:p>
            <a:pPr lvl="1"/>
            <a:r>
              <a:rPr lang="en-US" smtClean="0"/>
              <a:t>Directory service that houses information about all network resources such as servers, printers, user accounts, groups of user accounts, security policies, and other information</a:t>
            </a:r>
          </a:p>
          <a:p>
            <a:r>
              <a:rPr lang="en-US" smtClean="0"/>
              <a:t>Directory service</a:t>
            </a:r>
          </a:p>
          <a:p>
            <a:pPr lvl="1"/>
            <a:r>
              <a:rPr lang="en-US" smtClean="0"/>
              <a:t>Responsible for providing a central listing of resources and ways to quickly find and access specific resources and for providing a way to manage network resources</a:t>
            </a:r>
          </a:p>
          <a:p>
            <a:r>
              <a:rPr lang="en-US" smtClean="0"/>
              <a:t>Windows Server 2016 uses Active Directory to manage accounts, groups, and many more network management services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569408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Active Directory Basics (2 of 4)</a:t>
            </a:r>
            <a:endParaRPr lang="en-US" dirty="0"/>
          </a:p>
        </p:txBody>
      </p:sp>
      <p:sp>
        <p:nvSpPr>
          <p:cNvPr id="2" name="Content Placeholder 1"/>
          <p:cNvSpPr>
            <a:spLocks noGrp="1"/>
          </p:cNvSpPr>
          <p:nvPr>
            <p:ph idx="1"/>
          </p:nvPr>
        </p:nvSpPr>
        <p:spPr/>
        <p:txBody>
          <a:bodyPr/>
          <a:lstStyle/>
          <a:p>
            <a:r>
              <a:rPr lang="en-US" smtClean="0"/>
              <a:t>Domain controllers (DCs)</a:t>
            </a:r>
          </a:p>
          <a:p>
            <a:pPr lvl="1"/>
            <a:r>
              <a:rPr lang="en-US" smtClean="0"/>
              <a:t>Servers that have the AD DS server role installed</a:t>
            </a:r>
          </a:p>
          <a:p>
            <a:pPr lvl="1"/>
            <a:r>
              <a:rPr lang="en-US" smtClean="0"/>
              <a:t>Contain writable copies of information in Active Directory</a:t>
            </a:r>
          </a:p>
          <a:p>
            <a:r>
              <a:rPr lang="en-US" smtClean="0"/>
              <a:t>Member servers</a:t>
            </a:r>
          </a:p>
          <a:p>
            <a:pPr lvl="1"/>
            <a:r>
              <a:rPr lang="en-US" smtClean="0"/>
              <a:t>Servers on a network managed by Active Directory that do not have Active Directory installed</a:t>
            </a:r>
          </a:p>
          <a:p>
            <a:r>
              <a:rPr lang="en-US" smtClean="0"/>
              <a:t>Domain</a:t>
            </a:r>
          </a:p>
          <a:p>
            <a:pPr lvl="1"/>
            <a:r>
              <a:rPr lang="en-US" smtClean="0"/>
              <a:t>Container that holds information about all network resources that are grouped within it</a:t>
            </a:r>
          </a:p>
          <a:p>
            <a:pPr lvl="1"/>
            <a:r>
              <a:rPr lang="en-US" smtClean="0"/>
              <a:t>Every resource is called an object</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7169911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Active Directory Basics (3 of 4)</a:t>
            </a:r>
            <a:endParaRPr lang="en-US" dirty="0"/>
          </a:p>
        </p:txBody>
      </p:sp>
      <p:sp>
        <p:nvSpPr>
          <p:cNvPr id="2" name="Content Placeholder 1"/>
          <p:cNvSpPr>
            <a:spLocks noGrp="1"/>
          </p:cNvSpPr>
          <p:nvPr>
            <p:ph idx="1"/>
          </p:nvPr>
        </p:nvSpPr>
        <p:spPr/>
        <p:txBody>
          <a:bodyPr/>
          <a:lstStyle/>
          <a:p>
            <a:r>
              <a:rPr lang="en-US" smtClean="0"/>
              <a:t>Multimaster replication</a:t>
            </a:r>
          </a:p>
          <a:p>
            <a:pPr lvl="1"/>
            <a:r>
              <a:rPr lang="en-US" smtClean="0"/>
              <a:t>Each DC is equal to every other DC in that it contains the full range of information that composes Active Directory</a:t>
            </a:r>
          </a:p>
          <a:p>
            <a:pPr lvl="1"/>
            <a:r>
              <a:rPr lang="en-US" smtClean="0"/>
              <a:t>If information on one DC changes it is replicated to all other DCs</a:t>
            </a:r>
          </a:p>
          <a:p>
            <a:r>
              <a:rPr lang="en-US" smtClean="0"/>
              <a:t>Active Directory is built to make replication efficient</a:t>
            </a:r>
          </a:p>
          <a:p>
            <a:r>
              <a:rPr lang="en-US" smtClean="0"/>
              <a:t>Active Directory in Windows Server 2016 can:</a:t>
            </a:r>
          </a:p>
          <a:p>
            <a:pPr lvl="1"/>
            <a:r>
              <a:rPr lang="en-US" smtClean="0"/>
              <a:t>Replicate individual properties instead of entire accounts</a:t>
            </a:r>
          </a:p>
          <a:p>
            <a:pPr lvl="1"/>
            <a:r>
              <a:rPr lang="en-US" smtClean="0"/>
              <a:t>Replicate Active Directory on the basis of the speed of the network link</a:t>
            </a:r>
          </a:p>
          <a:p>
            <a:r>
              <a:rPr lang="en-US" smtClean="0"/>
              <a:t>Three general concepts important for understanding Active Directory:</a:t>
            </a:r>
          </a:p>
          <a:p>
            <a:pPr lvl="1"/>
            <a:r>
              <a:rPr lang="en-US" smtClean="0"/>
              <a:t>Schema</a:t>
            </a:r>
          </a:p>
          <a:p>
            <a:pPr lvl="1"/>
            <a:r>
              <a:rPr lang="en-US" smtClean="0"/>
              <a:t>Global catalog</a:t>
            </a:r>
          </a:p>
          <a:p>
            <a:pPr lvl="1"/>
            <a:r>
              <a:rPr lang="en-US" smtClean="0"/>
              <a:t>Namespace</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918207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Active Directory Basics (4 of 4)</a:t>
            </a:r>
            <a:endParaRPr lang="en-US" dirty="0"/>
          </a:p>
        </p:txBody>
      </p:sp>
      <p:pic>
        <p:nvPicPr>
          <p:cNvPr id="6" name="Content Placeholder 5" descr="Figure 4-1, Page No. 147, Complexity level: &#10;Figure shows the servers, workstations, printers, users, user groups, and other resources that are aligned randomly and a downward arrow points to the cylindrical container labeled “Active Directory.”  &#10;" title="Figure 4-1"/>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828800" y="1524000"/>
            <a:ext cx="5390994" cy="44815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273754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Schema (1 of 2)</a:t>
            </a:r>
            <a:endParaRPr lang="en-US" dirty="0"/>
          </a:p>
        </p:txBody>
      </p:sp>
      <p:sp>
        <p:nvSpPr>
          <p:cNvPr id="2" name="Content Placeholder 1"/>
          <p:cNvSpPr>
            <a:spLocks noGrp="1"/>
          </p:cNvSpPr>
          <p:nvPr>
            <p:ph idx="1"/>
          </p:nvPr>
        </p:nvSpPr>
        <p:spPr/>
        <p:txBody>
          <a:bodyPr/>
          <a:lstStyle/>
          <a:p>
            <a:r>
              <a:rPr lang="en-US" smtClean="0"/>
              <a:t>Active Directory schema</a:t>
            </a:r>
          </a:p>
          <a:p>
            <a:pPr lvl="1"/>
            <a:r>
              <a:rPr lang="en-US" smtClean="0"/>
              <a:t>Defines the objects and the information pertaining to those objects that can be stored in Active Directory</a:t>
            </a:r>
          </a:p>
          <a:p>
            <a:pPr lvl="1"/>
            <a:r>
              <a:rPr lang="en-US" smtClean="0"/>
              <a:t>Like a small database of information associated with that object</a:t>
            </a:r>
          </a:p>
          <a:p>
            <a:r>
              <a:rPr lang="en-US" smtClean="0"/>
              <a:t>Schema information for objects in a domain is replicated on every DC</a:t>
            </a:r>
          </a:p>
          <a:p>
            <a:r>
              <a:rPr lang="en-US" smtClean="0"/>
              <a:t>User account</a:t>
            </a:r>
          </a:p>
          <a:p>
            <a:pPr lvl="1"/>
            <a:r>
              <a:rPr lang="en-US" smtClean="0"/>
              <a:t>One class of object in Active Directory that is defined through schema elements unique to that class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6348302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Schema (2 of 2)</a:t>
            </a:r>
            <a:endParaRPr lang="en-US" dirty="0"/>
          </a:p>
        </p:txBody>
      </p:sp>
      <p:pic>
        <p:nvPicPr>
          <p:cNvPr id="6" name="Content Placeholder 5" descr="Figure 4-8, Page No. 152, Complexity level: 3&#10;Figure shows “Sample schema information for user accounts.” Four horizontal cylindrical containers are labeled “User account, Computer, Printer, and Domain.” An arrow pointing toward User account is labeled “Object classes.” Another arrow pointing downward between the Computer and Printer is labeled “Active Directory.” The User account is characterized into six types and they are Object name, GUID, Required attributes, Optional attributes, Syntax, and Parent relationships that are enclosed in a box. An arrow from the required attributes points to the enclosed box which consists of Logon name, User’s full name, Password, and Domain. Another arrow from the Optional attributes points to another enclosed box which consists of Account description, Office number, Telephone number, Email address, and Webpage. The three boxes are collectively labeled “Schema.”&#10;" title="Figure 4-8"/>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209800" y="1524000"/>
            <a:ext cx="4560594" cy="44815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7517320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Global Catalog (1 of 2)</a:t>
            </a:r>
            <a:endParaRPr lang="en-US" dirty="0"/>
          </a:p>
        </p:txBody>
      </p:sp>
      <p:sp>
        <p:nvSpPr>
          <p:cNvPr id="2" name="Content Placeholder 1"/>
          <p:cNvSpPr>
            <a:spLocks noGrp="1"/>
          </p:cNvSpPr>
          <p:nvPr>
            <p:ph idx="1"/>
          </p:nvPr>
        </p:nvSpPr>
        <p:spPr/>
        <p:txBody>
          <a:bodyPr/>
          <a:lstStyle/>
          <a:p>
            <a:r>
              <a:rPr lang="en-US" smtClean="0"/>
              <a:t>Global catalog</a:t>
            </a:r>
          </a:p>
          <a:p>
            <a:pPr lvl="1"/>
            <a:r>
              <a:rPr lang="en-US" smtClean="0"/>
              <a:t>Stores information about every object within a forest</a:t>
            </a:r>
          </a:p>
          <a:p>
            <a:r>
              <a:rPr lang="en-US" smtClean="0"/>
              <a:t>The first DC configured in a forest becomes the global catalog server</a:t>
            </a:r>
          </a:p>
          <a:p>
            <a:r>
              <a:rPr lang="en-US" smtClean="0"/>
              <a:t>Global catalog server</a:t>
            </a:r>
          </a:p>
          <a:p>
            <a:pPr lvl="1"/>
            <a:r>
              <a:rPr lang="en-US" smtClean="0"/>
              <a:t>Store a full replica of every object within its own domain and a partial replica of each object within every domain in the forest</a:t>
            </a:r>
          </a:p>
          <a:p>
            <a:r>
              <a:rPr lang="en-US" smtClean="0"/>
              <a:t>The global catalog server enables forest-wide searches of data</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1035183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Global Catalog (2 of 2)</a:t>
            </a:r>
            <a:endParaRPr lang="en-US" dirty="0"/>
          </a:p>
        </p:txBody>
      </p:sp>
      <p:sp>
        <p:nvSpPr>
          <p:cNvPr id="2" name="Content Placeholder 1"/>
          <p:cNvSpPr>
            <a:spLocks noGrp="1"/>
          </p:cNvSpPr>
          <p:nvPr>
            <p:ph idx="1"/>
          </p:nvPr>
        </p:nvSpPr>
        <p:spPr/>
        <p:txBody>
          <a:bodyPr/>
          <a:lstStyle/>
          <a:p>
            <a:r>
              <a:rPr lang="en-US" smtClean="0"/>
              <a:t>The global catalog serves the following purposes:</a:t>
            </a:r>
          </a:p>
          <a:p>
            <a:pPr lvl="1"/>
            <a:r>
              <a:rPr lang="en-US" smtClean="0"/>
              <a:t>Serving as the central storehouse of key object information in a forest that has multiple domains</a:t>
            </a:r>
          </a:p>
          <a:p>
            <a:pPr lvl="1"/>
            <a:r>
              <a:rPr lang="en-US" smtClean="0"/>
              <a:t>Providing lookup and access to all resources in all domains</a:t>
            </a:r>
          </a:p>
          <a:p>
            <a:pPr lvl="1"/>
            <a:r>
              <a:rPr lang="en-US" smtClean="0"/>
              <a:t>Providing replication of key Active Directory elements</a:t>
            </a:r>
          </a:p>
          <a:p>
            <a:pPr lvl="1"/>
            <a:r>
              <a:rPr lang="en-US" smtClean="0"/>
              <a:t>Keeping a copy of the most used attributes for each object for quick access</a:t>
            </a:r>
          </a:p>
          <a:p>
            <a:r>
              <a:rPr lang="en-US" smtClean="0"/>
              <a:t>By default, the first DC in the forest is automatically designated as the global catalog server</a:t>
            </a:r>
          </a:p>
          <a:p>
            <a:pPr lvl="1"/>
            <a:r>
              <a:rPr lang="en-US" smtClean="0"/>
              <a:t>You have the option of configuring another DC to be a global catalog server as well as designating multiple DCs as global catalog servers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0408483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Namespace</a:t>
            </a:r>
            <a:endParaRPr lang="en-US" dirty="0"/>
          </a:p>
        </p:txBody>
      </p:sp>
      <p:sp>
        <p:nvSpPr>
          <p:cNvPr id="2" name="Content Placeholder 1"/>
          <p:cNvSpPr>
            <a:spLocks noGrp="1"/>
          </p:cNvSpPr>
          <p:nvPr>
            <p:ph idx="1"/>
          </p:nvPr>
        </p:nvSpPr>
        <p:spPr/>
        <p:txBody>
          <a:bodyPr/>
          <a:lstStyle/>
          <a:p>
            <a:r>
              <a:rPr lang="en-US" smtClean="0"/>
              <a:t>Active Directory uses Domain Name System (DNS)</a:t>
            </a:r>
          </a:p>
          <a:p>
            <a:pPr lvl="1"/>
            <a:r>
              <a:rPr lang="en-US" smtClean="0"/>
              <a:t>There must be a DNS server on the network that Active Directory can access</a:t>
            </a:r>
          </a:p>
          <a:p>
            <a:r>
              <a:rPr lang="en-US" smtClean="0"/>
              <a:t>DNS</a:t>
            </a:r>
          </a:p>
          <a:p>
            <a:pPr lvl="1"/>
            <a:r>
              <a:rPr lang="en-US" smtClean="0"/>
              <a:t>A TCP/IP-based name service that converts computer and domain host names to dotted decimal addresses and vice versa, through a process called name resolution</a:t>
            </a:r>
          </a:p>
          <a:p>
            <a:r>
              <a:rPr lang="en-US" smtClean="0"/>
              <a:t>Namespace </a:t>
            </a:r>
          </a:p>
          <a:p>
            <a:pPr lvl="1"/>
            <a:r>
              <a:rPr lang="en-US" smtClean="0"/>
              <a:t>A logical area on a network that contains directory services and named objects</a:t>
            </a:r>
          </a:p>
          <a:p>
            <a:pPr lvl="1"/>
            <a:r>
              <a:rPr lang="en-US" smtClean="0"/>
              <a:t>Has the ability to perform name resolution</a:t>
            </a:r>
          </a:p>
          <a:p>
            <a:r>
              <a:rPr lang="en-US" smtClean="0"/>
              <a:t>Active Directory employs two kinds of namespaces: </a:t>
            </a:r>
          </a:p>
          <a:p>
            <a:pPr lvl="1"/>
            <a:r>
              <a:rPr lang="en-US" smtClean="0"/>
              <a:t>Contiguous – one in which every child object contains the name of the parent object</a:t>
            </a:r>
          </a:p>
          <a:p>
            <a:pPr lvl="1"/>
            <a:r>
              <a:rPr lang="en-US" smtClean="0"/>
              <a:t>Disjointed – when the child name does not resemble the name of its parent object</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045684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Containers in Active Directory</a:t>
            </a:r>
            <a:endParaRPr lang="en-US" dirty="0"/>
          </a:p>
        </p:txBody>
      </p:sp>
      <p:sp>
        <p:nvSpPr>
          <p:cNvPr id="2" name="Content Placeholder 1"/>
          <p:cNvSpPr>
            <a:spLocks noGrp="1"/>
          </p:cNvSpPr>
          <p:nvPr>
            <p:ph idx="1"/>
          </p:nvPr>
        </p:nvSpPr>
        <p:spPr/>
        <p:txBody>
          <a:bodyPr/>
          <a:lstStyle/>
          <a:p>
            <a:r>
              <a:rPr lang="en-US" smtClean="0"/>
              <a:t>Active Directory has a treelike structure</a:t>
            </a:r>
          </a:p>
          <a:p>
            <a:r>
              <a:rPr lang="en-US" smtClean="0"/>
              <a:t>The hierarchical elements, or containers, of Active Directory include forests, trees, domains, organizational units (OUs), and sites</a:t>
            </a:r>
          </a:p>
          <a:p>
            <a:endParaRPr lang="en-US" dirty="0"/>
          </a:p>
        </p:txBody>
      </p:sp>
      <p:pic>
        <p:nvPicPr>
          <p:cNvPr id="5" name="Picture 4" descr="Figure 4-9, Page No. 155, Complexity level: 3&#10;Figure shows “Active Directory hierarchical containers.” The cylindrical container labeled “Forest” is divided into two cylindrical containers labeled “Tree.” The first Tree splits into two cylindrical structures labeled “Domain.” The first Domain is further divided into four OU represented in small containers. The second Domain is further divided into two OU represented in small containers. The first Tree division is enclosed in an oval structure labeled “Site A.” The second Tree splits into two cylindrical containers labelled “Domain.” The first Domain is further divided into two OU and one OU is not connected to the domain. This domain division is enclosed in an oval structure labeled “Site B.” The second Domain is further divided into three OU where one OU is present in Site B and this domain overlaps the Site B that is enclosed in an oval structure labeled “Site C.”&#10;" title="Figure 4-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800" y="2819400"/>
            <a:ext cx="3749040" cy="3243072"/>
          </a:xfrm>
          <a:prstGeom prst="rect">
            <a:avLst/>
          </a:prstGeo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068655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Forest (1 of 5) </a:t>
            </a:r>
            <a:endParaRPr lang="en-US" dirty="0"/>
          </a:p>
        </p:txBody>
      </p:sp>
      <p:sp>
        <p:nvSpPr>
          <p:cNvPr id="2" name="Content Placeholder 1"/>
          <p:cNvSpPr>
            <a:spLocks noGrp="1"/>
          </p:cNvSpPr>
          <p:nvPr>
            <p:ph idx="1"/>
          </p:nvPr>
        </p:nvSpPr>
        <p:spPr/>
        <p:txBody>
          <a:bodyPr/>
          <a:lstStyle/>
          <a:p>
            <a:r>
              <a:rPr lang="en-US" smtClean="0"/>
              <a:t>Forest</a:t>
            </a:r>
          </a:p>
          <a:p>
            <a:pPr lvl="1"/>
            <a:r>
              <a:rPr lang="en-US" smtClean="0"/>
              <a:t>Consists of one or more Active Directory trees that are in a common relationship</a:t>
            </a:r>
          </a:p>
          <a:p>
            <a:r>
              <a:rPr lang="en-US" smtClean="0"/>
              <a:t>Forests have the following characteristics:</a:t>
            </a:r>
          </a:p>
          <a:p>
            <a:pPr lvl="1"/>
            <a:r>
              <a:rPr lang="en-US" smtClean="0"/>
              <a:t>The trees can use a disjointed namespace</a:t>
            </a:r>
          </a:p>
          <a:p>
            <a:pPr lvl="1"/>
            <a:r>
              <a:rPr lang="en-US" smtClean="0"/>
              <a:t>All trees use the same schema</a:t>
            </a:r>
          </a:p>
          <a:p>
            <a:pPr lvl="1"/>
            <a:r>
              <a:rPr lang="en-US" smtClean="0"/>
              <a:t>All trees use the same global catalog</a:t>
            </a:r>
          </a:p>
          <a:p>
            <a:pPr lvl="1"/>
            <a:r>
              <a:rPr lang="en-US" smtClean="0"/>
              <a:t>Domains enable administration of commonly associated objects, such as accounts and other resources, within a forest</a:t>
            </a:r>
          </a:p>
          <a:p>
            <a:pPr lvl="1"/>
            <a:r>
              <a:rPr lang="en-US" smtClean="0"/>
              <a:t>Two-way transitive trusts are automatically configured between domains within a single forest</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748742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Forest (2 of 5) </a:t>
            </a:r>
            <a:endParaRPr lang="en-US" dirty="0"/>
          </a:p>
        </p:txBody>
      </p:sp>
      <p:pic>
        <p:nvPicPr>
          <p:cNvPr id="6" name="Content Placeholder 5" descr="Figure 4-10, Page No. 155, Complexity level: 4&#10;A flowchart shows “Forest partsplus.com.” The partsplus.com is parentally divided into three parts as toronto.partplus.com, montreal.partplus.com, and detroit.partplus.com connected by double headed arrow. The partsplus.com is significantly divided into two parts as 2m.com and chelos.com. The 2m.com is further divided into Greenville.com, florence.2m.com, and atlanta.2m.com connected by double head arrow. The chelos.com further divided into mexicocity.chelos.com, Corsica.chelos.com, monterrey.chelos.com, puebla.chelos.com, and Valencia.chelos.com. The 2m.com and chelos.com is collectively labeled “Forest partplus.com”&#10;" title="Figure 4-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371600" y="1676400"/>
            <a:ext cx="6379073" cy="3946178"/>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4725363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Forest (3 of 5) </a:t>
            </a:r>
            <a:endParaRPr lang="en-US" dirty="0"/>
          </a:p>
        </p:txBody>
      </p:sp>
      <p:sp>
        <p:nvSpPr>
          <p:cNvPr id="5" name="Content Placeholder 4"/>
          <p:cNvSpPr>
            <a:spLocks noGrp="1"/>
          </p:cNvSpPr>
          <p:nvPr>
            <p:ph idx="1"/>
          </p:nvPr>
        </p:nvSpPr>
        <p:spPr/>
        <p:txBody>
          <a:bodyPr/>
          <a:lstStyle/>
          <a:p>
            <a:r>
              <a:rPr lang="en-US" smtClean="0"/>
              <a:t>A forest provides a means to relate trees that use a contiguous namespace in domains within each tree </a:t>
            </a:r>
          </a:p>
          <a:p>
            <a:pPr lvl="1"/>
            <a:r>
              <a:rPr lang="en-US" smtClean="0"/>
              <a:t>But that have disjointed namespaces in relationship to each other</a:t>
            </a:r>
          </a:p>
          <a:p>
            <a:r>
              <a:rPr lang="en-US" smtClean="0"/>
              <a:t>The advantage of joining trees into a forest is that all domains share the same schema and global catalog</a:t>
            </a:r>
          </a:p>
          <a:p>
            <a:r>
              <a:rPr lang="en-US" smtClean="0"/>
              <a:t>Forest functional level</a:t>
            </a:r>
          </a:p>
          <a:p>
            <a:pPr lvl="1"/>
            <a:r>
              <a:rPr lang="en-US" smtClean="0"/>
              <a:t>Refers to the Active Directory functions supported forest-wide</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4606795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Forest (4 of 5) </a:t>
            </a:r>
            <a:endParaRPr lang="en-US" dirty="0"/>
          </a:p>
        </p:txBody>
      </p:sp>
      <p:sp>
        <p:nvSpPr>
          <p:cNvPr id="2" name="Content Placeholder 1"/>
          <p:cNvSpPr>
            <a:spLocks noGrp="1"/>
          </p:cNvSpPr>
          <p:nvPr>
            <p:ph idx="1"/>
          </p:nvPr>
        </p:nvSpPr>
        <p:spPr/>
        <p:txBody>
          <a:bodyPr/>
          <a:lstStyle/>
          <a:p>
            <a:r>
              <a:rPr lang="en-US" smtClean="0"/>
              <a:t>Windows Server 2016 Active Directory recognizes several types of forest functional levels:</a:t>
            </a:r>
          </a:p>
          <a:p>
            <a:pPr lvl="1"/>
            <a:r>
              <a:rPr lang="en-US" smtClean="0"/>
              <a:t>Windows 2000 Native Forest Functional Level</a:t>
            </a:r>
          </a:p>
          <a:p>
            <a:pPr lvl="1"/>
            <a:r>
              <a:rPr lang="en-US" smtClean="0"/>
              <a:t>Windows Server 2003 Forest Functional Level</a:t>
            </a:r>
          </a:p>
          <a:p>
            <a:pPr lvl="1"/>
            <a:r>
              <a:rPr lang="en-US" smtClean="0"/>
              <a:t>Windows Server 2008 Forest Functional Level</a:t>
            </a:r>
          </a:p>
          <a:p>
            <a:pPr lvl="1"/>
            <a:r>
              <a:rPr lang="en-US" smtClean="0"/>
              <a:t>Windows Server 2008 R2 Forest Functional Level</a:t>
            </a:r>
          </a:p>
          <a:p>
            <a:pPr lvl="1"/>
            <a:r>
              <a:rPr lang="en-US" smtClean="0"/>
              <a:t>Windows Server 2012 Forest Functional Level</a:t>
            </a:r>
          </a:p>
          <a:p>
            <a:pPr lvl="1"/>
            <a:r>
              <a:rPr lang="en-US" smtClean="0"/>
              <a:t>Windows Server R2 Forest Functional Level</a:t>
            </a:r>
          </a:p>
          <a:p>
            <a:pPr lvl="1"/>
            <a:r>
              <a:rPr lang="en-US" smtClean="0"/>
              <a:t>Windows Server 2016 Forest Functional Level</a:t>
            </a:r>
          </a:p>
          <a:p>
            <a:r>
              <a:rPr lang="en-US" smtClean="0"/>
              <a:t>When servers are upgraded, it might make sense to raise the forest functional level to match the server OSs in use</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1162453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Forest (5 of 5) </a:t>
            </a:r>
            <a:endParaRPr lang="en-US" dirty="0"/>
          </a:p>
        </p:txBody>
      </p:sp>
      <p:pic>
        <p:nvPicPr>
          <p:cNvPr id="6" name="Content Placeholder 5" descr=" Figure 4-11, Page No. 157, Complexity level: 2&#10;Screenshot shows the “Active Directory Domains and Trusts.” On the left pane, the cursor points to the Raise Forest Functional Level option within the Active Directory Domains and Trusts tools. On the right pane, the Active Directory Domains and Trusts option is selected under the Actions menu.&#10;" title="Figure 4-11"/>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143000" y="1905000"/>
            <a:ext cx="6866946" cy="38719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9571793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Tree (1 of 2)</a:t>
            </a:r>
            <a:endParaRPr lang="en-US" dirty="0"/>
          </a:p>
        </p:txBody>
      </p:sp>
      <p:sp>
        <p:nvSpPr>
          <p:cNvPr id="2" name="Content Placeholder 1"/>
          <p:cNvSpPr>
            <a:spLocks noGrp="1"/>
          </p:cNvSpPr>
          <p:nvPr>
            <p:ph idx="1"/>
          </p:nvPr>
        </p:nvSpPr>
        <p:spPr/>
        <p:txBody>
          <a:bodyPr/>
          <a:lstStyle/>
          <a:p>
            <a:r>
              <a:rPr lang="en-US" smtClean="0"/>
              <a:t>Tree</a:t>
            </a:r>
          </a:p>
          <a:p>
            <a:pPr lvl="1"/>
            <a:r>
              <a:rPr lang="en-US" smtClean="0"/>
              <a:t>Contains one or more domains that are in a common relationship</a:t>
            </a:r>
          </a:p>
          <a:p>
            <a:r>
              <a:rPr lang="en-US" smtClean="0"/>
              <a:t>Tree has the following characteristics:</a:t>
            </a:r>
          </a:p>
          <a:p>
            <a:pPr lvl="1"/>
            <a:r>
              <a:rPr lang="en-US" smtClean="0"/>
              <a:t>Domains are represented in a contiguous namespace and can be in a hierarchy</a:t>
            </a:r>
          </a:p>
          <a:p>
            <a:pPr lvl="1"/>
            <a:r>
              <a:rPr lang="en-US" smtClean="0"/>
              <a:t>Two-way trust relationships exist between parent domains and child domains</a:t>
            </a:r>
          </a:p>
          <a:p>
            <a:pPr lvl="1"/>
            <a:r>
              <a:rPr lang="en-US" smtClean="0"/>
              <a:t>All domains in a single tree use the same schema for all types of common objects</a:t>
            </a:r>
          </a:p>
          <a:p>
            <a:pPr lvl="1"/>
            <a:r>
              <a:rPr lang="en-US" smtClean="0"/>
              <a:t>All domains use the same global catalog</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1946101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Tree (2 of 2)</a:t>
            </a:r>
            <a:endParaRPr lang="en-US" dirty="0"/>
          </a:p>
        </p:txBody>
      </p:sp>
      <p:sp>
        <p:nvSpPr>
          <p:cNvPr id="2" name="Content Placeholder 1"/>
          <p:cNvSpPr>
            <a:spLocks noGrp="1"/>
          </p:cNvSpPr>
          <p:nvPr>
            <p:ph idx="1"/>
          </p:nvPr>
        </p:nvSpPr>
        <p:spPr/>
        <p:txBody>
          <a:bodyPr/>
          <a:lstStyle/>
          <a:p>
            <a:r>
              <a:rPr lang="en-US" dirty="0" smtClean="0"/>
              <a:t>The domains in a tree typically have a hierarchical structure</a:t>
            </a:r>
          </a:p>
          <a:p>
            <a:pPr lvl="1"/>
            <a:r>
              <a:rPr lang="en-US" dirty="0" smtClean="0"/>
              <a:t>Such as a root domain at the top and other domains under the root</a:t>
            </a:r>
          </a:p>
          <a:p>
            <a:r>
              <a:rPr lang="en-US" dirty="0" smtClean="0"/>
              <a:t>The domains within a tree are in what is called a Kerberos transitive trust relationship</a:t>
            </a:r>
          </a:p>
          <a:p>
            <a:pPr lvl="1"/>
            <a:r>
              <a:rPr lang="en-US" dirty="0" smtClean="0"/>
              <a:t>Which consists of two-way trusts between parent domains and child domains</a:t>
            </a:r>
          </a:p>
          <a:p>
            <a:r>
              <a:rPr lang="en-US" dirty="0" smtClean="0"/>
              <a:t>Because of the trust relationship between parent and child domains, any one domain can have access to the resources of all others</a:t>
            </a:r>
          </a:p>
          <a:p>
            <a:endParaRPr lang="en-US" dirty="0"/>
          </a:p>
        </p:txBody>
      </p:sp>
      <p:pic>
        <p:nvPicPr>
          <p:cNvPr id="5" name="Picture 4" descr="Figure 4-12, Page No. 158, Complexity level: 2&#10;A flowchart shows “Tree with hierarchical domains.” The tracksport.org is divided into four types as east.tracksport.org, west.tracksport.org, north.tracksport.org and south.tracksport.org connected by double headed arrow. The double headed arrow is labeled “Tow-way trusts.” The hierarchical structure is collectively labeled “Tree.”&#10;" title="Figure 4-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0" y="4191000"/>
            <a:ext cx="5047938" cy="1824177"/>
          </a:xfrm>
          <a:prstGeom prst="rect">
            <a:avLst/>
          </a:prstGeo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9690858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Domain (1 of 3)</a:t>
            </a:r>
            <a:endParaRPr lang="en-US" dirty="0"/>
          </a:p>
        </p:txBody>
      </p:sp>
      <p:sp>
        <p:nvSpPr>
          <p:cNvPr id="2" name="Content Placeholder 1"/>
          <p:cNvSpPr>
            <a:spLocks noGrp="1"/>
          </p:cNvSpPr>
          <p:nvPr>
            <p:ph idx="1"/>
          </p:nvPr>
        </p:nvSpPr>
        <p:spPr/>
        <p:txBody>
          <a:bodyPr/>
          <a:lstStyle/>
          <a:p>
            <a:r>
              <a:rPr lang="en-US" smtClean="0"/>
              <a:t>Microsoft views a domain as a logical partition within an Active Directory forest</a:t>
            </a:r>
          </a:p>
          <a:p>
            <a:pPr lvl="1"/>
            <a:r>
              <a:rPr lang="en-US" smtClean="0"/>
              <a:t>A domain is a grouping of objects that typically exists as a primary container within Active Directory</a:t>
            </a:r>
          </a:p>
          <a:p>
            <a:r>
              <a:rPr lang="en-US" smtClean="0"/>
              <a:t>The basic functions of a domain are as follows:</a:t>
            </a:r>
          </a:p>
          <a:p>
            <a:pPr lvl="1"/>
            <a:r>
              <a:rPr lang="en-US" smtClean="0"/>
              <a:t>To provide an Active Directory ‘‘partition’’ in which to house objects that have a common relationship, particularly in terms of management and security</a:t>
            </a:r>
          </a:p>
          <a:p>
            <a:pPr lvl="1"/>
            <a:r>
              <a:rPr lang="en-US" smtClean="0"/>
              <a:t>To establish a set of information to be replicated from one DC to another</a:t>
            </a:r>
          </a:p>
          <a:p>
            <a:pPr lvl="1"/>
            <a:r>
              <a:rPr lang="en-US" smtClean="0"/>
              <a:t>To expedite management of a set of objects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3088020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Domain (2 of 3)</a:t>
            </a:r>
            <a:endParaRPr lang="en-US" dirty="0"/>
          </a:p>
        </p:txBody>
      </p:sp>
      <p:pic>
        <p:nvPicPr>
          <p:cNvPr id="6" name="Content Placeholder 5" descr="Figure 4-13, Page No. 159, Complexity level: 4&#10;Figure shows “Using multiple domains.” At the top the first row shows: A server, two computers, a server, three computers, a server and four computers are aligned. In the second row: Two computers, a server, two computers, a server, three computers, a server, two computers are aligned. In the third row: Eight printers are arranged. In the fourth row: Eight AD containers with DC replications. The structure is labeled “Domain for South Carolina site.” At the Bottom the first row shows two computers, a server, three computers, a server, two computers, a server and two computers are aligned. In the second row: Four computers, a server, two computers, a server, three computers, and a server are aligned. In the third row: Eight printers are arranged. In the fourth row: Eight AD containers with DC replications. The structure is labeled “Domain for site in Japan.” At the middle of these two illustrations, a Satellite with two Satellite dish is connected on either sides.&#10;" title="Figure 4-1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590800" y="1447800"/>
            <a:ext cx="4021509" cy="45577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9416691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Domain (3 of 3)</a:t>
            </a:r>
            <a:endParaRPr lang="en-US" dirty="0"/>
          </a:p>
        </p:txBody>
      </p:sp>
      <p:sp>
        <p:nvSpPr>
          <p:cNvPr id="2" name="Content Placeholder 1"/>
          <p:cNvSpPr>
            <a:spLocks noGrp="1"/>
          </p:cNvSpPr>
          <p:nvPr>
            <p:ph idx="1"/>
          </p:nvPr>
        </p:nvSpPr>
        <p:spPr/>
        <p:txBody>
          <a:bodyPr/>
          <a:lstStyle/>
          <a:p>
            <a:r>
              <a:rPr lang="en-US" smtClean="0"/>
              <a:t>Domain functional levels</a:t>
            </a:r>
          </a:p>
          <a:p>
            <a:pPr lvl="1"/>
            <a:r>
              <a:rPr lang="en-US" smtClean="0"/>
              <a:t>Refers to the Windows Server operating systems on domain controllers and the domain-specific functions they support</a:t>
            </a:r>
          </a:p>
          <a:p>
            <a:r>
              <a:rPr lang="en-US" smtClean="0"/>
              <a:t>The  domain functional levels are as follows:</a:t>
            </a:r>
          </a:p>
          <a:p>
            <a:pPr lvl="1"/>
            <a:r>
              <a:rPr lang="en-US" smtClean="0"/>
              <a:t>Windows 2000 Domain Functional Level</a:t>
            </a:r>
          </a:p>
          <a:p>
            <a:pPr lvl="1"/>
            <a:r>
              <a:rPr lang="en-US" smtClean="0"/>
              <a:t>Windows Server 2003 Domain Functional Level</a:t>
            </a:r>
          </a:p>
          <a:p>
            <a:pPr lvl="1"/>
            <a:r>
              <a:rPr lang="en-US" smtClean="0"/>
              <a:t>Windows Server 2008 Domain Functional Level</a:t>
            </a:r>
          </a:p>
          <a:p>
            <a:pPr lvl="1"/>
            <a:r>
              <a:rPr lang="en-US" smtClean="0"/>
              <a:t>Windows Server 2008 R2 Domain Functional Level</a:t>
            </a:r>
          </a:p>
          <a:p>
            <a:pPr lvl="1"/>
            <a:r>
              <a:rPr lang="en-US" smtClean="0"/>
              <a:t>Windows Server 2012 Domain Functional Level</a:t>
            </a:r>
          </a:p>
          <a:p>
            <a:pPr lvl="1"/>
            <a:r>
              <a:rPr lang="en-US" smtClean="0"/>
              <a:t>Windows Server 2012 R2 Domain Functional Level</a:t>
            </a:r>
          </a:p>
          <a:p>
            <a:pPr lvl="1"/>
            <a:r>
              <a:rPr lang="en-US" smtClean="0"/>
              <a:t>Windows Server 2016 Domain Functional Level</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5500525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Organizational Unit (1 of 2)</a:t>
            </a:r>
            <a:endParaRPr lang="en-US" dirty="0"/>
          </a:p>
        </p:txBody>
      </p:sp>
      <p:sp>
        <p:nvSpPr>
          <p:cNvPr id="2" name="Content Placeholder 1"/>
          <p:cNvSpPr>
            <a:spLocks noGrp="1"/>
          </p:cNvSpPr>
          <p:nvPr>
            <p:ph idx="1"/>
          </p:nvPr>
        </p:nvSpPr>
        <p:spPr/>
        <p:txBody>
          <a:bodyPr/>
          <a:lstStyle/>
          <a:p>
            <a:r>
              <a:rPr lang="en-US" smtClean="0"/>
              <a:t>Organizational unit (OU)</a:t>
            </a:r>
          </a:p>
          <a:p>
            <a:pPr lvl="1"/>
            <a:r>
              <a:rPr lang="en-US" smtClean="0"/>
              <a:t>Offers a way to achieve more flexibility in managing the resources associated with a business unit, department, or division</a:t>
            </a:r>
          </a:p>
          <a:p>
            <a:pPr lvl="2"/>
            <a:r>
              <a:rPr lang="en-US" smtClean="0"/>
              <a:t>Than is possible through domain administration alone</a:t>
            </a:r>
          </a:p>
          <a:p>
            <a:r>
              <a:rPr lang="en-US" smtClean="0"/>
              <a:t>An OU is a grouping of related objects within a domain</a:t>
            </a:r>
          </a:p>
          <a:p>
            <a:pPr lvl="1"/>
            <a:r>
              <a:rPr lang="en-US" smtClean="0"/>
              <a:t>OUs allow the grouping of objects so that they can be administered using the same group policies</a:t>
            </a:r>
          </a:p>
          <a:p>
            <a:r>
              <a:rPr lang="en-US" smtClean="0"/>
              <a:t>OUs can be nested within OUs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6721224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Organizational Unit (2 of 2)</a:t>
            </a:r>
            <a:endParaRPr lang="en-US" dirty="0"/>
          </a:p>
        </p:txBody>
      </p:sp>
      <p:sp>
        <p:nvSpPr>
          <p:cNvPr id="5" name="Content Placeholder 4"/>
          <p:cNvSpPr>
            <a:spLocks noGrp="1"/>
          </p:cNvSpPr>
          <p:nvPr>
            <p:ph idx="1"/>
          </p:nvPr>
        </p:nvSpPr>
        <p:spPr/>
        <p:txBody>
          <a:bodyPr/>
          <a:lstStyle/>
          <a:p>
            <a:r>
              <a:rPr lang="en-US" smtClean="0"/>
              <a:t>When you plan to create OUs, keep three concerns in mind:</a:t>
            </a:r>
          </a:p>
          <a:p>
            <a:pPr lvl="1"/>
            <a:r>
              <a:rPr lang="en-US" smtClean="0"/>
              <a:t>Microsoft recommends that you limit OUs to 10 levels or fewer</a:t>
            </a:r>
          </a:p>
          <a:p>
            <a:pPr lvl="1"/>
            <a:r>
              <a:rPr lang="en-US" smtClean="0"/>
              <a:t>Active Directory works more efficiently when OUs are set up horizontally instead of vertically</a:t>
            </a:r>
          </a:p>
          <a:p>
            <a:pPr lvl="1"/>
            <a:r>
              <a:rPr lang="en-US" smtClean="0"/>
              <a:t>The creation of OUs involves more processing resources because each request through an OU requires CPU time</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8767541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Site (1 of 3)</a:t>
            </a:r>
            <a:endParaRPr lang="en-US" dirty="0"/>
          </a:p>
        </p:txBody>
      </p:sp>
      <p:sp>
        <p:nvSpPr>
          <p:cNvPr id="2" name="Content Placeholder 1"/>
          <p:cNvSpPr>
            <a:spLocks noGrp="1"/>
          </p:cNvSpPr>
          <p:nvPr>
            <p:ph idx="1"/>
          </p:nvPr>
        </p:nvSpPr>
        <p:spPr/>
        <p:txBody>
          <a:bodyPr/>
          <a:lstStyle/>
          <a:p>
            <a:r>
              <a:rPr lang="en-US" smtClean="0"/>
              <a:t>Site</a:t>
            </a:r>
          </a:p>
          <a:p>
            <a:pPr lvl="1"/>
            <a:r>
              <a:rPr lang="en-US" smtClean="0"/>
              <a:t>A TCP/IP-based concept (container) within Active Directory that is linked to IP subnets</a:t>
            </a:r>
          </a:p>
          <a:p>
            <a:r>
              <a:rPr lang="en-US" smtClean="0"/>
              <a:t>A site has the following functions:</a:t>
            </a:r>
          </a:p>
          <a:p>
            <a:pPr lvl="1"/>
            <a:r>
              <a:rPr lang="en-US" smtClean="0"/>
              <a:t>Reflects one or more interconnected subnets</a:t>
            </a:r>
          </a:p>
          <a:p>
            <a:pPr lvl="1"/>
            <a:r>
              <a:rPr lang="en-US" smtClean="0"/>
              <a:t>Reflects the physical aspect of the network</a:t>
            </a:r>
          </a:p>
          <a:p>
            <a:pPr lvl="1"/>
            <a:r>
              <a:rPr lang="en-US" smtClean="0"/>
              <a:t>Is used for DC replication</a:t>
            </a:r>
          </a:p>
          <a:p>
            <a:pPr lvl="1"/>
            <a:r>
              <a:rPr lang="en-US" smtClean="0"/>
              <a:t>Is used to enable a client to access the DC that is physically closest</a:t>
            </a:r>
          </a:p>
          <a:p>
            <a:pPr lvl="1"/>
            <a:r>
              <a:rPr lang="en-US" smtClean="0"/>
              <a:t>Is composed of only two types of objects, servers and configuration objects</a:t>
            </a:r>
          </a:p>
          <a:p>
            <a:r>
              <a:rPr lang="en-US" smtClean="0"/>
              <a:t>Sites are based on connectivity and replication functions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8479667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Site (2 of 3)</a:t>
            </a:r>
            <a:endParaRPr lang="en-US" dirty="0"/>
          </a:p>
        </p:txBody>
      </p:sp>
      <p:sp>
        <p:nvSpPr>
          <p:cNvPr id="2" name="Content Placeholder 1"/>
          <p:cNvSpPr>
            <a:spLocks noGrp="1"/>
          </p:cNvSpPr>
          <p:nvPr>
            <p:ph idx="1"/>
          </p:nvPr>
        </p:nvSpPr>
        <p:spPr/>
        <p:txBody>
          <a:bodyPr/>
          <a:lstStyle/>
          <a:p>
            <a:r>
              <a:rPr lang="en-US" smtClean="0"/>
              <a:t>Reasons to define a site</a:t>
            </a:r>
          </a:p>
          <a:p>
            <a:pPr lvl="1"/>
            <a:r>
              <a:rPr lang="en-US" smtClean="0"/>
              <a:t>Enable a client to access network servers using the most efficient physical route</a:t>
            </a:r>
          </a:p>
          <a:p>
            <a:pPr lvl="1"/>
            <a:r>
              <a:rPr lang="en-US" smtClean="0"/>
              <a:t>DC replication is most efficient when Active Directory has information about which DCs are in which locations</a:t>
            </a:r>
          </a:p>
          <a:p>
            <a:r>
              <a:rPr lang="en-US" smtClean="0"/>
              <a:t>One advantage of creating a site is that it sets up redundant paths between DCs</a:t>
            </a:r>
          </a:p>
          <a:p>
            <a:pPr lvl="1"/>
            <a:r>
              <a:rPr lang="en-US" smtClean="0"/>
              <a:t>Paths are used for replication</a:t>
            </a:r>
          </a:p>
          <a:p>
            <a:r>
              <a:rPr lang="en-US" smtClean="0"/>
              <a:t>Bridgehead server</a:t>
            </a:r>
          </a:p>
          <a:p>
            <a:pPr lvl="1"/>
            <a:r>
              <a:rPr lang="en-US" smtClean="0"/>
              <a:t>A DC that is designated to have the role of exchanging replication information</a:t>
            </a:r>
          </a:p>
          <a:p>
            <a:r>
              <a:rPr lang="en-US" smtClean="0"/>
              <a:t>Only one bridgehead server is set up per site</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904698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Site (3 of 3)</a:t>
            </a:r>
            <a:endParaRPr lang="en-US" dirty="0"/>
          </a:p>
        </p:txBody>
      </p:sp>
      <p:pic>
        <p:nvPicPr>
          <p:cNvPr id="6" name="Content Placeholder 5" descr="Figure 4-17, Page No. 164, Complexity level: 4&#10;Figure shows “DCs replicating within and between sites.” The figure shows three rectangular containers labeled “Site A, Site B, and Site C.” The Site A shows four printers interconnected with each other in a circular form with a help of arrows. Each of the three printers is labeled “DC” and one printer is labeled “Bridgehead server.” The arrow is labeled “DCs replicating within the same site.” At the bottom Site B shows four printers interconnected with each other in a circular form with a help of arrows. Each of three printers is labeled “DC” and one printer is labeled “Bridgehead server.” In the middle, Site C shows four printers interconnected with each other in a circular form with a help of arrows. Each of three printers is labeled “DC” and one printer is labeled “Bridgehead server.” An arrow that connects the two Bridgehead server of Site A and Site C is labeled “DCs replicating between sites.” Another arrow that connects the two Bridgehead server of Site A and Site C is shown." title="Figure 4-17"/>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895600" y="1447800"/>
            <a:ext cx="3538184" cy="443905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3731380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Active Directory Guidelines (1 of 2)</a:t>
            </a:r>
            <a:endParaRPr lang="en-US" dirty="0"/>
          </a:p>
        </p:txBody>
      </p:sp>
      <p:sp>
        <p:nvSpPr>
          <p:cNvPr id="2" name="Content Placeholder 1"/>
          <p:cNvSpPr>
            <a:spLocks noGrp="1"/>
          </p:cNvSpPr>
          <p:nvPr>
            <p:ph idx="1"/>
          </p:nvPr>
        </p:nvSpPr>
        <p:spPr/>
        <p:txBody>
          <a:bodyPr/>
          <a:lstStyle/>
          <a:p>
            <a:r>
              <a:rPr lang="en-US" smtClean="0"/>
              <a:t>Above all, keep Active Directory as simple as possible</a:t>
            </a:r>
          </a:p>
          <a:p>
            <a:pPr lvl="1"/>
            <a:r>
              <a:rPr lang="en-US" smtClean="0"/>
              <a:t>Plan its structure before you implement it</a:t>
            </a:r>
          </a:p>
          <a:p>
            <a:r>
              <a:rPr lang="en-US" smtClean="0"/>
              <a:t>Implement the least number of domains possible</a:t>
            </a:r>
          </a:p>
          <a:p>
            <a:pPr lvl="1"/>
            <a:r>
              <a:rPr lang="en-US" smtClean="0"/>
              <a:t>With one domain being the ideal and building from there</a:t>
            </a:r>
          </a:p>
          <a:p>
            <a:r>
              <a:rPr lang="en-US" smtClean="0"/>
              <a:t>Implement only one domain on most small networks</a:t>
            </a:r>
          </a:p>
          <a:p>
            <a:r>
              <a:rPr lang="en-US" smtClean="0"/>
              <a:t>Use OUs to reflect the organization’s structure</a:t>
            </a:r>
          </a:p>
          <a:p>
            <a:r>
              <a:rPr lang="en-US" smtClean="0"/>
              <a:t>Create only the number of OUs that are absolutely necessary</a:t>
            </a:r>
          </a:p>
          <a:p>
            <a:r>
              <a:rPr lang="en-US" smtClean="0"/>
              <a:t>Do not build an Active Directory with more than 10 levels of OUs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900230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Active Directory Guidelines (2 of 2)</a:t>
            </a:r>
            <a:endParaRPr lang="en-US" dirty="0"/>
          </a:p>
        </p:txBody>
      </p:sp>
      <p:sp>
        <p:nvSpPr>
          <p:cNvPr id="2" name="Content Placeholder 1"/>
          <p:cNvSpPr>
            <a:spLocks noGrp="1"/>
          </p:cNvSpPr>
          <p:nvPr>
            <p:ph idx="1"/>
          </p:nvPr>
        </p:nvSpPr>
        <p:spPr/>
        <p:txBody>
          <a:bodyPr/>
          <a:lstStyle/>
          <a:p>
            <a:r>
              <a:rPr lang="en-US" smtClean="0"/>
              <a:t>Use domains as partitions in forests to demarcate commonly associated accounts and resources governed by group and security policies</a:t>
            </a:r>
          </a:p>
          <a:p>
            <a:r>
              <a:rPr lang="en-US" smtClean="0"/>
              <a:t>Implement multiple trees and forests only as necessary</a:t>
            </a:r>
          </a:p>
          <a:p>
            <a:r>
              <a:rPr lang="en-US" smtClean="0"/>
              <a:t>Use sites in situations where there are multiple IP subnets and multiple geographic locations</a:t>
            </a:r>
          </a:p>
          <a:p>
            <a:pPr lvl="1"/>
            <a:r>
              <a:rPr lang="en-US" smtClean="0"/>
              <a:t>As a means to improve logon and DC replication performance</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2865446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Azure Active Directory (1 of 2)</a:t>
            </a:r>
            <a:endParaRPr lang="en-US" dirty="0"/>
          </a:p>
        </p:txBody>
      </p:sp>
      <p:sp>
        <p:nvSpPr>
          <p:cNvPr id="2" name="Content Placeholder 1"/>
          <p:cNvSpPr>
            <a:spLocks noGrp="1"/>
          </p:cNvSpPr>
          <p:nvPr>
            <p:ph idx="1"/>
          </p:nvPr>
        </p:nvSpPr>
        <p:spPr/>
        <p:txBody>
          <a:bodyPr/>
          <a:lstStyle/>
          <a:p>
            <a:r>
              <a:rPr lang="en-US" smtClean="0"/>
              <a:t>Microsoft Azure Active Directory</a:t>
            </a:r>
          </a:p>
          <a:p>
            <a:pPr lvl="1"/>
            <a:r>
              <a:rPr lang="en-US" smtClean="0"/>
              <a:t>An Active Directory service that an organization can use for online cloud applications</a:t>
            </a:r>
          </a:p>
          <a:p>
            <a:pPr lvl="2"/>
            <a:r>
              <a:rPr lang="en-US" smtClean="0"/>
              <a:t>Such as Office 365</a:t>
            </a:r>
          </a:p>
          <a:p>
            <a:pPr lvl="1"/>
            <a:r>
              <a:rPr lang="en-US" smtClean="0"/>
              <a:t>Provides user authorization and identity management for organizations that subscribe to Microsoft cloud services</a:t>
            </a:r>
          </a:p>
          <a:p>
            <a:r>
              <a:rPr lang="en-US" smtClean="0"/>
              <a:t>Cloud computing</a:t>
            </a:r>
          </a:p>
          <a:p>
            <a:pPr lvl="1"/>
            <a:r>
              <a:rPr lang="en-US" smtClean="0"/>
              <a:t>Involves providing a host of scalable web-based applications and services over the Internet or a private network that are used by clients through web browsers and downloadable apps</a:t>
            </a:r>
          </a:p>
          <a:p>
            <a:r>
              <a:rPr lang="en-US" smtClean="0"/>
              <a:t>An organization can use Microsoft Azure AD without having Active Directory Server 2016</a:t>
            </a:r>
          </a:p>
          <a:p>
            <a:pPr lvl="1"/>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5819392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Azure Active Directory (2 of 2)</a:t>
            </a:r>
            <a:endParaRPr lang="en-US" dirty="0"/>
          </a:p>
        </p:txBody>
      </p:sp>
      <p:pic>
        <p:nvPicPr>
          <p:cNvPr id="6" name="Content Placeholder 5" descr="Figure 4-18, Page No. 164, Complexity level: 3&#10;Figure shows the “Using the on-premises Active Directory synchronized with Microsoft Azure Active Directory to access Office 365 in the cloud” At the top of the figure, a cloud structure is shown and is labeled as “Microsoft Cloud.” The cloud structure consists of three users at the left, a small cloud structure named as office 365 at the centre, and three Groups of members at the right.  At the bottom of the figure shows three users at the left, three cylindrical containers named as On-premises Active Directory domain with users and groups at the centre, and three Groups of members at the right. A upward dashed arrow is drawn between the two users. The Router to wide area network and the Internet is connected between the Office 365 cloud structure and On-premises Active Directory domain with users and groups. An upward dashed arrow is drawn between the two groups of members.&#10;" title="Figure 4-18"/>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362200" y="1752600"/>
            <a:ext cx="4305535" cy="41005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4019826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User Account Management</a:t>
            </a:r>
            <a:endParaRPr lang="en-US" dirty="0"/>
          </a:p>
        </p:txBody>
      </p:sp>
      <p:sp>
        <p:nvSpPr>
          <p:cNvPr id="2" name="Content Placeholder 1"/>
          <p:cNvSpPr>
            <a:spLocks noGrp="1"/>
          </p:cNvSpPr>
          <p:nvPr>
            <p:ph idx="1"/>
          </p:nvPr>
        </p:nvSpPr>
        <p:spPr/>
        <p:txBody>
          <a:bodyPr/>
          <a:lstStyle/>
          <a:p>
            <a:r>
              <a:rPr lang="en-US" smtClean="0"/>
              <a:t>Default accounts:</a:t>
            </a:r>
          </a:p>
          <a:p>
            <a:pPr lvl="1"/>
            <a:r>
              <a:rPr lang="en-US" smtClean="0"/>
              <a:t>Administrator and Guest</a:t>
            </a:r>
          </a:p>
          <a:p>
            <a:r>
              <a:rPr lang="en-US" smtClean="0"/>
              <a:t>Accounts can be set up in two general environments:</a:t>
            </a:r>
          </a:p>
          <a:p>
            <a:pPr lvl="1"/>
            <a:r>
              <a:rPr lang="en-US" smtClean="0"/>
              <a:t>Accounts that are set up through a stand-alone server that does not have Active Directory installed</a:t>
            </a:r>
          </a:p>
          <a:p>
            <a:pPr lvl="1"/>
            <a:r>
              <a:rPr lang="en-US" smtClean="0"/>
              <a:t>Accounts that are set up in a domain when Active Directory is installed</a:t>
            </a:r>
          </a:p>
          <a:p>
            <a:r>
              <a:rPr lang="en-US" smtClean="0"/>
              <a:t>When accounts are created in the domain through Active Directory</a:t>
            </a:r>
          </a:p>
          <a:p>
            <a:pPr lvl="1"/>
            <a:r>
              <a:rPr lang="en-US" smtClean="0"/>
              <a:t>Those accounts can be used to access any server or resource in the domain</a:t>
            </a:r>
            <a:endParaRPr lang="en-US" dirty="0" smtClean="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8899408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Creating Accounts When Active Directory Is Not Installed (1 of 3)</a:t>
            </a:r>
            <a:endParaRPr lang="en-US" dirty="0"/>
          </a:p>
        </p:txBody>
      </p:sp>
      <p:sp>
        <p:nvSpPr>
          <p:cNvPr id="2" name="Content Placeholder 1"/>
          <p:cNvSpPr>
            <a:spLocks noGrp="1"/>
          </p:cNvSpPr>
          <p:nvPr>
            <p:ph idx="1"/>
          </p:nvPr>
        </p:nvSpPr>
        <p:spPr/>
        <p:txBody>
          <a:bodyPr/>
          <a:lstStyle/>
          <a:p>
            <a:r>
              <a:rPr lang="en-US" smtClean="0"/>
              <a:t>New accounts are created by first installing the Local Users and Groups MMC snap-in for stand-alone servers that do not use AD</a:t>
            </a:r>
            <a:endParaRPr lang="en-US" dirty="0"/>
          </a:p>
        </p:txBody>
      </p:sp>
      <p:pic>
        <p:nvPicPr>
          <p:cNvPr id="5" name="Picture 4" descr="Figure 4-19, Page No. 167, Complexity level: 1&#10;Screenshot shows the “Run” window. The words “mmc” is entered in the Open box under the type the name of a program, folder, document, or Internet resource, and Windows will open it for you option. The OK button shown is selected.&#10;" title="Figure 4-1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0" y="2438400"/>
            <a:ext cx="5170716" cy="3252216"/>
          </a:xfrm>
          <a:prstGeom prst="rect">
            <a:avLst/>
          </a:prstGeo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751528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Creating Accounts When Active Directory Is Not Installed (2 of 3)</a:t>
            </a:r>
            <a:endParaRPr lang="en-US" dirty="0"/>
          </a:p>
        </p:txBody>
      </p:sp>
      <p:pic>
        <p:nvPicPr>
          <p:cNvPr id="7" name="Content Placeholder 6" descr=" Figure 4-20, Page No. 168, Complexity level: 2&#10;Screenshot shows “Add or Remove Snap-ins” dialog box. On the left pane, the cursor points to the Local Users and Groups option under the Available snap-in drop down list box. On the right pane, the console root option is shown under the Selected snap-ins. The Edit Extension button is shown at the right of the console root box. The OK button shown is selected.&#10;" title="Figure 4-2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447800" y="1524000"/>
            <a:ext cx="5953422" cy="4555778"/>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5653355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Creating Accounts When Active Directory Is Not Installed (3 of 3)</a:t>
            </a:r>
            <a:endParaRPr lang="en-US" dirty="0"/>
          </a:p>
        </p:txBody>
      </p:sp>
      <p:pic>
        <p:nvPicPr>
          <p:cNvPr id="5" name="Content Placeholder 4" descr="Figure 4-21, Page No. 168, Complexity level: 3&#10;Screenshot shows the “New User” window. The window shows SWeng in the User name box. The Sara Weng in the Full name box. The Administrative Associate in the Description box. The12 digit password is entered under the Password box and again the 12 digit password is entered in the Confirm password box. The check box is selected for User must change password at next login option. The create button shown is selected.&#10;" title="Figure 4-21"/>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905000" y="1981200"/>
            <a:ext cx="5326294" cy="40243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8507731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Creating Accounts When Active Directory Is Installed</a:t>
            </a:r>
            <a:endParaRPr lang="en-US" dirty="0"/>
          </a:p>
        </p:txBody>
      </p:sp>
      <p:sp>
        <p:nvSpPr>
          <p:cNvPr id="2" name="Content Placeholder 1"/>
          <p:cNvSpPr>
            <a:spLocks noGrp="1"/>
          </p:cNvSpPr>
          <p:nvPr>
            <p:ph idx="1"/>
          </p:nvPr>
        </p:nvSpPr>
        <p:spPr/>
        <p:txBody>
          <a:bodyPr/>
          <a:lstStyle/>
          <a:p>
            <a:r>
              <a:rPr lang="en-US" smtClean="0"/>
              <a:t>When Active Directory is installed and the server is a DC</a:t>
            </a:r>
          </a:p>
          <a:p>
            <a:pPr lvl="1"/>
            <a:r>
              <a:rPr lang="en-US" smtClean="0"/>
              <a:t>Use the Active Directory Users and Computers tool either from:</a:t>
            </a:r>
          </a:p>
          <a:p>
            <a:pPr lvl="2"/>
            <a:r>
              <a:rPr lang="en-US" smtClean="0"/>
              <a:t>The Windows Administrative Tools folder</a:t>
            </a:r>
          </a:p>
          <a:p>
            <a:pPr lvl="2"/>
            <a:r>
              <a:rPr lang="en-US" smtClean="0"/>
              <a:t>Tools in Server Manager</a:t>
            </a:r>
          </a:p>
          <a:p>
            <a:pPr lvl="2"/>
            <a:r>
              <a:rPr lang="en-US" smtClean="0"/>
              <a:t>MMC snap-in</a:t>
            </a:r>
          </a:p>
          <a:p>
            <a:r>
              <a:rPr lang="en-US" smtClean="0"/>
              <a:t>Activity 4-4 teaches you how to create a user account in Active Directory</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7159864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Disabling, Enabling, and Renaming Accounts</a:t>
            </a:r>
            <a:endParaRPr lang="en-US" dirty="0"/>
          </a:p>
        </p:txBody>
      </p:sp>
      <p:sp>
        <p:nvSpPr>
          <p:cNvPr id="2" name="Content Placeholder 1"/>
          <p:cNvSpPr>
            <a:spLocks noGrp="1"/>
          </p:cNvSpPr>
          <p:nvPr>
            <p:ph idx="1"/>
          </p:nvPr>
        </p:nvSpPr>
        <p:spPr/>
        <p:txBody>
          <a:bodyPr/>
          <a:lstStyle/>
          <a:p>
            <a:r>
              <a:rPr lang="en-US" smtClean="0"/>
              <a:t>When a user takes a leave of absence</a:t>
            </a:r>
          </a:p>
          <a:p>
            <a:pPr lvl="1"/>
            <a:r>
              <a:rPr lang="en-US" smtClean="0"/>
              <a:t>You have the option to disable his or her account</a:t>
            </a:r>
          </a:p>
          <a:p>
            <a:r>
              <a:rPr lang="en-US" smtClean="0"/>
              <a:t>Organizations might also have the practice of disabling accounts when someone leaves and enabling the account for that person’s replacement</a:t>
            </a:r>
          </a:p>
          <a:p>
            <a:r>
              <a:rPr lang="en-US" smtClean="0"/>
              <a:t>Activity 4-5 teaches you how to disable an account, rename the account, and then enable that account</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8884103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Moving an Account</a:t>
            </a:r>
            <a:endParaRPr lang="en-US" dirty="0"/>
          </a:p>
        </p:txBody>
      </p:sp>
      <p:sp>
        <p:nvSpPr>
          <p:cNvPr id="2" name="Content Placeholder 1"/>
          <p:cNvSpPr>
            <a:spLocks noGrp="1"/>
          </p:cNvSpPr>
          <p:nvPr>
            <p:ph idx="1"/>
          </p:nvPr>
        </p:nvSpPr>
        <p:spPr/>
        <p:txBody>
          <a:bodyPr/>
          <a:lstStyle/>
          <a:p>
            <a:r>
              <a:rPr lang="en-US" smtClean="0"/>
              <a:t>When an employee moves from one department to another</a:t>
            </a:r>
          </a:p>
          <a:p>
            <a:pPr lvl="1"/>
            <a:r>
              <a:rPr lang="en-US" smtClean="0"/>
              <a:t>You might need to move that person’s account from one container to another</a:t>
            </a:r>
          </a:p>
          <a:p>
            <a:r>
              <a:rPr lang="en-US" smtClean="0"/>
              <a:t>Activity 4-6 shows you how to move the account you renamed in Activity 4-5 to the OU you created in Activity 4-3</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313101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Resetting a Password</a:t>
            </a:r>
            <a:endParaRPr lang="en-US" dirty="0"/>
          </a:p>
        </p:txBody>
      </p:sp>
      <p:sp>
        <p:nvSpPr>
          <p:cNvPr id="2" name="Content Placeholder 1"/>
          <p:cNvSpPr>
            <a:spLocks noGrp="1"/>
          </p:cNvSpPr>
          <p:nvPr>
            <p:ph idx="1"/>
          </p:nvPr>
        </p:nvSpPr>
        <p:spPr/>
        <p:txBody>
          <a:bodyPr/>
          <a:lstStyle/>
          <a:p>
            <a:r>
              <a:rPr lang="en-US" smtClean="0"/>
              <a:t>You do not have the option to look up a password</a:t>
            </a:r>
          </a:p>
          <a:p>
            <a:pPr lvl="1"/>
            <a:r>
              <a:rPr lang="en-US" smtClean="0"/>
              <a:t>But you can reset it for users</a:t>
            </a:r>
          </a:p>
          <a:p>
            <a:r>
              <a:rPr lang="en-US" smtClean="0"/>
              <a:t>For organizations that have accounts that manage sensitive information</a:t>
            </a:r>
          </a:p>
          <a:p>
            <a:pPr lvl="1"/>
            <a:r>
              <a:rPr lang="en-US" smtClean="0"/>
              <a:t>It is advisable to have specific guidelines that govern the circumstances under which an account password is reset</a:t>
            </a:r>
          </a:p>
          <a:p>
            <a:r>
              <a:rPr lang="en-US" smtClean="0"/>
              <a:t>Activity 4-7 shows you how to reset a password for a user</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885115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Deleting an Account</a:t>
            </a:r>
            <a:endParaRPr lang="en-US" dirty="0"/>
          </a:p>
        </p:txBody>
      </p:sp>
      <p:sp>
        <p:nvSpPr>
          <p:cNvPr id="2" name="Content Placeholder 1"/>
          <p:cNvSpPr>
            <a:spLocks noGrp="1"/>
          </p:cNvSpPr>
          <p:nvPr>
            <p:ph idx="1"/>
          </p:nvPr>
        </p:nvSpPr>
        <p:spPr/>
        <p:txBody>
          <a:bodyPr/>
          <a:lstStyle/>
          <a:p>
            <a:r>
              <a:rPr lang="en-US" smtClean="0"/>
              <a:t>It is a good practice</a:t>
            </a:r>
          </a:p>
          <a:p>
            <a:pPr lvl="1"/>
            <a:r>
              <a:rPr lang="en-US" smtClean="0"/>
              <a:t>To delete accounts that are no longer in use</a:t>
            </a:r>
          </a:p>
          <a:p>
            <a:r>
              <a:rPr lang="en-US" smtClean="0"/>
              <a:t>Failure to do so could expose your company to security risks</a:t>
            </a:r>
          </a:p>
          <a:p>
            <a:r>
              <a:rPr lang="en-US" smtClean="0"/>
              <a:t>When you delete an account</a:t>
            </a:r>
          </a:p>
          <a:p>
            <a:pPr lvl="1"/>
            <a:r>
              <a:rPr lang="en-US" smtClean="0"/>
              <a:t>Its globally unique identifier (GUID) is also deleted and will not be reused even if you create another account using the same name</a:t>
            </a:r>
          </a:p>
          <a:p>
            <a:r>
              <a:rPr lang="en-US" smtClean="0"/>
              <a:t>Activity 4-8 shows you how to delete an account</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4217570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Security Group Management (1 of 2)</a:t>
            </a:r>
            <a:endParaRPr lang="en-US" dirty="0"/>
          </a:p>
        </p:txBody>
      </p:sp>
      <p:sp>
        <p:nvSpPr>
          <p:cNvPr id="2" name="Content Placeholder 1"/>
          <p:cNvSpPr>
            <a:spLocks noGrp="1"/>
          </p:cNvSpPr>
          <p:nvPr>
            <p:ph idx="1"/>
          </p:nvPr>
        </p:nvSpPr>
        <p:spPr/>
        <p:txBody>
          <a:bodyPr/>
          <a:lstStyle/>
          <a:p>
            <a:r>
              <a:rPr lang="en-US" smtClean="0"/>
              <a:t>One of the best ways to manage accounts is by grouping accounts that have similar characteristics</a:t>
            </a:r>
          </a:p>
          <a:p>
            <a:r>
              <a:rPr lang="en-US" smtClean="0"/>
              <a:t>Scope of influence (or scope)</a:t>
            </a:r>
          </a:p>
          <a:p>
            <a:pPr lvl="1"/>
            <a:r>
              <a:rPr lang="en-US" smtClean="0"/>
              <a:t>The reach of a group for gaining access to resources in Active Directory</a:t>
            </a:r>
          </a:p>
          <a:p>
            <a:r>
              <a:rPr lang="en-US" smtClean="0"/>
              <a:t>Types of groups:</a:t>
            </a:r>
          </a:p>
          <a:p>
            <a:pPr lvl="1"/>
            <a:r>
              <a:rPr lang="en-US" smtClean="0"/>
              <a:t>Local</a:t>
            </a:r>
          </a:p>
          <a:p>
            <a:pPr lvl="1"/>
            <a:r>
              <a:rPr lang="en-US" smtClean="0"/>
              <a:t>Domain local</a:t>
            </a:r>
          </a:p>
          <a:p>
            <a:pPr lvl="1"/>
            <a:r>
              <a:rPr lang="en-US" smtClean="0"/>
              <a:t>Global</a:t>
            </a:r>
          </a:p>
          <a:p>
            <a:pPr lvl="1"/>
            <a:r>
              <a:rPr lang="en-US" smtClean="0"/>
              <a:t>Universal</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0656171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Security Group Management (2 of 2)</a:t>
            </a:r>
            <a:endParaRPr lang="en-US" dirty="0"/>
          </a:p>
        </p:txBody>
      </p:sp>
      <p:sp>
        <p:nvSpPr>
          <p:cNvPr id="2" name="Content Placeholder 1"/>
          <p:cNvSpPr>
            <a:spLocks noGrp="1"/>
          </p:cNvSpPr>
          <p:nvPr>
            <p:ph idx="1"/>
          </p:nvPr>
        </p:nvSpPr>
        <p:spPr/>
        <p:txBody>
          <a:bodyPr/>
          <a:lstStyle/>
          <a:p>
            <a:r>
              <a:rPr lang="en-US" smtClean="0"/>
              <a:t>All of these groups can be used for security or distribution groups</a:t>
            </a:r>
          </a:p>
          <a:p>
            <a:r>
              <a:rPr lang="en-US" smtClean="0"/>
              <a:t>Security groups</a:t>
            </a:r>
          </a:p>
          <a:p>
            <a:pPr lvl="1"/>
            <a:r>
              <a:rPr lang="en-US" smtClean="0"/>
              <a:t>Used to enable access to resources on a stand-alone server or in Active Directory</a:t>
            </a:r>
          </a:p>
          <a:p>
            <a:r>
              <a:rPr lang="en-US" smtClean="0"/>
              <a:t>Distribution groups</a:t>
            </a:r>
          </a:p>
          <a:p>
            <a:pPr lvl="1"/>
            <a:r>
              <a:rPr lang="en-US" smtClean="0"/>
              <a:t>Used for e-mail or telephone lists, to provide quick, mass distribution of information</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5354761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Implementing Local Groups</a:t>
            </a:r>
            <a:endParaRPr lang="en-US" dirty="0"/>
          </a:p>
        </p:txBody>
      </p:sp>
      <p:sp>
        <p:nvSpPr>
          <p:cNvPr id="2" name="Content Placeholder 1"/>
          <p:cNvSpPr>
            <a:spLocks noGrp="1"/>
          </p:cNvSpPr>
          <p:nvPr>
            <p:ph idx="1"/>
          </p:nvPr>
        </p:nvSpPr>
        <p:spPr/>
        <p:txBody>
          <a:bodyPr/>
          <a:lstStyle/>
          <a:p>
            <a:r>
              <a:rPr lang="en-US" smtClean="0"/>
              <a:t>Local security group</a:t>
            </a:r>
          </a:p>
          <a:p>
            <a:pPr lvl="1"/>
            <a:r>
              <a:rPr lang="en-US" smtClean="0"/>
              <a:t>Used to manage resources on a stand-alone computer that is not part of a domain and on member servers in a domain</a:t>
            </a:r>
          </a:p>
          <a:p>
            <a:r>
              <a:rPr lang="en-US" smtClean="0"/>
              <a:t>Instead of installing Active Directory, you can divide accounts into local groups</a:t>
            </a:r>
          </a:p>
          <a:p>
            <a:pPr lvl="1"/>
            <a:r>
              <a:rPr lang="en-US" smtClean="0"/>
              <a:t>Each group would be given different security access based on the resources at the server</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4284929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Implementing Domain Local Groups</a:t>
            </a:r>
            <a:endParaRPr lang="en-US" dirty="0"/>
          </a:p>
        </p:txBody>
      </p:sp>
      <p:sp>
        <p:nvSpPr>
          <p:cNvPr id="2" name="Content Placeholder 1"/>
          <p:cNvSpPr>
            <a:spLocks noGrp="1"/>
          </p:cNvSpPr>
          <p:nvPr>
            <p:ph idx="1"/>
          </p:nvPr>
        </p:nvSpPr>
        <p:spPr/>
        <p:txBody>
          <a:bodyPr/>
          <a:lstStyle/>
          <a:p>
            <a:r>
              <a:rPr lang="en-US" smtClean="0"/>
              <a:t>Domain local security group</a:t>
            </a:r>
          </a:p>
          <a:p>
            <a:pPr lvl="1"/>
            <a:r>
              <a:rPr lang="en-US" smtClean="0"/>
              <a:t>Used when Active Directory is deployed</a:t>
            </a:r>
          </a:p>
          <a:p>
            <a:pPr lvl="1"/>
            <a:r>
              <a:rPr lang="en-US" smtClean="0"/>
              <a:t>Typically used to manage resources in a domain and to give global groups from the same and other domains access to those resources</a:t>
            </a:r>
          </a:p>
          <a:p>
            <a:r>
              <a:rPr lang="en-US" smtClean="0"/>
              <a:t>The scope of a domain local group is the domain in which the group exists</a:t>
            </a:r>
          </a:p>
          <a:p>
            <a:r>
              <a:rPr lang="en-US" smtClean="0"/>
              <a:t>The typical purpose of a domain local group is to provide access to resources</a:t>
            </a:r>
          </a:p>
          <a:p>
            <a:pPr lvl="1"/>
            <a:r>
              <a:rPr lang="en-US" smtClean="0"/>
              <a:t>You grant access to servers, folders, shared folders, and printers to a domain local group</a:t>
            </a:r>
          </a:p>
          <a:p>
            <a:r>
              <a:rPr lang="en-US" smtClean="0"/>
              <a:t>You should put domain local groups in access control lists only</a:t>
            </a:r>
          </a:p>
          <a:p>
            <a:pPr lvl="1"/>
            <a:r>
              <a:rPr lang="en-US" smtClean="0"/>
              <a:t>The members of domain local groups should be mainly global groups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4510326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Implementing  Global Groups (1 of 4)</a:t>
            </a:r>
            <a:endParaRPr lang="en-US" dirty="0"/>
          </a:p>
        </p:txBody>
      </p:sp>
      <p:sp>
        <p:nvSpPr>
          <p:cNvPr id="2" name="Content Placeholder 1"/>
          <p:cNvSpPr>
            <a:spLocks noGrp="1"/>
          </p:cNvSpPr>
          <p:nvPr>
            <p:ph idx="1"/>
          </p:nvPr>
        </p:nvSpPr>
        <p:spPr/>
        <p:txBody>
          <a:bodyPr/>
          <a:lstStyle/>
          <a:p>
            <a:r>
              <a:rPr lang="en-US" smtClean="0"/>
              <a:t>Global security group</a:t>
            </a:r>
          </a:p>
          <a:p>
            <a:pPr lvl="1"/>
            <a:r>
              <a:rPr lang="en-US" smtClean="0"/>
              <a:t>Intended to contain user accounts from a single domain</a:t>
            </a:r>
          </a:p>
          <a:p>
            <a:pPr lvl="1"/>
            <a:r>
              <a:rPr lang="en-US" smtClean="0"/>
              <a:t>Can also be set up as a member of a domain local group in the same or another domain</a:t>
            </a:r>
          </a:p>
          <a:p>
            <a:r>
              <a:rPr lang="en-US" smtClean="0"/>
              <a:t>A global group can contain user accounts and other global groups from the domain in which it was created</a:t>
            </a:r>
          </a:p>
          <a:p>
            <a:r>
              <a:rPr lang="en-US" smtClean="0"/>
              <a:t>A global group can be converted to a universal group </a:t>
            </a:r>
          </a:p>
          <a:p>
            <a:pPr lvl="1"/>
            <a:r>
              <a:rPr lang="en-US" smtClean="0"/>
              <a:t>As long as it is not nested in another global group or in a universal group</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6130349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Implementing  Global Groups (2 of 4)</a:t>
            </a:r>
            <a:endParaRPr lang="en-US" dirty="0"/>
          </a:p>
        </p:txBody>
      </p:sp>
      <p:pic>
        <p:nvPicPr>
          <p:cNvPr id="6" name="Content Placeholder 5" descr="Figure 4-28, Page No. 179, Complexity level:&#10;Figure shows the “Nested global groups.” It shows three concentric semicircles. The interior semicircle is labeled “Budget***.” The centre circle is labeled “Finance**.” The outer semicircle is labeled “Managers*.”&#10;" title="Figure 4-28"/>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752600" y="2514600"/>
            <a:ext cx="5213646" cy="25765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1565751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Implementing  Global Groups (3 of 4)</a:t>
            </a:r>
            <a:endParaRPr lang="en-US" dirty="0"/>
          </a:p>
        </p:txBody>
      </p:sp>
      <p:sp>
        <p:nvSpPr>
          <p:cNvPr id="2" name="Content Placeholder 1"/>
          <p:cNvSpPr>
            <a:spLocks noGrp="1"/>
          </p:cNvSpPr>
          <p:nvPr>
            <p:ph idx="1"/>
          </p:nvPr>
        </p:nvSpPr>
        <p:spPr/>
        <p:txBody>
          <a:bodyPr/>
          <a:lstStyle/>
          <a:p>
            <a:r>
              <a:rPr lang="en-US" smtClean="0"/>
              <a:t>A typical use for a global group is to build it with accounts that need access to resources in the same or in another domain</a:t>
            </a:r>
          </a:p>
          <a:p>
            <a:pPr lvl="1"/>
            <a:r>
              <a:rPr lang="en-US" smtClean="0"/>
              <a:t>And then to make the global group in one domain a member of a domain local group in the same or another domain</a:t>
            </a:r>
          </a:p>
          <a:p>
            <a:r>
              <a:rPr lang="en-US" smtClean="0"/>
              <a:t>This model enables you to manage user accounts and their access to resources through one or more global groups</a:t>
            </a:r>
          </a:p>
          <a:p>
            <a:pPr lvl="1"/>
            <a:r>
              <a:rPr lang="en-US" smtClean="0"/>
              <a:t>While reducing the complexity of managing accounts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6076090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Implementing  Global Groups (4 of4)</a:t>
            </a:r>
            <a:endParaRPr lang="en-US" dirty="0"/>
          </a:p>
        </p:txBody>
      </p:sp>
      <p:pic>
        <p:nvPicPr>
          <p:cNvPr id="6" name="Content Placeholder 5" descr="Figure 4-29, Page No. 179, Complexity level: 3&#10;Figure shows the “Managing security through domain local and global security groups.” It consists of three oval shaped structures placed one at the top and two at the bottom. The first structure shows a printer and LocalExec domain local group enclosed in a circle that is named as “students.college.edu.” The second structure shows two printers and two small circles labeled as “LocalExec domain local group” and “GlobalExec global group” that are connected by an arrow. This structure is named as “college.edu.”The third structure shows a printer and LocalExec domain local group enclosed in a circle that is named as “research.college.edu.” Two arrows from the GlobalExec global group points to the LocalExec domain local group at students.college.edu and the LocalExec domain local group at research.college.edu&#10;" title="Figure 4-29"/>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597682" y="1905000"/>
            <a:ext cx="5688130" cy="34909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2962412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Implementing Universal Groups (1 of 2)</a:t>
            </a:r>
            <a:endParaRPr lang="en-US" dirty="0"/>
          </a:p>
        </p:txBody>
      </p:sp>
      <p:sp>
        <p:nvSpPr>
          <p:cNvPr id="2" name="Content Placeholder 1"/>
          <p:cNvSpPr>
            <a:spLocks noGrp="1"/>
          </p:cNvSpPr>
          <p:nvPr>
            <p:ph idx="1"/>
          </p:nvPr>
        </p:nvSpPr>
        <p:spPr/>
        <p:txBody>
          <a:bodyPr/>
          <a:lstStyle/>
          <a:p>
            <a:r>
              <a:rPr lang="en-US" smtClean="0"/>
              <a:t>Universal security groups</a:t>
            </a:r>
          </a:p>
          <a:p>
            <a:pPr lvl="1"/>
            <a:r>
              <a:rPr lang="en-US" smtClean="0"/>
              <a:t>Provide a means to span domains and trees</a:t>
            </a:r>
          </a:p>
          <a:p>
            <a:r>
              <a:rPr lang="en-US" smtClean="0"/>
              <a:t>Universal group membership can include user accounts from any domain, global groups from any domain, and other universal groups from any domain</a:t>
            </a:r>
          </a:p>
          <a:p>
            <a:r>
              <a:rPr lang="en-US" smtClean="0"/>
              <a:t>Universal groups are offered to provide an easy means to access any resource in a tree</a:t>
            </a:r>
          </a:p>
          <a:p>
            <a:pPr lvl="1"/>
            <a:r>
              <a:rPr lang="en-US" smtClean="0"/>
              <a:t>Or among trees in a forest</a:t>
            </a:r>
          </a:p>
          <a:p>
            <a:r>
              <a:rPr lang="en-US" smtClean="0"/>
              <a:t>Guidelines to help simplify how you plan to use groups:</a:t>
            </a:r>
          </a:p>
          <a:p>
            <a:pPr lvl="1"/>
            <a:r>
              <a:rPr lang="en-US" smtClean="0"/>
              <a:t>Use global groups to hold accounts as members</a:t>
            </a:r>
          </a:p>
          <a:p>
            <a:pPr lvl="1"/>
            <a:r>
              <a:rPr lang="en-US" smtClean="0"/>
              <a:t>Use domain local groups to provide access to resources in a specific domain</a:t>
            </a:r>
          </a:p>
          <a:p>
            <a:pPr lvl="1"/>
            <a:r>
              <a:rPr lang="en-US" smtClean="0"/>
              <a:t>Use universal groups to provide extensive access to resources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1061904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Implementing Universal Groups (2 of 2)</a:t>
            </a:r>
            <a:endParaRPr lang="en-US" dirty="0"/>
          </a:p>
        </p:txBody>
      </p:sp>
      <p:pic>
        <p:nvPicPr>
          <p:cNvPr id="6" name="Content Placeholder 5" descr="Figure 4-31, Page No. 182, Complexity level: 2&#10;Figure shows “Managing security through universal and global groups.” The figure shows a circle at the centre overlapping three other circles. The circle at the centre is labeled “UniExec a universal group with access to resources in all three domains.” The three circles are labeled “college.edu” at the left with two printers and a small circle named as GlobalExec global group with an arrow that points to the centre circle. “students.college.edu” at the top and “research.college.edu” at the right with a printer is shown.&#10;" title="Figure 4-31"/>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617611" y="1905000"/>
            <a:ext cx="5898967" cy="38719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2226409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Properties of Groups</a:t>
            </a:r>
            <a:endParaRPr lang="en-US" dirty="0"/>
          </a:p>
        </p:txBody>
      </p:sp>
      <p:sp>
        <p:nvSpPr>
          <p:cNvPr id="2" name="Content Placeholder 1"/>
          <p:cNvSpPr>
            <a:spLocks noGrp="1"/>
          </p:cNvSpPr>
          <p:nvPr>
            <p:ph idx="1"/>
          </p:nvPr>
        </p:nvSpPr>
        <p:spPr/>
        <p:txBody>
          <a:bodyPr/>
          <a:lstStyle/>
          <a:p>
            <a:r>
              <a:rPr lang="en-US" smtClean="0"/>
              <a:t>You can configure the properties of a specific group </a:t>
            </a:r>
          </a:p>
          <a:p>
            <a:pPr lvl="1"/>
            <a:r>
              <a:rPr lang="en-US" smtClean="0"/>
              <a:t>By double-clicking that group in the Local Users and Groups tool for a stand-alone (nondomain) or member server</a:t>
            </a:r>
          </a:p>
          <a:p>
            <a:pPr lvl="1"/>
            <a:r>
              <a:rPr lang="en-US" smtClean="0"/>
              <a:t>Or in the Active Directory Users and Computers tool for DC servers in a domain</a:t>
            </a:r>
          </a:p>
          <a:p>
            <a:r>
              <a:rPr lang="en-US" smtClean="0"/>
              <a:t>Properties are configured using the following tabs:</a:t>
            </a:r>
          </a:p>
          <a:p>
            <a:pPr lvl="1"/>
            <a:r>
              <a:rPr lang="en-US" smtClean="0"/>
              <a:t>General</a:t>
            </a:r>
          </a:p>
          <a:p>
            <a:pPr lvl="1"/>
            <a:r>
              <a:rPr lang="en-US" smtClean="0"/>
              <a:t>Members</a:t>
            </a:r>
          </a:p>
          <a:p>
            <a:pPr lvl="1"/>
            <a:r>
              <a:rPr lang="en-US" smtClean="0"/>
              <a:t>Member Of</a:t>
            </a:r>
          </a:p>
          <a:p>
            <a:pPr lvl="1"/>
            <a:r>
              <a:rPr lang="en-US" smtClean="0"/>
              <a:t>Managed By</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1314596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Implementing User Profiles (1 of 3)</a:t>
            </a:r>
            <a:endParaRPr lang="en-US" dirty="0"/>
          </a:p>
        </p:txBody>
      </p:sp>
      <p:sp>
        <p:nvSpPr>
          <p:cNvPr id="2" name="Content Placeholder 1"/>
          <p:cNvSpPr>
            <a:spLocks noGrp="1"/>
          </p:cNvSpPr>
          <p:nvPr>
            <p:ph idx="1"/>
          </p:nvPr>
        </p:nvSpPr>
        <p:spPr/>
        <p:txBody>
          <a:bodyPr/>
          <a:lstStyle/>
          <a:p>
            <a:r>
              <a:rPr lang="en-US" smtClean="0"/>
              <a:t>A local user profile is automatically created at the local computer when you log on with an account for the first time</a:t>
            </a:r>
          </a:p>
          <a:p>
            <a:pPr lvl="1"/>
            <a:r>
              <a:rPr lang="en-US" smtClean="0"/>
              <a:t>The profile can be modified to consist of desktop settings that are customized for one or more clients who log on locally</a:t>
            </a:r>
          </a:p>
          <a:p>
            <a:r>
              <a:rPr lang="en-US" smtClean="0"/>
              <a:t>User profiles advantages</a:t>
            </a:r>
          </a:p>
          <a:p>
            <a:pPr lvl="1"/>
            <a:r>
              <a:rPr lang="en-US" smtClean="0"/>
              <a:t>Multiple users can use the same computer and maintain their own customized setting</a:t>
            </a:r>
          </a:p>
          <a:p>
            <a:pPr lvl="1"/>
            <a:r>
              <a:rPr lang="en-US" smtClean="0"/>
              <a:t>Profiles can be stored on a network server so they are available to users regardless of the computer they use to log on (roaming profile)</a:t>
            </a:r>
          </a:p>
          <a:p>
            <a:pPr lvl="1"/>
            <a:r>
              <a:rPr lang="en-US" smtClean="0"/>
              <a:t>Profiles can be made mandatory so users have the same settings each time they log on (mandatory profile)</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1502004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Implementing User Profiles (2 of 3)</a:t>
            </a:r>
            <a:endParaRPr lang="en-US" dirty="0"/>
          </a:p>
        </p:txBody>
      </p:sp>
      <p:sp>
        <p:nvSpPr>
          <p:cNvPr id="2" name="Content Placeholder 1"/>
          <p:cNvSpPr>
            <a:spLocks noGrp="1"/>
          </p:cNvSpPr>
          <p:nvPr>
            <p:ph idx="1"/>
          </p:nvPr>
        </p:nvSpPr>
        <p:spPr/>
        <p:txBody>
          <a:bodyPr/>
          <a:lstStyle/>
          <a:p>
            <a:r>
              <a:rPr lang="en-US" smtClean="0"/>
              <a:t>One way to set up a profile is to first set up a generic account on the server with the desired desktop configuration</a:t>
            </a:r>
          </a:p>
          <a:p>
            <a:pPr lvl="1"/>
            <a:r>
              <a:rPr lang="en-US" smtClean="0"/>
              <a:t>Then copy the Ntuser.dat file to the \Users\Default folder in Windows Server 2016</a:t>
            </a:r>
          </a:p>
          <a:p>
            <a:r>
              <a:rPr lang="en-US" smtClean="0"/>
              <a:t>To create the roaming profile, set up a generic account and customize the desktop</a:t>
            </a:r>
          </a:p>
          <a:p>
            <a:pPr lvl="1"/>
            <a:r>
              <a:rPr lang="en-US" smtClean="0"/>
              <a:t>Set up those users to access a profile by opening the Profile tab in each user’s account properties and entering the path to that profile</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0570356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Implementing User Profiles (3 of 3)</a:t>
            </a:r>
            <a:endParaRPr lang="en-US" dirty="0"/>
          </a:p>
        </p:txBody>
      </p:sp>
      <p:pic>
        <p:nvPicPr>
          <p:cNvPr id="6" name="Content Placeholder 5" descr="Figure 4-32, Page No. 184, Complexity level: 2&#10;Screenshot shows the “Megan Greenberg Properties” dialog box. The Profile tab is selected in the dialog box. The C:\Users\Budget\ntuser.dat is entered in the Profile path in the User profile box. The Local path check button is selected under the Home folder option. The OK button shown is selected.&#10;" title="Figure 4-32"/>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514600" y="1752600"/>
            <a:ext cx="4090717" cy="41767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3406398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Important Features in Windows Server 2016 Active Directory</a:t>
            </a:r>
            <a:endParaRPr lang="en-US" dirty="0"/>
          </a:p>
        </p:txBody>
      </p:sp>
      <p:sp>
        <p:nvSpPr>
          <p:cNvPr id="2" name="Content Placeholder 1"/>
          <p:cNvSpPr>
            <a:spLocks noGrp="1"/>
          </p:cNvSpPr>
          <p:nvPr>
            <p:ph idx="1"/>
          </p:nvPr>
        </p:nvSpPr>
        <p:spPr/>
        <p:txBody>
          <a:bodyPr/>
          <a:lstStyle/>
          <a:p>
            <a:r>
              <a:rPr lang="en-US" smtClean="0"/>
              <a:t>Five important or new features deserve particular mention:</a:t>
            </a:r>
          </a:p>
          <a:p>
            <a:pPr lvl="1"/>
            <a:r>
              <a:rPr lang="en-US" smtClean="0"/>
              <a:t>Restart capability</a:t>
            </a:r>
          </a:p>
          <a:p>
            <a:pPr lvl="1"/>
            <a:r>
              <a:rPr lang="en-US" smtClean="0"/>
              <a:t>Read-Only Domain Controller</a:t>
            </a:r>
          </a:p>
          <a:p>
            <a:pPr lvl="1"/>
            <a:r>
              <a:rPr lang="en-US" smtClean="0"/>
              <a:t>Cloning domain controllers</a:t>
            </a:r>
          </a:p>
          <a:p>
            <a:pPr lvl="1"/>
            <a:r>
              <a:rPr lang="en-US" smtClean="0"/>
              <a:t>Fine-grained password policy enhancements</a:t>
            </a:r>
          </a:p>
          <a:p>
            <a:pPr lvl="1"/>
            <a:r>
              <a:rPr lang="en-US" smtClean="0"/>
              <a:t>Protected users global group</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11251141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Restart Capability</a:t>
            </a:r>
            <a:endParaRPr lang="en-US" dirty="0"/>
          </a:p>
        </p:txBody>
      </p:sp>
      <p:sp>
        <p:nvSpPr>
          <p:cNvPr id="2" name="Content Placeholder 1"/>
          <p:cNvSpPr>
            <a:spLocks noGrp="1"/>
          </p:cNvSpPr>
          <p:nvPr>
            <p:ph idx="1"/>
          </p:nvPr>
        </p:nvSpPr>
        <p:spPr/>
        <p:txBody>
          <a:bodyPr/>
          <a:lstStyle/>
          <a:p>
            <a:r>
              <a:rPr lang="en-US" dirty="0" smtClean="0"/>
              <a:t>Windows Server 2016 provides the option to stop Active Directory Domain Services without taking down the computer</a:t>
            </a:r>
          </a:p>
          <a:p>
            <a:r>
              <a:rPr lang="en-US" dirty="0" smtClean="0"/>
              <a:t>After your work is done on Active Directory, you simply restart Active Directory Domain Services</a:t>
            </a:r>
          </a:p>
          <a:p>
            <a:endParaRPr lang="en-US" dirty="0"/>
          </a:p>
        </p:txBody>
      </p:sp>
      <p:pic>
        <p:nvPicPr>
          <p:cNvPr id="5" name="Picture 4" descr="Figure 4-33, Page No. 185, Complexity level: 2&#10;Screenshot shows the “Compound Services” dialog box. On the left pane, the Services (Local) folder is selected within the Console Root option. On the content pane, Active Directory Domain Services window is displayed and the cursor points to the Stop the service under the Service (Local) of Active Directory Domain Services. The Active Directory Domain Services is selected at the right of the window. On the right pane, the Active Directory Domain Services is selected from the Services (Local) drop box under the Actions menu.&#10;" title="Figure 4-3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800" y="2743199"/>
            <a:ext cx="4800600" cy="3626963"/>
          </a:xfrm>
          <a:prstGeom prst="rect">
            <a:avLst/>
          </a:prstGeo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357346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Read-Only Domain Controller</a:t>
            </a:r>
            <a:endParaRPr lang="en-US" dirty="0"/>
          </a:p>
        </p:txBody>
      </p:sp>
      <p:sp>
        <p:nvSpPr>
          <p:cNvPr id="2" name="Content Placeholder 1"/>
          <p:cNvSpPr>
            <a:spLocks noGrp="1"/>
          </p:cNvSpPr>
          <p:nvPr>
            <p:ph idx="1"/>
          </p:nvPr>
        </p:nvSpPr>
        <p:spPr/>
        <p:txBody>
          <a:bodyPr/>
          <a:lstStyle/>
          <a:p>
            <a:r>
              <a:rPr lang="en-US" smtClean="0"/>
              <a:t>Read-Only Domain Controller (RODC)</a:t>
            </a:r>
          </a:p>
          <a:p>
            <a:pPr lvl="1"/>
            <a:r>
              <a:rPr lang="en-US" smtClean="0"/>
              <a:t>You cannot use it to update information in Active Directory and it does not replicate to regular DCs</a:t>
            </a:r>
          </a:p>
          <a:p>
            <a:r>
              <a:rPr lang="en-US" smtClean="0"/>
              <a:t>An RODC can still function as a Key Distribution Center for the Kerberos authentication method</a:t>
            </a:r>
          </a:p>
          <a:p>
            <a:r>
              <a:rPr lang="en-US" smtClean="0"/>
              <a:t>The purpose of having an RODC is for better security at branch locations</a:t>
            </a:r>
          </a:p>
          <a:p>
            <a:pPr lvl="1"/>
            <a:r>
              <a:rPr lang="en-US" smtClean="0"/>
              <a:t>Where physical security measures might not be as strong as at a central office</a:t>
            </a:r>
          </a:p>
          <a:p>
            <a:r>
              <a:rPr lang="en-US" smtClean="0"/>
              <a:t>An RODC can also be configured as a DNS server</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1421311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Cloning Domain Controllers</a:t>
            </a:r>
            <a:endParaRPr lang="en-US" dirty="0"/>
          </a:p>
        </p:txBody>
      </p:sp>
      <p:sp>
        <p:nvSpPr>
          <p:cNvPr id="2" name="Content Placeholder 1"/>
          <p:cNvSpPr>
            <a:spLocks noGrp="1"/>
          </p:cNvSpPr>
          <p:nvPr>
            <p:ph idx="1"/>
          </p:nvPr>
        </p:nvSpPr>
        <p:spPr/>
        <p:txBody>
          <a:bodyPr/>
          <a:lstStyle/>
          <a:p>
            <a:r>
              <a:rPr lang="en-US" smtClean="0"/>
              <a:t>Windows Server 2012 R2 introduced the ability to clone domain controllers</a:t>
            </a:r>
          </a:p>
          <a:p>
            <a:pPr lvl="1"/>
            <a:r>
              <a:rPr lang="en-US" smtClean="0"/>
              <a:t>Especially targeted for easier deployment of multiple domain controllers in an environment with multiple virtual machines</a:t>
            </a:r>
          </a:p>
          <a:p>
            <a:r>
              <a:rPr lang="en-US" smtClean="0"/>
              <a:t>Cloning cuts down on the steps required to create additional virtual domain controllers</a:t>
            </a:r>
          </a:p>
          <a:p>
            <a:r>
              <a:rPr lang="en-US" smtClean="0"/>
              <a:t>Server administrator can configure Active Directory </a:t>
            </a:r>
          </a:p>
          <a:p>
            <a:pPr lvl="1"/>
            <a:r>
              <a:rPr lang="en-US" smtClean="0"/>
              <a:t>And then create a copy of the virtual domain controller</a:t>
            </a:r>
          </a:p>
          <a:p>
            <a:pPr lvl="1"/>
            <a:r>
              <a:rPr lang="en-US" smtClean="0"/>
              <a:t>Additional steps can be handled by running PowerShell cmdlets and using a PowerShell script to define configuration parameters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0522542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Fine-Grained Password Policy Enhancement</a:t>
            </a:r>
            <a:endParaRPr lang="en-US" dirty="0"/>
          </a:p>
        </p:txBody>
      </p:sp>
      <p:sp>
        <p:nvSpPr>
          <p:cNvPr id="2" name="Content Placeholder 1"/>
          <p:cNvSpPr>
            <a:spLocks noGrp="1"/>
          </p:cNvSpPr>
          <p:nvPr>
            <p:ph idx="1"/>
          </p:nvPr>
        </p:nvSpPr>
        <p:spPr/>
        <p:txBody>
          <a:bodyPr/>
          <a:lstStyle/>
          <a:p>
            <a:r>
              <a:rPr lang="en-US" smtClean="0"/>
              <a:t>Different security groups can have different password policies</a:t>
            </a:r>
          </a:p>
          <a:p>
            <a:r>
              <a:rPr lang="en-US" smtClean="0"/>
              <a:t>Windows Server 2012 R2 introduced the ability to use the Active Directory Administrative Center for managing password setting objects in the Active Directory schema</a:t>
            </a:r>
          </a:p>
          <a:p>
            <a:pPr lvl="1"/>
            <a:r>
              <a:rPr lang="en-US" smtClean="0"/>
              <a:t>Makes server access more secure</a:t>
            </a:r>
          </a:p>
          <a:p>
            <a:pPr lvl="1"/>
            <a:r>
              <a:rPr lang="en-US" smtClean="0"/>
              <a:t>Helps reduce errors made by server administrators when working with fine-grained passwords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1859654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Protected Users Global Group</a:t>
            </a:r>
            <a:endParaRPr lang="en-US" dirty="0"/>
          </a:p>
        </p:txBody>
      </p:sp>
      <p:sp>
        <p:nvSpPr>
          <p:cNvPr id="2" name="Content Placeholder 1"/>
          <p:cNvSpPr>
            <a:spLocks noGrp="1"/>
          </p:cNvSpPr>
          <p:nvPr>
            <p:ph idx="1"/>
          </p:nvPr>
        </p:nvSpPr>
        <p:spPr/>
        <p:txBody>
          <a:bodyPr/>
          <a:lstStyle/>
          <a:p>
            <a:r>
              <a:rPr lang="en-US" smtClean="0"/>
              <a:t>Protected users global group</a:t>
            </a:r>
          </a:p>
          <a:p>
            <a:pPr lvl="1"/>
            <a:r>
              <a:rPr lang="en-US" smtClean="0"/>
              <a:t>Enforces strict locked-in security and protection measures that cannot be reconfigured </a:t>
            </a:r>
          </a:p>
          <a:p>
            <a:r>
              <a:rPr lang="en-US" smtClean="0"/>
              <a:t>Only way to change the security for a member of this group</a:t>
            </a:r>
          </a:p>
          <a:p>
            <a:pPr lvl="1"/>
            <a:r>
              <a:rPr lang="en-US" smtClean="0"/>
              <a:t>Is to remove the member from the group</a:t>
            </a:r>
          </a:p>
          <a:p>
            <a:r>
              <a:rPr lang="en-US" smtClean="0"/>
              <a:t>User accounts, computers, printers, and servers can be members</a:t>
            </a:r>
          </a:p>
          <a:p>
            <a:r>
              <a:rPr lang="en-US" smtClean="0"/>
              <a:t>Security restrictions that apply to the protected users global group:</a:t>
            </a:r>
          </a:p>
          <a:p>
            <a:pPr lvl="1"/>
            <a:r>
              <a:rPr lang="en-US" smtClean="0"/>
              <a:t>Group members cannot use weaker forms of authentication</a:t>
            </a:r>
          </a:p>
          <a:p>
            <a:pPr lvl="1"/>
            <a:r>
              <a:rPr lang="en-US" smtClean="0"/>
              <a:t>The Kerberos Ticket Granting Ticket’s lifetime is limited to 4 hours, which means group member must be authenticated every 4 hours</a:t>
            </a:r>
          </a:p>
          <a:p>
            <a:pPr lvl="1"/>
            <a:r>
              <a:rPr lang="en-US" smtClean="0"/>
              <a:t>Connections to system that do not utilize this global group may not succeed</a:t>
            </a:r>
          </a:p>
          <a:p>
            <a:pPr lvl="1"/>
            <a:r>
              <a:rPr lang="en-US" smtClean="0"/>
              <a:t>Only higher-level encryption methods compatible with Kerberos security can be used</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9935415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Chapter Summary (1 of 3)</a:t>
            </a:r>
            <a:endParaRPr lang="en-US" dirty="0"/>
          </a:p>
        </p:txBody>
      </p:sp>
      <p:sp>
        <p:nvSpPr>
          <p:cNvPr id="2" name="Content Placeholder 1"/>
          <p:cNvSpPr>
            <a:spLocks noGrp="1"/>
          </p:cNvSpPr>
          <p:nvPr>
            <p:ph idx="1"/>
          </p:nvPr>
        </p:nvSpPr>
        <p:spPr/>
        <p:txBody>
          <a:bodyPr/>
          <a:lstStyle/>
          <a:p>
            <a:r>
              <a:rPr lang="en-US" smtClean="0"/>
              <a:t>Active Directory (or AD DS) is a directory service to house information about network resources</a:t>
            </a:r>
          </a:p>
          <a:p>
            <a:r>
              <a:rPr lang="en-US" smtClean="0"/>
              <a:t>Servers housing Active Directory are called domain controllers (DCs)</a:t>
            </a:r>
          </a:p>
          <a:p>
            <a:r>
              <a:rPr lang="en-US" smtClean="0"/>
              <a:t>The most basic component of Active Directory is an object</a:t>
            </a:r>
          </a:p>
          <a:p>
            <a:r>
              <a:rPr lang="en-US" smtClean="0"/>
              <a:t>The global catalog stores information about every object, replicates key Active Directory elements, and is used to authenticate user accounts when they log on</a:t>
            </a:r>
          </a:p>
          <a:p>
            <a:r>
              <a:rPr lang="en-US" smtClean="0"/>
              <a:t>A namespace consists of using the Domain Name System for resolving computer and domain names to IP addresses and vice versa</a:t>
            </a:r>
          </a:p>
          <a:p>
            <a:r>
              <a:rPr lang="en-US" smtClean="0"/>
              <a:t>Active Directory is a hierarchy of logical containers: forests, trees, domains, and organizational units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694059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Chapter Summary (2 of 3)</a:t>
            </a:r>
            <a:endParaRPr lang="en-US" dirty="0"/>
          </a:p>
        </p:txBody>
      </p:sp>
      <p:sp>
        <p:nvSpPr>
          <p:cNvPr id="2" name="Content Placeholder 1"/>
          <p:cNvSpPr>
            <a:spLocks noGrp="1"/>
          </p:cNvSpPr>
          <p:nvPr>
            <p:ph idx="1"/>
          </p:nvPr>
        </p:nvSpPr>
        <p:spPr/>
        <p:txBody>
          <a:bodyPr/>
          <a:lstStyle/>
          <a:p>
            <a:r>
              <a:rPr lang="en-US" smtClean="0"/>
              <a:t>You can delegate management of many Active Directory containers to specific types of administrators</a:t>
            </a:r>
          </a:p>
          <a:p>
            <a:r>
              <a:rPr lang="en-US" smtClean="0"/>
              <a:t>User accounts enable individual users to access specific resources</a:t>
            </a:r>
          </a:p>
          <a:p>
            <a:r>
              <a:rPr lang="en-US" smtClean="0"/>
              <a:t>On a stand-alone or member server, you can create local security groups to help manage user accounts</a:t>
            </a:r>
          </a:p>
          <a:p>
            <a:r>
              <a:rPr lang="en-US" smtClean="0"/>
              <a:t>User profiles are tools for customizing accounts</a:t>
            </a:r>
          </a:p>
          <a:p>
            <a:r>
              <a:rPr lang="en-US" smtClean="0"/>
              <a:t>The ability to stop and restart Active Directory without taking down a DC is an important capability to know</a:t>
            </a:r>
          </a:p>
          <a:p>
            <a:r>
              <a:rPr lang="en-US" smtClean="0"/>
              <a:t>The implementation of Read-Only Domain Controllers (RODCs) is another important feature for using and securing Active Directory in branch office and remote locations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00144218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Chapter Summary (3 of 3)</a:t>
            </a:r>
            <a:endParaRPr lang="en-US" dirty="0"/>
          </a:p>
        </p:txBody>
      </p:sp>
      <p:sp>
        <p:nvSpPr>
          <p:cNvPr id="2" name="Content Placeholder 1"/>
          <p:cNvSpPr>
            <a:spLocks noGrp="1"/>
          </p:cNvSpPr>
          <p:nvPr>
            <p:ph idx="1"/>
          </p:nvPr>
        </p:nvSpPr>
        <p:spPr/>
        <p:txBody>
          <a:bodyPr/>
          <a:lstStyle/>
          <a:p>
            <a:r>
              <a:rPr lang="en-US" smtClean="0"/>
              <a:t>The work of setting up multiple VMs as domain controllers can go faster and with fewer errors by using the ability to clone domain controllers</a:t>
            </a:r>
          </a:p>
          <a:p>
            <a:r>
              <a:rPr lang="en-US" smtClean="0"/>
              <a:t>Fine-grained password policies give an organization more capabilities to customize password policies for different security groups of users</a:t>
            </a:r>
          </a:p>
          <a:p>
            <a:r>
              <a:rPr lang="en-US" smtClean="0"/>
              <a:t>The protected users global group is newly available to create strict locked-in security measures that apply to all members of the group</a:t>
            </a:r>
          </a:p>
          <a:p>
            <a:pPr lvl="1"/>
            <a:r>
              <a:rPr lang="en-US" smtClean="0"/>
              <a:t>Use this global security group for situations that require high security</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244475693"/>
      </p:ext>
    </p:extLst>
  </p:cSld>
  <p:clrMapOvr>
    <a:masterClrMapping/>
  </p:clrMapOvr>
</p:sld>
</file>

<file path=ppt/theme/theme1.xml><?xml version="1.0" encoding="utf-8"?>
<a:theme xmlns:a="http://schemas.openxmlformats.org/drawingml/2006/main" name="Office Theme">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15528</TotalTime>
  <Words>6880</Words>
  <Application>Microsoft Office PowerPoint</Application>
  <PresentationFormat>On-screen Show (4:3)</PresentationFormat>
  <Paragraphs>439</Paragraphs>
  <Slides>64</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64</vt:i4>
      </vt:variant>
    </vt:vector>
  </HeadingPairs>
  <TitlesOfParts>
    <vt:vector size="68" baseType="lpstr">
      <vt:lpstr>Arial</vt:lpstr>
      <vt:lpstr>Calibri</vt:lpstr>
      <vt:lpstr>Calibri Light</vt:lpstr>
      <vt:lpstr>Office Theme</vt:lpstr>
      <vt:lpstr>Hands-On Microsoft Windows Server 2016  2nd Edition</vt:lpstr>
      <vt:lpstr>Objectives (1 of 2)</vt:lpstr>
      <vt:lpstr>Objectives (2 of 2)</vt:lpstr>
      <vt:lpstr>Active Directory Basics (1 of 4)</vt:lpstr>
      <vt:lpstr>Active Directory Basics (2 of 4)</vt:lpstr>
      <vt:lpstr>Active Directory Basics (3 of 4)</vt:lpstr>
      <vt:lpstr>Active Directory Basics (4 of 4)</vt:lpstr>
      <vt:lpstr>Schema (1 of 2)</vt:lpstr>
      <vt:lpstr>Schema (2 of 2)</vt:lpstr>
      <vt:lpstr>Global Catalog (1 of 2)</vt:lpstr>
      <vt:lpstr>Global Catalog (2 of 2)</vt:lpstr>
      <vt:lpstr>Namespace</vt:lpstr>
      <vt:lpstr>Containers in Active Directory</vt:lpstr>
      <vt:lpstr>Forest (1 of 5) </vt:lpstr>
      <vt:lpstr>Forest (2 of 5) </vt:lpstr>
      <vt:lpstr>Forest (3 of 5) </vt:lpstr>
      <vt:lpstr>Forest (4 of 5) </vt:lpstr>
      <vt:lpstr>Forest (5 of 5) </vt:lpstr>
      <vt:lpstr>Tree (1 of 2)</vt:lpstr>
      <vt:lpstr>Tree (2 of 2)</vt:lpstr>
      <vt:lpstr>Domain (1 of 3)</vt:lpstr>
      <vt:lpstr>Domain (2 of 3)</vt:lpstr>
      <vt:lpstr>Domain (3 of 3)</vt:lpstr>
      <vt:lpstr>Organizational Unit (1 of 2)</vt:lpstr>
      <vt:lpstr>Organizational Unit (2 of 2)</vt:lpstr>
      <vt:lpstr>Site (1 of 3)</vt:lpstr>
      <vt:lpstr>Site (2 of 3)</vt:lpstr>
      <vt:lpstr>Site (3 of 3)</vt:lpstr>
      <vt:lpstr>Active Directory Guidelines (1 of 2)</vt:lpstr>
      <vt:lpstr>Active Directory Guidelines (2 of 2)</vt:lpstr>
      <vt:lpstr>Azure Active Directory (1 of 2)</vt:lpstr>
      <vt:lpstr>Azure Active Directory (2 of 2)</vt:lpstr>
      <vt:lpstr>User Account Management</vt:lpstr>
      <vt:lpstr>Creating Accounts When Active Directory Is Not Installed (1 of 3)</vt:lpstr>
      <vt:lpstr>Creating Accounts When Active Directory Is Not Installed (2 of 3)</vt:lpstr>
      <vt:lpstr>Creating Accounts When Active Directory Is Not Installed (3 of 3)</vt:lpstr>
      <vt:lpstr>Creating Accounts When Active Directory Is Installed</vt:lpstr>
      <vt:lpstr>Disabling, Enabling, and Renaming Accounts</vt:lpstr>
      <vt:lpstr>Moving an Account</vt:lpstr>
      <vt:lpstr>Resetting a Password</vt:lpstr>
      <vt:lpstr>Deleting an Account</vt:lpstr>
      <vt:lpstr>Security Group Management (1 of 2)</vt:lpstr>
      <vt:lpstr>Security Group Management (2 of 2)</vt:lpstr>
      <vt:lpstr>Implementing Local Groups</vt:lpstr>
      <vt:lpstr>Implementing Domain Local Groups</vt:lpstr>
      <vt:lpstr>Implementing  Global Groups (1 of 4)</vt:lpstr>
      <vt:lpstr>Implementing  Global Groups (2 of 4)</vt:lpstr>
      <vt:lpstr>Implementing  Global Groups (3 of 4)</vt:lpstr>
      <vt:lpstr>Implementing  Global Groups (4 of4)</vt:lpstr>
      <vt:lpstr>Implementing Universal Groups (1 of 2)</vt:lpstr>
      <vt:lpstr>Implementing Universal Groups (2 of 2)</vt:lpstr>
      <vt:lpstr>Properties of Groups</vt:lpstr>
      <vt:lpstr>Implementing User Profiles (1 of 3)</vt:lpstr>
      <vt:lpstr>Implementing User Profiles (2 of 3)</vt:lpstr>
      <vt:lpstr>Implementing User Profiles (3 of 3)</vt:lpstr>
      <vt:lpstr>Important Features in Windows Server 2016 Active Directory</vt:lpstr>
      <vt:lpstr>Restart Capability</vt:lpstr>
      <vt:lpstr>Read-Only Domain Controller</vt:lpstr>
      <vt:lpstr>Cloning Domain Controllers</vt:lpstr>
      <vt:lpstr>Fine-Grained Password Policy Enhancement</vt:lpstr>
      <vt:lpstr>Protected Users Global Group</vt:lpstr>
      <vt:lpstr>Chapter Summary (1 of 3)</vt:lpstr>
      <vt:lpstr>Chapter Summary (2 of 3)</vt:lpstr>
      <vt:lpstr>Chapter Summary (3 of 3)</vt:lpstr>
    </vt:vector>
  </TitlesOfParts>
  <Company>Course Technology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Author</dc:creator>
  <cp:lastModifiedBy>Bruce Link</cp:lastModifiedBy>
  <cp:revision>515</cp:revision>
  <cp:lastPrinted>2017-07-11T22:10:18Z</cp:lastPrinted>
  <dcterms:created xsi:type="dcterms:W3CDTF">2007-02-15T20:50:52Z</dcterms:created>
  <dcterms:modified xsi:type="dcterms:W3CDTF">2017-07-11T22:14:37Z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732539425</vt:i4>
  </property>
  <property fmtid="{D5CDD505-2E9C-101B-9397-08002B2CF9AE}" pid="3" name="_NewReviewCycle">
    <vt:lpwstr/>
  </property>
  <property fmtid="{D5CDD505-2E9C-101B-9397-08002B2CF9AE}" pid="4" name="_EmailSubject">
    <vt:lpwstr>Cengage Branding/Accessibility </vt:lpwstr>
  </property>
  <property fmtid="{D5CDD505-2E9C-101B-9397-08002B2CF9AE}" pid="5" name="_AuthorEmail">
    <vt:lpwstr>maria.garguilo@cengage.com</vt:lpwstr>
  </property>
  <property fmtid="{D5CDD505-2E9C-101B-9397-08002B2CF9AE}" pid="6" name="_AuthorEmailDisplayName">
    <vt:lpwstr>Garguilo, Maria</vt:lpwstr>
  </property>
  <property fmtid="{D5CDD505-2E9C-101B-9397-08002B2CF9AE}" pid="7" name="_PreviousAdHocReviewCycleID">
    <vt:i4>1933890983</vt:i4>
  </property>
</Properties>
</file>