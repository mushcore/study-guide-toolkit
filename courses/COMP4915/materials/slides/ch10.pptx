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1" r:id="rId1"/>
  </p:sldMasterIdLst>
  <p:notesMasterIdLst>
    <p:notesMasterId r:id="rId60"/>
  </p:notesMasterIdLst>
  <p:handoutMasterIdLst>
    <p:handoutMasterId r:id="rId61"/>
  </p:handoutMasterIdLst>
  <p:sldIdLst>
    <p:sldId id="256" r:id="rId2"/>
    <p:sldId id="257" r:id="rId3"/>
    <p:sldId id="350" r:id="rId4"/>
    <p:sldId id="352" r:id="rId5"/>
    <p:sldId id="353" r:id="rId6"/>
    <p:sldId id="354" r:id="rId7"/>
    <p:sldId id="356" r:id="rId8"/>
    <p:sldId id="355" r:id="rId9"/>
    <p:sldId id="357" r:id="rId10"/>
    <p:sldId id="358" r:id="rId11"/>
    <p:sldId id="359" r:id="rId12"/>
    <p:sldId id="360" r:id="rId13"/>
    <p:sldId id="361" r:id="rId14"/>
    <p:sldId id="362" r:id="rId15"/>
    <p:sldId id="397" r:id="rId16"/>
    <p:sldId id="363" r:id="rId17"/>
    <p:sldId id="364" r:id="rId18"/>
    <p:sldId id="365" r:id="rId19"/>
    <p:sldId id="398" r:id="rId20"/>
    <p:sldId id="366" r:id="rId21"/>
    <p:sldId id="367" r:id="rId22"/>
    <p:sldId id="399" r:id="rId23"/>
    <p:sldId id="368" r:id="rId24"/>
    <p:sldId id="369" r:id="rId25"/>
    <p:sldId id="370" r:id="rId26"/>
    <p:sldId id="371" r:id="rId27"/>
    <p:sldId id="400" r:id="rId28"/>
    <p:sldId id="372" r:id="rId29"/>
    <p:sldId id="373" r:id="rId30"/>
    <p:sldId id="374" r:id="rId31"/>
    <p:sldId id="401" r:id="rId32"/>
    <p:sldId id="375" r:id="rId33"/>
    <p:sldId id="376" r:id="rId34"/>
    <p:sldId id="377" r:id="rId35"/>
    <p:sldId id="402" r:id="rId36"/>
    <p:sldId id="378" r:id="rId37"/>
    <p:sldId id="379" r:id="rId38"/>
    <p:sldId id="380" r:id="rId39"/>
    <p:sldId id="403" r:id="rId40"/>
    <p:sldId id="381" r:id="rId41"/>
    <p:sldId id="383" r:id="rId42"/>
    <p:sldId id="384" r:id="rId43"/>
    <p:sldId id="385" r:id="rId44"/>
    <p:sldId id="386" r:id="rId45"/>
    <p:sldId id="387" r:id="rId46"/>
    <p:sldId id="404" r:id="rId47"/>
    <p:sldId id="388" r:id="rId48"/>
    <p:sldId id="389" r:id="rId49"/>
    <p:sldId id="390" r:id="rId50"/>
    <p:sldId id="391" r:id="rId51"/>
    <p:sldId id="392" r:id="rId52"/>
    <p:sldId id="393" r:id="rId53"/>
    <p:sldId id="394" r:id="rId54"/>
    <p:sldId id="395" r:id="rId55"/>
    <p:sldId id="396" r:id="rId56"/>
    <p:sldId id="308" r:id="rId57"/>
    <p:sldId id="310" r:id="rId58"/>
    <p:sldId id="351" r:id="rId59"/>
  </p:sldIdLst>
  <p:sldSz cx="9144000" cy="6858000" type="screen4x3"/>
  <p:notesSz cx="6858000" cy="92964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anette Stillwell" initials="NBS" lastIdx="5" clrIdx="0"/>
  <p:cmAuthor id="1" name="Gerald Titchener" initials="GT"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70A5"/>
    <a:srgbClr val="FFFFFF"/>
    <a:srgbClr val="96CDEE"/>
    <a:srgbClr val="0F3F5D"/>
    <a:srgbClr val="01773A"/>
    <a:srgbClr val="156B13"/>
    <a:srgbClr val="008000"/>
    <a:srgbClr val="F20000"/>
    <a:srgbClr val="66CC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86647" autoAdjust="0"/>
  </p:normalViewPr>
  <p:slideViewPr>
    <p:cSldViewPr>
      <p:cViewPr varScale="1">
        <p:scale>
          <a:sx n="84" d="100"/>
          <a:sy n="84" d="100"/>
        </p:scale>
        <p:origin x="1038"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64820"/>
          </a:xfrm>
          <a:prstGeom prst="rect">
            <a:avLst/>
          </a:prstGeom>
        </p:spPr>
        <p:txBody>
          <a:bodyPr vert="horz" lIns="92297" tIns="46148" rIns="92297" bIns="46148" rtlCol="0"/>
          <a:lstStyle>
            <a:lvl1pPr algn="r">
              <a:defRPr sz="1200"/>
            </a:lvl1pPr>
          </a:lstStyle>
          <a:p>
            <a:fld id="{4EE4060F-EC6E-45B5-96F1-A60F0585115B}" type="datetimeFigureOut">
              <a:rPr lang="en-US" smtClean="0"/>
              <a:pPr/>
              <a:t>7/11/2017</a:t>
            </a:fld>
            <a:endParaRPr lang="en-US"/>
          </a:p>
        </p:txBody>
      </p:sp>
      <p:sp>
        <p:nvSpPr>
          <p:cNvPr id="4" name="Footer Placeholder 3"/>
          <p:cNvSpPr>
            <a:spLocks noGrp="1"/>
          </p:cNvSpPr>
          <p:nvPr>
            <p:ph type="ftr" sz="quarter" idx="2"/>
          </p:nvPr>
        </p:nvSpPr>
        <p:spPr>
          <a:xfrm>
            <a:off x="0" y="8829966"/>
            <a:ext cx="2971800" cy="464820"/>
          </a:xfrm>
          <a:prstGeom prst="rect">
            <a:avLst/>
          </a:prstGeom>
        </p:spPr>
        <p:txBody>
          <a:bodyPr vert="horz" lIns="92297" tIns="46148" rIns="92297" bIns="46148"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829966"/>
            <a:ext cx="2971800" cy="464820"/>
          </a:xfrm>
          <a:prstGeom prst="rect">
            <a:avLst/>
          </a:prstGeom>
        </p:spPr>
        <p:txBody>
          <a:bodyPr vert="horz" lIns="92297" tIns="46148" rIns="92297" bIns="46148" rtlCol="0" anchor="b"/>
          <a:lstStyle>
            <a:lvl1pPr algn="r">
              <a:defRPr sz="1200"/>
            </a:lvl1pPr>
          </a:lstStyle>
          <a:p>
            <a:fld id="{A987596C-5E44-4393-BE44-DB7D499825F1}" type="slidenum">
              <a:rPr lang="en-US" smtClean="0"/>
              <a:pPr/>
              <a:t>‹#›</a:t>
            </a:fld>
            <a:endParaRPr lang="en-US"/>
          </a:p>
        </p:txBody>
      </p:sp>
    </p:spTree>
    <p:extLst>
      <p:ext uri="{BB962C8B-B14F-4D97-AF65-F5344CB8AC3E}">
        <p14:creationId xmlns:p14="http://schemas.microsoft.com/office/powerpoint/2010/main" val="2834206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64820"/>
          </a:xfrm>
          <a:prstGeom prst="rect">
            <a:avLst/>
          </a:prstGeom>
        </p:spPr>
        <p:txBody>
          <a:bodyPr vert="horz" lIns="92297" tIns="46148" rIns="92297" bIns="46148" rtlCol="0"/>
          <a:lstStyle>
            <a:lvl1pPr algn="l">
              <a:defRPr sz="1200"/>
            </a:lvl1pPr>
          </a:lstStyle>
          <a:p>
            <a:pPr>
              <a:defRPr/>
            </a:pPr>
            <a:endParaRPr lang="en-US" dirty="0"/>
          </a:p>
        </p:txBody>
      </p:sp>
      <p:sp>
        <p:nvSpPr>
          <p:cNvPr id="3" name="Date Placeholder 2"/>
          <p:cNvSpPr>
            <a:spLocks noGrp="1"/>
          </p:cNvSpPr>
          <p:nvPr>
            <p:ph type="dt" idx="1"/>
          </p:nvPr>
        </p:nvSpPr>
        <p:spPr>
          <a:xfrm>
            <a:off x="3884613" y="0"/>
            <a:ext cx="2971800" cy="464820"/>
          </a:xfrm>
          <a:prstGeom prst="rect">
            <a:avLst/>
          </a:prstGeom>
        </p:spPr>
        <p:txBody>
          <a:bodyPr vert="horz" lIns="92297" tIns="46148" rIns="92297" bIns="46148" rtlCol="0"/>
          <a:lstStyle>
            <a:lvl1pPr algn="r">
              <a:defRPr sz="1200"/>
            </a:lvl1pPr>
          </a:lstStyle>
          <a:p>
            <a:pPr>
              <a:defRPr/>
            </a:pPr>
            <a:fld id="{46950642-C6F2-4E46-90C1-0B12B643B3D7}" type="datetimeFigureOut">
              <a:rPr lang="en-US"/>
              <a:pPr>
                <a:defRPr/>
              </a:pPr>
              <a:t>7/11/2017</a:t>
            </a:fld>
            <a:endParaRPr lang="en-US" dirty="0"/>
          </a:p>
        </p:txBody>
      </p:sp>
      <p:sp>
        <p:nvSpPr>
          <p:cNvPr id="4" name="Slide Image Placeholder 3"/>
          <p:cNvSpPr>
            <a:spLocks noGrp="1" noRot="1" noChangeAspect="1"/>
          </p:cNvSpPr>
          <p:nvPr>
            <p:ph type="sldImg" idx="2"/>
          </p:nvPr>
        </p:nvSpPr>
        <p:spPr>
          <a:xfrm>
            <a:off x="1104900" y="696913"/>
            <a:ext cx="4648200" cy="3486150"/>
          </a:xfrm>
          <a:prstGeom prst="rect">
            <a:avLst/>
          </a:prstGeom>
          <a:noFill/>
          <a:ln w="12700">
            <a:solidFill>
              <a:prstClr val="black"/>
            </a:solidFill>
          </a:ln>
        </p:spPr>
        <p:txBody>
          <a:bodyPr vert="horz" lIns="92297" tIns="46148" rIns="92297" bIns="46148" rtlCol="0" anchor="ctr"/>
          <a:lstStyle/>
          <a:p>
            <a:pPr lvl="0"/>
            <a:endParaRPr lang="en-US" noProof="0" dirty="0"/>
          </a:p>
        </p:txBody>
      </p:sp>
      <p:sp>
        <p:nvSpPr>
          <p:cNvPr id="5" name="Notes Placeholder 4"/>
          <p:cNvSpPr>
            <a:spLocks noGrp="1"/>
          </p:cNvSpPr>
          <p:nvPr>
            <p:ph type="body" sz="quarter" idx="3"/>
          </p:nvPr>
        </p:nvSpPr>
        <p:spPr>
          <a:xfrm>
            <a:off x="685800" y="4415790"/>
            <a:ext cx="5486400" cy="4183380"/>
          </a:xfrm>
          <a:prstGeom prst="rect">
            <a:avLst/>
          </a:prstGeom>
        </p:spPr>
        <p:txBody>
          <a:bodyPr vert="horz" lIns="92297" tIns="46148" rIns="92297" bIns="46148"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29966"/>
            <a:ext cx="2971800" cy="464820"/>
          </a:xfrm>
          <a:prstGeom prst="rect">
            <a:avLst/>
          </a:prstGeom>
        </p:spPr>
        <p:txBody>
          <a:bodyPr vert="horz" lIns="92297" tIns="46148" rIns="92297" bIns="46148" rtlCol="0" anchor="b"/>
          <a:lstStyle>
            <a:lvl1pPr algn="l">
              <a:defRPr sz="1200"/>
            </a:lvl1pPr>
          </a:lstStyle>
          <a:p>
            <a:pPr>
              <a:defRPr/>
            </a:pPr>
            <a:endParaRPr lang="en-US" dirty="0"/>
          </a:p>
        </p:txBody>
      </p:sp>
      <p:sp>
        <p:nvSpPr>
          <p:cNvPr id="7" name="Slide Number Placeholder 6"/>
          <p:cNvSpPr>
            <a:spLocks noGrp="1"/>
          </p:cNvSpPr>
          <p:nvPr>
            <p:ph type="sldNum" sz="quarter" idx="5"/>
          </p:nvPr>
        </p:nvSpPr>
        <p:spPr>
          <a:xfrm>
            <a:off x="3884613" y="8829966"/>
            <a:ext cx="2971800" cy="464820"/>
          </a:xfrm>
          <a:prstGeom prst="rect">
            <a:avLst/>
          </a:prstGeom>
        </p:spPr>
        <p:txBody>
          <a:bodyPr vert="horz" lIns="92297" tIns="46148" rIns="92297" bIns="46148" rtlCol="0" anchor="b"/>
          <a:lstStyle>
            <a:lvl1pPr algn="r">
              <a:defRPr sz="1200"/>
            </a:lvl1pPr>
          </a:lstStyle>
          <a:p>
            <a:pPr>
              <a:defRPr/>
            </a:pPr>
            <a:fld id="{CAA8545F-A231-4F50-B1F1-95F56EBB643D}" type="slidenum">
              <a:rPr lang="en-US"/>
              <a:pPr>
                <a:defRPr/>
              </a:pPr>
              <a:t>‹#›</a:t>
            </a:fld>
            <a:endParaRPr lang="en-US" dirty="0"/>
          </a:p>
        </p:txBody>
      </p:sp>
    </p:spTree>
    <p:extLst>
      <p:ext uri="{BB962C8B-B14F-4D97-AF65-F5344CB8AC3E}">
        <p14:creationId xmlns:p14="http://schemas.microsoft.com/office/powerpoint/2010/main" val="315464050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1</a:t>
            </a:fld>
            <a:endParaRPr lang="en-US" dirty="0"/>
          </a:p>
        </p:txBody>
      </p:sp>
    </p:spTree>
    <p:extLst>
      <p:ext uri="{BB962C8B-B14F-4D97-AF65-F5344CB8AC3E}">
        <p14:creationId xmlns:p14="http://schemas.microsoft.com/office/powerpoint/2010/main" val="4083526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2</a:t>
            </a:fld>
            <a:endParaRPr lang="en-US" dirty="0"/>
          </a:p>
        </p:txBody>
      </p:sp>
    </p:spTree>
    <p:extLst>
      <p:ext uri="{BB962C8B-B14F-4D97-AF65-F5344CB8AC3E}">
        <p14:creationId xmlns:p14="http://schemas.microsoft.com/office/powerpoint/2010/main" val="3299944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3</a:t>
            </a:fld>
            <a:endParaRPr lang="en-US" dirty="0"/>
          </a:p>
        </p:txBody>
      </p:sp>
    </p:spTree>
    <p:extLst>
      <p:ext uri="{BB962C8B-B14F-4D97-AF65-F5344CB8AC3E}">
        <p14:creationId xmlns:p14="http://schemas.microsoft.com/office/powerpoint/2010/main" val="36357830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56</a:t>
            </a:fld>
            <a:endParaRPr lang="en-US" dirty="0"/>
          </a:p>
        </p:txBody>
      </p:sp>
    </p:spTree>
    <p:extLst>
      <p:ext uri="{BB962C8B-B14F-4D97-AF65-F5344CB8AC3E}">
        <p14:creationId xmlns:p14="http://schemas.microsoft.com/office/powerpoint/2010/main" val="2976098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57</a:t>
            </a:fld>
            <a:endParaRPr lang="en-US" dirty="0"/>
          </a:p>
        </p:txBody>
      </p:sp>
    </p:spTree>
    <p:extLst>
      <p:ext uri="{BB962C8B-B14F-4D97-AF65-F5344CB8AC3E}">
        <p14:creationId xmlns:p14="http://schemas.microsoft.com/office/powerpoint/2010/main" val="2870814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CAA8545F-A231-4F50-B1F1-95F56EBB643D}" type="slidenum">
              <a:rPr lang="en-US" smtClean="0"/>
              <a:pPr>
                <a:defRPr/>
              </a:pPr>
              <a:t>58</a:t>
            </a:fld>
            <a:endParaRPr lang="en-US" dirty="0"/>
          </a:p>
        </p:txBody>
      </p:sp>
    </p:spTree>
    <p:extLst>
      <p:ext uri="{BB962C8B-B14F-4D97-AF65-F5344CB8AC3E}">
        <p14:creationId xmlns:p14="http://schemas.microsoft.com/office/powerpoint/2010/main" val="3330817360"/>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image" Target="../media/image3.png"/><Relationship Id="rId9"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98500" y="2712698"/>
            <a:ext cx="7747000" cy="377026"/>
          </a:xfrm>
        </p:spPr>
        <p:txBody>
          <a:bodyPr anchor="b"/>
          <a:lstStyle>
            <a:lvl1pPr algn="ctr">
              <a:defRPr sz="2800">
                <a:solidFill>
                  <a:schemeClr val="accent2"/>
                </a:solidFill>
              </a:defRPr>
            </a:lvl1pPr>
          </a:lstStyle>
          <a:p>
            <a:r>
              <a:rPr lang="en-US" dirty="0"/>
              <a:t>Click to edit Master title style</a:t>
            </a:r>
          </a:p>
        </p:txBody>
      </p:sp>
      <p:sp>
        <p:nvSpPr>
          <p:cNvPr id="3" name="Subtitle 2"/>
          <p:cNvSpPr>
            <a:spLocks noGrp="1"/>
          </p:cNvSpPr>
          <p:nvPr>
            <p:ph type="subTitle" idx="1"/>
          </p:nvPr>
        </p:nvSpPr>
        <p:spPr>
          <a:xfrm>
            <a:off x="698500" y="3352800"/>
            <a:ext cx="7747000" cy="235962"/>
          </a:xfrm>
        </p:spPr>
        <p:txBody>
          <a:bodyPr/>
          <a:lstStyle>
            <a:lvl1pPr marL="0" indent="0" algn="ctr">
              <a:buNone/>
              <a:defRPr sz="16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6" name="Footer Placeholder 5"/>
          <p:cNvSpPr>
            <a:spLocks noGrp="1"/>
          </p:cNvSpPr>
          <p:nvPr>
            <p:ph type="ftr" sz="quarter" idx="10"/>
          </p:nvPr>
        </p:nvSpPr>
        <p:spPr>
          <a:xfrm>
            <a:off x="1204120" y="6363869"/>
            <a:ext cx="6201666" cy="366183"/>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11" name="Picture 10" descr="Title_Slide.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8134" y="254000"/>
            <a:ext cx="8713465" cy="6526752"/>
          </a:xfrm>
          <a:prstGeom prst="rect">
            <a:avLst/>
          </a:prstGeom>
        </p:spPr>
      </p:pic>
      <p:sp>
        <p:nvSpPr>
          <p:cNvPr id="4" name="Rectangle 3"/>
          <p:cNvSpPr/>
          <p:nvPr userDrawn="1"/>
        </p:nvSpPr>
        <p:spPr>
          <a:xfrm>
            <a:off x="3482340" y="223520"/>
            <a:ext cx="2125980" cy="985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Rules_Single_A.png"/>
          <p:cNvPicPr>
            <a:picLocks noChangeAspect="1"/>
          </p:cNvPicPr>
          <p:nvPr userDrawn="1"/>
        </p:nvPicPr>
        <p:blipFill rotWithShape="1">
          <a:blip r:embed="rId3" cstate="print">
            <a:extLst>
              <a:ext uri="{28A0092B-C50C-407E-A947-70E740481C1C}">
                <a14:useLocalDpi xmlns:a14="http://schemas.microsoft.com/office/drawing/2010/main" val="0"/>
              </a:ext>
            </a:extLst>
          </a:blip>
          <a:srcRect l="25529" r="-57141"/>
          <a:stretch/>
        </p:blipFill>
        <p:spPr>
          <a:xfrm>
            <a:off x="1627124" y="481304"/>
            <a:ext cx="10034016" cy="99113"/>
          </a:xfrm>
          <a:prstGeom prst="rect">
            <a:avLst/>
          </a:prstGeom>
        </p:spPr>
      </p:pic>
      <p:sp>
        <p:nvSpPr>
          <p:cNvPr id="5" name="Rectangle 4"/>
          <p:cNvSpPr/>
          <p:nvPr userDrawn="1"/>
        </p:nvSpPr>
        <p:spPr>
          <a:xfrm>
            <a:off x="6812283" y="4885106"/>
            <a:ext cx="2080291" cy="1926127"/>
          </a:xfrm>
          <a:custGeom>
            <a:avLst/>
            <a:gdLst>
              <a:gd name="connsiteX0" fmla="*/ 0 w 1973580"/>
              <a:gd name="connsiteY0" fmla="*/ 0 h 1389864"/>
              <a:gd name="connsiteX1" fmla="*/ 1973580 w 1973580"/>
              <a:gd name="connsiteY1" fmla="*/ 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0 h 1389864"/>
              <a:gd name="connsiteX1" fmla="*/ 1935480 w 1973580"/>
              <a:gd name="connsiteY1" fmla="*/ 60960 h 1389864"/>
              <a:gd name="connsiteX2" fmla="*/ 1973580 w 1973580"/>
              <a:gd name="connsiteY2" fmla="*/ 1389864 h 1389864"/>
              <a:gd name="connsiteX3" fmla="*/ 0 w 1973580"/>
              <a:gd name="connsiteY3" fmla="*/ 1389864 h 1389864"/>
              <a:gd name="connsiteX4" fmla="*/ 0 w 1973580"/>
              <a:gd name="connsiteY4" fmla="*/ 0 h 1389864"/>
              <a:gd name="connsiteX0" fmla="*/ 0 w 1973580"/>
              <a:gd name="connsiteY0" fmla="*/ 54731 h 1444595"/>
              <a:gd name="connsiteX1" fmla="*/ 1577340 w 1973580"/>
              <a:gd name="connsiteY1" fmla="*/ 1391 h 1444595"/>
              <a:gd name="connsiteX2" fmla="*/ 1935480 w 1973580"/>
              <a:gd name="connsiteY2" fmla="*/ 115691 h 1444595"/>
              <a:gd name="connsiteX3" fmla="*/ 1973580 w 1973580"/>
              <a:gd name="connsiteY3" fmla="*/ 1444595 h 1444595"/>
              <a:gd name="connsiteX4" fmla="*/ 0 w 1973580"/>
              <a:gd name="connsiteY4" fmla="*/ 1444595 h 1444595"/>
              <a:gd name="connsiteX5" fmla="*/ 0 w 1973580"/>
              <a:gd name="connsiteY5"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0 w 2080291"/>
              <a:gd name="connsiteY6"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60960 w 2080291"/>
              <a:gd name="connsiteY6" fmla="*/ 103009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144780 w 2080291"/>
              <a:gd name="connsiteY6" fmla="*/ 999612 h 1444595"/>
              <a:gd name="connsiteX7" fmla="*/ 0 w 2080291"/>
              <a:gd name="connsiteY7" fmla="*/ 54731 h 1444595"/>
              <a:gd name="connsiteX0" fmla="*/ 0 w 2080291"/>
              <a:gd name="connsiteY0" fmla="*/ 54731 h 1444595"/>
              <a:gd name="connsiteX1" fmla="*/ 1577340 w 2080291"/>
              <a:gd name="connsiteY1" fmla="*/ 1391 h 1444595"/>
              <a:gd name="connsiteX2" fmla="*/ 1935480 w 2080291"/>
              <a:gd name="connsiteY2" fmla="*/ 115691 h 1444595"/>
              <a:gd name="connsiteX3" fmla="*/ 2080260 w 2080291"/>
              <a:gd name="connsiteY3" fmla="*/ 428112 h 1444595"/>
              <a:gd name="connsiteX4" fmla="*/ 1973580 w 2080291"/>
              <a:gd name="connsiteY4" fmla="*/ 1444595 h 1444595"/>
              <a:gd name="connsiteX5" fmla="*/ 0 w 2080291"/>
              <a:gd name="connsiteY5" fmla="*/ 1444595 h 1444595"/>
              <a:gd name="connsiteX6" fmla="*/ 99060 w 2080291"/>
              <a:gd name="connsiteY6" fmla="*/ 991992 h 1444595"/>
              <a:gd name="connsiteX7" fmla="*/ 0 w 2080291"/>
              <a:gd name="connsiteY7" fmla="*/ 54731 h 1444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80291" h="1444595">
                <a:moveTo>
                  <a:pt x="0" y="54731"/>
                </a:moveTo>
                <a:cubicBezTo>
                  <a:pt x="520700" y="67431"/>
                  <a:pt x="1056640" y="-11309"/>
                  <a:pt x="1577340" y="1391"/>
                </a:cubicBezTo>
                <a:lnTo>
                  <a:pt x="1935480" y="115691"/>
                </a:lnTo>
                <a:cubicBezTo>
                  <a:pt x="1932940" y="209671"/>
                  <a:pt x="2082800" y="334132"/>
                  <a:pt x="2080260" y="428112"/>
                </a:cubicBezTo>
                <a:lnTo>
                  <a:pt x="1973580" y="1444595"/>
                </a:lnTo>
                <a:lnTo>
                  <a:pt x="0" y="1444595"/>
                </a:lnTo>
                <a:cubicBezTo>
                  <a:pt x="0" y="1319127"/>
                  <a:pt x="99060" y="1117460"/>
                  <a:pt x="99060" y="991992"/>
                </a:cubicBezTo>
                <a:lnTo>
                  <a:pt x="0" y="54731"/>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udio.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65369" y="5389519"/>
            <a:ext cx="987056" cy="1040948"/>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24476" r="23794"/>
          <a:stretch/>
        </p:blipFill>
        <p:spPr>
          <a:xfrm>
            <a:off x="8674488" y="5121741"/>
            <a:ext cx="275507" cy="710099"/>
          </a:xfrm>
          <a:prstGeom prst="rect">
            <a:avLst/>
          </a:prstGeom>
        </p:spPr>
      </p:pic>
      <p:pic>
        <p:nvPicPr>
          <p:cNvPr id="13" name="Picture 12" descr="Swirl_3.png"/>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rot="9688654">
            <a:off x="7441068" y="6393019"/>
            <a:ext cx="386047" cy="285072"/>
          </a:xfrm>
          <a:prstGeom prst="rect">
            <a:avLst/>
          </a:prstGeom>
        </p:spPr>
      </p:pic>
      <p:pic>
        <p:nvPicPr>
          <p:cNvPr id="14" name="Picture 13" descr="Swirl_3.png"/>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rot="18073124">
            <a:off x="7908376" y="5449329"/>
            <a:ext cx="591497" cy="245691"/>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4669" t="13753" r="6579" b="12460"/>
          <a:stretch/>
        </p:blipFill>
        <p:spPr>
          <a:xfrm>
            <a:off x="7939373" y="5831840"/>
            <a:ext cx="672857" cy="745880"/>
          </a:xfrm>
          <a:prstGeom prst="rect">
            <a:avLst/>
          </a:prstGeom>
        </p:spPr>
      </p:pic>
      <p:pic>
        <p:nvPicPr>
          <p:cNvPr id="9" name="Picture 8"/>
          <p:cNvPicPr>
            <a:picLocks noChangeAspect="1"/>
          </p:cNvPicPr>
          <p:nvPr userDrawn="1"/>
        </p:nvPicPr>
        <p:blipFill>
          <a:blip r:embed="rId9"/>
          <a:stretch>
            <a:fillRect/>
          </a:stretch>
        </p:blipFill>
        <p:spPr>
          <a:xfrm>
            <a:off x="0" y="6415635"/>
            <a:ext cx="1151034" cy="354164"/>
          </a:xfrm>
          <a:prstGeom prst="rect">
            <a:avLst/>
          </a:prstGeom>
        </p:spPr>
      </p:pic>
    </p:spTree>
    <p:extLst>
      <p:ext uri="{BB962C8B-B14F-4D97-AF65-F5344CB8AC3E}">
        <p14:creationId xmlns:p14="http://schemas.microsoft.com/office/powerpoint/2010/main" val="2594084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41600" y="2228188"/>
            <a:ext cx="6172200" cy="377026"/>
          </a:xfrm>
        </p:spPr>
        <p:txBody>
          <a:bodyPr anchor="ctr"/>
          <a:lstStyle>
            <a:lvl1pPr algn="l">
              <a:defRPr sz="2800" b="0" cap="none" baseline="0">
                <a:solidFill>
                  <a:srgbClr val="055C91"/>
                </a:solidFill>
              </a:defRPr>
            </a:lvl1pPr>
          </a:lstStyle>
          <a:p>
            <a:r>
              <a:rPr lang="en-US" dirty="0"/>
              <a:t>Click to edit Master title style</a:t>
            </a:r>
          </a:p>
        </p:txBody>
      </p:sp>
      <p:sp>
        <p:nvSpPr>
          <p:cNvPr id="3" name="Text Placeholder 2"/>
          <p:cNvSpPr>
            <a:spLocks noGrp="1"/>
          </p:cNvSpPr>
          <p:nvPr>
            <p:ph type="body" idx="1"/>
          </p:nvPr>
        </p:nvSpPr>
        <p:spPr>
          <a:xfrm>
            <a:off x="2641600" y="2942670"/>
            <a:ext cx="6172200" cy="265457"/>
          </a:xfrm>
        </p:spPr>
        <p:txBody>
          <a:bodyPr anchor="t"/>
          <a:lstStyle>
            <a:lvl1pPr marL="0" indent="0">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7" name="Footer Placeholder 6"/>
          <p:cNvSpPr>
            <a:spLocks noGrp="1"/>
          </p:cNvSpPr>
          <p:nvPr>
            <p:ph type="ftr" sz="quarter" idx="10"/>
          </p:nvPr>
        </p:nvSpPr>
        <p:spPr>
          <a:xfrm>
            <a:off x="1597682" y="6578465"/>
            <a:ext cx="6781693" cy="244535"/>
          </a:xfrm>
        </p:spPr>
        <p:txBody>
          <a:bodyPr/>
          <a:lstStyle>
            <a:lvl1pPr>
              <a:defRPr sz="600"/>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6" name="Picture 5" descr="Rules_Single_A.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4" name="Picture 3" descr="Audio.png"/>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40707" y="361953"/>
            <a:ext cx="1840495" cy="1940983"/>
          </a:xfrm>
          <a:prstGeom prst="rect">
            <a:avLst/>
          </a:prstGeom>
        </p:spPr>
      </p:pic>
      <p:pic>
        <p:nvPicPr>
          <p:cNvPr id="11" name="Picture 10" descr="Swirl_3.png"/>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rot="2569126">
            <a:off x="1431691" y="1916271"/>
            <a:ext cx="908570" cy="670924"/>
          </a:xfrm>
          <a:prstGeom prst="rect">
            <a:avLst/>
          </a:prstGeom>
        </p:spPr>
      </p:pic>
      <p:pic>
        <p:nvPicPr>
          <p:cNvPr id="12" name="Picture 11" descr="Swirl_2.png"/>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rot="3873741" flipH="1">
            <a:off x="218018" y="3551101"/>
            <a:ext cx="795867" cy="833254"/>
          </a:xfrm>
          <a:prstGeom prst="rect">
            <a:avLst/>
          </a:prstGeom>
        </p:spPr>
      </p:pic>
      <p:pic>
        <p:nvPicPr>
          <p:cNvPr id="14" name="Picture 13"/>
          <p:cNvPicPr>
            <a:picLocks noChangeAspect="1"/>
          </p:cNvPicPr>
          <p:nvPr userDrawn="1"/>
        </p:nvPicPr>
        <p:blipFill rotWithShape="1">
          <a:blip r:embed="rId6" cstate="print">
            <a:extLst>
              <a:ext uri="{28A0092B-C50C-407E-A947-70E740481C1C}">
                <a14:useLocalDpi xmlns:a14="http://schemas.microsoft.com/office/drawing/2010/main" val="0"/>
              </a:ext>
            </a:extLst>
          </a:blip>
          <a:srcRect l="4669" t="13753" r="6579" b="12460"/>
          <a:stretch/>
        </p:blipFill>
        <p:spPr>
          <a:xfrm>
            <a:off x="879649" y="2604920"/>
            <a:ext cx="1101550" cy="1221097"/>
          </a:xfrm>
          <a:prstGeom prst="rect">
            <a:avLst/>
          </a:prstGeom>
        </p:spPr>
      </p:pic>
      <p:pic>
        <p:nvPicPr>
          <p:cNvPr id="15" name="Picture 14"/>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140704" y="4534755"/>
            <a:ext cx="596838" cy="795784"/>
          </a:xfrm>
          <a:prstGeom prst="rect">
            <a:avLst/>
          </a:prstGeom>
        </p:spPr>
      </p:pic>
      <p:pic>
        <p:nvPicPr>
          <p:cNvPr id="16" name="Picture 15"/>
          <p:cNvPicPr>
            <a:picLocks noChangeAspect="1"/>
          </p:cNvPicPr>
          <p:nvPr userDrawn="1"/>
        </p:nvPicPr>
        <p:blipFill rotWithShape="1">
          <a:blip r:embed="rId8" cstate="print">
            <a:extLst>
              <a:ext uri="{28A0092B-C50C-407E-A947-70E740481C1C}">
                <a14:useLocalDpi xmlns:a14="http://schemas.microsoft.com/office/drawing/2010/main" val="0"/>
              </a:ext>
            </a:extLst>
          </a:blip>
          <a:srcRect l="24476" r="23794"/>
          <a:stretch/>
        </p:blipFill>
        <p:spPr>
          <a:xfrm>
            <a:off x="737542" y="4804753"/>
            <a:ext cx="252342" cy="650393"/>
          </a:xfrm>
          <a:prstGeom prst="rect">
            <a:avLst/>
          </a:prstGeom>
        </p:spPr>
      </p:pic>
      <p:pic>
        <p:nvPicPr>
          <p:cNvPr id="17" name="Picture 16"/>
          <p:cNvPicPr>
            <a:picLocks noChangeAspect="1"/>
          </p:cNvPicPr>
          <p:nvPr userDrawn="1"/>
        </p:nvPicPr>
        <p:blipFill>
          <a:blip r:embed="rId9"/>
          <a:stretch>
            <a:fillRect/>
          </a:stretch>
        </p:blipFill>
        <p:spPr>
          <a:xfrm>
            <a:off x="118720" y="6363035"/>
            <a:ext cx="1400289" cy="430858"/>
          </a:xfrm>
          <a:prstGeom prst="rect">
            <a:avLst/>
          </a:prstGeom>
        </p:spPr>
      </p:pic>
    </p:spTree>
    <p:extLst>
      <p:ext uri="{BB962C8B-B14F-4D97-AF65-F5344CB8AC3E}">
        <p14:creationId xmlns:p14="http://schemas.microsoft.com/office/powerpoint/2010/main" val="2706735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Footer Placeholder 1"/>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7" name="Picture 6"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3" name="Picture 12"/>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18" name="Picture 17"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5" name="Picture 4"/>
          <p:cNvPicPr>
            <a:picLocks noChangeAspect="1"/>
          </p:cNvPicPr>
          <p:nvPr userDrawn="1"/>
        </p:nvPicPr>
        <p:blipFill>
          <a:blip r:embed="rId5"/>
          <a:stretch>
            <a:fillRect/>
          </a:stretch>
        </p:blipFill>
        <p:spPr>
          <a:xfrm>
            <a:off x="47177" y="6324600"/>
            <a:ext cx="1439449" cy="442907"/>
          </a:xfrm>
          <a:prstGeom prst="rect">
            <a:avLst/>
          </a:prstGeom>
        </p:spPr>
      </p:pic>
    </p:spTree>
    <p:extLst>
      <p:ext uri="{BB962C8B-B14F-4D97-AF65-F5344CB8AC3E}">
        <p14:creationId xmlns:p14="http://schemas.microsoft.com/office/powerpoint/2010/main" val="4024610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762000" y="406258"/>
            <a:ext cx="8026400" cy="296235"/>
          </a:xfrm>
        </p:spPr>
        <p:txBody>
          <a:bodyPr/>
          <a:lstStyle/>
          <a:p>
            <a:r>
              <a:rPr lang="en-US" dirty="0"/>
              <a:t>Click to edit Master title style</a:t>
            </a:r>
          </a:p>
        </p:txBody>
      </p:sp>
      <p:sp>
        <p:nvSpPr>
          <p:cNvPr id="3" name="Footer Placeholder 2"/>
          <p:cNvSpPr>
            <a:spLocks noGrp="1"/>
          </p:cNvSpPr>
          <p:nvPr>
            <p:ph type="ftr" sz="quarter" idx="10"/>
          </p:nvPr>
        </p:nvSpPr>
        <p:spPr>
          <a:xfrm>
            <a:off x="1597682" y="6578465"/>
            <a:ext cx="6781693" cy="244535"/>
          </a:xfrm>
        </p:spPr>
        <p:txBody>
          <a:bodyPr/>
          <a:lstStyle>
            <a:lvl1pPr>
              <a:defRPr sz="600"/>
            </a:lvl1p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pic>
        <p:nvPicPr>
          <p:cNvPr id="8" name="Picture 7" descr="Rules_Single_B.png"/>
          <p:cNvPicPr>
            <a:picLocks noChangeAspect="1"/>
          </p:cNvPicPr>
          <p:nvPr userDrawn="1"/>
        </p:nvPicPr>
        <p:blipFill rotWithShape="1">
          <a:blip r:embed="rId2" cstate="print">
            <a:extLst>
              <a:ext uri="{28A0092B-C50C-407E-A947-70E740481C1C}">
                <a14:useLocalDpi xmlns:a14="http://schemas.microsoft.com/office/drawing/2010/main" val="0"/>
              </a:ext>
            </a:extLst>
          </a:blip>
          <a:srcRect l="-4003" r="10006"/>
          <a:stretch/>
        </p:blipFill>
        <p:spPr>
          <a:xfrm>
            <a:off x="215900" y="948267"/>
            <a:ext cx="8586216" cy="44704"/>
          </a:xfrm>
          <a:prstGeom prst="rect">
            <a:avLst/>
          </a:prstGeom>
        </p:spPr>
      </p:pic>
      <p:pic>
        <p:nvPicPr>
          <p:cNvPr id="14" name="Pictur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69" t="13753" r="6579" b="12460"/>
          <a:stretch/>
        </p:blipFill>
        <p:spPr>
          <a:xfrm>
            <a:off x="79668" y="222263"/>
            <a:ext cx="628992" cy="697255"/>
          </a:xfrm>
          <a:prstGeom prst="rect">
            <a:avLst/>
          </a:prstGeom>
        </p:spPr>
      </p:pic>
      <p:pic>
        <p:nvPicPr>
          <p:cNvPr id="22" name="Picture 21" descr="Rules_Single_A.png"/>
          <p:cNvPicPr>
            <a:picLocks noChangeAspect="1"/>
          </p:cNvPicPr>
          <p:nvPr userDrawn="1"/>
        </p:nvPicPr>
        <p:blipFill rotWithShape="1">
          <a:blip r:embed="rId4" cstate="print">
            <a:extLst>
              <a:ext uri="{28A0092B-C50C-407E-A947-70E740481C1C}">
                <a14:useLocalDpi xmlns:a14="http://schemas.microsoft.com/office/drawing/2010/main" val="0"/>
              </a:ext>
            </a:extLst>
          </a:blip>
          <a:srcRect l="25529" r="-57141"/>
          <a:stretch/>
        </p:blipFill>
        <p:spPr>
          <a:xfrm>
            <a:off x="1597682" y="6487629"/>
            <a:ext cx="11423745" cy="90835"/>
          </a:xfrm>
          <a:prstGeom prst="rect">
            <a:avLst/>
          </a:prstGeom>
        </p:spPr>
      </p:pic>
      <p:pic>
        <p:nvPicPr>
          <p:cNvPr id="9" name="Picture 8"/>
          <p:cNvPicPr>
            <a:picLocks noChangeAspect="1"/>
          </p:cNvPicPr>
          <p:nvPr userDrawn="1"/>
        </p:nvPicPr>
        <p:blipFill>
          <a:blip r:embed="rId5"/>
          <a:stretch>
            <a:fillRect/>
          </a:stretch>
        </p:blipFill>
        <p:spPr>
          <a:xfrm>
            <a:off x="60488" y="6305978"/>
            <a:ext cx="1403024" cy="431699"/>
          </a:xfrm>
          <a:prstGeom prst="rect">
            <a:avLst/>
          </a:prstGeom>
        </p:spPr>
      </p:pic>
    </p:spTree>
    <p:extLst>
      <p:ext uri="{BB962C8B-B14F-4D97-AF65-F5344CB8AC3E}">
        <p14:creationId xmlns:p14="http://schemas.microsoft.com/office/powerpoint/2010/main" val="13363938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2018 Cengage. All Rights Reserved.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spTree>
    <p:extLst>
      <p:ext uri="{BB962C8B-B14F-4D97-AF65-F5344CB8AC3E}">
        <p14:creationId xmlns:p14="http://schemas.microsoft.com/office/powerpoint/2010/main" val="36470330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65125" y="1538818"/>
            <a:ext cx="8415338" cy="1412951"/>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5"/>
          <p:cNvSpPr txBox="1">
            <a:spLocks/>
          </p:cNvSpPr>
          <p:nvPr userDrawn="1"/>
        </p:nvSpPr>
        <p:spPr>
          <a:xfrm>
            <a:off x="8376166" y="6513743"/>
            <a:ext cx="312906" cy="215444"/>
          </a:xfrm>
          <a:prstGeom prst="rect">
            <a:avLst/>
          </a:prstGeom>
        </p:spPr>
        <p:txBody>
          <a:bodyPr vert="horz" wrap="none" lIns="91440" tIns="45720" rIns="91440" bIns="45720" rtlCol="0" anchor="ctr">
            <a:spAutoFit/>
          </a:bodyP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8B40067-BD2A-418A-98BB-08A98047DC47}" type="slidenum">
              <a:rPr kumimoji="0" lang="en-US" sz="800" b="0" i="0" u="none" strike="noStrike" kern="1200" cap="none" spc="0" normalizeH="0" baseline="0" noProof="0" smtClean="0">
                <a:ln>
                  <a:noFill/>
                </a:ln>
                <a:solidFill>
                  <a:schemeClr val="tx1">
                    <a:tint val="75000"/>
                  </a:schemeClr>
                </a:solidFill>
                <a:effectLst/>
                <a:uLnTx/>
                <a:uFillTx/>
                <a:latin typeface="+mn-l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800" b="0" i="0" u="none" strike="noStrike" kern="1200" cap="none" spc="0" normalizeH="0" baseline="0" noProof="0" dirty="0">
              <a:ln>
                <a:noFill/>
              </a:ln>
              <a:solidFill>
                <a:schemeClr val="tx1">
                  <a:tint val="75000"/>
                </a:schemeClr>
              </a:solidFill>
              <a:effectLst/>
              <a:uLnTx/>
              <a:uFillTx/>
              <a:latin typeface="+mn-lt"/>
              <a:ea typeface="+mn-ea"/>
              <a:cs typeface="+mn-cs"/>
            </a:endParaRPr>
          </a:p>
        </p:txBody>
      </p:sp>
      <p:sp>
        <p:nvSpPr>
          <p:cNvPr id="2" name="Title Placeholder 1"/>
          <p:cNvSpPr>
            <a:spLocks noGrp="1"/>
          </p:cNvSpPr>
          <p:nvPr>
            <p:ph type="title"/>
          </p:nvPr>
        </p:nvSpPr>
        <p:spPr>
          <a:xfrm>
            <a:off x="365125" y="480785"/>
            <a:ext cx="8415338" cy="296235"/>
          </a:xfrm>
          <a:prstGeom prst="rect">
            <a:avLst/>
          </a:prstGeom>
        </p:spPr>
        <p:txBody>
          <a:bodyPr vert="horz" wrap="square" lIns="0" tIns="0" rIns="0" bIns="0" rtlCol="0" anchor="ctr">
            <a:spAutoFit/>
          </a:bodyPr>
          <a:lstStyle/>
          <a:p>
            <a:r>
              <a:rPr lang="en-US" dirty="0"/>
              <a:t>Click to edit Master title style</a:t>
            </a:r>
          </a:p>
        </p:txBody>
      </p:sp>
      <p:sp>
        <p:nvSpPr>
          <p:cNvPr id="4" name="Footer Placeholder 3"/>
          <p:cNvSpPr>
            <a:spLocks noGrp="1"/>
          </p:cNvSpPr>
          <p:nvPr>
            <p:ph type="ftr" sz="quarter" idx="3"/>
          </p:nvPr>
        </p:nvSpPr>
        <p:spPr>
          <a:xfrm>
            <a:off x="365126" y="6611007"/>
            <a:ext cx="8014247" cy="211991"/>
          </a:xfrm>
          <a:prstGeom prst="rect">
            <a:avLst/>
          </a:prstGeom>
        </p:spPr>
        <p:txBody>
          <a:bodyPr vert="horz" lIns="91440" tIns="45720" rIns="91440" bIns="45720" rtlCol="0" anchor="ctr"/>
          <a:lstStyle>
            <a:lvl1pPr algn="ctr">
              <a:defRPr sz="600">
                <a:solidFill>
                  <a:schemeClr val="tx1">
                    <a:tint val="75000"/>
                  </a:schemeClr>
                </a:solidFill>
              </a:defRPr>
            </a:lvl1pPr>
          </a:lstStyle>
          <a:p>
            <a:r>
              <a:rPr lang="en-US" dirty="0"/>
              <a:t>© 2018 Cengage. May not be copied, scanned, or duplicated, in whole or in part, except for use as permitted in a license distributed with a certain product or service or otherwise on a </a:t>
            </a:r>
            <a:r>
              <a:rPr lang="en-US"/>
              <a:t>password-protected </a:t>
            </a:r>
            <a:r>
              <a:rPr lang="en-US" smtClean="0"/>
              <a:t>website </a:t>
            </a:r>
            <a:r>
              <a:rPr lang="en-US" dirty="0"/>
              <a:t>for classroom use.</a:t>
            </a:r>
          </a:p>
        </p:txBody>
      </p:sp>
    </p:spTree>
    <p:extLst>
      <p:ext uri="{BB962C8B-B14F-4D97-AF65-F5344CB8AC3E}">
        <p14:creationId xmlns:p14="http://schemas.microsoft.com/office/powerpoint/2010/main" val="4092161740"/>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56" r:id="rId5"/>
  </p:sldLayoutIdLst>
  <p:hf hdr="0" dt="0"/>
  <p:txStyles>
    <p:titleStyle>
      <a:lvl1pPr algn="l" defTabSz="914400" rtl="0" eaLnBrk="1" latinLnBrk="0" hangingPunct="1">
        <a:lnSpc>
          <a:spcPct val="85000"/>
        </a:lnSpc>
        <a:spcBef>
          <a:spcPct val="0"/>
        </a:spcBef>
        <a:buNone/>
        <a:defRPr sz="2200" kern="1200">
          <a:solidFill>
            <a:schemeClr val="accent2"/>
          </a:solidFill>
          <a:latin typeface="+mj-lt"/>
          <a:ea typeface="+mj-ea"/>
          <a:cs typeface="+mj-cs"/>
        </a:defRPr>
      </a:lvl1pPr>
    </p:titleStyle>
    <p:bodyStyle>
      <a:lvl1pPr marL="171450" indent="-171450" algn="l" defTabSz="914400" rtl="0" eaLnBrk="1" latinLnBrk="0" hangingPunct="1">
        <a:lnSpc>
          <a:spcPct val="95000"/>
        </a:lnSpc>
        <a:spcBef>
          <a:spcPts val="1200"/>
        </a:spcBef>
        <a:buClr>
          <a:schemeClr val="accent2"/>
        </a:buClr>
        <a:buFont typeface="Arial" pitchFamily="34" charset="0"/>
        <a:buChar char="•"/>
        <a:defRPr sz="2000" kern="1200">
          <a:solidFill>
            <a:schemeClr val="tx1">
              <a:lumMod val="75000"/>
              <a:lumOff val="25000"/>
            </a:schemeClr>
          </a:solidFill>
          <a:latin typeface="+mn-lt"/>
          <a:ea typeface="+mn-ea"/>
          <a:cs typeface="+mn-cs"/>
        </a:defRPr>
      </a:lvl1pPr>
      <a:lvl2pPr marL="400050" indent="-171450" algn="l" defTabSz="914400" rtl="0" eaLnBrk="1" latinLnBrk="0" hangingPunct="1">
        <a:lnSpc>
          <a:spcPct val="95000"/>
        </a:lnSpc>
        <a:spcBef>
          <a:spcPts val="600"/>
        </a:spcBef>
        <a:buClr>
          <a:schemeClr val="accent1"/>
        </a:buClr>
        <a:buFont typeface="Arial" pitchFamily="34" charset="0"/>
        <a:buChar char="•"/>
        <a:defRPr sz="1800" kern="1200">
          <a:solidFill>
            <a:schemeClr val="tx1">
              <a:lumMod val="75000"/>
              <a:lumOff val="25000"/>
            </a:schemeClr>
          </a:solidFill>
          <a:latin typeface="+mn-lt"/>
          <a:ea typeface="+mn-ea"/>
          <a:cs typeface="+mn-cs"/>
        </a:defRPr>
      </a:lvl2pPr>
      <a:lvl3pPr marL="571500" indent="-114300" algn="l" defTabSz="914400" rtl="0" eaLnBrk="1" latinLnBrk="0" hangingPunct="1">
        <a:lnSpc>
          <a:spcPct val="95000"/>
        </a:lnSpc>
        <a:spcBef>
          <a:spcPct val="20000"/>
        </a:spcBef>
        <a:buClr>
          <a:schemeClr val="tx1">
            <a:lumMod val="75000"/>
            <a:lumOff val="25000"/>
          </a:schemeClr>
        </a:buClr>
        <a:buFont typeface="Arial" pitchFamily="34" charset="0"/>
        <a:buChar char="-"/>
        <a:defRPr sz="1600" kern="1200">
          <a:solidFill>
            <a:schemeClr val="tx1">
              <a:lumMod val="75000"/>
              <a:lumOff val="25000"/>
            </a:schemeClr>
          </a:solidFill>
          <a:latin typeface="+mn-lt"/>
          <a:ea typeface="+mn-ea"/>
          <a:cs typeface="+mn-cs"/>
        </a:defRPr>
      </a:lvl3pPr>
      <a:lvl4pPr marL="74295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4pPr>
      <a:lvl5pPr marL="914400" indent="-114300" algn="l" defTabSz="914400" rtl="0" eaLnBrk="1" latinLnBrk="0" hangingPunct="1">
        <a:lnSpc>
          <a:spcPct val="95000"/>
        </a:lnSpc>
        <a:spcBef>
          <a:spcPct val="20000"/>
        </a:spcBef>
        <a:buFont typeface="Arial"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6.jp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Hands-On Microsoft Windows Server 2016</a:t>
            </a:r>
            <a:br>
              <a:rPr lang="en-US" smtClean="0"/>
            </a:br>
            <a:r>
              <a:rPr lang="en-US" smtClean="0"/>
              <a:t> 2nd Edition</a:t>
            </a:r>
            <a:endParaRPr lang="en-US" dirty="0"/>
          </a:p>
        </p:txBody>
      </p:sp>
      <p:sp>
        <p:nvSpPr>
          <p:cNvPr id="3" name="Subtitle 2"/>
          <p:cNvSpPr>
            <a:spLocks noGrp="1"/>
          </p:cNvSpPr>
          <p:nvPr>
            <p:ph type="subTitle" idx="1"/>
          </p:nvPr>
        </p:nvSpPr>
        <p:spPr/>
        <p:txBody>
          <a:bodyPr/>
          <a:lstStyle/>
          <a:p>
            <a:r>
              <a:rPr lang="en-US" smtClean="0"/>
              <a:t>Chapter 10</a:t>
            </a:r>
          </a:p>
          <a:p>
            <a:r>
              <a:rPr lang="en-US" smtClean="0"/>
              <a:t>Securing Windows Server 2016</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997529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(1 of 2)</a:t>
            </a:r>
            <a:endParaRPr lang="en-US" dirty="0"/>
          </a:p>
        </p:txBody>
      </p:sp>
      <p:sp>
        <p:nvSpPr>
          <p:cNvPr id="3" name="Text Placeholder 2"/>
          <p:cNvSpPr>
            <a:spLocks noGrp="1"/>
          </p:cNvSpPr>
          <p:nvPr>
            <p:ph type="body" idx="1"/>
          </p:nvPr>
        </p:nvSpPr>
        <p:spPr/>
        <p:txBody>
          <a:bodyPr/>
          <a:lstStyle/>
          <a:p>
            <a:r>
              <a:rPr lang="en-US" smtClean="0"/>
              <a:t>Understand how Windows Server 2016 uses Group Policies</a:t>
            </a:r>
          </a:p>
          <a:p>
            <a:r>
              <a:rPr lang="en-US" smtClean="0"/>
              <a:t>Understand and configure security policies</a:t>
            </a:r>
          </a:p>
          <a:p>
            <a:r>
              <a:rPr lang="en-US" smtClean="0"/>
              <a:t>Implement Active Directory Rights Management Services</a:t>
            </a:r>
          </a:p>
          <a:p>
            <a:r>
              <a:rPr lang="en-US" smtClean="0"/>
              <a:t>Manage security using the Security Templates and Security Configuration and Analysis snap-ins</a:t>
            </a:r>
          </a:p>
          <a:p>
            <a:r>
              <a:rPr lang="en-US" smtClean="0"/>
              <a:t>Configure security policies for client computers</a:t>
            </a:r>
          </a:p>
          <a:p>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8584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Objectives (2 of 2)</a:t>
            </a:r>
            <a:endParaRPr lang="en-US" dirty="0"/>
          </a:p>
        </p:txBody>
      </p:sp>
      <p:sp>
        <p:nvSpPr>
          <p:cNvPr id="3" name="Text Placeholder 2"/>
          <p:cNvSpPr>
            <a:spLocks noGrp="1"/>
          </p:cNvSpPr>
          <p:nvPr>
            <p:ph type="body" idx="1"/>
          </p:nvPr>
        </p:nvSpPr>
        <p:spPr/>
        <p:txBody>
          <a:bodyPr/>
          <a:lstStyle/>
          <a:p>
            <a:r>
              <a:rPr lang="en-US" smtClean="0"/>
              <a:t>Use the cipher command for encryption</a:t>
            </a:r>
          </a:p>
          <a:p>
            <a:r>
              <a:rPr lang="en-US" smtClean="0"/>
              <a:t>Use BitLocker Drive Encryption</a:t>
            </a:r>
          </a:p>
          <a:p>
            <a:r>
              <a:rPr lang="en-US" smtClean="0"/>
              <a:t>Configure Network Address Translation</a:t>
            </a:r>
          </a:p>
          <a:p>
            <a:r>
              <a:rPr lang="en-US" smtClean="0"/>
              <a:t>Configure Windows Firewall</a:t>
            </a:r>
          </a:p>
          <a:p>
            <a:r>
              <a:rPr lang="en-US" smtClean="0"/>
              <a:t>Use Windows Defender</a:t>
            </a:r>
            <a:endParaRPr lang="en-US" dirty="0"/>
          </a:p>
        </p:txBody>
      </p:sp>
      <p:sp>
        <p:nvSpPr>
          <p:cNvPr id="4" name="Footer Placeholder 3"/>
          <p:cNvSpPr>
            <a:spLocks noGrp="1"/>
          </p:cNvSpPr>
          <p:nvPr>
            <p:ph type="ftr" sz="quarter" idx="10"/>
          </p:nvPr>
        </p:nvSpPr>
        <p:spPr/>
        <p:txBody>
          <a:bodyPr/>
          <a:lstStyle/>
          <a:p>
            <a:r>
              <a:rPr lang="en-US" smtClean="0"/>
              <a:t>© 2018 Cengage.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852271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An Overview of Security Features in Windows Server 2016 (1 of 4)</a:t>
            </a:r>
            <a:endParaRPr lang="en-US" dirty="0"/>
          </a:p>
        </p:txBody>
      </p:sp>
      <p:sp>
        <p:nvSpPr>
          <p:cNvPr id="2" name="Content Placeholder 1"/>
          <p:cNvSpPr>
            <a:spLocks noGrp="1"/>
          </p:cNvSpPr>
          <p:nvPr>
            <p:ph idx="1"/>
          </p:nvPr>
        </p:nvSpPr>
        <p:spPr/>
        <p:txBody>
          <a:bodyPr/>
          <a:lstStyle/>
          <a:p>
            <a:r>
              <a:rPr lang="en-US" smtClean="0"/>
              <a:t>Windows Server 2016 was created to emphasize security</a:t>
            </a:r>
          </a:p>
          <a:p>
            <a:pPr lvl="1"/>
            <a:r>
              <a:rPr lang="en-US" smtClean="0"/>
              <a:t>Reduced attack surface of the kernel through Server Core and Nano Server</a:t>
            </a:r>
          </a:p>
          <a:p>
            <a:pPr lvl="1"/>
            <a:r>
              <a:rPr lang="en-US" smtClean="0"/>
              <a:t>Expanded and evolving Group Policies</a:t>
            </a:r>
          </a:p>
          <a:p>
            <a:pPr lvl="1"/>
            <a:r>
              <a:rPr lang="en-US" smtClean="0"/>
              <a:t>Windows Firewall</a:t>
            </a:r>
          </a:p>
          <a:p>
            <a:pPr lvl="1"/>
            <a:r>
              <a:rPr lang="en-US" smtClean="0"/>
              <a:t>Windows Defender</a:t>
            </a:r>
          </a:p>
          <a:p>
            <a:pPr lvl="1"/>
            <a:r>
              <a:rPr lang="en-US" smtClean="0"/>
              <a:t>Security Templates and Security Configuration and Analysis tools</a:t>
            </a:r>
          </a:p>
          <a:p>
            <a:pPr lvl="1"/>
            <a:r>
              <a:rPr lang="en-US" smtClean="0"/>
              <a:t>User Account Control</a:t>
            </a:r>
          </a:p>
          <a:p>
            <a:pPr lvl="1"/>
            <a:r>
              <a:rPr lang="en-US" smtClean="0"/>
              <a:t>BitLocker Drive Encryption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37065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An Overview of Security Features in Windows Server 2016 (2 of 4)</a:t>
            </a:r>
            <a:endParaRPr lang="en-US" dirty="0"/>
          </a:p>
        </p:txBody>
      </p:sp>
      <p:sp>
        <p:nvSpPr>
          <p:cNvPr id="2" name="Content Placeholder 1"/>
          <p:cNvSpPr>
            <a:spLocks noGrp="1"/>
          </p:cNvSpPr>
          <p:nvPr>
            <p:ph idx="1"/>
          </p:nvPr>
        </p:nvSpPr>
        <p:spPr/>
        <p:txBody>
          <a:bodyPr/>
          <a:lstStyle/>
          <a:p>
            <a:r>
              <a:rPr lang="en-US" smtClean="0"/>
              <a:t>Server Core or Nano Server can be a good solution for a server that handles critical network operations such as DNS and DHCP</a:t>
            </a:r>
          </a:p>
          <a:p>
            <a:pPr lvl="1"/>
            <a:r>
              <a:rPr lang="en-US" smtClean="0"/>
              <a:t>Also can be a good solution for a Web or other server in the demilitarized zone of a network</a:t>
            </a:r>
          </a:p>
          <a:p>
            <a:pPr lvl="1"/>
            <a:r>
              <a:rPr lang="en-US" smtClean="0"/>
              <a:t>They also can offer better performance and lead to fewer problems</a:t>
            </a:r>
          </a:p>
          <a:p>
            <a:r>
              <a:rPr lang="en-US" smtClean="0"/>
              <a:t>Demilitarized zone (DMZ)</a:t>
            </a:r>
          </a:p>
          <a:p>
            <a:pPr lvl="1"/>
            <a:r>
              <a:rPr lang="en-US" smtClean="0"/>
              <a:t>A portion of a network that is between two networks, such as between a private network and the Internet</a:t>
            </a:r>
          </a:p>
          <a:p>
            <a:pPr lvl="1"/>
            <a:r>
              <a:rPr lang="en-US" smtClean="0"/>
              <a:t>Computers in the DMZ have fewer security defenses via routers and firewalls</a:t>
            </a:r>
          </a:p>
          <a:p>
            <a:r>
              <a:rPr lang="en-US" smtClean="0"/>
              <a:t>Group policy is a way to bring consistent security and other management to Windows Server 2016</a:t>
            </a:r>
          </a:p>
          <a:p>
            <a:pPr lvl="1"/>
            <a:r>
              <a:rPr lang="en-US" smtClean="0"/>
              <a:t>And to clients connecting to a server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34772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An Overview of Security Features in Windows Server 2016 (3 of 4)</a:t>
            </a:r>
            <a:endParaRPr lang="en-US" dirty="0"/>
          </a:p>
        </p:txBody>
      </p:sp>
      <p:sp>
        <p:nvSpPr>
          <p:cNvPr id="2" name="Content Placeholder 1"/>
          <p:cNvSpPr>
            <a:spLocks noGrp="1"/>
          </p:cNvSpPr>
          <p:nvPr>
            <p:ph idx="1"/>
          </p:nvPr>
        </p:nvSpPr>
        <p:spPr/>
        <p:txBody>
          <a:bodyPr/>
          <a:lstStyle/>
          <a:p>
            <a:r>
              <a:rPr lang="en-US" smtClean="0"/>
              <a:t>In Windows Firewall and IPsec</a:t>
            </a:r>
          </a:p>
          <a:p>
            <a:pPr lvl="1"/>
            <a:r>
              <a:rPr lang="en-US" smtClean="0"/>
              <a:t>Settings are merged for consistency</a:t>
            </a:r>
          </a:p>
          <a:p>
            <a:r>
              <a:rPr lang="en-US" smtClean="0"/>
              <a:t>Windows Defender</a:t>
            </a:r>
          </a:p>
          <a:p>
            <a:pPr lvl="1"/>
            <a:r>
              <a:rPr lang="en-US" smtClean="0"/>
              <a:t>Software that scans for viruses, spyware, and malware</a:t>
            </a:r>
          </a:p>
          <a:p>
            <a:pPr lvl="1"/>
            <a:r>
              <a:rPr lang="en-US" smtClean="0"/>
              <a:t>Windows Server 2016 is the first Windows Server OS to include Windows Defender</a:t>
            </a:r>
          </a:p>
          <a:p>
            <a:r>
              <a:rPr lang="en-US" smtClean="0"/>
              <a:t>Security Templates and Security Configuration and Analysis tools</a:t>
            </a:r>
          </a:p>
          <a:p>
            <a:pPr lvl="1"/>
            <a:r>
              <a:rPr lang="en-US" smtClean="0"/>
              <a:t>Enable you to configure server-wide security</a:t>
            </a:r>
            <a:endParaRPr lang="en-US" dirty="0" smtClean="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27249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An Overview of Security Features in Windows Server 2016 (4 of 4)</a:t>
            </a:r>
            <a:endParaRPr lang="en-US" dirty="0"/>
          </a:p>
        </p:txBody>
      </p:sp>
      <p:sp>
        <p:nvSpPr>
          <p:cNvPr id="2" name="Content Placeholder 1"/>
          <p:cNvSpPr>
            <a:spLocks noGrp="1"/>
          </p:cNvSpPr>
          <p:nvPr>
            <p:ph idx="1"/>
          </p:nvPr>
        </p:nvSpPr>
        <p:spPr/>
        <p:txBody>
          <a:bodyPr/>
          <a:lstStyle/>
          <a:p>
            <a:r>
              <a:rPr lang="en-US" smtClean="0"/>
              <a:t>User Account Control (UAC)</a:t>
            </a:r>
          </a:p>
          <a:p>
            <a:pPr lvl="1"/>
            <a:r>
              <a:rPr lang="en-US" smtClean="0"/>
              <a:t>Designed to keep the user running in the standard user mode as a way to:</a:t>
            </a:r>
          </a:p>
          <a:p>
            <a:pPr lvl="2"/>
            <a:r>
              <a:rPr lang="en-US" smtClean="0"/>
              <a:t>More fully insulate the kernel</a:t>
            </a:r>
          </a:p>
          <a:p>
            <a:pPr lvl="2"/>
            <a:r>
              <a:rPr lang="en-US" smtClean="0"/>
              <a:t>Keep operating system and desktop files stabilized</a:t>
            </a:r>
          </a:p>
          <a:p>
            <a:pPr lvl="1"/>
            <a:r>
              <a:rPr lang="en-US" smtClean="0"/>
              <a:t>Another element of UAC is the Administrator Approval Mode</a:t>
            </a:r>
          </a:p>
          <a:p>
            <a:pPr lvl="2"/>
            <a:r>
              <a:rPr lang="en-US" smtClean="0"/>
              <a:t>Prevents malware or an intruder from acquiring control through a back door without the administrator knowing</a:t>
            </a:r>
          </a:p>
          <a:p>
            <a:r>
              <a:rPr lang="en-US" smtClean="0"/>
              <a:t>BitLocker Drive Encryption</a:t>
            </a:r>
          </a:p>
          <a:p>
            <a:pPr lvl="1"/>
            <a:r>
              <a:rPr lang="en-US" smtClean="0"/>
              <a:t>Prevents an intruder from bypassing ACL file and folder protections</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973701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Introduction to Group Policy (1 of 2)</a:t>
            </a:r>
            <a:endParaRPr lang="en-US" dirty="0"/>
          </a:p>
        </p:txBody>
      </p:sp>
      <p:sp>
        <p:nvSpPr>
          <p:cNvPr id="2" name="Content Placeholder 1"/>
          <p:cNvSpPr>
            <a:spLocks noGrp="1"/>
          </p:cNvSpPr>
          <p:nvPr>
            <p:ph idx="1"/>
          </p:nvPr>
        </p:nvSpPr>
        <p:spPr/>
        <p:txBody>
          <a:bodyPr/>
          <a:lstStyle/>
          <a:p>
            <a:r>
              <a:rPr lang="en-US" smtClean="0"/>
              <a:t>Group policy in Windows Server 2016</a:t>
            </a:r>
          </a:p>
          <a:p>
            <a:pPr lvl="1"/>
            <a:r>
              <a:rPr lang="en-US" smtClean="0"/>
              <a:t>Enables you to standardize the working environment of clients and servers by setting policies in Active Director</a:t>
            </a:r>
          </a:p>
          <a:p>
            <a:r>
              <a:rPr lang="en-US" smtClean="0"/>
              <a:t>Defining characteristics of Group Policy:</a:t>
            </a:r>
          </a:p>
          <a:p>
            <a:pPr lvl="1"/>
            <a:r>
              <a:rPr lang="en-US" smtClean="0"/>
              <a:t>Group Policy can be set for a site, domain, OU, or local computer</a:t>
            </a:r>
          </a:p>
          <a:p>
            <a:pPr lvl="1"/>
            <a:r>
              <a:rPr lang="en-US" smtClean="0"/>
              <a:t>Group Policy cannot be set for non-OU folder containers</a:t>
            </a:r>
          </a:p>
          <a:p>
            <a:pPr lvl="1"/>
            <a:r>
              <a:rPr lang="en-US" smtClean="0"/>
              <a:t>Group Policy settings are stored in Group Policy Objects</a:t>
            </a:r>
          </a:p>
          <a:p>
            <a:pPr lvl="1"/>
            <a:r>
              <a:rPr lang="en-US" smtClean="0"/>
              <a:t>GPOs can be local and nonlocal</a:t>
            </a:r>
          </a:p>
          <a:p>
            <a:pPr lvl="1"/>
            <a:r>
              <a:rPr lang="en-US" smtClean="0"/>
              <a:t>Group Policy can be set up to affect user accounts and computers</a:t>
            </a:r>
          </a:p>
          <a:p>
            <a:pPr lvl="1"/>
            <a:r>
              <a:rPr lang="en-US" smtClean="0"/>
              <a:t>When Group Policy is updated, old policies are removed or updated for all clients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16700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Introduction to Group Policy (2 of 2)</a:t>
            </a:r>
            <a:endParaRPr lang="en-US" dirty="0"/>
          </a:p>
        </p:txBody>
      </p:sp>
      <p:pic>
        <p:nvPicPr>
          <p:cNvPr id="6" name="Content Placeholder 5" descr="Figure 10-1, Page No. 424, Complexity level: 2&#10;Screenshot shows the “Group Policy Management Editor” dialog box. On the left pane of the dialog box, Default Domain Policy [Accounting] is selected. On the content pane of the dialog box, the Computer Configuration is selected under the Name option. &#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752600" y="1600200"/>
            <a:ext cx="5255274" cy="40243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5310207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Securing Windows Server 2016 Using Security Policies</a:t>
            </a:r>
            <a:endParaRPr lang="en-US" dirty="0"/>
          </a:p>
        </p:txBody>
      </p:sp>
      <p:sp>
        <p:nvSpPr>
          <p:cNvPr id="2" name="Content Placeholder 1"/>
          <p:cNvSpPr>
            <a:spLocks noGrp="1"/>
          </p:cNvSpPr>
          <p:nvPr>
            <p:ph idx="1"/>
          </p:nvPr>
        </p:nvSpPr>
        <p:spPr/>
        <p:txBody>
          <a:bodyPr/>
          <a:lstStyle/>
          <a:p>
            <a:r>
              <a:rPr lang="en-US" smtClean="0"/>
              <a:t>Security policies are a subset of individual policies </a:t>
            </a:r>
          </a:p>
          <a:p>
            <a:pPr lvl="1"/>
            <a:r>
              <a:rPr lang="en-US" smtClean="0"/>
              <a:t>Within a larger group policy for a site, domain, OU, or local computer</a:t>
            </a:r>
          </a:p>
          <a:p>
            <a:r>
              <a:rPr lang="en-US" smtClean="0"/>
              <a:t>Security policies include:</a:t>
            </a:r>
          </a:p>
          <a:p>
            <a:pPr lvl="1"/>
            <a:r>
              <a:rPr lang="en-US" smtClean="0"/>
              <a:t>Account Policies</a:t>
            </a:r>
          </a:p>
          <a:p>
            <a:pPr lvl="1"/>
            <a:r>
              <a:rPr lang="en-US" smtClean="0"/>
              <a:t>Audit Policy</a:t>
            </a:r>
          </a:p>
          <a:p>
            <a:pPr lvl="1"/>
            <a:r>
              <a:rPr lang="en-US" smtClean="0"/>
              <a:t>User Rights</a:t>
            </a:r>
          </a:p>
          <a:p>
            <a:pPr lvl="1"/>
            <a:r>
              <a:rPr lang="en-US" smtClean="0"/>
              <a:t>Security Options</a:t>
            </a:r>
          </a:p>
          <a:p>
            <a:pPr lvl="1"/>
            <a:r>
              <a:rPr lang="en-US" smtClean="0"/>
              <a:t>IP Security Policies</a:t>
            </a:r>
          </a:p>
          <a:p>
            <a:r>
              <a:rPr lang="en-US" smtClean="0"/>
              <a:t>Activity 10-1 shows you how to use the Group Policy Management tool</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953652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Account Policies (1 of 9)</a:t>
            </a:r>
            <a:endParaRPr lang="en-US" dirty="0"/>
          </a:p>
        </p:txBody>
      </p:sp>
      <p:sp>
        <p:nvSpPr>
          <p:cNvPr id="2" name="Content Placeholder 1"/>
          <p:cNvSpPr>
            <a:spLocks noGrp="1"/>
          </p:cNvSpPr>
          <p:nvPr>
            <p:ph idx="1"/>
          </p:nvPr>
        </p:nvSpPr>
        <p:spPr/>
        <p:txBody>
          <a:bodyPr/>
          <a:lstStyle/>
          <a:p>
            <a:r>
              <a:rPr lang="en-US" smtClean="0"/>
              <a:t>Account policies</a:t>
            </a:r>
          </a:p>
          <a:p>
            <a:pPr lvl="1"/>
            <a:r>
              <a:rPr lang="en-US" smtClean="0"/>
              <a:t>Security measures set up in a Group Policy that applies to all accounts or to all accounts in a container when Active Directory is installed</a:t>
            </a:r>
          </a:p>
          <a:p>
            <a:r>
              <a:rPr lang="en-US" smtClean="0"/>
              <a:t>The account policy options that you can configure affect three main areas:</a:t>
            </a:r>
          </a:p>
          <a:p>
            <a:pPr lvl="1"/>
            <a:r>
              <a:rPr lang="en-US" smtClean="0"/>
              <a:t>Password security</a:t>
            </a:r>
          </a:p>
          <a:p>
            <a:pPr lvl="1"/>
            <a:r>
              <a:rPr lang="en-US" smtClean="0"/>
              <a:t>Account lockout</a:t>
            </a:r>
          </a:p>
          <a:p>
            <a:pPr lvl="1"/>
            <a:r>
              <a:rPr lang="en-US" smtClean="0"/>
              <a:t>Kerberos security</a:t>
            </a:r>
          </a:p>
          <a:p>
            <a:r>
              <a:rPr lang="en-US" smtClean="0"/>
              <a:t>Password security</a:t>
            </a:r>
          </a:p>
          <a:p>
            <a:pPr lvl="1"/>
            <a:r>
              <a:rPr lang="en-US" smtClean="0"/>
              <a:t>One option is to set a password expiration period, requiring users to change passwords at regular intervals</a:t>
            </a:r>
          </a:p>
          <a:p>
            <a:pPr lvl="1"/>
            <a:r>
              <a:rPr lang="en-US" smtClean="0"/>
              <a:t>Some organizations require that all passwords have a minimum length</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12475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Account Policies (2 of 9)</a:t>
            </a:r>
            <a:endParaRPr lang="en-US" dirty="0"/>
          </a:p>
        </p:txBody>
      </p:sp>
      <p:sp>
        <p:nvSpPr>
          <p:cNvPr id="2" name="Content Placeholder 1"/>
          <p:cNvSpPr>
            <a:spLocks noGrp="1"/>
          </p:cNvSpPr>
          <p:nvPr>
            <p:ph idx="1"/>
          </p:nvPr>
        </p:nvSpPr>
        <p:spPr/>
        <p:txBody>
          <a:bodyPr/>
          <a:lstStyle/>
          <a:p>
            <a:r>
              <a:rPr lang="en-US" smtClean="0"/>
              <a:t>Specific password security options:</a:t>
            </a:r>
          </a:p>
          <a:p>
            <a:pPr lvl="1"/>
            <a:r>
              <a:rPr lang="en-US" smtClean="0"/>
              <a:t>Enforce password history</a:t>
            </a:r>
          </a:p>
          <a:p>
            <a:pPr lvl="1"/>
            <a:r>
              <a:rPr lang="en-US" smtClean="0"/>
              <a:t>Maximum password age</a:t>
            </a:r>
          </a:p>
          <a:p>
            <a:pPr lvl="1"/>
            <a:r>
              <a:rPr lang="en-US" smtClean="0"/>
              <a:t>Minimum password age</a:t>
            </a:r>
          </a:p>
          <a:p>
            <a:pPr lvl="1"/>
            <a:r>
              <a:rPr lang="en-US" smtClean="0"/>
              <a:t>Minimum password length</a:t>
            </a:r>
          </a:p>
          <a:p>
            <a:pPr lvl="1"/>
            <a:r>
              <a:rPr lang="en-US" smtClean="0"/>
              <a:t>Passwords must meet complexity requirements</a:t>
            </a:r>
          </a:p>
          <a:p>
            <a:pPr lvl="1"/>
            <a:r>
              <a:rPr lang="en-US" smtClean="0"/>
              <a:t>Store password using reversible encryption</a:t>
            </a:r>
          </a:p>
          <a:p>
            <a:r>
              <a:rPr lang="en-US" smtClean="0"/>
              <a:t>Activity 10-2  shows you how to configure password security in the default domain security policy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72571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Account Policies (3 of 9)</a:t>
            </a:r>
            <a:endParaRPr lang="en-US" dirty="0"/>
          </a:p>
        </p:txBody>
      </p:sp>
      <p:sp>
        <p:nvSpPr>
          <p:cNvPr id="2" name="Content Placeholder 1"/>
          <p:cNvSpPr>
            <a:spLocks noGrp="1"/>
          </p:cNvSpPr>
          <p:nvPr>
            <p:ph idx="1"/>
          </p:nvPr>
        </p:nvSpPr>
        <p:spPr/>
        <p:txBody>
          <a:bodyPr/>
          <a:lstStyle/>
          <a:p>
            <a:r>
              <a:rPr lang="en-US" smtClean="0"/>
              <a:t>Account Lockout</a:t>
            </a:r>
          </a:p>
          <a:p>
            <a:pPr lvl="1"/>
            <a:r>
              <a:rPr lang="en-US" smtClean="0"/>
              <a:t>The operating system can employ account lockout to bar access to an account (including the true account owner) after a number of unsuccessful tries</a:t>
            </a:r>
          </a:p>
          <a:p>
            <a:r>
              <a:rPr lang="en-US" smtClean="0"/>
              <a:t>The lockout can be set to release after a specified period of time</a:t>
            </a:r>
          </a:p>
          <a:p>
            <a:pPr lvl="1"/>
            <a:r>
              <a:rPr lang="en-US" smtClean="0"/>
              <a:t>Or by intervention from the server administrator</a:t>
            </a:r>
          </a:p>
          <a:p>
            <a:r>
              <a:rPr lang="en-US" smtClean="0"/>
              <a:t>A common policy is to have lockout go into effect after five to 10 unsuccessful logon attempts</a:t>
            </a:r>
          </a:p>
          <a:p>
            <a:pPr lvl="1"/>
            <a:r>
              <a:rPr lang="en-US" smtClean="0"/>
              <a:t>Administrator can set lockout to release after a designated time</a:t>
            </a:r>
          </a:p>
          <a:p>
            <a:r>
              <a:rPr lang="en-US" smtClean="0"/>
              <a:t>Account lockout parameters</a:t>
            </a:r>
          </a:p>
          <a:p>
            <a:pPr lvl="1"/>
            <a:r>
              <a:rPr lang="en-US" smtClean="0"/>
              <a:t>Account lockout duration</a:t>
            </a:r>
          </a:p>
          <a:p>
            <a:pPr lvl="1"/>
            <a:r>
              <a:rPr lang="en-US" smtClean="0"/>
              <a:t>Account lockout threshold</a:t>
            </a:r>
          </a:p>
          <a:p>
            <a:pPr lvl="1"/>
            <a:r>
              <a:rPr lang="en-US" smtClean="0"/>
              <a:t>Reset account lockout count after</a:t>
            </a:r>
          </a:p>
          <a:p>
            <a:pPr lvl="1"/>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97398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Account Policies (4 of 9)</a:t>
            </a:r>
            <a:endParaRPr lang="en-US" dirty="0"/>
          </a:p>
        </p:txBody>
      </p:sp>
      <p:sp>
        <p:nvSpPr>
          <p:cNvPr id="2" name="Content Placeholder 1"/>
          <p:cNvSpPr>
            <a:spLocks noGrp="1"/>
          </p:cNvSpPr>
          <p:nvPr>
            <p:ph idx="1"/>
          </p:nvPr>
        </p:nvSpPr>
        <p:spPr/>
        <p:txBody>
          <a:bodyPr/>
          <a:lstStyle/>
          <a:p>
            <a:r>
              <a:rPr lang="en-US" smtClean="0"/>
              <a:t>Activity 10-3 shows you how to configure account lockout policy in the default domain security policy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67157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Account Policies (5 of 9)</a:t>
            </a:r>
            <a:endParaRPr lang="en-US" dirty="0"/>
          </a:p>
        </p:txBody>
      </p:sp>
      <p:pic>
        <p:nvPicPr>
          <p:cNvPr id="5" name="Picture 4" descr=" Figure 10-6, Page No. 431, Complexity level: 2&#10;Screenshot shows the “Account lockout duration Properties” dialog box. The Security Policy Setting tab is selected. The window is titled “Account lockout duration.” The check box is selected for the option “Define this policy setting.” The number 40 is entered as minutes. The OK button shown below is selected.&#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1752600"/>
            <a:ext cx="3211798" cy="4180997"/>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270169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Account Policies (6 of 9)</a:t>
            </a:r>
            <a:endParaRPr lang="en-US" dirty="0"/>
          </a:p>
        </p:txBody>
      </p:sp>
      <p:sp>
        <p:nvSpPr>
          <p:cNvPr id="2" name="Content Placeholder 1"/>
          <p:cNvSpPr>
            <a:spLocks noGrp="1"/>
          </p:cNvSpPr>
          <p:nvPr>
            <p:ph idx="1"/>
          </p:nvPr>
        </p:nvSpPr>
        <p:spPr/>
        <p:txBody>
          <a:bodyPr/>
          <a:lstStyle/>
          <a:p>
            <a:r>
              <a:rPr lang="en-US" smtClean="0"/>
              <a:t>Kerberos security</a:t>
            </a:r>
          </a:p>
          <a:p>
            <a:pPr lvl="1"/>
            <a:r>
              <a:rPr lang="en-US" smtClean="0"/>
              <a:t>Involves the use of tickets that are exchanged between the client who requests logon and network services access and the server or Active Directory that grants access</a:t>
            </a:r>
          </a:p>
          <a:p>
            <a:pPr lvl="1"/>
            <a:r>
              <a:rPr lang="en-US" smtClean="0"/>
              <a:t>When Active Directory is used, each DC is a key distribution center</a:t>
            </a:r>
          </a:p>
          <a:p>
            <a:pPr lvl="1"/>
            <a:r>
              <a:rPr lang="en-US" smtClean="0"/>
              <a:t>Once a user is authenticated, the Kerberos ticket-granting service grants a permanent ticket (called a service ticket) to that computer</a:t>
            </a:r>
          </a:p>
          <a:p>
            <a:pPr lvl="1"/>
            <a:r>
              <a:rPr lang="en-US" smtClean="0"/>
              <a:t>A service ticket is good for the duration of the logon session</a:t>
            </a:r>
          </a:p>
          <a:p>
            <a:r>
              <a:rPr lang="en-US" smtClean="0"/>
              <a:t>Enhancements on Windows Server 2016 and Windows 10</a:t>
            </a:r>
          </a:p>
          <a:p>
            <a:pPr lvl="1"/>
            <a:r>
              <a:rPr lang="en-US" smtClean="0"/>
              <a:t>The use of Advanced Encryption Standard (AES) encryption</a:t>
            </a:r>
          </a:p>
          <a:p>
            <a:pPr lvl="1"/>
            <a:r>
              <a:rPr lang="en-US" smtClean="0"/>
              <a:t>When Active Directory is installed, the account policies enable Kerberos</a:t>
            </a:r>
          </a:p>
          <a:p>
            <a:pPr lvl="2"/>
            <a:r>
              <a:rPr lang="en-US" smtClean="0"/>
              <a:t>When Active Directory is not installed, the default authentication is through Windows NT LAN Manager version 2 (NTLMv2)</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442878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Account Policies (7 of 9)</a:t>
            </a:r>
            <a:endParaRPr lang="en-US" dirty="0"/>
          </a:p>
        </p:txBody>
      </p:sp>
      <p:sp>
        <p:nvSpPr>
          <p:cNvPr id="2" name="Content Placeholder 1"/>
          <p:cNvSpPr>
            <a:spLocks noGrp="1"/>
          </p:cNvSpPr>
          <p:nvPr>
            <p:ph idx="1"/>
          </p:nvPr>
        </p:nvSpPr>
        <p:spPr/>
        <p:txBody>
          <a:bodyPr/>
          <a:lstStyle/>
          <a:p>
            <a:r>
              <a:rPr lang="en-US" smtClean="0"/>
              <a:t>Options available for configuring Kerberos:</a:t>
            </a:r>
          </a:p>
          <a:p>
            <a:pPr lvl="1"/>
            <a:r>
              <a:rPr lang="en-US" smtClean="0"/>
              <a:t>Enforce user logon restrictions</a:t>
            </a:r>
          </a:p>
          <a:p>
            <a:pPr lvl="1"/>
            <a:r>
              <a:rPr lang="en-US" smtClean="0"/>
              <a:t>Maximum lifetime for service ticket</a:t>
            </a:r>
          </a:p>
          <a:p>
            <a:pPr lvl="1"/>
            <a:r>
              <a:rPr lang="en-US" smtClean="0"/>
              <a:t>Maximum lifetime for user ticket</a:t>
            </a:r>
          </a:p>
          <a:p>
            <a:pPr lvl="1"/>
            <a:r>
              <a:rPr lang="en-US" smtClean="0"/>
              <a:t>Maximum lifetime for user ticket renewal</a:t>
            </a:r>
          </a:p>
          <a:p>
            <a:pPr lvl="1"/>
            <a:r>
              <a:rPr lang="en-US" smtClean="0"/>
              <a:t>Maximum tolerance for computer clock synchronization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768730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Account Policies (8 of 9)</a:t>
            </a:r>
            <a:endParaRPr lang="en-US" dirty="0"/>
          </a:p>
        </p:txBody>
      </p:sp>
      <p:sp>
        <p:nvSpPr>
          <p:cNvPr id="5" name="Content Placeholder 4"/>
          <p:cNvSpPr>
            <a:spLocks noGrp="1"/>
          </p:cNvSpPr>
          <p:nvPr>
            <p:ph idx="1"/>
          </p:nvPr>
        </p:nvSpPr>
        <p:spPr/>
        <p:txBody>
          <a:bodyPr/>
          <a:lstStyle/>
          <a:p>
            <a:r>
              <a:rPr lang="en-US" smtClean="0"/>
              <a:t>Activity 10-4 steps you through configuring Kerberos in the default domain security policy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91001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Account Policies (9 of 9)</a:t>
            </a:r>
            <a:endParaRPr lang="en-US" dirty="0"/>
          </a:p>
        </p:txBody>
      </p:sp>
      <p:pic>
        <p:nvPicPr>
          <p:cNvPr id="6" name="Picture 5" descr="Figure 10-7, Page No. 433, Complexity level: 2 &#10;Screenshot shows the “Group Policy management Editor” dialog box. On the left pane of the dialog box, the Kerberos Policy is selected within the Account Policies tree under the Computer Configuration. On the content pane of the dialog box, the Maximum lifetime for service ticket and 720 minutes is selected under the Policy and Policy setting.&#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1905000"/>
            <a:ext cx="5287875" cy="3962400"/>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3341975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Audit Policies (1 of 3)</a:t>
            </a:r>
            <a:endParaRPr lang="en-US" dirty="0"/>
          </a:p>
        </p:txBody>
      </p:sp>
      <p:sp>
        <p:nvSpPr>
          <p:cNvPr id="2" name="Content Placeholder 1"/>
          <p:cNvSpPr>
            <a:spLocks noGrp="1"/>
          </p:cNvSpPr>
          <p:nvPr>
            <p:ph idx="1"/>
          </p:nvPr>
        </p:nvSpPr>
        <p:spPr/>
        <p:txBody>
          <a:bodyPr/>
          <a:lstStyle/>
          <a:p>
            <a:r>
              <a:rPr lang="en-US" smtClean="0"/>
              <a:t>Examples of events that an organization can audit are as follows:</a:t>
            </a:r>
          </a:p>
          <a:p>
            <a:pPr lvl="1"/>
            <a:r>
              <a:rPr lang="en-US" smtClean="0"/>
              <a:t>Account logon (and logoff) events</a:t>
            </a:r>
          </a:p>
          <a:p>
            <a:pPr lvl="1"/>
            <a:r>
              <a:rPr lang="en-US" smtClean="0"/>
              <a:t>Account management</a:t>
            </a:r>
          </a:p>
          <a:p>
            <a:pPr lvl="1"/>
            <a:r>
              <a:rPr lang="en-US" smtClean="0"/>
              <a:t>Directory service access</a:t>
            </a:r>
          </a:p>
          <a:p>
            <a:pPr lvl="1"/>
            <a:r>
              <a:rPr lang="en-US" smtClean="0"/>
              <a:t>Logon (and logoff) events at the local computer</a:t>
            </a:r>
          </a:p>
          <a:p>
            <a:pPr lvl="1"/>
            <a:r>
              <a:rPr lang="en-US" smtClean="0"/>
              <a:t>Object access</a:t>
            </a:r>
          </a:p>
          <a:p>
            <a:pPr lvl="1"/>
            <a:r>
              <a:rPr lang="en-US" smtClean="0"/>
              <a:t>Policy change</a:t>
            </a:r>
          </a:p>
          <a:p>
            <a:pPr lvl="1"/>
            <a:r>
              <a:rPr lang="en-US" smtClean="0"/>
              <a:t>Privilege use</a:t>
            </a:r>
          </a:p>
          <a:p>
            <a:pPr lvl="1"/>
            <a:r>
              <a:rPr lang="en-US" smtClean="0"/>
              <a:t>Process tracking</a:t>
            </a:r>
          </a:p>
          <a:p>
            <a:pPr lvl="1"/>
            <a:r>
              <a:rPr lang="en-US" smtClean="0"/>
              <a:t>System events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7488051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Audit Policies (2 of 3)</a:t>
            </a:r>
            <a:endParaRPr lang="en-US" dirty="0"/>
          </a:p>
        </p:txBody>
      </p:sp>
      <p:sp>
        <p:nvSpPr>
          <p:cNvPr id="2" name="Content Placeholder 1"/>
          <p:cNvSpPr>
            <a:spLocks noGrp="1"/>
          </p:cNvSpPr>
          <p:nvPr>
            <p:ph idx="1"/>
          </p:nvPr>
        </p:nvSpPr>
        <p:spPr/>
        <p:txBody>
          <a:bodyPr/>
          <a:lstStyle/>
          <a:p>
            <a:r>
              <a:rPr lang="en-US" smtClean="0"/>
              <a:t>Activity 10-5 shows you how to configure an audit policy</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98942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Establishing Audit Policies (3 of 3)</a:t>
            </a:r>
            <a:endParaRPr lang="en-US" dirty="0"/>
          </a:p>
        </p:txBody>
      </p:sp>
      <p:pic>
        <p:nvPicPr>
          <p:cNvPr id="5" name="Picture 4" descr="Figure 10-8, Page No. 435, Complexity level: 2&#10;Screenshot shows the “Audit account logon events Properties” dialog box. The Security Policy Setting tab is selected. The check box for the option “define these policy settings” is selected. The check box is selected for success and failure options under the Audit these attempts option. The cursor points to the Failure option check box. The OK button shown below is selected.&#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2133600"/>
            <a:ext cx="2767584" cy="3596640"/>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336465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User Rights (1 of 5)</a:t>
            </a:r>
            <a:endParaRPr lang="en-US" dirty="0"/>
          </a:p>
        </p:txBody>
      </p:sp>
      <p:sp>
        <p:nvSpPr>
          <p:cNvPr id="2" name="Content Placeholder 1"/>
          <p:cNvSpPr>
            <a:spLocks noGrp="1"/>
          </p:cNvSpPr>
          <p:nvPr>
            <p:ph idx="1"/>
          </p:nvPr>
        </p:nvSpPr>
        <p:spPr/>
        <p:txBody>
          <a:bodyPr/>
          <a:lstStyle/>
          <a:p>
            <a:r>
              <a:rPr lang="en-US" smtClean="0"/>
              <a:t>User rights enable an account or group to perform predefined tasks</a:t>
            </a:r>
          </a:p>
          <a:p>
            <a:r>
              <a:rPr lang="en-US" smtClean="0"/>
              <a:t>The most basic right is the ability to access a server</a:t>
            </a:r>
          </a:p>
          <a:p>
            <a:pPr lvl="1"/>
            <a:r>
              <a:rPr lang="en-US" smtClean="0"/>
              <a:t>More advanced rights give privileges to create accounts and manage server functions</a:t>
            </a:r>
          </a:p>
          <a:p>
            <a:r>
              <a:rPr lang="en-US" smtClean="0"/>
              <a:t>Two general categories of rights:	</a:t>
            </a:r>
          </a:p>
          <a:p>
            <a:pPr lvl="1"/>
            <a:r>
              <a:rPr lang="en-US" smtClean="0"/>
              <a:t>Privileges – generally relate to the ability to manage server or Active Directory functions</a:t>
            </a:r>
          </a:p>
          <a:p>
            <a:pPr lvl="1"/>
            <a:r>
              <a:rPr lang="en-US" smtClean="0"/>
              <a:t>Logon rights – are related to how accounts, computers, and services are accessed</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499958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User Rights (2 of 5)</a:t>
            </a:r>
            <a:endParaRPr lang="en-US" dirty="0"/>
          </a:p>
        </p:txBody>
      </p:sp>
      <p:sp>
        <p:nvSpPr>
          <p:cNvPr id="2" name="Content Placeholder 1"/>
          <p:cNvSpPr>
            <a:spLocks noGrp="1"/>
          </p:cNvSpPr>
          <p:nvPr>
            <p:ph idx="1"/>
          </p:nvPr>
        </p:nvSpPr>
        <p:spPr/>
        <p:txBody>
          <a:bodyPr/>
          <a:lstStyle/>
          <a:p>
            <a:r>
              <a:rPr lang="en-US" smtClean="0"/>
              <a:t>Some examples of privileges include the following:</a:t>
            </a:r>
          </a:p>
          <a:p>
            <a:pPr lvl="1"/>
            <a:r>
              <a:rPr lang="en-US" smtClean="0"/>
              <a:t>Add workstations to domain</a:t>
            </a:r>
          </a:p>
          <a:p>
            <a:pPr lvl="1"/>
            <a:r>
              <a:rPr lang="en-US" smtClean="0"/>
              <a:t>Back up files and directories</a:t>
            </a:r>
          </a:p>
          <a:p>
            <a:pPr lvl="1"/>
            <a:r>
              <a:rPr lang="en-US" smtClean="0"/>
              <a:t>Change the system time</a:t>
            </a:r>
          </a:p>
          <a:p>
            <a:pPr lvl="1"/>
            <a:r>
              <a:rPr lang="en-US" smtClean="0"/>
              <a:t>Create permanent shared objects</a:t>
            </a:r>
          </a:p>
          <a:p>
            <a:pPr lvl="1"/>
            <a:r>
              <a:rPr lang="en-US" smtClean="0"/>
              <a:t>Generate security audits</a:t>
            </a:r>
          </a:p>
          <a:p>
            <a:pPr lvl="1"/>
            <a:r>
              <a:rPr lang="en-US" smtClean="0"/>
              <a:t>Load and unload device drivers</a:t>
            </a:r>
          </a:p>
          <a:p>
            <a:pPr lvl="1"/>
            <a:r>
              <a:rPr lang="en-US" smtClean="0"/>
              <a:t>Perform volume maintenance tasks</a:t>
            </a:r>
          </a:p>
          <a:p>
            <a:pPr lvl="1"/>
            <a:r>
              <a:rPr lang="en-US" smtClean="0"/>
              <a:t>Shut down the system</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7937336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User Rights (3 of 5)</a:t>
            </a:r>
            <a:endParaRPr lang="en-US" dirty="0"/>
          </a:p>
        </p:txBody>
      </p:sp>
      <p:sp>
        <p:nvSpPr>
          <p:cNvPr id="2" name="Content Placeholder 1"/>
          <p:cNvSpPr>
            <a:spLocks noGrp="1"/>
          </p:cNvSpPr>
          <p:nvPr>
            <p:ph idx="1"/>
          </p:nvPr>
        </p:nvSpPr>
        <p:spPr/>
        <p:txBody>
          <a:bodyPr/>
          <a:lstStyle/>
          <a:p>
            <a:r>
              <a:rPr lang="en-US" smtClean="0"/>
              <a:t>Examples of logon rights are as follows:</a:t>
            </a:r>
          </a:p>
          <a:p>
            <a:pPr lvl="1"/>
            <a:r>
              <a:rPr lang="en-US" smtClean="0"/>
              <a:t>Access this computer from the network</a:t>
            </a:r>
          </a:p>
          <a:p>
            <a:pPr lvl="1"/>
            <a:r>
              <a:rPr lang="en-US" smtClean="0"/>
              <a:t>Allow logon locally</a:t>
            </a:r>
          </a:p>
          <a:p>
            <a:pPr lvl="1"/>
            <a:r>
              <a:rPr lang="en-US" smtClean="0"/>
              <a:t>Allow logon through Remote Desktop Services</a:t>
            </a:r>
          </a:p>
          <a:p>
            <a:pPr lvl="1"/>
            <a:r>
              <a:rPr lang="en-US" smtClean="0"/>
              <a:t>Deny access to this computer from the network</a:t>
            </a:r>
          </a:p>
          <a:p>
            <a:pPr lvl="1"/>
            <a:r>
              <a:rPr lang="en-US" smtClean="0"/>
              <a:t>Deny logon as a service</a:t>
            </a:r>
          </a:p>
          <a:p>
            <a:pPr lvl="1"/>
            <a:r>
              <a:rPr lang="en-US" smtClean="0"/>
              <a:t>Deny logon locally</a:t>
            </a:r>
          </a:p>
          <a:p>
            <a:pPr lvl="1"/>
            <a:r>
              <a:rPr lang="en-US" smtClean="0"/>
              <a:t>Deny logon through Remote Desktop Services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749214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User Rights (4 of 5)</a:t>
            </a:r>
            <a:endParaRPr lang="en-US" dirty="0"/>
          </a:p>
        </p:txBody>
      </p:sp>
      <p:sp>
        <p:nvSpPr>
          <p:cNvPr id="2" name="Content Placeholder 1"/>
          <p:cNvSpPr>
            <a:spLocks noGrp="1"/>
          </p:cNvSpPr>
          <p:nvPr>
            <p:ph idx="1"/>
          </p:nvPr>
        </p:nvSpPr>
        <p:spPr/>
        <p:txBody>
          <a:bodyPr/>
          <a:lstStyle/>
          <a:p>
            <a:r>
              <a:rPr lang="en-US" smtClean="0"/>
              <a:t>Activity 10-6 shows you how to configure user rights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971639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User Rights (5 of 5)</a:t>
            </a:r>
            <a:endParaRPr lang="en-US" dirty="0"/>
          </a:p>
        </p:txBody>
      </p:sp>
      <p:pic>
        <p:nvPicPr>
          <p:cNvPr id="5" name="Picture 4" descr="Figure 10-9, Page No. 436, Complexity level: 2&#10;Screenshot shows the “Group Policy Management Editor” dialog box. On the left pane of the dialog box, the User Rights Assignment option is selected within the Local Policies tree under the Computer Configuration. The cursor points to the scroll bar of Policy and Policy Settings in the content pane.&#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2057400"/>
            <a:ext cx="4602480" cy="3413760"/>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8803142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Security Options (1 of 4)</a:t>
            </a:r>
            <a:endParaRPr lang="en-US" dirty="0"/>
          </a:p>
        </p:txBody>
      </p:sp>
      <p:sp>
        <p:nvSpPr>
          <p:cNvPr id="2" name="Content Placeholder 1"/>
          <p:cNvSpPr>
            <a:spLocks noGrp="1"/>
          </p:cNvSpPr>
          <p:nvPr>
            <p:ph idx="1"/>
          </p:nvPr>
        </p:nvSpPr>
        <p:spPr/>
        <p:txBody>
          <a:bodyPr/>
          <a:lstStyle/>
          <a:p>
            <a:r>
              <a:rPr lang="en-US" smtClean="0"/>
              <a:t>There are many specialized security options that are divided into the following categories:</a:t>
            </a:r>
          </a:p>
          <a:p>
            <a:pPr lvl="1"/>
            <a:r>
              <a:rPr lang="en-US" smtClean="0"/>
              <a:t>Accounts</a:t>
            </a:r>
          </a:p>
          <a:p>
            <a:pPr lvl="1"/>
            <a:r>
              <a:rPr lang="en-US" smtClean="0"/>
              <a:t>Audit</a:t>
            </a:r>
          </a:p>
          <a:p>
            <a:pPr lvl="1"/>
            <a:r>
              <a:rPr lang="en-US" smtClean="0"/>
              <a:t>DCOM</a:t>
            </a:r>
          </a:p>
          <a:p>
            <a:pPr lvl="1"/>
            <a:r>
              <a:rPr lang="en-US" smtClean="0"/>
              <a:t>Devices</a:t>
            </a:r>
          </a:p>
          <a:p>
            <a:pPr lvl="1"/>
            <a:r>
              <a:rPr lang="en-US" smtClean="0"/>
              <a:t>Domain controller</a:t>
            </a:r>
          </a:p>
          <a:p>
            <a:pPr lvl="1"/>
            <a:r>
              <a:rPr lang="en-US" smtClean="0"/>
              <a:t>Interactive logon</a:t>
            </a:r>
          </a:p>
          <a:p>
            <a:pPr lvl="1"/>
            <a:r>
              <a:rPr lang="en-US" smtClean="0"/>
              <a:t>Microsoft network client</a:t>
            </a:r>
          </a:p>
          <a:p>
            <a:pPr lvl="1"/>
            <a:r>
              <a:rPr lang="en-US" smtClean="0"/>
              <a:t>Network access</a:t>
            </a:r>
          </a:p>
          <a:p>
            <a:pPr lvl="1"/>
            <a:r>
              <a:rPr lang="en-US" smtClean="0"/>
              <a:t>Network security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986178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Security Options (2 of 4)</a:t>
            </a:r>
            <a:endParaRPr lang="en-US" dirty="0"/>
          </a:p>
        </p:txBody>
      </p:sp>
      <p:sp>
        <p:nvSpPr>
          <p:cNvPr id="2" name="Content Placeholder 1"/>
          <p:cNvSpPr>
            <a:spLocks noGrp="1"/>
          </p:cNvSpPr>
          <p:nvPr>
            <p:ph idx="1"/>
          </p:nvPr>
        </p:nvSpPr>
        <p:spPr/>
        <p:txBody>
          <a:bodyPr/>
          <a:lstStyle/>
          <a:p>
            <a:r>
              <a:rPr lang="en-US" smtClean="0"/>
              <a:t>There are many specialized security options that are divided into the following categories (cont’d):</a:t>
            </a:r>
          </a:p>
          <a:p>
            <a:pPr lvl="1"/>
            <a:r>
              <a:rPr lang="en-US" smtClean="0"/>
              <a:t>Recovery console</a:t>
            </a:r>
          </a:p>
          <a:p>
            <a:pPr lvl="1"/>
            <a:r>
              <a:rPr lang="en-US" smtClean="0"/>
              <a:t>Shutdown</a:t>
            </a:r>
          </a:p>
          <a:p>
            <a:pPr lvl="1"/>
            <a:r>
              <a:rPr lang="en-US" smtClean="0"/>
              <a:t>System cryptography</a:t>
            </a:r>
          </a:p>
          <a:p>
            <a:pPr lvl="1"/>
            <a:r>
              <a:rPr lang="en-US" smtClean="0"/>
              <a:t>System objects</a:t>
            </a:r>
          </a:p>
          <a:p>
            <a:pPr lvl="1"/>
            <a:r>
              <a:rPr lang="en-US" smtClean="0"/>
              <a:t>System settings</a:t>
            </a:r>
          </a:p>
          <a:p>
            <a:pPr lvl="1"/>
            <a:r>
              <a:rPr lang="en-US" smtClean="0"/>
              <a:t>User Account Control</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948606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Security Options (3 of 4)</a:t>
            </a:r>
            <a:endParaRPr lang="en-US" dirty="0"/>
          </a:p>
        </p:txBody>
      </p:sp>
      <p:sp>
        <p:nvSpPr>
          <p:cNvPr id="2" name="Content Placeholder 1"/>
          <p:cNvSpPr>
            <a:spLocks noGrp="1"/>
          </p:cNvSpPr>
          <p:nvPr>
            <p:ph idx="1"/>
          </p:nvPr>
        </p:nvSpPr>
        <p:spPr/>
        <p:txBody>
          <a:bodyPr/>
          <a:lstStyle/>
          <a:p>
            <a:r>
              <a:rPr lang="en-US" smtClean="0"/>
              <a:t>Activity 10-7 allows you to examine Security Options and then configure an option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4440043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Security Options (4 of 4)</a:t>
            </a:r>
            <a:endParaRPr lang="en-US" dirty="0"/>
          </a:p>
        </p:txBody>
      </p:sp>
      <p:pic>
        <p:nvPicPr>
          <p:cNvPr id="5" name="Picture 4" descr="Figure 10-11, Page No. 439, Complexity level: 1&#10;Screenshot shows the “Group Policy Management Editor” dialog box. On the left pane of the dialog box, the cursor points to the Security Options within the Local policies tree under the Computer Configuration.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2600" y="1905000"/>
            <a:ext cx="5460912" cy="4048607"/>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09070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IP Security Policies (1 of 4)</a:t>
            </a:r>
            <a:endParaRPr lang="en-US" dirty="0"/>
          </a:p>
        </p:txBody>
      </p:sp>
      <p:sp>
        <p:nvSpPr>
          <p:cNvPr id="2" name="Content Placeholder 1"/>
          <p:cNvSpPr>
            <a:spLocks noGrp="1"/>
          </p:cNvSpPr>
          <p:nvPr>
            <p:ph idx="1"/>
          </p:nvPr>
        </p:nvSpPr>
        <p:spPr/>
        <p:txBody>
          <a:bodyPr/>
          <a:lstStyle/>
          <a:p>
            <a:r>
              <a:rPr lang="en-US" smtClean="0"/>
              <a:t>Windows Server 2016 supports the implementation of IP security (IPsec)</a:t>
            </a:r>
          </a:p>
          <a:p>
            <a:r>
              <a:rPr lang="en-US" smtClean="0"/>
              <a:t>When an IPsec communication begins between two computers</a:t>
            </a:r>
          </a:p>
          <a:p>
            <a:pPr lvl="1"/>
            <a:r>
              <a:rPr lang="en-US" smtClean="0"/>
              <a:t>The computers first exchange certificates to authenticate the receiver and sender</a:t>
            </a:r>
          </a:p>
          <a:p>
            <a:r>
              <a:rPr lang="en-US" smtClean="0"/>
              <a:t>Next, data is encrypted at the NIC of the sending computer as it is formatted into an IP packet</a:t>
            </a:r>
          </a:p>
          <a:p>
            <a:r>
              <a:rPr lang="en-US" smtClean="0"/>
              <a:t>IPsec can provide security for all TCP/IP-based application and communications protocols</a:t>
            </a:r>
          </a:p>
          <a:p>
            <a:pPr lvl="1"/>
            <a:r>
              <a:rPr lang="en-US" smtClean="0"/>
              <a:t>Including FTP and HTTP, which are used in Internet transmissions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8806222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IP Security Policies (2 of 4)</a:t>
            </a:r>
            <a:endParaRPr lang="en-US" dirty="0"/>
          </a:p>
        </p:txBody>
      </p:sp>
      <p:sp>
        <p:nvSpPr>
          <p:cNvPr id="2" name="Content Placeholder 1"/>
          <p:cNvSpPr>
            <a:spLocks noGrp="1"/>
          </p:cNvSpPr>
          <p:nvPr>
            <p:ph idx="1"/>
          </p:nvPr>
        </p:nvSpPr>
        <p:spPr/>
        <p:txBody>
          <a:bodyPr/>
          <a:lstStyle/>
          <a:p>
            <a:r>
              <a:rPr lang="en-US" smtClean="0"/>
              <a:t>A computer that is configured to use IPsec communication can function in any of three roles:</a:t>
            </a:r>
          </a:p>
          <a:p>
            <a:pPr lvl="1"/>
            <a:r>
              <a:rPr lang="en-US" smtClean="0"/>
              <a:t>Client (Respond Only)</a:t>
            </a:r>
          </a:p>
          <a:p>
            <a:pPr lvl="1"/>
            <a:r>
              <a:rPr lang="en-US" smtClean="0"/>
              <a:t>Secure Server (Require Security)</a:t>
            </a:r>
          </a:p>
          <a:p>
            <a:pPr lvl="1"/>
            <a:r>
              <a:rPr lang="en-US" smtClean="0"/>
              <a:t>Server (Request Security)</a:t>
            </a:r>
          </a:p>
          <a:p>
            <a:r>
              <a:rPr lang="en-US" smtClean="0"/>
              <a:t>IPsec security policies can be established through the Default Domain Policy</a:t>
            </a:r>
          </a:p>
          <a:p>
            <a:r>
              <a:rPr lang="en-US" smtClean="0"/>
              <a:t>IPsec security policies can also be configured through the IP Security Policy Management MMC snap-in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9410311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IP Security Policies (3 of 4)</a:t>
            </a:r>
            <a:endParaRPr lang="en-US" dirty="0"/>
          </a:p>
        </p:txBody>
      </p:sp>
      <p:sp>
        <p:nvSpPr>
          <p:cNvPr id="2" name="Content Placeholder 1"/>
          <p:cNvSpPr>
            <a:spLocks noGrp="1"/>
          </p:cNvSpPr>
          <p:nvPr>
            <p:ph idx="1"/>
          </p:nvPr>
        </p:nvSpPr>
        <p:spPr/>
        <p:txBody>
          <a:bodyPr/>
          <a:lstStyle/>
          <a:p>
            <a:r>
              <a:rPr lang="en-US" smtClean="0"/>
              <a:t>Activity 10-8 steps you through how to configure IPsec Group Policy elements</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292047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IP Security Policies (4 of 4)</a:t>
            </a:r>
            <a:endParaRPr lang="en-US" dirty="0"/>
          </a:p>
        </p:txBody>
      </p:sp>
      <p:pic>
        <p:nvPicPr>
          <p:cNvPr id="5" name="Picture 4" descr="Figure 10-13, Page No. 441, Complexity level: 1&#10;Screenshot shows the “Group Policy Management Editor” dialog box. On the left pane of the dialog box, the cursor points to the IP Security Policies on Active Directory (JPCOMP) option.&#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93900" y="1752600"/>
            <a:ext cx="5562600" cy="4141553"/>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70473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Active Directory Rights Management Services (1 of 2)</a:t>
            </a:r>
            <a:endParaRPr lang="en-US" dirty="0"/>
          </a:p>
        </p:txBody>
      </p:sp>
      <p:sp>
        <p:nvSpPr>
          <p:cNvPr id="2" name="Content Placeholder 1"/>
          <p:cNvSpPr>
            <a:spLocks noGrp="1"/>
          </p:cNvSpPr>
          <p:nvPr>
            <p:ph idx="1"/>
          </p:nvPr>
        </p:nvSpPr>
        <p:spPr/>
        <p:txBody>
          <a:bodyPr/>
          <a:lstStyle/>
          <a:p>
            <a:r>
              <a:rPr lang="en-US" smtClean="0"/>
              <a:t>Active Directory Rights Management Services (AD RMS)</a:t>
            </a:r>
          </a:p>
          <a:p>
            <a:pPr lvl="1"/>
            <a:r>
              <a:rPr lang="en-US" smtClean="0"/>
              <a:t>A server role to complement the client applications that can take advantage of Rights Management Services safeguards</a:t>
            </a:r>
          </a:p>
          <a:p>
            <a:r>
              <a:rPr lang="en-US" smtClean="0"/>
              <a:t>Rights Management Services (RMS)</a:t>
            </a:r>
          </a:p>
          <a:p>
            <a:pPr lvl="1"/>
            <a:r>
              <a:rPr lang="en-US" smtClean="0"/>
              <a:t>Security rights developed by Microsoft to provide security for documents, spreadsheets, e-mail, and other types of files created by applications</a:t>
            </a:r>
          </a:p>
          <a:p>
            <a:pPr lvl="1"/>
            <a:r>
              <a:rPr lang="en-US" smtClean="0"/>
              <a:t>Uses security capabilities such as encryption, user authentication, and security certificates to help safeguard information</a:t>
            </a:r>
          </a:p>
          <a:p>
            <a:r>
              <a:rPr lang="en-US" smtClean="0"/>
              <a:t>RMS works by implementing rights that manage who can read, modify, copy, save, print, forward, and manipulate a document, spreadsheet, email, web document, and other types of files</a:t>
            </a:r>
          </a:p>
          <a:p>
            <a:pPr lvl="1"/>
            <a:r>
              <a:rPr lang="en-US" smtClean="0"/>
              <a:t>Rights are given to user accounts and groups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061544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Active Directory Rights Management Services (2 of 2)</a:t>
            </a:r>
            <a:endParaRPr lang="en-US" dirty="0"/>
          </a:p>
        </p:txBody>
      </p:sp>
      <p:sp>
        <p:nvSpPr>
          <p:cNvPr id="2" name="Content Placeholder 1"/>
          <p:cNvSpPr>
            <a:spLocks noGrp="1"/>
          </p:cNvSpPr>
          <p:nvPr>
            <p:ph idx="1"/>
          </p:nvPr>
        </p:nvSpPr>
        <p:spPr/>
        <p:txBody>
          <a:bodyPr/>
          <a:lstStyle/>
          <a:p>
            <a:r>
              <a:rPr lang="en-US" smtClean="0"/>
              <a:t>General steps used in RMS security</a:t>
            </a:r>
          </a:p>
          <a:p>
            <a:pPr lvl="1"/>
            <a:r>
              <a:rPr lang="en-US" smtClean="0"/>
              <a:t>A user creates a Word document, for example</a:t>
            </a:r>
          </a:p>
          <a:p>
            <a:pPr lvl="1"/>
            <a:r>
              <a:rPr lang="en-US" smtClean="0"/>
              <a:t>In the process of protecting the document with RMS, Word encrypts the document using an AES key and an additional RSA key</a:t>
            </a:r>
          </a:p>
          <a:p>
            <a:pPr lvl="1"/>
            <a:r>
              <a:rPr lang="en-US" smtClean="0"/>
              <a:t>The AD RMS server issues an identity license to the client who can access the document</a:t>
            </a:r>
          </a:p>
          <a:p>
            <a:pPr lvl="1"/>
            <a:r>
              <a:rPr lang="en-US" smtClean="0"/>
              <a:t>Client shows the AD RMS server its license to access the document</a:t>
            </a:r>
          </a:p>
          <a:p>
            <a:pPr lvl="1"/>
            <a:r>
              <a:rPr lang="en-US" smtClean="0"/>
              <a:t>The AD RMS server authenticates the client and determines the level of access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3427045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Security Using the Security Templates and Security and Configuration Analysis Snap-Ins (1 of 3)</a:t>
            </a:r>
            <a:endParaRPr lang="en-US" dirty="0"/>
          </a:p>
        </p:txBody>
      </p:sp>
      <p:sp>
        <p:nvSpPr>
          <p:cNvPr id="2" name="Content Placeholder 1"/>
          <p:cNvSpPr>
            <a:spLocks noGrp="1"/>
          </p:cNvSpPr>
          <p:nvPr>
            <p:ph idx="1"/>
          </p:nvPr>
        </p:nvSpPr>
        <p:spPr/>
        <p:txBody>
          <a:bodyPr/>
          <a:lstStyle/>
          <a:p>
            <a:r>
              <a:rPr lang="en-US" smtClean="0"/>
              <a:t>This snap-in enables you to set up security to govern the following:</a:t>
            </a:r>
          </a:p>
          <a:p>
            <a:pPr lvl="1"/>
            <a:r>
              <a:rPr lang="en-US" smtClean="0"/>
              <a:t>Account policies</a:t>
            </a:r>
          </a:p>
          <a:p>
            <a:pPr lvl="1"/>
            <a:r>
              <a:rPr lang="en-US" smtClean="0"/>
              <a:t>Local policies</a:t>
            </a:r>
          </a:p>
          <a:p>
            <a:pPr lvl="1"/>
            <a:r>
              <a:rPr lang="en-US" smtClean="0"/>
              <a:t>Event log tracking policies</a:t>
            </a:r>
          </a:p>
          <a:p>
            <a:pPr lvl="1"/>
            <a:r>
              <a:rPr lang="en-US" smtClean="0"/>
              <a:t>Group restrictions</a:t>
            </a:r>
          </a:p>
          <a:p>
            <a:pPr lvl="1"/>
            <a:r>
              <a:rPr lang="en-US" smtClean="0"/>
              <a:t>Service access security</a:t>
            </a:r>
          </a:p>
          <a:p>
            <a:pPr lvl="1"/>
            <a:r>
              <a:rPr lang="en-US" smtClean="0"/>
              <a:t>Registry security</a:t>
            </a:r>
          </a:p>
          <a:p>
            <a:pPr lvl="1"/>
            <a:r>
              <a:rPr lang="en-US" smtClean="0"/>
              <a:t>File system security</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6894653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Security Using the Security Templates and Security and Configuration Analysis Snap-Ins (2 of 3)</a:t>
            </a:r>
            <a:endParaRPr lang="en-US" dirty="0"/>
          </a:p>
        </p:txBody>
      </p:sp>
      <p:sp>
        <p:nvSpPr>
          <p:cNvPr id="2" name="Content Placeholder 1"/>
          <p:cNvSpPr>
            <a:spLocks noGrp="1"/>
          </p:cNvSpPr>
          <p:nvPr>
            <p:ph idx="1"/>
          </p:nvPr>
        </p:nvSpPr>
        <p:spPr/>
        <p:txBody>
          <a:bodyPr/>
          <a:lstStyle/>
          <a:p>
            <a:r>
              <a:rPr lang="en-US" smtClean="0"/>
              <a:t>Activity 10-9 shows you how to use the Security Templates snap-in</a:t>
            </a:r>
          </a:p>
          <a:p>
            <a:r>
              <a:rPr lang="en-US" smtClean="0"/>
              <a:t>Activity 10-10 shows you how to use the Security Configuration and Analysis snap-in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15902442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Managing Security Using the Security Templates and Security and Configuration Analysis Snap-Ins (3 of 3)</a:t>
            </a:r>
            <a:endParaRPr lang="en-US" dirty="0"/>
          </a:p>
        </p:txBody>
      </p:sp>
      <p:pic>
        <p:nvPicPr>
          <p:cNvPr id="5" name="Picture 4" descr=" Figure 10-15, Page No. 444, Complexity level: 2&#10;Screenshot shows the “Console1 – [Console Root\Security Templates]” dialog box. On the left pane of the dialog box, the Security Templates option is selected under the Console Root. On the content pane of the dialog box, another dialog box overlaps. The cursor points to the New Template option in the dialog box.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73960" y="1828800"/>
            <a:ext cx="4602480" cy="4206240"/>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649018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Client Security Using Policies in Windows Server 2016</a:t>
            </a:r>
            <a:endParaRPr lang="en-US" dirty="0"/>
          </a:p>
        </p:txBody>
      </p:sp>
      <p:sp>
        <p:nvSpPr>
          <p:cNvPr id="2" name="Content Placeholder 1"/>
          <p:cNvSpPr>
            <a:spLocks noGrp="1"/>
          </p:cNvSpPr>
          <p:nvPr>
            <p:ph idx="1"/>
          </p:nvPr>
        </p:nvSpPr>
        <p:spPr/>
        <p:txBody>
          <a:bodyPr/>
          <a:lstStyle/>
          <a:p>
            <a:r>
              <a:rPr lang="en-US" smtClean="0"/>
              <a:t>Customizing settings used by clients offers several advantages:</a:t>
            </a:r>
          </a:p>
          <a:p>
            <a:pPr lvl="1"/>
            <a:r>
              <a:rPr lang="en-US" smtClean="0"/>
              <a:t>Enhanced security </a:t>
            </a:r>
          </a:p>
          <a:p>
            <a:pPr lvl="1"/>
            <a:r>
              <a:rPr lang="en-US" smtClean="0"/>
              <a:t>Providing a consistent working environment in an organization</a:t>
            </a:r>
          </a:p>
          <a:p>
            <a:r>
              <a:rPr lang="en-US" smtClean="0"/>
              <a:t>The settings are customized by configuring policies on the Windows Server 2016 servers that the clients access</a:t>
            </a:r>
          </a:p>
          <a:p>
            <a:pPr lvl="1"/>
            <a:r>
              <a:rPr lang="en-US" smtClean="0"/>
              <a:t>When the client signs in to the server or the network, the policies are applied to the client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4627020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Manually Configuring Policies for Clients (1 of 2)</a:t>
            </a:r>
            <a:endParaRPr lang="en-US" dirty="0"/>
          </a:p>
        </p:txBody>
      </p:sp>
      <p:sp>
        <p:nvSpPr>
          <p:cNvPr id="2" name="Content Placeholder 1"/>
          <p:cNvSpPr>
            <a:spLocks noGrp="1"/>
          </p:cNvSpPr>
          <p:nvPr>
            <p:ph idx="1"/>
          </p:nvPr>
        </p:nvSpPr>
        <p:spPr/>
        <p:txBody>
          <a:bodyPr/>
          <a:lstStyle/>
          <a:p>
            <a:r>
              <a:rPr lang="en-US" smtClean="0"/>
              <a:t>You can manually configure one or more policies that apply to clients by using:</a:t>
            </a:r>
          </a:p>
          <a:p>
            <a:pPr lvl="1"/>
            <a:r>
              <a:rPr lang="en-US" smtClean="0"/>
              <a:t>The Group Policy Management tool </a:t>
            </a:r>
          </a:p>
          <a:p>
            <a:pPr lvl="1"/>
            <a:r>
              <a:rPr lang="en-US" smtClean="0"/>
              <a:t>or the Group Policy Object Editor snap-in</a:t>
            </a:r>
          </a:p>
          <a:p>
            <a:r>
              <a:rPr lang="en-US" smtClean="0"/>
              <a:t>In either tool, you customize the desktop settings for client computers by using the Administrative Templates Policy object</a:t>
            </a:r>
          </a:p>
          <a:p>
            <a:pPr lvl="1"/>
            <a:r>
              <a:rPr lang="en-US" smtClean="0"/>
              <a:t>Under User Configuration and Policies in a Group Policy Object</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1406671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Manually Configuring Policies for Clients (2 of 2)</a:t>
            </a:r>
            <a:endParaRPr lang="en-US" dirty="0"/>
          </a:p>
        </p:txBody>
      </p:sp>
      <p:pic>
        <p:nvPicPr>
          <p:cNvPr id="6" name="Content Placeholder 5" descr="Figure 10-18, Page No. 448, Complexity level: 2&#10; Screenshot shows the “Group Policy Management Editor” dialog box. On the left pane of the dialog box, the cursor points to the “Administrative Templates Policy definitions option” under the User Configuration tree and the Default Domain Policy [ACCOUNTING.JPCOMP.COM]. On the content pane of the dialog box, text reads, “select an item to view its description” of Name as Computer Configuration and User Configuration.&#10;"/>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676400" y="1752600"/>
            <a:ext cx="5417438" cy="4176712"/>
          </a:xfr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40410703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Publishing and Assigning Software (1 of 3)</a:t>
            </a:r>
            <a:endParaRPr lang="en-US" dirty="0"/>
          </a:p>
        </p:txBody>
      </p:sp>
      <p:sp>
        <p:nvSpPr>
          <p:cNvPr id="2" name="Content Placeholder 1"/>
          <p:cNvSpPr>
            <a:spLocks noGrp="1"/>
          </p:cNvSpPr>
          <p:nvPr>
            <p:ph idx="1"/>
          </p:nvPr>
        </p:nvSpPr>
        <p:spPr/>
        <p:txBody>
          <a:bodyPr/>
          <a:lstStyle/>
          <a:p>
            <a:r>
              <a:rPr lang="en-US" smtClean="0"/>
              <a:t>Publishing applications (or software)</a:t>
            </a:r>
          </a:p>
          <a:p>
            <a:pPr lvl="1"/>
            <a:r>
              <a:rPr lang="en-US" smtClean="0"/>
              <a:t>Involves setting up software through a group policy so that the application is available for users to install from a central application distribution server</a:t>
            </a:r>
          </a:p>
          <a:p>
            <a:pPr lvl="2"/>
            <a:r>
              <a:rPr lang="en-US" smtClean="0"/>
              <a:t>Such as through the Programs and Features capability via the user’s desktop</a:t>
            </a:r>
          </a:p>
          <a:p>
            <a:r>
              <a:rPr lang="en-US" smtClean="0"/>
              <a:t>Assigning applications</a:t>
            </a:r>
          </a:p>
          <a:p>
            <a:pPr lvl="1"/>
            <a:r>
              <a:rPr lang="en-US" smtClean="0"/>
              <a:t>An application is automatically represented on the user’s desktop</a:t>
            </a:r>
          </a:p>
          <a:p>
            <a:pPr lvl="1"/>
            <a:r>
              <a:rPr lang="en-US" smtClean="0"/>
              <a:t>Is initially really a link to the central application distribution server</a:t>
            </a:r>
          </a:p>
          <a:p>
            <a:pPr lvl="1"/>
            <a:r>
              <a:rPr lang="en-US" smtClean="0"/>
              <a:t>When the application is assigned to the computer, the application is automatically installed the next time the user boots or signs in to the computer</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240314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Publishing and Assigning Software (2 of 3)</a:t>
            </a:r>
            <a:endParaRPr lang="en-US" dirty="0"/>
          </a:p>
        </p:txBody>
      </p:sp>
      <p:sp>
        <p:nvSpPr>
          <p:cNvPr id="5" name="Content Placeholder 4"/>
          <p:cNvSpPr>
            <a:spLocks noGrp="1"/>
          </p:cNvSpPr>
          <p:nvPr>
            <p:ph idx="1"/>
          </p:nvPr>
        </p:nvSpPr>
        <p:spPr/>
        <p:txBody>
          <a:bodyPr/>
          <a:lstStyle/>
          <a:p>
            <a:r>
              <a:rPr lang="en-US" smtClean="0"/>
              <a:t>Activity 10-12 shows you where to set up software installation in a Group Policy</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10041034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Publishing and Assigning Software (3 of 3)</a:t>
            </a:r>
            <a:endParaRPr lang="en-US" dirty="0"/>
          </a:p>
        </p:txBody>
      </p:sp>
      <p:pic>
        <p:nvPicPr>
          <p:cNvPr id="7" name="Picture 6" descr="Figure 10-20, Page No. 451, Complexity level: 2&#10;Screenshot shows the “Software installation Properties” dialog box. The General tab is selected. The text reads, “Default package location.” The Display the Deploy Software dialog box radio button is selected under “when adding new packages to the user settings and the New package option.” The Maximum radio button is selected under the installation user interface options. The OK button shown is selected.&#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1631174"/>
            <a:ext cx="3365786" cy="4018609"/>
          </a:xfrm>
          <a:prstGeom prst="rect">
            <a:avLst/>
          </a:prstGeom>
        </p:spPr>
      </p:pic>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0780212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Resultant Set of Policy</a:t>
            </a:r>
            <a:endParaRPr lang="en-US" dirty="0"/>
          </a:p>
        </p:txBody>
      </p:sp>
      <p:sp>
        <p:nvSpPr>
          <p:cNvPr id="2" name="Content Placeholder 1"/>
          <p:cNvSpPr>
            <a:spLocks noGrp="1"/>
          </p:cNvSpPr>
          <p:nvPr>
            <p:ph idx="1"/>
          </p:nvPr>
        </p:nvSpPr>
        <p:spPr/>
        <p:txBody>
          <a:bodyPr/>
          <a:lstStyle/>
          <a:p>
            <a:r>
              <a:rPr lang="en-US" smtClean="0"/>
              <a:t>Resultant Set of Policy (RSoP)</a:t>
            </a:r>
          </a:p>
          <a:p>
            <a:pPr lvl="1"/>
            <a:r>
              <a:rPr lang="en-US" smtClean="0"/>
              <a:t>Used to make the implementation and troubleshooting of group policies much simpler for an administrator</a:t>
            </a:r>
          </a:p>
          <a:p>
            <a:pPr lvl="1"/>
            <a:r>
              <a:rPr lang="en-US" smtClean="0"/>
              <a:t>Can query the existing policies that are in place and then provide reports and the results of policy changes</a:t>
            </a:r>
          </a:p>
          <a:p>
            <a:r>
              <a:rPr lang="en-US" smtClean="0"/>
              <a:t>RSoP supports two modes: </a:t>
            </a:r>
          </a:p>
          <a:p>
            <a:pPr lvl="1"/>
            <a:r>
              <a:rPr lang="en-US" smtClean="0"/>
              <a:t>Planning – generates a report and provides the results of proposed policy changes</a:t>
            </a:r>
          </a:p>
          <a:p>
            <a:pPr lvl="1"/>
            <a:r>
              <a:rPr lang="en-US" smtClean="0"/>
              <a:t>Logging – generates a report based on the current policies in place and provides the resulting policy settings</a:t>
            </a:r>
          </a:p>
          <a:p>
            <a:r>
              <a:rPr lang="en-US" smtClean="0"/>
              <a:t>Activity 10-13 shows you how to use the Resultant Set of Policy tool</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9581514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User the cipher Command</a:t>
            </a:r>
            <a:endParaRPr lang="en-US" dirty="0"/>
          </a:p>
        </p:txBody>
      </p:sp>
      <p:sp>
        <p:nvSpPr>
          <p:cNvPr id="2" name="Content Placeholder 1"/>
          <p:cNvSpPr>
            <a:spLocks noGrp="1"/>
          </p:cNvSpPr>
          <p:nvPr>
            <p:ph idx="1"/>
          </p:nvPr>
        </p:nvSpPr>
        <p:spPr/>
        <p:txBody>
          <a:bodyPr/>
          <a:lstStyle/>
          <a:p>
            <a:r>
              <a:rPr lang="en-US" smtClean="0"/>
              <a:t>When you deploy NTFS you can use the Encrypt attribute to protect folders and files</a:t>
            </a:r>
          </a:p>
          <a:p>
            <a:pPr lvl="1"/>
            <a:r>
              <a:rPr lang="en-US" smtClean="0"/>
              <a:t>Enabling only the user who encrypts the folder or file to read it</a:t>
            </a:r>
          </a:p>
          <a:p>
            <a:r>
              <a:rPr lang="en-US" smtClean="0"/>
              <a:t>An encrypted folder or file uses Microsoft’s Encrypting File System (EFS)</a:t>
            </a:r>
          </a:p>
          <a:p>
            <a:pPr lvl="1"/>
            <a:r>
              <a:rPr lang="en-US" smtClean="0"/>
              <a:t>Configuring a unique private encryption key that is associated with the user account that encrypted the folder or file</a:t>
            </a:r>
          </a:p>
          <a:p>
            <a:r>
              <a:rPr lang="en-US" smtClean="0"/>
              <a:t>You can set the Encrypt attribute on a folder or file through working with that folder’s or file’s properties</a:t>
            </a:r>
          </a:p>
          <a:p>
            <a:pPr lvl="1"/>
            <a:r>
              <a:rPr lang="en-US" smtClean="0"/>
              <a:t>Another option that you learn in this section is to use the cipher command from the Windows PowerShell or Command Prompt window</a:t>
            </a:r>
          </a:p>
          <a:p>
            <a:r>
              <a:rPr lang="en-US" smtClean="0"/>
              <a:t>Table 10-2 on page 454 describes some common cipher command-line parameters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5061051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BitLocker Drive Encryption (1 of 2)</a:t>
            </a:r>
            <a:endParaRPr lang="en-US" dirty="0"/>
          </a:p>
        </p:txBody>
      </p:sp>
      <p:sp>
        <p:nvSpPr>
          <p:cNvPr id="2" name="Content Placeholder 1"/>
          <p:cNvSpPr>
            <a:spLocks noGrp="1"/>
          </p:cNvSpPr>
          <p:nvPr>
            <p:ph idx="1"/>
          </p:nvPr>
        </p:nvSpPr>
        <p:spPr/>
        <p:txBody>
          <a:bodyPr/>
          <a:lstStyle/>
          <a:p>
            <a:r>
              <a:rPr lang="en-US" smtClean="0"/>
              <a:t>BitLocker Drive Encryption</a:t>
            </a:r>
          </a:p>
          <a:p>
            <a:pPr lvl="1"/>
            <a:r>
              <a:rPr lang="en-US" smtClean="0"/>
              <a:t>An effective tool for protecting data on hard drives, including removable hard drives connected through a USB port</a:t>
            </a:r>
          </a:p>
          <a:p>
            <a:pPr lvl="1"/>
            <a:r>
              <a:rPr lang="en-US" smtClean="0"/>
              <a:t>Also supports EFI-based computers as well as computers using BIOS</a:t>
            </a:r>
          </a:p>
          <a:p>
            <a:pPr lvl="1"/>
            <a:r>
              <a:rPr lang="en-US" smtClean="0"/>
              <a:t>Uses Trusted Platform Module for one approach to security</a:t>
            </a:r>
          </a:p>
          <a:p>
            <a:r>
              <a:rPr lang="en-US" smtClean="0"/>
              <a:t>Trusted Platform Module (TPM)</a:t>
            </a:r>
          </a:p>
          <a:p>
            <a:pPr lvl="1"/>
            <a:r>
              <a:rPr lang="en-US" smtClean="0"/>
              <a:t>A security specification for a hardware device that can be used to secure information on a different hardware device, such as a hard drive</a:t>
            </a:r>
          </a:p>
          <a:p>
            <a:r>
              <a:rPr lang="en-US" smtClean="0"/>
              <a:t>When used to protect a hard drive</a:t>
            </a:r>
          </a:p>
          <a:p>
            <a:pPr lvl="1"/>
            <a:r>
              <a:rPr lang="en-US" smtClean="0"/>
              <a:t>TPM verifies that the computer to which the hard drive is connected has authority to access that hard drive</a:t>
            </a:r>
          </a:p>
          <a:p>
            <a:pPr lvl="1"/>
            <a:r>
              <a:rPr lang="en-US" smtClean="0"/>
              <a:t>If a hard drive is stolen, it cannot be accessed by another computer</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5522685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Using BitLocker Drive Encryption (2 of 2)</a:t>
            </a:r>
            <a:endParaRPr lang="en-US" dirty="0"/>
          </a:p>
        </p:txBody>
      </p:sp>
      <p:sp>
        <p:nvSpPr>
          <p:cNvPr id="2" name="Content Placeholder 1"/>
          <p:cNvSpPr>
            <a:spLocks noGrp="1"/>
          </p:cNvSpPr>
          <p:nvPr>
            <p:ph idx="1"/>
          </p:nvPr>
        </p:nvSpPr>
        <p:spPr/>
        <p:txBody>
          <a:bodyPr/>
          <a:lstStyle/>
          <a:p>
            <a:r>
              <a:rPr lang="en-US" smtClean="0"/>
              <a:t>If a computer is not equipped with a TPM chip</a:t>
            </a:r>
          </a:p>
          <a:p>
            <a:pPr lvl="1"/>
            <a:r>
              <a:rPr lang="en-US" smtClean="0"/>
              <a:t>BitLocker Drive Encryption can be used with a USB flash drive that contains a personal identification number (PIN)</a:t>
            </a:r>
          </a:p>
          <a:p>
            <a:r>
              <a:rPr lang="en-US" smtClean="0"/>
              <a:t>BitLocker Drive Encryption encrypts the entire drive</a:t>
            </a:r>
          </a:p>
          <a:p>
            <a:pPr lvl="1"/>
            <a:r>
              <a:rPr lang="en-US" smtClean="0"/>
              <a:t>Including the OS, programs, and data files</a:t>
            </a:r>
          </a:p>
          <a:p>
            <a:r>
              <a:rPr lang="en-US" smtClean="0"/>
              <a:t>BitLocker can check to ensure files have not been tampered with or accessed by any sources that do not have the proper physical-device key</a:t>
            </a:r>
          </a:p>
          <a:p>
            <a:pPr lvl="1"/>
            <a:r>
              <a:rPr lang="en-US" smtClean="0"/>
              <a:t>If it detects unauthorized access, it locks the files on the drive</a:t>
            </a:r>
          </a:p>
          <a:p>
            <a:r>
              <a:rPr lang="en-US" smtClean="0"/>
              <a:t>Activity 10-15 shows you how to set up BitLocker Drive Encryption</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21465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NAT (1 of 2)</a:t>
            </a:r>
            <a:endParaRPr lang="en-US" dirty="0"/>
          </a:p>
        </p:txBody>
      </p:sp>
      <p:sp>
        <p:nvSpPr>
          <p:cNvPr id="2" name="Content Placeholder 1"/>
          <p:cNvSpPr>
            <a:spLocks noGrp="1"/>
          </p:cNvSpPr>
          <p:nvPr>
            <p:ph idx="1"/>
          </p:nvPr>
        </p:nvSpPr>
        <p:spPr/>
        <p:txBody>
          <a:bodyPr/>
          <a:lstStyle/>
          <a:p>
            <a:r>
              <a:rPr lang="en-US" smtClean="0"/>
              <a:t>Network Address Translation (NAT) serves two important functions:</a:t>
            </a:r>
          </a:p>
          <a:p>
            <a:pPr lvl="1"/>
            <a:r>
              <a:rPr lang="en-US" smtClean="0"/>
              <a:t>Enables an organization to automatically assign its own IP addresses on an internal network</a:t>
            </a:r>
          </a:p>
          <a:p>
            <a:pPr lvl="2"/>
            <a:r>
              <a:rPr lang="en-US" smtClean="0"/>
              <a:t>Without having to set up many globally unique addresses for use over external networks</a:t>
            </a:r>
          </a:p>
          <a:p>
            <a:pPr lvl="1"/>
            <a:r>
              <a:rPr lang="en-US" smtClean="0"/>
              <a:t>Protects computers on an internal network so that computers on external networks cannot identify their true IP addresses on the internal network</a:t>
            </a:r>
          </a:p>
          <a:p>
            <a:r>
              <a:rPr lang="en-US" smtClean="0"/>
              <a:t>NAT uses a pool of private addresses for its internal network</a:t>
            </a:r>
          </a:p>
          <a:p>
            <a:r>
              <a:rPr lang="en-US" smtClean="0"/>
              <a:t>Because the internal addresses are not viewed by the outside world</a:t>
            </a:r>
          </a:p>
          <a:p>
            <a:pPr lvl="1"/>
            <a:r>
              <a:rPr lang="en-US" smtClean="0"/>
              <a:t>There is no need to have a large pool of IP addresses that can also be used over an external network</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6774859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Configuring NAT (2 of 2)</a:t>
            </a:r>
            <a:endParaRPr lang="en-US" dirty="0"/>
          </a:p>
        </p:txBody>
      </p:sp>
      <p:sp>
        <p:nvSpPr>
          <p:cNvPr id="2" name="Content Placeholder 1"/>
          <p:cNvSpPr>
            <a:spLocks noGrp="1"/>
          </p:cNvSpPr>
          <p:nvPr>
            <p:ph idx="1"/>
          </p:nvPr>
        </p:nvSpPr>
        <p:spPr/>
        <p:txBody>
          <a:bodyPr/>
          <a:lstStyle/>
          <a:p>
            <a:r>
              <a:rPr lang="en-US" smtClean="0"/>
              <a:t>Only one or a very small pool of globally unique IP addresses are needed for outside communications</a:t>
            </a:r>
          </a:p>
          <a:p>
            <a:r>
              <a:rPr lang="en-US" smtClean="0"/>
              <a:t>NAT is also a good security technique because internal IP addresses are concealed from the outside world</a:t>
            </a:r>
          </a:p>
          <a:p>
            <a:r>
              <a:rPr lang="en-US" smtClean="0"/>
              <a:t>In a typical installation,</a:t>
            </a:r>
          </a:p>
          <a:p>
            <a:pPr lvl="1"/>
            <a:r>
              <a:rPr lang="en-US" smtClean="0"/>
              <a:t>NAT acts like a firewall so that the outside world (external networks) sees only one address</a:t>
            </a:r>
          </a:p>
          <a:p>
            <a:r>
              <a:rPr lang="en-US" smtClean="0"/>
              <a:t>When you install the Remote Access role and then use the Getting Started Wizard</a:t>
            </a:r>
          </a:p>
          <a:p>
            <a:pPr lvl="1"/>
            <a:r>
              <a:rPr lang="en-US" smtClean="0"/>
              <a:t>You can configure to setup NAT</a:t>
            </a:r>
          </a:p>
          <a:p>
            <a:r>
              <a:rPr lang="en-US" smtClean="0"/>
              <a:t>Activity 10-16 shows you how to add NAT as a role service in the Remote Access Services role</a:t>
            </a:r>
          </a:p>
          <a:p>
            <a:endParaRPr lang="en-US" smtClean="0"/>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45054264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Firewall (1 of 2)</a:t>
            </a:r>
            <a:endParaRPr lang="en-US" dirty="0"/>
          </a:p>
        </p:txBody>
      </p:sp>
      <p:sp>
        <p:nvSpPr>
          <p:cNvPr id="2" name="Content Placeholder 1"/>
          <p:cNvSpPr>
            <a:spLocks noGrp="1"/>
          </p:cNvSpPr>
          <p:nvPr>
            <p:ph idx="1"/>
          </p:nvPr>
        </p:nvSpPr>
        <p:spPr/>
        <p:txBody>
          <a:bodyPr/>
          <a:lstStyle/>
          <a:p>
            <a:r>
              <a:rPr lang="en-US" smtClean="0"/>
              <a:t>Windows Firewall offers the following advantages:</a:t>
            </a:r>
          </a:p>
          <a:p>
            <a:pPr lvl="1"/>
            <a:r>
              <a:rPr lang="en-US" smtClean="0"/>
              <a:t>Protects incoming and outgoing communications</a:t>
            </a:r>
          </a:p>
          <a:p>
            <a:pPr lvl="1"/>
            <a:r>
              <a:rPr lang="en-US" smtClean="0"/>
              <a:t>Merges firewall filters with IPsec settings to avoid settings conflicts</a:t>
            </a:r>
          </a:p>
          <a:p>
            <a:pPr lvl="1"/>
            <a:r>
              <a:rPr lang="en-US" smtClean="0"/>
              <a:t>Includes the Windows Firewall with Advanced Security MMC snap-in</a:t>
            </a:r>
          </a:p>
          <a:p>
            <a:pPr lvl="1"/>
            <a:r>
              <a:rPr lang="en-US" smtClean="0"/>
              <a:t>Has firewall exceptions or rules for several kinds of managed objects</a:t>
            </a:r>
          </a:p>
          <a:p>
            <a:r>
              <a:rPr lang="en-US" smtClean="0"/>
              <a:t>After enabling Windows Firewall, your next step should be configuring exceptions and advanced features</a:t>
            </a:r>
          </a:p>
          <a:p>
            <a:r>
              <a:rPr lang="en-US" smtClean="0"/>
              <a:t>Exceptions are programs that you choose to allow through the firewall in both directions</a:t>
            </a:r>
          </a:p>
          <a:p>
            <a:r>
              <a:rPr lang="en-US" smtClean="0"/>
              <a:t>When considered as a group, the exceptions are a set of rules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399028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Firewall (2 of 2)</a:t>
            </a:r>
            <a:endParaRPr lang="en-US" dirty="0"/>
          </a:p>
        </p:txBody>
      </p:sp>
      <p:sp>
        <p:nvSpPr>
          <p:cNvPr id="2" name="Content Placeholder 1"/>
          <p:cNvSpPr>
            <a:spLocks noGrp="1"/>
          </p:cNvSpPr>
          <p:nvPr>
            <p:ph idx="1"/>
          </p:nvPr>
        </p:nvSpPr>
        <p:spPr/>
        <p:txBody>
          <a:bodyPr/>
          <a:lstStyle/>
          <a:p>
            <a:r>
              <a:rPr lang="en-US" smtClean="0"/>
              <a:t>Exceptions can be configured for the following:</a:t>
            </a:r>
          </a:p>
          <a:p>
            <a:pPr lvl="1"/>
            <a:r>
              <a:rPr lang="en-US" smtClean="0"/>
              <a:t>TCP and UDP ports</a:t>
            </a:r>
          </a:p>
          <a:p>
            <a:pPr lvl="1"/>
            <a:r>
              <a:rPr lang="en-US" smtClean="0"/>
              <a:t>All or only specified ports</a:t>
            </a:r>
          </a:p>
          <a:p>
            <a:pPr lvl="1"/>
            <a:r>
              <a:rPr lang="en-US" smtClean="0"/>
              <a:t>IPv4 and IPv6</a:t>
            </a:r>
          </a:p>
          <a:p>
            <a:pPr lvl="1"/>
            <a:r>
              <a:rPr lang="en-US" smtClean="0"/>
              <a:t>All or only specified network interfaces</a:t>
            </a:r>
          </a:p>
          <a:p>
            <a:pPr lvl="1"/>
            <a:r>
              <a:rPr lang="en-US" smtClean="0"/>
              <a:t>Services by providing the path to the service</a:t>
            </a:r>
          </a:p>
          <a:p>
            <a:r>
              <a:rPr lang="en-US" smtClean="0"/>
              <a:t>You can configure basic exceptions and advanced features from Control Panel or Server Manager</a:t>
            </a:r>
          </a:p>
          <a:p>
            <a:pPr lvl="1"/>
            <a:r>
              <a:rPr lang="en-US" smtClean="0"/>
              <a:t>Specific inbound and outbound communications can be configured from the Windows Firewall with Advanced Settings MMC snap-in</a:t>
            </a:r>
          </a:p>
          <a:p>
            <a:r>
              <a:rPr lang="en-US" smtClean="0"/>
              <a:t>Activity 10-17 shows you how to configure Windows Firewall from Control Panel</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3000510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Windows Defender</a:t>
            </a:r>
            <a:endParaRPr lang="en-US" dirty="0"/>
          </a:p>
        </p:txBody>
      </p:sp>
      <p:sp>
        <p:nvSpPr>
          <p:cNvPr id="2" name="Content Placeholder 1"/>
          <p:cNvSpPr>
            <a:spLocks noGrp="1"/>
          </p:cNvSpPr>
          <p:nvPr>
            <p:ph idx="1"/>
          </p:nvPr>
        </p:nvSpPr>
        <p:spPr/>
        <p:txBody>
          <a:bodyPr/>
          <a:lstStyle/>
          <a:p>
            <a:r>
              <a:rPr lang="en-US" smtClean="0"/>
              <a:t>Windows Defender</a:t>
            </a:r>
          </a:p>
          <a:p>
            <a:pPr lvl="1"/>
            <a:r>
              <a:rPr lang="en-US" smtClean="0"/>
              <a:t>A security program that comes with Windows Server 2016 that protects against malware, viruses, spyware, and other threats</a:t>
            </a:r>
          </a:p>
          <a:p>
            <a:r>
              <a:rPr lang="en-US" smtClean="0"/>
              <a:t>Windows Server 2016 is the first Windows Server system that includes Windows Defender</a:t>
            </a:r>
          </a:p>
          <a:p>
            <a:pPr lvl="1"/>
            <a:r>
              <a:rPr lang="en-US" smtClean="0"/>
              <a:t>Can be downloaded to operate in Windows Server 2008/R2 and 2012/R2</a:t>
            </a:r>
          </a:p>
          <a:p>
            <a:r>
              <a:rPr lang="en-US" smtClean="0"/>
              <a:t>Windows Defender</a:t>
            </a:r>
          </a:p>
          <a:p>
            <a:pPr lvl="1"/>
            <a:r>
              <a:rPr lang="en-US" smtClean="0"/>
              <a:t>Regularly scans for malware and has the option to run a manual scan</a:t>
            </a:r>
          </a:p>
          <a:p>
            <a:pPr lvl="1"/>
            <a:r>
              <a:rPr lang="en-US" smtClean="0"/>
              <a:t>Updates are sent automatically (if Windows Update allows automatic updates to Windows Defender)</a:t>
            </a:r>
          </a:p>
          <a:p>
            <a:r>
              <a:rPr lang="en-US" smtClean="0"/>
              <a:t>Activity 10-18 shows you how to use the Windows Defender GUI</a:t>
            </a:r>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226314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(1 of 3)</a:t>
            </a:r>
            <a:endParaRPr lang="en-US" dirty="0"/>
          </a:p>
        </p:txBody>
      </p:sp>
      <p:sp>
        <p:nvSpPr>
          <p:cNvPr id="2" name="Content Placeholder 1"/>
          <p:cNvSpPr>
            <a:spLocks noGrp="1"/>
          </p:cNvSpPr>
          <p:nvPr>
            <p:ph idx="1"/>
          </p:nvPr>
        </p:nvSpPr>
        <p:spPr/>
        <p:txBody>
          <a:bodyPr/>
          <a:lstStyle/>
          <a:p>
            <a:r>
              <a:rPr lang="en-US" smtClean="0"/>
              <a:t>Windows Server 2016 has many important security features</a:t>
            </a:r>
          </a:p>
          <a:p>
            <a:r>
              <a:rPr lang="en-US" smtClean="0"/>
              <a:t>Group policy offers a way to standardize security across a domain, OU, site, or local server</a:t>
            </a:r>
          </a:p>
          <a:p>
            <a:r>
              <a:rPr lang="en-US" smtClean="0"/>
              <a:t>Configure account policies to include security features such as password security, account lockout, and Kerberos authentication</a:t>
            </a:r>
          </a:p>
          <a:p>
            <a:r>
              <a:rPr lang="en-US" smtClean="0"/>
              <a:t>Use audit policies to track how resources are accessed, such as folders, files, or user accounts</a:t>
            </a:r>
          </a:p>
          <a:p>
            <a:r>
              <a:rPr lang="en-US" smtClean="0"/>
              <a:t>User rights policies enable you to create specific security controls</a:t>
            </a:r>
          </a:p>
          <a:p>
            <a:r>
              <a:rPr lang="en-US" smtClean="0"/>
              <a:t>Security options are specialized policies</a:t>
            </a:r>
          </a:p>
          <a:p>
            <a:r>
              <a:rPr lang="en-US" smtClean="0"/>
              <a:t>Configure IPsec security policy for strong client authentication</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00144218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(2 of 3)</a:t>
            </a:r>
            <a:endParaRPr lang="en-US" dirty="0"/>
          </a:p>
        </p:txBody>
      </p:sp>
      <p:sp>
        <p:nvSpPr>
          <p:cNvPr id="2" name="Content Placeholder 1"/>
          <p:cNvSpPr>
            <a:spLocks noGrp="1"/>
          </p:cNvSpPr>
          <p:nvPr>
            <p:ph idx="1"/>
          </p:nvPr>
        </p:nvSpPr>
        <p:spPr/>
        <p:txBody>
          <a:bodyPr/>
          <a:lstStyle/>
          <a:p>
            <a:r>
              <a:rPr lang="en-US" smtClean="0"/>
              <a:t>Implement Active Directory Rights Management Services for application-level security</a:t>
            </a:r>
          </a:p>
          <a:p>
            <a:r>
              <a:rPr lang="en-US" smtClean="0"/>
              <a:t>Use the Security Templates and Security Configuration and Analysis snap-ins to configure consistent security policies for an Active Directory container </a:t>
            </a:r>
          </a:p>
          <a:p>
            <a:r>
              <a:rPr lang="en-US" smtClean="0"/>
              <a:t>For better control over the activities of clients, configure security policies on the local server or in the domain that applies to clients</a:t>
            </a:r>
          </a:p>
          <a:p>
            <a:r>
              <a:rPr lang="en-US" smtClean="0"/>
              <a:t>Use Resultant Set of Policy to plan and troubleshoot Group Policy</a:t>
            </a:r>
          </a:p>
          <a:p>
            <a:r>
              <a:rPr lang="en-US" smtClean="0"/>
              <a:t>The cipher command is a valuable tool for implementing the Encrypting File System from the Command Prompt window</a:t>
            </a:r>
          </a:p>
          <a:p>
            <a:r>
              <a:rPr lang="en-US" smtClean="0"/>
              <a:t>BitLocker Drive Encryption is a security measure for protecting entire hard drives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12444756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Chapter Summary (3 of 3)</a:t>
            </a:r>
            <a:endParaRPr lang="en-US" dirty="0"/>
          </a:p>
        </p:txBody>
      </p:sp>
      <p:sp>
        <p:nvSpPr>
          <p:cNvPr id="2" name="Content Placeholder 1"/>
          <p:cNvSpPr>
            <a:spLocks noGrp="1"/>
          </p:cNvSpPr>
          <p:nvPr>
            <p:ph idx="1"/>
          </p:nvPr>
        </p:nvSpPr>
        <p:spPr/>
        <p:txBody>
          <a:bodyPr/>
          <a:lstStyle/>
          <a:p>
            <a:r>
              <a:rPr lang="en-US" smtClean="0"/>
              <a:t>Network Address Translation is used to disguise IP addresses on an internal network from the outside world</a:t>
            </a:r>
          </a:p>
          <a:p>
            <a:r>
              <a:rPr lang="en-US" smtClean="0"/>
              <a:t>Windows Firewall can be configured to allow traffic exceptions and to manage incoming and outgoing traffic</a:t>
            </a:r>
          </a:p>
          <a:p>
            <a:r>
              <a:rPr lang="en-US" smtClean="0"/>
              <a:t>Windows Defender is included with Windows Server 2016 to protect against malware, viruses, spyware, and other threats</a:t>
            </a:r>
          </a:p>
          <a:p>
            <a:endParaRPr lang="en-US" dirty="0"/>
          </a:p>
        </p:txBody>
      </p:sp>
      <p:sp>
        <p:nvSpPr>
          <p:cNvPr id="4" name="Footer Placeholder 3"/>
          <p:cNvSpPr>
            <a:spLocks noGrp="1"/>
          </p:cNvSpPr>
          <p:nvPr>
            <p:ph type="ftr" sz="quarter" idx="10"/>
          </p:nvPr>
        </p:nvSpPr>
        <p:spPr/>
        <p:txBody>
          <a:bodyPr/>
          <a:lstStyle/>
          <a:p>
            <a:r>
              <a:rPr lang="en-US" smtClean="0"/>
              <a:t>© 2018 Cengage. All Rights Reserved. May not be copied, scanned, or duplicated, in whole or in part, except for use as permitted in a license distributed with a certain product or service or otherwise on a password-protected website for classroom use.</a:t>
            </a:r>
            <a:endParaRPr lang="en-US" dirty="0"/>
          </a:p>
        </p:txBody>
      </p:sp>
    </p:spTree>
    <p:extLst>
      <p:ext uri="{BB962C8B-B14F-4D97-AF65-F5344CB8AC3E}">
        <p14:creationId xmlns:p14="http://schemas.microsoft.com/office/powerpoint/2010/main" val="2527481984"/>
      </p:ext>
    </p:extLst>
  </p:cSld>
  <p:clrMapOvr>
    <a:masterClrMapping/>
  </p:clrMapOvr>
</p:sld>
</file>

<file path=ppt/theme/theme1.xml><?xml version="1.0" encoding="utf-8"?>
<a:theme xmlns:a="http://schemas.openxmlformats.org/drawingml/2006/main" name="Office Theme">
  <a:themeElements>
    <a:clrScheme name="Cengage">
      <a:dk1>
        <a:srgbClr val="000000"/>
      </a:dk1>
      <a:lt1>
        <a:srgbClr val="FFFFFF"/>
      </a:lt1>
      <a:dk2>
        <a:srgbClr val="000000"/>
      </a:dk2>
      <a:lt2>
        <a:srgbClr val="AAAEB4"/>
      </a:lt2>
      <a:accent1>
        <a:srgbClr val="0D3857"/>
      </a:accent1>
      <a:accent2>
        <a:srgbClr val="055C91"/>
      </a:accent2>
      <a:accent3>
        <a:srgbClr val="81C0DA"/>
      </a:accent3>
      <a:accent4>
        <a:srgbClr val="B0D3DF"/>
      </a:accent4>
      <a:accent5>
        <a:srgbClr val="E0DCCD"/>
      </a:accent5>
      <a:accent6>
        <a:srgbClr val="7C7666"/>
      </a:accent6>
      <a:hlink>
        <a:srgbClr val="055C91"/>
      </a:hlink>
      <a:folHlink>
        <a:srgbClr val="81C0DA"/>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21155</TotalTime>
  <Words>6188</Words>
  <Application>Microsoft Office PowerPoint</Application>
  <PresentationFormat>On-screen Show (4:3)</PresentationFormat>
  <Paragraphs>419</Paragraphs>
  <Slides>58</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Calibri Light</vt:lpstr>
      <vt:lpstr>Office Theme</vt:lpstr>
      <vt:lpstr>Hands-On Microsoft Windows Server 2016  2nd Edition</vt:lpstr>
      <vt:lpstr>Objectives (1 of 2)</vt:lpstr>
      <vt:lpstr>Objectives (2 of 2)</vt:lpstr>
      <vt:lpstr>An Overview of Security Features in Windows Server 2016 (1 of 4)</vt:lpstr>
      <vt:lpstr>An Overview of Security Features in Windows Server 2016 (2 of 4)</vt:lpstr>
      <vt:lpstr>An Overview of Security Features in Windows Server 2016 (3 of 4)</vt:lpstr>
      <vt:lpstr>An Overview of Security Features in Windows Server 2016 (4 of 4)</vt:lpstr>
      <vt:lpstr>Introduction to Group Policy (1 of 2)</vt:lpstr>
      <vt:lpstr>Introduction to Group Policy (2 of 2)</vt:lpstr>
      <vt:lpstr>Securing Windows Server 2016 Using Security Policies</vt:lpstr>
      <vt:lpstr>Establishing Account Policies (1 of 9)</vt:lpstr>
      <vt:lpstr>Establishing Account Policies (2 of 9)</vt:lpstr>
      <vt:lpstr>Establishing Account Policies (3 of 9)</vt:lpstr>
      <vt:lpstr>Establishing Account Policies (4 of 9)</vt:lpstr>
      <vt:lpstr>Establishing Account Policies (5 of 9)</vt:lpstr>
      <vt:lpstr>Establishing Account Policies (6 of 9)</vt:lpstr>
      <vt:lpstr>Establishing Account Policies (7 of 9)</vt:lpstr>
      <vt:lpstr>Establishing Account Policies (8 of 9)</vt:lpstr>
      <vt:lpstr>Establishing Account Policies (9 of 9)</vt:lpstr>
      <vt:lpstr>Establishing Audit Policies (1 of 3)</vt:lpstr>
      <vt:lpstr>Establishing Audit Policies (2 of 3)</vt:lpstr>
      <vt:lpstr>Establishing Audit Policies (3 of 3)</vt:lpstr>
      <vt:lpstr>Configuring User Rights (1 of 5)</vt:lpstr>
      <vt:lpstr>Configuring User Rights (2 of 5)</vt:lpstr>
      <vt:lpstr>Configuring User Rights (3 of 5)</vt:lpstr>
      <vt:lpstr>Configuring User Rights (4 of 5)</vt:lpstr>
      <vt:lpstr>Configuring User Rights (5 of 5)</vt:lpstr>
      <vt:lpstr>Configuring Security Options (1 of 4)</vt:lpstr>
      <vt:lpstr>Configuring Security Options (2 of 4)</vt:lpstr>
      <vt:lpstr>Configuring Security Options (3 of 4)</vt:lpstr>
      <vt:lpstr>Configuring Security Options (4 of 4)</vt:lpstr>
      <vt:lpstr>Using IP Security Policies (1 of 4)</vt:lpstr>
      <vt:lpstr>Using IP Security Policies (2 of 4)</vt:lpstr>
      <vt:lpstr>Using IP Security Policies (3 of 4)</vt:lpstr>
      <vt:lpstr>Using IP Security Policies (4 of 4)</vt:lpstr>
      <vt:lpstr>Active Directory Rights Management Services (1 of 2)</vt:lpstr>
      <vt:lpstr>Active Directory Rights Management Services (2 of 2)</vt:lpstr>
      <vt:lpstr>Managing Security Using the Security Templates and Security and Configuration Analysis Snap-Ins (1 of 3)</vt:lpstr>
      <vt:lpstr>Managing Security Using the Security Templates and Security and Configuration Analysis Snap-Ins (2 of 3)</vt:lpstr>
      <vt:lpstr>Managing Security Using the Security Templates and Security and Configuration Analysis Snap-Ins (3 of 3)</vt:lpstr>
      <vt:lpstr>Configuring Client Security Using Policies in Windows Server 2016</vt:lpstr>
      <vt:lpstr>Manually Configuring Policies for Clients (1 of 2)</vt:lpstr>
      <vt:lpstr>Manually Configuring Policies for Clients (2 of 2)</vt:lpstr>
      <vt:lpstr>Publishing and Assigning Software (1 of 3)</vt:lpstr>
      <vt:lpstr>Publishing and Assigning Software (2 of 3)</vt:lpstr>
      <vt:lpstr>Publishing and Assigning Software (3 of 3)</vt:lpstr>
      <vt:lpstr>Resultant Set of Policy</vt:lpstr>
      <vt:lpstr>User the cipher Command</vt:lpstr>
      <vt:lpstr>Using BitLocker Drive Encryption (1 of 2)</vt:lpstr>
      <vt:lpstr>Using BitLocker Drive Encryption (2 of 2)</vt:lpstr>
      <vt:lpstr>Configuring NAT (1 of 2)</vt:lpstr>
      <vt:lpstr>Configuring NAT (2 of 2)</vt:lpstr>
      <vt:lpstr>Windows Firewall (1 of 2)</vt:lpstr>
      <vt:lpstr>Windows Firewall (2 of 2)</vt:lpstr>
      <vt:lpstr>Windows Defender</vt:lpstr>
      <vt:lpstr>Chapter Summary (1 of 3)</vt:lpstr>
      <vt:lpstr>Chapter Summary (2 of 3)</vt:lpstr>
      <vt:lpstr>Chapter Summary (3 of 3)</vt:lpstr>
    </vt:vector>
  </TitlesOfParts>
  <Company>Course Technology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Author</dc:creator>
  <cp:lastModifiedBy>Bruce Link</cp:lastModifiedBy>
  <cp:revision>728</cp:revision>
  <cp:lastPrinted>2017-07-11T22:17:17Z</cp:lastPrinted>
  <dcterms:created xsi:type="dcterms:W3CDTF">2007-02-15T20:50:52Z</dcterms:created>
  <dcterms:modified xsi:type="dcterms:W3CDTF">2017-07-11T22:17:21Z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732539425</vt:i4>
  </property>
  <property fmtid="{D5CDD505-2E9C-101B-9397-08002B2CF9AE}" pid="3" name="_NewReviewCycle">
    <vt:lpwstr/>
  </property>
  <property fmtid="{D5CDD505-2E9C-101B-9397-08002B2CF9AE}" pid="4" name="_EmailSubject">
    <vt:lpwstr>Cengage Branding/Accessibility </vt:lpwstr>
  </property>
  <property fmtid="{D5CDD505-2E9C-101B-9397-08002B2CF9AE}" pid="5" name="_AuthorEmail">
    <vt:lpwstr>maria.garguilo@cengage.com</vt:lpwstr>
  </property>
  <property fmtid="{D5CDD505-2E9C-101B-9397-08002B2CF9AE}" pid="6" name="_AuthorEmailDisplayName">
    <vt:lpwstr>Garguilo, Maria</vt:lpwstr>
  </property>
  <property fmtid="{D5CDD505-2E9C-101B-9397-08002B2CF9AE}" pid="7" name="_PreviousAdHocReviewCycleID">
    <vt:i4>1933890983</vt:i4>
  </property>
</Properties>
</file>