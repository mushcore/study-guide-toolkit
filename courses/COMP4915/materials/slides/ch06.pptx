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51"/>
  </p:notesMasterIdLst>
  <p:handoutMasterIdLst>
    <p:handoutMasterId r:id="rId52"/>
  </p:handoutMasterIdLst>
  <p:sldIdLst>
    <p:sldId id="256" r:id="rId2"/>
    <p:sldId id="257" r:id="rId3"/>
    <p:sldId id="358" r:id="rId4"/>
    <p:sldId id="359" r:id="rId5"/>
    <p:sldId id="360" r:id="rId6"/>
    <p:sldId id="361" r:id="rId7"/>
    <p:sldId id="362" r:id="rId8"/>
    <p:sldId id="363" r:id="rId9"/>
    <p:sldId id="364" r:id="rId10"/>
    <p:sldId id="365" r:id="rId11"/>
    <p:sldId id="366" r:id="rId12"/>
    <p:sldId id="367" r:id="rId13"/>
    <p:sldId id="368" r:id="rId14"/>
    <p:sldId id="369" r:id="rId15"/>
    <p:sldId id="370" r:id="rId16"/>
    <p:sldId id="371" r:id="rId17"/>
    <p:sldId id="372" r:id="rId18"/>
    <p:sldId id="373" r:id="rId19"/>
    <p:sldId id="374" r:id="rId20"/>
    <p:sldId id="375" r:id="rId21"/>
    <p:sldId id="376" r:id="rId22"/>
    <p:sldId id="377" r:id="rId23"/>
    <p:sldId id="378" r:id="rId24"/>
    <p:sldId id="379" r:id="rId25"/>
    <p:sldId id="380" r:id="rId26"/>
    <p:sldId id="381" r:id="rId27"/>
    <p:sldId id="405" r:id="rId28"/>
    <p:sldId id="382" r:id="rId29"/>
    <p:sldId id="383" r:id="rId30"/>
    <p:sldId id="384" r:id="rId31"/>
    <p:sldId id="385" r:id="rId32"/>
    <p:sldId id="386" r:id="rId33"/>
    <p:sldId id="387" r:id="rId34"/>
    <p:sldId id="389" r:id="rId35"/>
    <p:sldId id="388" r:id="rId36"/>
    <p:sldId id="391" r:id="rId37"/>
    <p:sldId id="392" r:id="rId38"/>
    <p:sldId id="393" r:id="rId39"/>
    <p:sldId id="394" r:id="rId40"/>
    <p:sldId id="395" r:id="rId41"/>
    <p:sldId id="396" r:id="rId42"/>
    <p:sldId id="397" r:id="rId43"/>
    <p:sldId id="398" r:id="rId44"/>
    <p:sldId id="399" r:id="rId45"/>
    <p:sldId id="400" r:id="rId46"/>
    <p:sldId id="401" r:id="rId47"/>
    <p:sldId id="402" r:id="rId48"/>
    <p:sldId id="308" r:id="rId49"/>
    <p:sldId id="310" r:id="rId50"/>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81" autoAdjust="0"/>
    <p:restoredTop sz="76197" autoAdjust="0"/>
  </p:normalViewPr>
  <p:slideViewPr>
    <p:cSldViewPr>
      <p:cViewPr varScale="1">
        <p:scale>
          <a:sx n="74" d="100"/>
          <a:sy n="74" d="100"/>
        </p:scale>
        <p:origin x="133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a:t>
            </a:fld>
            <a:endParaRPr lang="en-US" dirty="0"/>
          </a:p>
        </p:txBody>
      </p:sp>
    </p:spTree>
    <p:extLst>
      <p:ext uri="{BB962C8B-B14F-4D97-AF65-F5344CB8AC3E}">
        <p14:creationId xmlns:p14="http://schemas.microsoft.com/office/powerpoint/2010/main" val="3347063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48</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49</a:t>
            </a:fld>
            <a:endParaRPr lang="en-US" dirty="0"/>
          </a:p>
        </p:txBody>
      </p:sp>
    </p:spTree>
    <p:extLst>
      <p:ext uri="{BB962C8B-B14F-4D97-AF65-F5344CB8AC3E}">
        <p14:creationId xmlns:p14="http://schemas.microsoft.com/office/powerpoint/2010/main" val="28708147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6</a:t>
            </a:r>
          </a:p>
          <a:p>
            <a:r>
              <a:rPr lang="en-US" smtClean="0"/>
              <a:t>Configuring Windows Server 2016 Printing</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(1 of 2)</a:t>
            </a:r>
            <a:endParaRPr lang="en-US" dirty="0"/>
          </a:p>
        </p:txBody>
      </p:sp>
      <p:sp>
        <p:nvSpPr>
          <p:cNvPr id="3" name="Text Placeholder 2"/>
          <p:cNvSpPr>
            <a:spLocks noGrp="1"/>
          </p:cNvSpPr>
          <p:nvPr>
            <p:ph type="body" idx="1"/>
          </p:nvPr>
        </p:nvSpPr>
        <p:spPr/>
        <p:txBody>
          <a:bodyPr/>
          <a:lstStyle/>
          <a:p>
            <a:r>
              <a:rPr lang="en-US" smtClean="0"/>
              <a:t>Understand how Windows Server 2016 printing works on a network and on the Internet</a:t>
            </a:r>
          </a:p>
          <a:p>
            <a:r>
              <a:rPr lang="en-US" smtClean="0"/>
              <a:t>Understand and apply the Print and Document Services role</a:t>
            </a:r>
          </a:p>
          <a:p>
            <a:r>
              <a:rPr lang="en-US" smtClean="0"/>
              <a:t>Use the XPS Print Path</a:t>
            </a:r>
          </a:p>
          <a:p>
            <a:r>
              <a:rPr lang="en-US" smtClean="0"/>
              <a:t>Use the Print Management tool to configure network printing resources</a:t>
            </a:r>
          </a:p>
          <a:p>
            <a:r>
              <a:rPr lang="en-US" smtClean="0"/>
              <a:t>Install local and shared printers</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(2 of 2)</a:t>
            </a:r>
            <a:endParaRPr lang="en-US" dirty="0"/>
          </a:p>
        </p:txBody>
      </p:sp>
      <p:sp>
        <p:nvSpPr>
          <p:cNvPr id="3" name="Text Placeholder 2"/>
          <p:cNvSpPr>
            <a:spLocks noGrp="1"/>
          </p:cNvSpPr>
          <p:nvPr>
            <p:ph type="body" idx="1"/>
          </p:nvPr>
        </p:nvSpPr>
        <p:spPr/>
        <p:txBody>
          <a:bodyPr/>
          <a:lstStyle/>
          <a:p>
            <a:r>
              <a:rPr lang="en-US" smtClean="0"/>
              <a:t>Configure printer properties</a:t>
            </a:r>
          </a:p>
          <a:p>
            <a:r>
              <a:rPr lang="en-US" smtClean="0"/>
              <a:t>Configure a network or Internet printer</a:t>
            </a:r>
          </a:p>
          <a:p>
            <a:r>
              <a:rPr lang="en-US" smtClean="0"/>
              <a:t>Manage print jobs</a:t>
            </a:r>
          </a:p>
          <a:p>
            <a:r>
              <a:rPr lang="en-US" smtClean="0"/>
              <a:t>Troubleshoot common printing problems</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54213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An Overview of Windows Server 2016 Printing</a:t>
            </a:r>
            <a:endParaRPr lang="en-US" dirty="0"/>
          </a:p>
        </p:txBody>
      </p:sp>
      <p:sp>
        <p:nvSpPr>
          <p:cNvPr id="2" name="Content Placeholder 1"/>
          <p:cNvSpPr>
            <a:spLocks noGrp="1"/>
          </p:cNvSpPr>
          <p:nvPr>
            <p:ph idx="1"/>
          </p:nvPr>
        </p:nvSpPr>
        <p:spPr/>
        <p:txBody>
          <a:bodyPr/>
          <a:lstStyle/>
          <a:p>
            <a:r>
              <a:rPr lang="en-US" smtClean="0"/>
              <a:t>Network printing process components</a:t>
            </a:r>
          </a:p>
          <a:p>
            <a:pPr lvl="1"/>
            <a:r>
              <a:rPr lang="en-US" smtClean="0"/>
              <a:t>Local print device</a:t>
            </a:r>
          </a:p>
          <a:p>
            <a:pPr lvl="1"/>
            <a:r>
              <a:rPr lang="en-US" smtClean="0"/>
              <a:t>Network print device</a:t>
            </a:r>
          </a:p>
          <a:p>
            <a:pPr lvl="1"/>
            <a:r>
              <a:rPr lang="en-US" smtClean="0"/>
              <a:t>Print client</a:t>
            </a:r>
          </a:p>
          <a:p>
            <a:pPr lvl="1"/>
            <a:r>
              <a:rPr lang="en-US" smtClean="0"/>
              <a:t>Print server</a:t>
            </a:r>
          </a:p>
          <a:p>
            <a:pPr lvl="1"/>
            <a:r>
              <a:rPr lang="en-US" smtClean="0"/>
              <a:t>Print job</a:t>
            </a:r>
          </a:p>
          <a:p>
            <a:pPr lvl="1"/>
            <a:r>
              <a:rPr lang="en-US" smtClean="0"/>
              <a:t>Printer driver</a:t>
            </a:r>
          </a:p>
          <a:p>
            <a:r>
              <a:rPr lang="en-US" smtClean="0"/>
              <a:t>Spooling</a:t>
            </a:r>
          </a:p>
          <a:p>
            <a:pPr lvl="1"/>
            <a:r>
              <a:rPr lang="en-US" smtClean="0"/>
              <a:t>Frees the server CPU to handle other processing requests in addition to print requests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70396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How Network Printing Works</a:t>
            </a:r>
            <a:endParaRPr lang="en-US" dirty="0"/>
          </a:p>
        </p:txBody>
      </p:sp>
      <p:sp>
        <p:nvSpPr>
          <p:cNvPr id="2" name="Content Placeholder 1"/>
          <p:cNvSpPr>
            <a:spLocks noGrp="1"/>
          </p:cNvSpPr>
          <p:nvPr>
            <p:ph idx="1"/>
          </p:nvPr>
        </p:nvSpPr>
        <p:spPr/>
        <p:txBody>
          <a:bodyPr/>
          <a:lstStyle/>
          <a:p>
            <a:r>
              <a:rPr lang="en-US" smtClean="0"/>
              <a:t>Printing process steps</a:t>
            </a:r>
          </a:p>
          <a:p>
            <a:pPr lvl="1"/>
            <a:r>
              <a:rPr lang="en-US" smtClean="0"/>
              <a:t>Application at the client generates a print file</a:t>
            </a:r>
          </a:p>
          <a:p>
            <a:pPr lvl="1"/>
            <a:r>
              <a:rPr lang="en-US" smtClean="0"/>
              <a:t>Application communicates with the Windows graphics device interface (GDI)</a:t>
            </a:r>
          </a:p>
          <a:p>
            <a:pPr lvl="1"/>
            <a:r>
              <a:rPr lang="en-US" smtClean="0"/>
              <a:t>When the GDI is finished, the print file is formatted with control codes</a:t>
            </a:r>
          </a:p>
          <a:p>
            <a:pPr lvl="1"/>
            <a:r>
              <a:rPr lang="en-US" smtClean="0"/>
              <a:t>The remote print provider at the client makes a remote procedure call to the network print server</a:t>
            </a:r>
          </a:p>
          <a:p>
            <a:pPr lvl="1"/>
            <a:r>
              <a:rPr lang="en-US" smtClean="0"/>
              <a:t>The network print server uses four processes to receive and process a print file: router, print provider, print processor, and print monitor</a:t>
            </a:r>
          </a:p>
          <a:p>
            <a:pPr lvl="1"/>
            <a:r>
              <a:rPr lang="en-US" smtClean="0"/>
              <a:t>The Server service calls its router, the Print Spooler service</a:t>
            </a:r>
          </a:p>
          <a:p>
            <a:pPr lvl="1"/>
            <a:r>
              <a:rPr lang="en-US" smtClean="0"/>
              <a:t>While the file is spooled, the print provider works with the print processor to ensure that the file is formatted to use the right data type</a:t>
            </a:r>
          </a:p>
          <a:p>
            <a:pPr lvl="1"/>
            <a:r>
              <a:rPr lang="en-US" smtClean="0"/>
              <a:t>The print monitor pulls it from the spooler’s disk storage and sends it off to the printer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96509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How Internet Printing Works (1 of 2)</a:t>
            </a:r>
            <a:endParaRPr lang="en-US" dirty="0"/>
          </a:p>
        </p:txBody>
      </p:sp>
      <p:sp>
        <p:nvSpPr>
          <p:cNvPr id="2" name="Content Placeholder 1"/>
          <p:cNvSpPr>
            <a:spLocks noGrp="1"/>
          </p:cNvSpPr>
          <p:nvPr>
            <p:ph idx="1"/>
          </p:nvPr>
        </p:nvSpPr>
        <p:spPr/>
        <p:txBody>
          <a:bodyPr/>
          <a:lstStyle/>
          <a:p>
            <a:r>
              <a:rPr lang="en-US" smtClean="0"/>
              <a:t>When a Windows client wants to process a print job through the Internet</a:t>
            </a:r>
          </a:p>
          <a:p>
            <a:pPr lvl="1"/>
            <a:r>
              <a:rPr lang="en-US" smtClean="0"/>
              <a:t>The client must have Internet Printing Client installed</a:t>
            </a:r>
          </a:p>
          <a:p>
            <a:r>
              <a:rPr lang="en-US" smtClean="0"/>
              <a:t>Internet Printing Client should be installed in Windows Server 2016</a:t>
            </a:r>
          </a:p>
          <a:p>
            <a:pPr lvl="1"/>
            <a:r>
              <a:rPr lang="en-US" smtClean="0"/>
              <a:t>So client and server can communicate using a common protocol</a:t>
            </a:r>
          </a:p>
          <a:p>
            <a:r>
              <a:rPr lang="en-US" smtClean="0"/>
              <a:t>Windows Server 2016 can be configured to act as a web-based print server by having the following elements:</a:t>
            </a:r>
          </a:p>
          <a:p>
            <a:pPr lvl="1"/>
            <a:r>
              <a:rPr lang="en-US" smtClean="0"/>
              <a:t>Internet Printing Client</a:t>
            </a:r>
          </a:p>
          <a:p>
            <a:pPr lvl="1"/>
            <a:r>
              <a:rPr lang="en-US" smtClean="0"/>
              <a:t>Print and Document Services role with the Internet Printing role service installed</a:t>
            </a:r>
          </a:p>
          <a:p>
            <a:pPr lvl="1"/>
            <a:r>
              <a:rPr lang="en-US" smtClean="0"/>
              <a:t>Web Server role (IIS; Internet Information Services)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25868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How Internet Printing Works (2 of 2)</a:t>
            </a:r>
            <a:endParaRPr lang="en-US" dirty="0"/>
          </a:p>
        </p:txBody>
      </p:sp>
      <p:sp>
        <p:nvSpPr>
          <p:cNvPr id="2" name="Content Placeholder 1"/>
          <p:cNvSpPr>
            <a:spLocks noGrp="1"/>
          </p:cNvSpPr>
          <p:nvPr>
            <p:ph idx="1"/>
          </p:nvPr>
        </p:nvSpPr>
        <p:spPr/>
        <p:txBody>
          <a:bodyPr/>
          <a:lstStyle/>
          <a:p>
            <a:r>
              <a:rPr lang="en-US" smtClean="0"/>
              <a:t>The print process on the client is nearly the same as for network printing with a couple of exceptions:</a:t>
            </a:r>
          </a:p>
          <a:p>
            <a:pPr lvl="1"/>
            <a:r>
              <a:rPr lang="en-US" smtClean="0"/>
              <a:t>The browser sends the print file to the GDI (instead of client application)</a:t>
            </a:r>
          </a:p>
          <a:p>
            <a:pPr lvl="1"/>
            <a:r>
              <a:rPr lang="en-US" smtClean="0"/>
              <a:t>Remote print provider at the client makes a remote procedure call to IIS  on the Windows 2016 server</a:t>
            </a:r>
          </a:p>
          <a:p>
            <a:pPr lvl="2"/>
            <a:r>
              <a:rPr lang="en-US" smtClean="0"/>
              <a:t>The remote procedure call is made through TCP/IP-based HTTP, which transports another protocol, called the Internet Printing Protocol (IPP)</a:t>
            </a:r>
          </a:p>
          <a:p>
            <a:r>
              <a:rPr lang="en-US" smtClean="0"/>
              <a:t>IPP</a:t>
            </a:r>
          </a:p>
          <a:p>
            <a:pPr lvl="1"/>
            <a:r>
              <a:rPr lang="en-US" smtClean="0"/>
              <a:t>Is facilitated through the Internet Printing Client on the client requesting the print job and the Windows Server 2016 server</a:t>
            </a:r>
          </a:p>
          <a:p>
            <a:pPr lvl="1"/>
            <a:r>
              <a:rPr lang="en-US" smtClean="0"/>
              <a:t>IPP encapsulates the remote procedure call and print process information and is transported in HTTP</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05033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The Print and Document Services Role (1 of 2)</a:t>
            </a:r>
            <a:endParaRPr lang="en-US" dirty="0"/>
          </a:p>
        </p:txBody>
      </p:sp>
      <p:sp>
        <p:nvSpPr>
          <p:cNvPr id="2" name="Content Placeholder 1"/>
          <p:cNvSpPr>
            <a:spLocks noGrp="1"/>
          </p:cNvSpPr>
          <p:nvPr>
            <p:ph idx="1"/>
          </p:nvPr>
        </p:nvSpPr>
        <p:spPr/>
        <p:txBody>
          <a:bodyPr/>
          <a:lstStyle/>
          <a:p>
            <a:r>
              <a:rPr lang="en-US" smtClean="0"/>
              <a:t>Print and Document Services role</a:t>
            </a:r>
          </a:p>
          <a:p>
            <a:pPr lvl="1"/>
            <a:r>
              <a:rPr lang="en-US" smtClean="0"/>
              <a:t>Enables you to set up Windows Server 2016 as a print server to coordinate and manage network and Internet printing functions</a:t>
            </a:r>
          </a:p>
          <a:p>
            <a:r>
              <a:rPr lang="en-US" smtClean="0"/>
              <a:t>Advantage of the role:</a:t>
            </a:r>
          </a:p>
          <a:p>
            <a:pPr lvl="1"/>
            <a:r>
              <a:rPr lang="en-US" smtClean="0"/>
              <a:t>You can configure a Group Policy for standardized management of printer resources</a:t>
            </a:r>
          </a:p>
          <a:p>
            <a:r>
              <a:rPr lang="en-US" smtClean="0"/>
              <a:t>Print Management Tool enables you to:</a:t>
            </a:r>
          </a:p>
          <a:p>
            <a:pPr lvl="1"/>
            <a:r>
              <a:rPr lang="en-US" smtClean="0"/>
              <a:t>Manage shared printers</a:t>
            </a:r>
          </a:p>
          <a:p>
            <a:pPr lvl="1"/>
            <a:r>
              <a:rPr lang="en-US" smtClean="0"/>
              <a:t>Track printing events through a log you can view using Event Viewer</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84624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The Print and Document Services Role (2 of 2)</a:t>
            </a:r>
            <a:endParaRPr lang="en-US" dirty="0"/>
          </a:p>
        </p:txBody>
      </p:sp>
      <p:sp>
        <p:nvSpPr>
          <p:cNvPr id="2" name="Content Placeholder 1"/>
          <p:cNvSpPr>
            <a:spLocks noGrp="1"/>
          </p:cNvSpPr>
          <p:nvPr>
            <p:ph idx="1"/>
          </p:nvPr>
        </p:nvSpPr>
        <p:spPr/>
        <p:txBody>
          <a:bodyPr/>
          <a:lstStyle/>
          <a:p>
            <a:r>
              <a:rPr lang="en-US" smtClean="0"/>
              <a:t>Role services available within the Print and Document Services role:</a:t>
            </a:r>
          </a:p>
          <a:p>
            <a:pPr lvl="1"/>
            <a:r>
              <a:rPr lang="en-US" smtClean="0"/>
              <a:t>Printer Server – turns the server into a print server and installs the Print Management tool</a:t>
            </a:r>
          </a:p>
          <a:p>
            <a:pPr lvl="1"/>
            <a:r>
              <a:rPr lang="en-US" smtClean="0"/>
              <a:t>Distributed Scan Server – enables Windows Server 2016 to receive scanned documents from network scanners and deliver them to designated server clients</a:t>
            </a:r>
          </a:p>
          <a:p>
            <a:pPr lvl="1"/>
            <a:r>
              <a:rPr lang="en-US" smtClean="0"/>
              <a:t>Internet Printing – creates a website through IIS for Internet printing, managing print jobs, and for connecting to shared printers using IPP through Internet Printing Client</a:t>
            </a:r>
          </a:p>
          <a:p>
            <a:pPr lvl="1"/>
            <a:r>
              <a:rPr lang="en-US" smtClean="0"/>
              <a:t>LPD Service – Line Printer Daemon (LPD) enables UNIX and Linux computers to print to shared printers managed through Windows Server 2016</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42259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XPS Print Path (1 of 2)</a:t>
            </a:r>
            <a:endParaRPr lang="en-US" dirty="0"/>
          </a:p>
        </p:txBody>
      </p:sp>
      <p:sp>
        <p:nvSpPr>
          <p:cNvPr id="2" name="Content Placeholder 1"/>
          <p:cNvSpPr>
            <a:spLocks noGrp="1"/>
          </p:cNvSpPr>
          <p:nvPr>
            <p:ph idx="1"/>
          </p:nvPr>
        </p:nvSpPr>
        <p:spPr/>
        <p:txBody>
          <a:bodyPr/>
          <a:lstStyle/>
          <a:p>
            <a:r>
              <a:rPr lang="en-US" smtClean="0"/>
              <a:t>XML Paper Specification (XPS)</a:t>
            </a:r>
          </a:p>
          <a:p>
            <a:pPr lvl="1"/>
            <a:r>
              <a:rPr lang="en-US" smtClean="0"/>
              <a:t>An advanced way of printing documents for multiple purposes, including viewing electronic pages and printing pages in a polished format</a:t>
            </a:r>
          </a:p>
          <a:p>
            <a:r>
              <a:rPr lang="en-US" smtClean="0"/>
              <a:t>XPS is a concept similar to using PDF files</a:t>
            </a:r>
          </a:p>
          <a:p>
            <a:r>
              <a:rPr lang="en-US" smtClean="0"/>
              <a:t>The XPS print path in Windows Server 2016 is offered as an alternative to the GDI print path</a:t>
            </a:r>
          </a:p>
          <a:p>
            <a:pPr lvl="1"/>
            <a:r>
              <a:rPr lang="en-US" smtClean="0"/>
              <a:t>Used by conventional documents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07769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XPS Print Path (2 of 2)</a:t>
            </a:r>
            <a:endParaRPr lang="en-US" dirty="0"/>
          </a:p>
        </p:txBody>
      </p:sp>
      <p:sp>
        <p:nvSpPr>
          <p:cNvPr id="2" name="Content Placeholder 1"/>
          <p:cNvSpPr>
            <a:spLocks noGrp="1"/>
          </p:cNvSpPr>
          <p:nvPr>
            <p:ph idx="1"/>
          </p:nvPr>
        </p:nvSpPr>
        <p:spPr/>
        <p:txBody>
          <a:bodyPr/>
          <a:lstStyle/>
          <a:p>
            <a:r>
              <a:rPr lang="en-US" smtClean="0"/>
              <a:t>XPS enhancements</a:t>
            </a:r>
          </a:p>
          <a:p>
            <a:pPr lvl="1"/>
            <a:r>
              <a:rPr lang="en-US" smtClean="0"/>
              <a:t>Customized print path for documents using XPS</a:t>
            </a:r>
          </a:p>
          <a:p>
            <a:pPr lvl="1"/>
            <a:r>
              <a:rPr lang="en-US" smtClean="0"/>
              <a:t>Advanced color support for sophisticated color printers</a:t>
            </a:r>
          </a:p>
          <a:p>
            <a:pPr lvl="1"/>
            <a:r>
              <a:rPr lang="en-US" smtClean="0"/>
              <a:t>Faster performance for printouts generated by .NET Framework applications</a:t>
            </a:r>
          </a:p>
          <a:p>
            <a:pPr lvl="1"/>
            <a:r>
              <a:rPr lang="en-US" smtClean="0"/>
              <a:t>Full WYSIWYG (What You See Is What You Get)</a:t>
            </a:r>
          </a:p>
          <a:p>
            <a:r>
              <a:rPr lang="en-US" smtClean="0"/>
              <a:t>The XPS drive path uses the XPSDrv Driver Model</a:t>
            </a:r>
          </a:p>
          <a:p>
            <a:pPr lvl="1"/>
            <a:r>
              <a:rPr lang="en-US" smtClean="0"/>
              <a:t>This driver can print to an XPS-enabled printer or a file</a:t>
            </a:r>
          </a:p>
          <a:p>
            <a:r>
              <a:rPr lang="en-US" smtClean="0"/>
              <a:t>Windows Server 2016 has XPS services built into the Print and Document Services role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189319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The Devices and Printers Utility (1 of 2)</a:t>
            </a:r>
            <a:endParaRPr lang="en-US" dirty="0"/>
          </a:p>
        </p:txBody>
      </p:sp>
      <p:sp>
        <p:nvSpPr>
          <p:cNvPr id="2" name="Content Placeholder 1"/>
          <p:cNvSpPr>
            <a:spLocks noGrp="1"/>
          </p:cNvSpPr>
          <p:nvPr>
            <p:ph idx="1"/>
          </p:nvPr>
        </p:nvSpPr>
        <p:spPr/>
        <p:txBody>
          <a:bodyPr/>
          <a:lstStyle/>
          <a:p>
            <a:r>
              <a:rPr lang="en-US" smtClean="0"/>
              <a:t>Windows Server 2016 Devices and Printers utility</a:t>
            </a:r>
          </a:p>
          <a:p>
            <a:pPr lvl="1"/>
            <a:r>
              <a:rPr lang="en-US" smtClean="0"/>
              <a:t>A tool you can use to configure printing resources</a:t>
            </a:r>
          </a:p>
          <a:p>
            <a:pPr lvl="1"/>
            <a:r>
              <a:rPr lang="en-US" smtClean="0"/>
              <a:t>Enables you to set up a printer directly connected to a server, set up a network printer, and set up a printer through Bluetooth</a:t>
            </a:r>
          </a:p>
          <a:p>
            <a:r>
              <a:rPr lang="en-US" smtClean="0"/>
              <a:t>The Devices and Printers utility is started from Control Panel</a:t>
            </a:r>
          </a:p>
          <a:p>
            <a:r>
              <a:rPr lang="en-US" smtClean="0"/>
              <a:t>An alternate way to set up and manage printers is to use the Print Management Tool</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77836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The Devices and Printers Utility (2 of 2)</a:t>
            </a:r>
            <a:endParaRPr lang="en-US" dirty="0"/>
          </a:p>
        </p:txBody>
      </p:sp>
      <p:pic>
        <p:nvPicPr>
          <p:cNvPr id="6" name="Content Placeholder 5" descr="Figure 6-5, Page No. 251, Complexity level: 3&#10;Screenshot shows “Devices and Printers” dialog box. The Add a device button is selected that displays six devices and four printers. The six devices are labeled “ACCOUNTING, ASUS DRW-24F1ST b, Cruzer Glide, Dell USB Entry keyboard, Dell USB Optical Mouse, and TOSHIBA DT01ACA100.” The four printers are labeled “Microsoft print to PDF, Microsoft XPS Document Writer, Brother Color Type4 Class Driver, and Dell 1235cn Color Laser MFP.”&#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5000" y="1524000"/>
            <a:ext cx="5029409" cy="4329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62404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Print Management Tool (1 of 2)</a:t>
            </a:r>
            <a:endParaRPr lang="en-US" dirty="0"/>
          </a:p>
        </p:txBody>
      </p:sp>
      <p:sp>
        <p:nvSpPr>
          <p:cNvPr id="2" name="Content Placeholder 1"/>
          <p:cNvSpPr>
            <a:spLocks noGrp="1"/>
          </p:cNvSpPr>
          <p:nvPr>
            <p:ph idx="1"/>
          </p:nvPr>
        </p:nvSpPr>
        <p:spPr/>
        <p:txBody>
          <a:bodyPr/>
          <a:lstStyle/>
          <a:p>
            <a:r>
              <a:rPr lang="en-US" smtClean="0"/>
              <a:t>The Print Management tool</a:t>
            </a:r>
          </a:p>
          <a:p>
            <a:pPr lvl="1"/>
            <a:r>
              <a:rPr lang="en-US" smtClean="0"/>
              <a:t>Also available as an MMC snap-in</a:t>
            </a:r>
          </a:p>
          <a:p>
            <a:pPr lvl="1"/>
            <a:r>
              <a:rPr lang="en-US" smtClean="0"/>
              <a:t>Centralizes local and shared printer control in one place</a:t>
            </a:r>
          </a:p>
          <a:p>
            <a:pPr lvl="1"/>
            <a:r>
              <a:rPr lang="en-US" smtClean="0"/>
              <a:t>Enables printer administrators and operators to manage the print functions of some or all of the shared printers on a network</a:t>
            </a:r>
          </a:p>
          <a:p>
            <a:r>
              <a:rPr lang="en-US" smtClean="0"/>
              <a:t>Using the Print Management tool, you can:</a:t>
            </a:r>
          </a:p>
          <a:p>
            <a:pPr lvl="1"/>
            <a:r>
              <a:rPr lang="en-US" smtClean="0"/>
              <a:t>Install and configure local and network printers</a:t>
            </a:r>
          </a:p>
          <a:p>
            <a:pPr lvl="1"/>
            <a:r>
              <a:rPr lang="en-US" smtClean="0"/>
              <a:t>Configure printer properties, sharing, and security</a:t>
            </a:r>
          </a:p>
          <a:p>
            <a:r>
              <a:rPr lang="en-US" smtClean="0"/>
              <a:t>You can open this tool from:</a:t>
            </a:r>
          </a:p>
          <a:p>
            <a:pPr lvl="1"/>
            <a:r>
              <a:rPr lang="en-US" smtClean="0"/>
              <a:t>The Server Manager Tools menu</a:t>
            </a:r>
          </a:p>
          <a:p>
            <a:pPr lvl="1"/>
            <a:r>
              <a:rPr lang="en-US" smtClean="0"/>
              <a:t>The MMC</a:t>
            </a:r>
          </a:p>
          <a:p>
            <a:pPr lvl="1"/>
            <a:r>
              <a:rPr lang="en-US" smtClean="0"/>
              <a:t>The Start button by clicking the Windows Administrative Tools folder and Print Management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31615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the Print Management Tool (2 of 2)</a:t>
            </a:r>
            <a:endParaRPr lang="en-US" dirty="0"/>
          </a:p>
        </p:txBody>
      </p:sp>
      <p:pic>
        <p:nvPicPr>
          <p:cNvPr id="6" name="Content Placeholder 5" descr="Figure 6-6, Page No. 252, Complexity level: 2&#10;Screenshot shows “Print Management” dialog box. On the left pane of the dialog box, The Print Management tool is selected. On the content of the dialog box, it displays the names of Print Management as Custom Filters, Print Servers, and Deployed Printers. On the right pane of the dialog box, the Printer up arrow is selected under the Actions menu.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97682" y="1752600"/>
            <a:ext cx="5785970"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29117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the Print Server Properties</a:t>
            </a:r>
            <a:endParaRPr lang="en-US" dirty="0"/>
          </a:p>
        </p:txBody>
      </p:sp>
      <p:sp>
        <p:nvSpPr>
          <p:cNvPr id="2" name="Content Placeholder 1"/>
          <p:cNvSpPr>
            <a:spLocks noGrp="1"/>
          </p:cNvSpPr>
          <p:nvPr>
            <p:ph idx="1"/>
          </p:nvPr>
        </p:nvSpPr>
        <p:spPr/>
        <p:txBody>
          <a:bodyPr/>
          <a:lstStyle/>
          <a:p>
            <a:r>
              <a:rPr lang="en-US" smtClean="0"/>
              <a:t>Using the Print Management tool you can:</a:t>
            </a:r>
          </a:p>
          <a:p>
            <a:pPr lvl="1"/>
            <a:r>
              <a:rPr lang="en-US" smtClean="0"/>
              <a:t>Set up the forms to use</a:t>
            </a:r>
          </a:p>
          <a:p>
            <a:pPr lvl="1"/>
            <a:r>
              <a:rPr lang="en-US" smtClean="0"/>
              <a:t>Configure print spooler properties</a:t>
            </a:r>
          </a:p>
          <a:p>
            <a:pPr lvl="1"/>
            <a:r>
              <a:rPr lang="en-US" smtClean="0"/>
              <a:t>Configure security to apply to all printers managed by the print server</a:t>
            </a:r>
          </a:p>
          <a:p>
            <a:pPr lvl="1"/>
            <a:r>
              <a:rPr lang="en-US" smtClean="0"/>
              <a:t>View installed printer driver information for all printers</a:t>
            </a:r>
          </a:p>
          <a:p>
            <a:pPr lvl="1"/>
            <a:r>
              <a:rPr lang="en-US" smtClean="0"/>
              <a:t>Update a specific printer driver</a:t>
            </a:r>
          </a:p>
          <a:p>
            <a:pPr lvl="1"/>
            <a:r>
              <a:rPr lang="en-US" smtClean="0"/>
              <a:t>Accomplish other tasks</a:t>
            </a:r>
          </a:p>
          <a:p>
            <a:r>
              <a:rPr lang="en-US" smtClean="0"/>
              <a:t>Activity 6-4 enables you to see how to configure the print server properties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62143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Local and Shared Printers (1 of 3)</a:t>
            </a:r>
            <a:endParaRPr lang="en-US" dirty="0"/>
          </a:p>
        </p:txBody>
      </p:sp>
      <p:sp>
        <p:nvSpPr>
          <p:cNvPr id="2" name="Content Placeholder 1"/>
          <p:cNvSpPr>
            <a:spLocks noGrp="1"/>
          </p:cNvSpPr>
          <p:nvPr>
            <p:ph idx="1"/>
          </p:nvPr>
        </p:nvSpPr>
        <p:spPr/>
        <p:txBody>
          <a:bodyPr/>
          <a:lstStyle/>
          <a:p>
            <a:r>
              <a:rPr lang="en-US" smtClean="0"/>
              <a:t>In Windows Server 2016, you can configure a printer that is attached to the server computer as a local printer</a:t>
            </a:r>
          </a:p>
          <a:p>
            <a:pPr lvl="1"/>
            <a:r>
              <a:rPr lang="en-US" smtClean="0"/>
              <a:t>And then enable it as a shared printer</a:t>
            </a:r>
          </a:p>
          <a:p>
            <a:r>
              <a:rPr lang="en-US" smtClean="0"/>
              <a:t>You can also configure a network printer as a shared printer managed through a Windows Server 2016 print server</a:t>
            </a:r>
          </a:p>
          <a:p>
            <a:r>
              <a:rPr lang="en-US" smtClean="0"/>
              <a:t>The steps for installing a local printer depend on the type of printer you are adding</a:t>
            </a:r>
          </a:p>
          <a:p>
            <a:pPr lvl="1"/>
            <a:r>
              <a:rPr lang="en-US" smtClean="0"/>
              <a:t>If a printer is not automatically detected through Plug and Play, you can use the Network Printer Installation Wizard to install it</a:t>
            </a:r>
          </a:p>
          <a:p>
            <a:r>
              <a:rPr lang="en-US" smtClean="0"/>
              <a:t>Activity 6-5 shows you how to install a printer using the Network Printer Installation Wizard</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87564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Local and Shared Printers (2 of 3)</a:t>
            </a:r>
            <a:endParaRPr lang="en-US" dirty="0"/>
          </a:p>
        </p:txBody>
      </p:sp>
      <p:pic>
        <p:nvPicPr>
          <p:cNvPr id="6" name="Content Placeholder 5" descr="Figure 6-8, Page No. 254, Complexity level: 2&#10;A figure shows “Shared network printers.” In the figure, the LAN is connected to each of two workstations and a Laser printer is connected by internal wireless print server card at the top. The Windows Server 2016 and a Workstation is connected at the bottom.&#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52600" y="1752600"/>
            <a:ext cx="5478859"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5356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Local and Shared Printers (3 of 3)</a:t>
            </a:r>
            <a:endParaRPr lang="en-US" dirty="0"/>
          </a:p>
        </p:txBody>
      </p:sp>
      <p:sp>
        <p:nvSpPr>
          <p:cNvPr id="2" name="Content Placeholder 1"/>
          <p:cNvSpPr>
            <a:spLocks noGrp="1"/>
          </p:cNvSpPr>
          <p:nvPr>
            <p:ph idx="1"/>
          </p:nvPr>
        </p:nvSpPr>
        <p:spPr/>
        <p:txBody>
          <a:bodyPr/>
          <a:lstStyle/>
          <a:p>
            <a:r>
              <a:rPr lang="en-US" smtClean="0"/>
              <a:t>When you add a shared printer, consider the following guidelines when choosing a share name:</a:t>
            </a:r>
          </a:p>
          <a:p>
            <a:pPr lvl="1"/>
            <a:r>
              <a:rPr lang="en-US" smtClean="0"/>
              <a:t>Compose names that are easily understood and spelled by those who will use the printer</a:t>
            </a:r>
          </a:p>
          <a:p>
            <a:pPr lvl="1"/>
            <a:r>
              <a:rPr lang="en-US" smtClean="0"/>
              <a:t>Include a room number, floor, or workstation name to identify where the printer is located</a:t>
            </a:r>
          </a:p>
          <a:p>
            <a:pPr lvl="1"/>
            <a:r>
              <a:rPr lang="en-US" smtClean="0"/>
              <a:t>Include descriptive information about the printer, such as type, manufacturer, or model</a:t>
            </a:r>
          </a:p>
          <a:p>
            <a:r>
              <a:rPr lang="en-US" smtClean="0"/>
              <a:t>After you install a printer on a network to be shared</a:t>
            </a:r>
          </a:p>
          <a:p>
            <a:pPr lvl="1"/>
            <a:r>
              <a:rPr lang="en-US" smtClean="0"/>
              <a:t>Make sure that network printer sharing is turned on</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63811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Printer Properties</a:t>
            </a:r>
            <a:endParaRPr lang="en-US" dirty="0"/>
          </a:p>
        </p:txBody>
      </p:sp>
      <p:sp>
        <p:nvSpPr>
          <p:cNvPr id="2" name="Content Placeholder 1"/>
          <p:cNvSpPr>
            <a:spLocks noGrp="1"/>
          </p:cNvSpPr>
          <p:nvPr>
            <p:ph idx="1"/>
          </p:nvPr>
        </p:nvSpPr>
        <p:spPr/>
        <p:txBody>
          <a:bodyPr/>
          <a:lstStyle/>
          <a:p>
            <a:r>
              <a:rPr lang="en-US" smtClean="0"/>
              <a:t>Printer properties are accessible from the Print Management tool by right-clicking a printer and clicking Properties</a:t>
            </a:r>
          </a:p>
          <a:p>
            <a:r>
              <a:rPr lang="en-US" smtClean="0"/>
              <a:t>You can manage the following functions associated with a printer from the tabs in the Properties dialog box:</a:t>
            </a:r>
          </a:p>
          <a:p>
            <a:pPr lvl="1"/>
            <a:r>
              <a:rPr lang="en-US" smtClean="0"/>
              <a:t>General printer information</a:t>
            </a:r>
          </a:p>
          <a:p>
            <a:pPr lvl="1"/>
            <a:r>
              <a:rPr lang="en-US" smtClean="0"/>
              <a:t>Printer sharing</a:t>
            </a:r>
          </a:p>
          <a:p>
            <a:pPr lvl="1"/>
            <a:r>
              <a:rPr lang="en-US" smtClean="0"/>
              <a:t>Printer port setup</a:t>
            </a:r>
          </a:p>
          <a:p>
            <a:pPr lvl="1"/>
            <a:r>
              <a:rPr lang="en-US" smtClean="0"/>
              <a:t>Printer availability and advanced spooling options</a:t>
            </a:r>
          </a:p>
          <a:p>
            <a:pPr lvl="1"/>
            <a:r>
              <a:rPr lang="en-US" smtClean="0"/>
              <a:t>Security</a:t>
            </a:r>
          </a:p>
          <a:p>
            <a:pPr lvl="1"/>
            <a:r>
              <a:rPr lang="en-US" smtClean="0"/>
              <a:t>Device settings</a:t>
            </a:r>
          </a:p>
          <a:p>
            <a:pPr lvl="1"/>
            <a:r>
              <a:rPr lang="en-US" smtClean="0"/>
              <a:t>Special considerations of a specific printer</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99142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General Printer Specifications</a:t>
            </a:r>
            <a:endParaRPr lang="en-US" dirty="0"/>
          </a:p>
        </p:txBody>
      </p:sp>
      <p:pic>
        <p:nvPicPr>
          <p:cNvPr id="5" name="Content Placeholder 4" descr="Figure 6-11, Page No. 258, Complexity level: 3&#10;Screenshot shows “Brother Color Leg Type1 Class Driver Properties” dialog box. The General tab is selected. The window displays Brother Color Leg Type1 Class Driver in the folder box. The Room 10 is entered in the location box. The Shared color printer is entered in the comment box. The Brother Color Leg Type1 Class Driver is the Model. On the left pane of the Features box window, it displays Color: Yes, Double-sides: No, Staple: No, Speed: Unknown, Maximum resolution: 600 dpi. On the right pane of the Features box window, it displays Letter in the Paper available drop down box. The O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67000" y="1524000"/>
            <a:ext cx="3796340" cy="4405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29407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Sharing Printers (1 of 2)</a:t>
            </a:r>
            <a:endParaRPr lang="en-US" dirty="0"/>
          </a:p>
        </p:txBody>
      </p:sp>
      <p:sp>
        <p:nvSpPr>
          <p:cNvPr id="2" name="Content Placeholder 1"/>
          <p:cNvSpPr>
            <a:spLocks noGrp="1"/>
          </p:cNvSpPr>
          <p:nvPr>
            <p:ph idx="1"/>
          </p:nvPr>
        </p:nvSpPr>
        <p:spPr/>
        <p:txBody>
          <a:bodyPr/>
          <a:lstStyle/>
          <a:p>
            <a:r>
              <a:rPr lang="en-US" smtClean="0"/>
              <a:t>The Sharing tab is used to enable or disable a printer for sharing</a:t>
            </a:r>
          </a:p>
          <a:p>
            <a:pPr lvl="1"/>
            <a:r>
              <a:rPr lang="en-US" smtClean="0"/>
              <a:t>As well as to specify the name of the share </a:t>
            </a:r>
          </a:p>
          <a:p>
            <a:r>
              <a:rPr lang="en-US" smtClean="0"/>
              <a:t>If you enable sharing, provide a name for the shared printer</a:t>
            </a:r>
          </a:p>
          <a:p>
            <a:pPr lvl="1"/>
            <a:r>
              <a:rPr lang="en-US" smtClean="0"/>
              <a:t>And check List in the directory to publish the printer through Active Directory</a:t>
            </a:r>
          </a:p>
          <a:p>
            <a:r>
              <a:rPr lang="en-US" smtClean="0"/>
              <a:t>The Additional Drivers button on a printer’s properties Sharing tab is used to add new types of clients</a:t>
            </a:r>
          </a:p>
          <a:p>
            <a:r>
              <a:rPr lang="en-US" smtClean="0"/>
              <a:t>Windows Server 2016 enables use of Point and Print with the v4 driver model</a:t>
            </a:r>
          </a:p>
          <a:p>
            <a:pPr lvl="1"/>
            <a:r>
              <a:rPr lang="en-US" smtClean="0"/>
              <a:t>This means Windows Server 2016 print server does not have to distribute specific drivers to clients updated with v4 printer drivers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21990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Sharing Printers (2 of 2)</a:t>
            </a:r>
            <a:endParaRPr lang="en-US" dirty="0"/>
          </a:p>
        </p:txBody>
      </p:sp>
      <p:pic>
        <p:nvPicPr>
          <p:cNvPr id="6" name="Content Placeholder 5" descr="Figure 6-12, Page No. 258, Complexity level: 2&#10;Screenshot shows “Brother Color Leg Type1 Class Driver Properties” dialog box. The cursor points to the Sharing tab and it is selected. Share this printer check box is selected. The Office Printer JR is entered within the Share name box. The Render print job on client computers option check box is selected. The OK button shown is selected.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90800" y="1447800"/>
            <a:ext cx="3888254" cy="4496621"/>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85771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Port Specifications (1 of 4)</a:t>
            </a:r>
            <a:endParaRPr lang="en-US" dirty="0"/>
          </a:p>
        </p:txBody>
      </p:sp>
      <p:sp>
        <p:nvSpPr>
          <p:cNvPr id="2" name="Content Placeholder 1"/>
          <p:cNvSpPr>
            <a:spLocks noGrp="1"/>
          </p:cNvSpPr>
          <p:nvPr>
            <p:ph idx="1"/>
          </p:nvPr>
        </p:nvSpPr>
        <p:spPr/>
        <p:txBody>
          <a:bodyPr/>
          <a:lstStyle/>
          <a:p>
            <a:r>
              <a:rPr lang="en-US" smtClean="0"/>
              <a:t>The Ports tab has options to:</a:t>
            </a:r>
          </a:p>
          <a:p>
            <a:pPr lvl="1"/>
            <a:r>
              <a:rPr lang="en-US" smtClean="0"/>
              <a:t>Specify which server port, such as LPT1 or COM1, is used for the printer</a:t>
            </a:r>
          </a:p>
          <a:p>
            <a:pPr lvl="1"/>
            <a:r>
              <a:rPr lang="en-US" smtClean="0"/>
              <a:t>Set up bidirectional printing and printer pooling</a:t>
            </a:r>
          </a:p>
          <a:p>
            <a:r>
              <a:rPr lang="en-US" smtClean="0"/>
              <a:t>Bidirectional printing</a:t>
            </a:r>
          </a:p>
          <a:p>
            <a:pPr lvl="1"/>
            <a:r>
              <a:rPr lang="en-US" smtClean="0"/>
              <a:t>Used with printers that have bidirectional capability</a:t>
            </a:r>
          </a:p>
          <a:p>
            <a:pPr lvl="1"/>
            <a:r>
              <a:rPr lang="en-US" smtClean="0"/>
              <a:t>A bidirectional printer can engage in two-way communications with the print server and with software applications</a:t>
            </a:r>
          </a:p>
          <a:p>
            <a:r>
              <a:rPr lang="en-US" smtClean="0"/>
              <a:t>Printer pooling</a:t>
            </a:r>
          </a:p>
          <a:p>
            <a:pPr lvl="1"/>
            <a:r>
              <a:rPr lang="en-US" smtClean="0"/>
              <a:t>Involves configuring two or more identical printers connected to one print server</a:t>
            </a:r>
          </a:p>
          <a:p>
            <a:r>
              <a:rPr lang="en-US" smtClean="0"/>
              <a:t>All of the printers in a pool must be identical so that they use the same printer driver and handle print files in the same way</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47833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Port Specifications (2 of 4)</a:t>
            </a:r>
            <a:endParaRPr lang="en-US" dirty="0"/>
          </a:p>
        </p:txBody>
      </p:sp>
      <p:pic>
        <p:nvPicPr>
          <p:cNvPr id="6" name="Content Placeholder 5" descr="Figure 6-16, Page No. 262, Complexity level: 3&#10;Screenshot shows “Brother Color Leg Type1 Class Driver Properties” dialog box. The cursor points to the Ports tab and it is selected. The window displays Brother Color Leg Type1 Class Driver. The LPT1: Printer Port and Brother Color Leg Type1 Class Driver check box is selected under the Port, Description, and Printer drop down box. The O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14600" y="1524000"/>
            <a:ext cx="3886176" cy="4509559"/>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25658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Port Specifications (3 of 4)</a:t>
            </a:r>
            <a:endParaRPr lang="en-US" dirty="0"/>
          </a:p>
        </p:txBody>
      </p:sp>
      <p:sp>
        <p:nvSpPr>
          <p:cNvPr id="2" name="Content Placeholder 1"/>
          <p:cNvSpPr>
            <a:spLocks noGrp="1"/>
          </p:cNvSpPr>
          <p:nvPr>
            <p:ph idx="1"/>
          </p:nvPr>
        </p:nvSpPr>
        <p:spPr/>
        <p:txBody>
          <a:bodyPr/>
          <a:lstStyle/>
          <a:p>
            <a:r>
              <a:rPr lang="en-US" smtClean="0"/>
              <a:t>The Add Port button enables you to add a new port</a:t>
            </a:r>
          </a:p>
          <a:p>
            <a:pPr lvl="1"/>
            <a:r>
              <a:rPr lang="en-US" smtClean="0"/>
              <a:t>The default options are Local Port or Standard TCP/IP Port</a:t>
            </a:r>
          </a:p>
          <a:p>
            <a:r>
              <a:rPr lang="en-US" smtClean="0"/>
              <a:t>The Delete Port button is used to remove a port option from the list of ports</a:t>
            </a:r>
          </a:p>
          <a:p>
            <a:r>
              <a:rPr lang="en-US" smtClean="0"/>
              <a:t>The Configure Port button is used to tune the configuration parameters that are appropriate to the type of port</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22772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Port Specifications (4 of 4)</a:t>
            </a:r>
            <a:endParaRPr lang="en-US" dirty="0"/>
          </a:p>
        </p:txBody>
      </p:sp>
      <p:pic>
        <p:nvPicPr>
          <p:cNvPr id="5" name="Picture 4" descr=" Figure 6-17, Page No. 263, Complexity level: 1&#10;Screenshot shows “Printer Ports” dialog box. The Local Port is selected under the Available port types box. The New Port button shown is selected.&#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2133600"/>
            <a:ext cx="4942113" cy="3200400"/>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72994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Printer Scheduling and Advanced Options (1 of 5)</a:t>
            </a:r>
            <a:endParaRPr lang="en-US" dirty="0"/>
          </a:p>
        </p:txBody>
      </p:sp>
      <p:sp>
        <p:nvSpPr>
          <p:cNvPr id="2" name="Content Placeholder 1"/>
          <p:cNvSpPr>
            <a:spLocks noGrp="1"/>
          </p:cNvSpPr>
          <p:nvPr>
            <p:ph idx="1"/>
          </p:nvPr>
        </p:nvSpPr>
        <p:spPr/>
        <p:txBody>
          <a:bodyPr/>
          <a:lstStyle/>
          <a:p>
            <a:r>
              <a:rPr lang="en-US" smtClean="0"/>
              <a:t>The Advanced tab allows you to:</a:t>
            </a:r>
          </a:p>
          <a:p>
            <a:pPr lvl="1"/>
            <a:r>
              <a:rPr lang="en-US" smtClean="0"/>
              <a:t>Have a printer available at all times</a:t>
            </a:r>
          </a:p>
          <a:p>
            <a:pPr lvl="1"/>
            <a:r>
              <a:rPr lang="en-US" smtClean="0"/>
              <a:t>Limit the time to a range of hours</a:t>
            </a:r>
          </a:p>
          <a:p>
            <a:r>
              <a:rPr lang="en-US" smtClean="0"/>
              <a:t>You can set the priority higher to give a particular printer or printer pool priority</a:t>
            </a:r>
          </a:p>
          <a:p>
            <a:pPr lvl="1"/>
            <a:r>
              <a:rPr lang="en-US" smtClean="0"/>
              <a:t>Over other printers attached to the server</a:t>
            </a:r>
          </a:p>
          <a:p>
            <a:r>
              <a:rPr lang="en-US" smtClean="0"/>
              <a:t>Printer scheduling can be useful when there is one print device and two printer objects (shares) for that printer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887992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Printer Scheduling and Advanced Options (2 of 5)</a:t>
            </a:r>
            <a:endParaRPr lang="en-US" dirty="0"/>
          </a:p>
        </p:txBody>
      </p:sp>
      <p:pic>
        <p:nvPicPr>
          <p:cNvPr id="6" name="Content Placeholder 5" descr="Figure 6-18, Page No. 265, Complexity level: 2&#10;Screenshot shows “Brother Color Leg Type1 Class Driver Properties” dialog box. The cursor points to the advanced tab. The window displays the Always available check box and it is selected. The Spool print documents so program finishes printing faster option and Start Printing immediately option check button are selected. The O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62200" y="1524000"/>
            <a:ext cx="3783382" cy="4405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71294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Printer Scheduling and Advanced Options (3 of 5)</a:t>
            </a:r>
            <a:endParaRPr lang="en-US" dirty="0"/>
          </a:p>
        </p:txBody>
      </p:sp>
      <p:sp>
        <p:nvSpPr>
          <p:cNvPr id="2" name="Content Placeholder 1"/>
          <p:cNvSpPr>
            <a:spLocks noGrp="1"/>
          </p:cNvSpPr>
          <p:nvPr>
            <p:ph idx="1"/>
          </p:nvPr>
        </p:nvSpPr>
        <p:spPr/>
        <p:txBody>
          <a:bodyPr/>
          <a:lstStyle/>
          <a:p>
            <a:r>
              <a:rPr lang="en-US" smtClean="0"/>
              <a:t>The Advanced tab provides the option to use spooled printing or to bypass the spooler</a:t>
            </a:r>
          </a:p>
          <a:p>
            <a:pPr lvl="1"/>
            <a:r>
              <a:rPr lang="en-US" smtClean="0"/>
              <a:t>Works best to spool print jobs so they are printed on a first-come, first-served basis and enable background printing so the CPU can work on other tasks</a:t>
            </a:r>
          </a:p>
          <a:p>
            <a:pPr lvl="1"/>
            <a:r>
              <a:rPr lang="en-US" smtClean="0"/>
              <a:t>Also helps ensure that jobs are printed together</a:t>
            </a:r>
          </a:p>
          <a:p>
            <a:r>
              <a:rPr lang="en-US" smtClean="0"/>
              <a:t>Other advanced options include:</a:t>
            </a:r>
          </a:p>
          <a:p>
            <a:pPr lvl="1"/>
            <a:r>
              <a:rPr lang="en-US" smtClean="0"/>
              <a:t>Hold mismatched documents</a:t>
            </a:r>
          </a:p>
          <a:p>
            <a:pPr lvl="1"/>
            <a:r>
              <a:rPr lang="en-US" smtClean="0"/>
              <a:t>Print spooled documents first</a:t>
            </a:r>
          </a:p>
          <a:p>
            <a:pPr lvl="1"/>
            <a:r>
              <a:rPr lang="en-US" smtClean="0"/>
              <a:t>Keep printed documents</a:t>
            </a:r>
          </a:p>
          <a:p>
            <a:pPr lvl="1"/>
            <a:r>
              <a:rPr lang="en-US" smtClean="0"/>
              <a:t>Enable advanced printing features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480173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Printer Scheduling and Advanced Options (4 of 5)</a:t>
            </a:r>
            <a:endParaRPr lang="en-US" dirty="0"/>
          </a:p>
        </p:txBody>
      </p:sp>
      <p:sp>
        <p:nvSpPr>
          <p:cNvPr id="2" name="Content Placeholder 1"/>
          <p:cNvSpPr>
            <a:spLocks noGrp="1"/>
          </p:cNvSpPr>
          <p:nvPr>
            <p:ph idx="1"/>
          </p:nvPr>
        </p:nvSpPr>
        <p:spPr/>
        <p:txBody>
          <a:bodyPr/>
          <a:lstStyle/>
          <a:p>
            <a:r>
              <a:rPr lang="en-US" smtClean="0"/>
              <a:t>The Printing Defaults button enables you to specify default settings for print jobs</a:t>
            </a:r>
          </a:p>
          <a:p>
            <a:pPr lvl="1"/>
            <a:r>
              <a:rPr lang="en-US" smtClean="0"/>
              <a:t>Unless they are overridden by control codes in the print file</a:t>
            </a:r>
          </a:p>
          <a:p>
            <a:r>
              <a:rPr lang="en-US" smtClean="0"/>
              <a:t>Use the Print Processor button to specify one of the print processors and data types</a:t>
            </a:r>
          </a:p>
          <a:p>
            <a:r>
              <a:rPr lang="en-US" smtClean="0"/>
              <a:t>The data type is the way in which information is formatted in a print file</a:t>
            </a:r>
          </a:p>
          <a:p>
            <a:pPr lvl="1"/>
            <a:r>
              <a:rPr lang="en-US" smtClean="0"/>
              <a:t>RAW</a:t>
            </a:r>
          </a:p>
          <a:p>
            <a:pPr lvl="1"/>
            <a:r>
              <a:rPr lang="en-US" smtClean="0"/>
              <a:t>RAW (FF appended)</a:t>
            </a:r>
          </a:p>
          <a:p>
            <a:pPr lvl="1"/>
            <a:r>
              <a:rPr lang="en-US" smtClean="0"/>
              <a:t>RAW (FF auto)</a:t>
            </a:r>
          </a:p>
          <a:p>
            <a:pPr lvl="1"/>
            <a:r>
              <a:rPr lang="en-US" smtClean="0"/>
              <a:t>NT EMF</a:t>
            </a:r>
          </a:p>
          <a:p>
            <a:pPr lvl="1"/>
            <a:r>
              <a:rPr lang="es-EC" smtClean="0"/>
              <a:t>TEXT</a:t>
            </a:r>
          </a:p>
          <a:p>
            <a:pPr lvl="1"/>
            <a:r>
              <a:rPr lang="es-EC" smtClean="0"/>
              <a:t>XPS2GDI</a:t>
            </a:r>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413291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Printer Scheduling and Advanced Options (5 of 5_</a:t>
            </a:r>
            <a:endParaRPr lang="en-US" dirty="0"/>
          </a:p>
        </p:txBody>
      </p:sp>
      <p:sp>
        <p:nvSpPr>
          <p:cNvPr id="2" name="Content Placeholder 1"/>
          <p:cNvSpPr>
            <a:spLocks noGrp="1"/>
          </p:cNvSpPr>
          <p:nvPr>
            <p:ph idx="1"/>
          </p:nvPr>
        </p:nvSpPr>
        <p:spPr/>
        <p:txBody>
          <a:bodyPr/>
          <a:lstStyle/>
          <a:p>
            <a:r>
              <a:rPr lang="en-US" smtClean="0"/>
              <a:t>The Separator Page button is used to place a blank page at the beginning of each printed document</a:t>
            </a:r>
          </a:p>
          <a:p>
            <a:r>
              <a:rPr lang="en-US" smtClean="0"/>
              <a:t>Windows Server 2016 has four separator page files</a:t>
            </a:r>
          </a:p>
          <a:p>
            <a:pPr lvl="1"/>
            <a:r>
              <a:rPr lang="en-US" smtClean="0"/>
              <a:t>Pcl.sep</a:t>
            </a:r>
          </a:p>
          <a:p>
            <a:pPr lvl="1"/>
            <a:r>
              <a:rPr lang="en-US" smtClean="0"/>
              <a:t>Pscript.sep</a:t>
            </a:r>
          </a:p>
          <a:p>
            <a:pPr lvl="1"/>
            <a:r>
              <a:rPr lang="en-US" smtClean="0"/>
              <a:t>Sysprint.sep</a:t>
            </a:r>
          </a:p>
          <a:p>
            <a:pPr lvl="1"/>
            <a:r>
              <a:rPr lang="en-US" smtClean="0"/>
              <a:t>Sysprtj.sep</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314537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Security (1 of 4)</a:t>
            </a:r>
            <a:endParaRPr lang="en-US" dirty="0"/>
          </a:p>
        </p:txBody>
      </p:sp>
      <p:sp>
        <p:nvSpPr>
          <p:cNvPr id="2" name="Content Placeholder 1"/>
          <p:cNvSpPr>
            <a:spLocks noGrp="1"/>
          </p:cNvSpPr>
          <p:nvPr>
            <p:ph idx="1"/>
          </p:nvPr>
        </p:nvSpPr>
        <p:spPr/>
        <p:txBody>
          <a:bodyPr/>
          <a:lstStyle/>
          <a:p>
            <a:r>
              <a:rPr lang="en-US" smtClean="0"/>
              <a:t>To configure security for a printer, you must have Manage printers permissions for that printer</a:t>
            </a:r>
          </a:p>
          <a:p>
            <a:pPr lvl="1"/>
            <a:r>
              <a:rPr lang="en-US" smtClean="0"/>
              <a:t>Use the Security tab to set up printer share permissions</a:t>
            </a:r>
          </a:p>
          <a:p>
            <a:r>
              <a:rPr lang="en-US" smtClean="0"/>
              <a:t>Once a printer is shared, the default permissions are as follows:</a:t>
            </a:r>
          </a:p>
          <a:p>
            <a:pPr lvl="1"/>
            <a:r>
              <a:rPr lang="en-US" smtClean="0"/>
              <a:t>Everyone group-Print</a:t>
            </a:r>
          </a:p>
          <a:p>
            <a:pPr lvl="1"/>
            <a:r>
              <a:rPr lang="en-US" smtClean="0"/>
              <a:t>ALL APPLICATION PACKAGES-Print and Manage documents</a:t>
            </a:r>
          </a:p>
          <a:p>
            <a:pPr lvl="1"/>
            <a:r>
              <a:rPr lang="en-US" smtClean="0"/>
              <a:t>CREATOR OWNER-Manage documents</a:t>
            </a:r>
          </a:p>
          <a:p>
            <a:pPr lvl="1"/>
            <a:r>
              <a:rPr lang="en-US" smtClean="0"/>
              <a:t>Administrator account-Print, Manage this printer, and Manage documents</a:t>
            </a:r>
          </a:p>
          <a:p>
            <a:pPr lvl="1"/>
            <a:r>
              <a:rPr lang="en-US" smtClean="0"/>
              <a:t>Administrators, Server Operators, Print Operators groups-Print, Manage this printer, and Manage documents</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33455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Security (2 of 4)</a:t>
            </a:r>
            <a:endParaRPr lang="en-US" dirty="0"/>
          </a:p>
        </p:txBody>
      </p:sp>
      <p:pic>
        <p:nvPicPr>
          <p:cNvPr id="6" name="Content Placeholder 5" descr="Figure 6-19, Page No. 268, Complexity level: 2&#10;Screenshot shows “Brother Color Leg Type1 Class Driver Properties” dialog box. The cursor points to the Security tab and it is selected. The option “Everyone” under the Group or user names box is selected. The Print option check box is selected under the Allow option of Permission for Everyone. The O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67000" y="1600200"/>
            <a:ext cx="3705208" cy="4329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530342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Security (3 of 4)</a:t>
            </a:r>
            <a:endParaRPr lang="en-US" dirty="0"/>
          </a:p>
        </p:txBody>
      </p:sp>
      <p:sp>
        <p:nvSpPr>
          <p:cNvPr id="2" name="Content Placeholder 1"/>
          <p:cNvSpPr>
            <a:spLocks noGrp="1"/>
          </p:cNvSpPr>
          <p:nvPr>
            <p:ph idx="1"/>
          </p:nvPr>
        </p:nvSpPr>
        <p:spPr/>
        <p:txBody>
          <a:bodyPr/>
          <a:lstStyle/>
          <a:p>
            <a:r>
              <a:rPr lang="en-US" smtClean="0"/>
              <a:t>Use the Advanced button on the Security tab to:</a:t>
            </a:r>
          </a:p>
          <a:p>
            <a:pPr lvl="1"/>
            <a:r>
              <a:rPr lang="en-US" smtClean="0"/>
              <a:t>Set up special printer permissions for a specific group or user</a:t>
            </a:r>
          </a:p>
          <a:p>
            <a:pPr lvl="1"/>
            <a:r>
              <a:rPr lang="en-US" smtClean="0"/>
              <a:t>Add or remove a group or user for security access</a:t>
            </a:r>
          </a:p>
          <a:p>
            <a:pPr lvl="1"/>
            <a:r>
              <a:rPr lang="en-US" smtClean="0"/>
              <a:t>Set up printer auditing</a:t>
            </a:r>
          </a:p>
          <a:p>
            <a:pPr lvl="1"/>
            <a:r>
              <a:rPr lang="en-US" smtClean="0"/>
              <a:t>Take ownership of a printer</a:t>
            </a:r>
          </a:p>
          <a:p>
            <a:pPr lvl="1"/>
            <a:r>
              <a:rPr lang="en-US" smtClean="0"/>
              <a:t>View the effective permissions for a user or group</a:t>
            </a:r>
          </a:p>
          <a:p>
            <a:r>
              <a:rPr lang="en-US" smtClean="0"/>
              <a:t>Advanced or special access permissions enable you to fine-tune shared printer permissions</a:t>
            </a:r>
          </a:p>
          <a:p>
            <a:r>
              <a:rPr lang="en-US" smtClean="0"/>
              <a:t>Any user account or group can be set up for auditing, by clicking the Auditing tab and the Add button</a:t>
            </a:r>
          </a:p>
          <a:p>
            <a:pPr lvl="1"/>
            <a:r>
              <a:rPr lang="en-US" smtClean="0"/>
              <a:t>Before you set up printer auditing, make sure that there is a Group Policy or default domain security policy that enables object auditing on the basis of successful and failed activity attempts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7880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Security (4 of 4)</a:t>
            </a:r>
            <a:endParaRPr lang="en-US" dirty="0"/>
          </a:p>
        </p:txBody>
      </p:sp>
      <p:sp>
        <p:nvSpPr>
          <p:cNvPr id="2" name="Content Placeholder 1"/>
          <p:cNvSpPr>
            <a:spLocks noGrp="1"/>
          </p:cNvSpPr>
          <p:nvPr>
            <p:ph idx="1"/>
          </p:nvPr>
        </p:nvSpPr>
        <p:spPr/>
        <p:txBody>
          <a:bodyPr/>
          <a:lstStyle/>
          <a:p>
            <a:r>
              <a:rPr lang="en-US" smtClean="0"/>
              <a:t>For a shared printer you can track successful or failed attempts to:</a:t>
            </a:r>
          </a:p>
          <a:p>
            <a:pPr lvl="1"/>
            <a:r>
              <a:rPr lang="en-US" smtClean="0"/>
              <a:t>Print jobs</a:t>
            </a:r>
          </a:p>
          <a:p>
            <a:pPr lvl="1"/>
            <a:r>
              <a:rPr lang="en-US" smtClean="0"/>
              <a:t>Manage printers</a:t>
            </a:r>
          </a:p>
          <a:p>
            <a:pPr lvl="1"/>
            <a:r>
              <a:rPr lang="en-US" smtClean="0"/>
              <a:t>Manage documents</a:t>
            </a:r>
          </a:p>
          <a:p>
            <a:pPr lvl="1"/>
            <a:r>
              <a:rPr lang="en-US" smtClean="0"/>
              <a:t>Read printer share permissions</a:t>
            </a:r>
          </a:p>
          <a:p>
            <a:pPr lvl="1"/>
            <a:r>
              <a:rPr lang="en-US" smtClean="0"/>
              <a:t>Change printer share permissions</a:t>
            </a:r>
          </a:p>
          <a:p>
            <a:pPr lvl="1"/>
            <a:r>
              <a:rPr lang="en-US" smtClean="0"/>
              <a:t>Take ownership of the printer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575067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Device Settings (1 of 2)</a:t>
            </a:r>
            <a:endParaRPr lang="en-US" dirty="0"/>
          </a:p>
        </p:txBody>
      </p:sp>
      <p:sp>
        <p:nvSpPr>
          <p:cNvPr id="2" name="Content Placeholder 1"/>
          <p:cNvSpPr>
            <a:spLocks noGrp="1"/>
          </p:cNvSpPr>
          <p:nvPr>
            <p:ph idx="1"/>
          </p:nvPr>
        </p:nvSpPr>
        <p:spPr/>
        <p:txBody>
          <a:bodyPr/>
          <a:lstStyle/>
          <a:p>
            <a:r>
              <a:rPr lang="en-US" smtClean="0"/>
              <a:t>The Device Settings tab</a:t>
            </a:r>
          </a:p>
          <a:p>
            <a:pPr lvl="1"/>
            <a:r>
              <a:rPr lang="en-US" smtClean="0"/>
              <a:t>Enables you to specify printer settings that are specific to the printer you have installed such as:</a:t>
            </a:r>
          </a:p>
          <a:p>
            <a:pPr lvl="2"/>
            <a:r>
              <a:rPr lang="en-US" smtClean="0"/>
              <a:t>Printer trays, memory, paper size, fonts, duplexing, and installable options</a:t>
            </a:r>
          </a:p>
          <a:p>
            <a:r>
              <a:rPr lang="en-US" smtClean="0"/>
              <a:t>Printer memory is usually automatically detected in bidirectional printers</a:t>
            </a:r>
          </a:p>
          <a:p>
            <a:r>
              <a:rPr lang="en-US" smtClean="0"/>
              <a:t>Make sure the memory reported in the device settings matches the memory installed in the printer</a:t>
            </a:r>
          </a:p>
          <a:p>
            <a:pPr lvl="1"/>
            <a:r>
              <a:rPr lang="en-US" smtClean="0"/>
              <a:t>This enables the Windows Server 2016 print server to offload more work to the printer, improving the speed at which print jobs are completed as well as server performance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394619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Device Settings (2 of 2)</a:t>
            </a:r>
            <a:endParaRPr lang="en-US" dirty="0"/>
          </a:p>
        </p:txBody>
      </p:sp>
      <p:pic>
        <p:nvPicPr>
          <p:cNvPr id="6" name="Content Placeholder 5" descr=" Figure 6-21, Page No. 271, Complexity level: 2&#10;Screenshot shows “Brother Color Leg Type1 Class Driver Properties” dialog box. The cursor points to the Device Settings tab and it is selected. On the Brother Color Leg Type1 Class Driver Device Settings window, the Auto Select By Printer option is selected under Form To Tray Assignment folder. The O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90800" y="1524000"/>
            <a:ext cx="3796104" cy="4481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73211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a Nonlocal Printer or an Internet Printer (1 of 2)</a:t>
            </a:r>
            <a:endParaRPr lang="en-US" dirty="0"/>
          </a:p>
        </p:txBody>
      </p:sp>
      <p:sp>
        <p:nvSpPr>
          <p:cNvPr id="2" name="Content Placeholder 1"/>
          <p:cNvSpPr>
            <a:spLocks noGrp="1"/>
          </p:cNvSpPr>
          <p:nvPr>
            <p:ph idx="1"/>
          </p:nvPr>
        </p:nvSpPr>
        <p:spPr/>
        <p:txBody>
          <a:bodyPr/>
          <a:lstStyle/>
          <a:p>
            <a:r>
              <a:rPr lang="en-US" smtClean="0"/>
              <a:t>You can connect to a network printer by using the Network Printer Installation Wizard</a:t>
            </a:r>
          </a:p>
          <a:p>
            <a:pPr lvl="1"/>
            <a:r>
              <a:rPr lang="en-US" smtClean="0"/>
              <a:t>Follow the steps outlined on pages 271-272 in the text</a:t>
            </a:r>
          </a:p>
          <a:p>
            <a:r>
              <a:rPr lang="en-US" smtClean="0"/>
              <a:t>When the remote printer is installed on a domain controller</a:t>
            </a:r>
          </a:p>
          <a:p>
            <a:pPr lvl="1"/>
            <a:r>
              <a:rPr lang="en-US" smtClean="0"/>
              <a:t>You can change the properties of the shared printer you just installed</a:t>
            </a:r>
          </a:p>
          <a:p>
            <a:pPr lvl="1"/>
            <a:r>
              <a:rPr lang="en-US" smtClean="0"/>
              <a:t>Even though you are not logged on to its host computer</a:t>
            </a:r>
          </a:p>
          <a:p>
            <a:r>
              <a:rPr lang="en-US" smtClean="0"/>
              <a:t>You can manage the remote printer’s properties from the Print Management tool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067038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a Nonlocal Printer or an Internet Printer (2 of 2)</a:t>
            </a:r>
            <a:endParaRPr lang="en-US" dirty="0"/>
          </a:p>
        </p:txBody>
      </p:sp>
      <p:pic>
        <p:nvPicPr>
          <p:cNvPr id="6" name="Content Placeholder 5" descr="Figure 6-22, Page No. 272, Complexity level: 2&#10;Screenshot shows “Network Printer Installation Wizard” dialog box. On the Network Printer Search window displays, the HP LaserJet 3390 (Hewlett-Packard) is selected under the Printer Name option. The progress is searched by selecting the Search again button. The Next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1200" y="1676400"/>
            <a:ext cx="5017094" cy="4100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876091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Print Jobs</a:t>
            </a:r>
            <a:endParaRPr lang="en-US" dirty="0"/>
          </a:p>
        </p:txBody>
      </p:sp>
      <p:sp>
        <p:nvSpPr>
          <p:cNvPr id="2" name="Content Placeholder 1"/>
          <p:cNvSpPr>
            <a:spLocks noGrp="1"/>
          </p:cNvSpPr>
          <p:nvPr>
            <p:ph idx="1"/>
          </p:nvPr>
        </p:nvSpPr>
        <p:spPr/>
        <p:txBody>
          <a:bodyPr/>
          <a:lstStyle/>
          <a:p>
            <a:r>
              <a:rPr lang="en-US" smtClean="0"/>
              <a:t>Users with Print permissions can:</a:t>
            </a:r>
          </a:p>
          <a:p>
            <a:pPr lvl="1"/>
            <a:r>
              <a:rPr lang="en-US" smtClean="0"/>
              <a:t>Send print jobs to the printer</a:t>
            </a:r>
          </a:p>
          <a:p>
            <a:pPr lvl="1"/>
            <a:r>
              <a:rPr lang="en-US" smtClean="0"/>
              <a:t>Pause, resume, and restart their own print jobs</a:t>
            </a:r>
          </a:p>
          <a:p>
            <a:pPr lvl="1"/>
            <a:r>
              <a:rPr lang="en-US" smtClean="0"/>
              <a:t>Cancel their own print jobs</a:t>
            </a:r>
          </a:p>
          <a:p>
            <a:r>
              <a:rPr lang="en-US" smtClean="0"/>
              <a:t>Print Operators, Server Operators, and other groups having Manage documents permissions can:</a:t>
            </a:r>
          </a:p>
          <a:p>
            <a:pPr lvl="1"/>
            <a:r>
              <a:rPr lang="en-US" smtClean="0"/>
              <a:t>Send print jobs to the printer</a:t>
            </a:r>
          </a:p>
          <a:p>
            <a:pPr lvl="1"/>
            <a:r>
              <a:rPr lang="en-US" smtClean="0"/>
              <a:t>Pause, resume, and restart any user’s print jobs</a:t>
            </a:r>
          </a:p>
          <a:p>
            <a:pPr lvl="1"/>
            <a:r>
              <a:rPr lang="en-US" smtClean="0"/>
              <a:t>Cancel any user’s print jobs</a:t>
            </a:r>
          </a:p>
          <a:p>
            <a:r>
              <a:rPr lang="en-US" smtClean="0"/>
              <a:t>To manage printed documents as administrator</a:t>
            </a:r>
          </a:p>
          <a:p>
            <a:pPr lvl="1"/>
            <a:r>
              <a:rPr lang="en-US" smtClean="0"/>
              <a:t>Use the Print Management tool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481032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Controlling the Status of Printing (1 of 2)</a:t>
            </a:r>
            <a:endParaRPr lang="en-US" dirty="0"/>
          </a:p>
        </p:txBody>
      </p:sp>
      <p:sp>
        <p:nvSpPr>
          <p:cNvPr id="2" name="Content Placeholder 1"/>
          <p:cNvSpPr>
            <a:spLocks noGrp="1"/>
          </p:cNvSpPr>
          <p:nvPr>
            <p:ph idx="1"/>
          </p:nvPr>
        </p:nvSpPr>
        <p:spPr/>
        <p:txBody>
          <a:bodyPr/>
          <a:lstStyle/>
          <a:p>
            <a:r>
              <a:rPr lang="en-US" smtClean="0"/>
              <a:t>In Windows Server 2016, printer control and setup information for a particular printer is associated with that printer’s properties and the printer’s print queue</a:t>
            </a:r>
          </a:p>
          <a:p>
            <a:r>
              <a:rPr lang="en-US" smtClean="0"/>
              <a:t>Sometimes you need to pause a printer to fix a problem</a:t>
            </a:r>
          </a:p>
          <a:p>
            <a:r>
              <a:rPr lang="en-US" smtClean="0"/>
              <a:t>You can pause printing to that printer in two way:</a:t>
            </a:r>
          </a:p>
          <a:p>
            <a:pPr lvl="1"/>
            <a:r>
              <a:rPr lang="en-US" smtClean="0"/>
              <a:t>Right-click the printer in the middle pane of the Print Management tool and click Pause Printing</a:t>
            </a:r>
          </a:p>
          <a:p>
            <a:pPr lvl="1"/>
            <a:r>
              <a:rPr lang="en-US" smtClean="0"/>
              <a:t> Open the printer’s print queue window, click Printer, and click Pause Printing option so that there is a check mark beside it</a:t>
            </a:r>
          </a:p>
          <a:p>
            <a:r>
              <a:rPr lang="en-US" smtClean="0"/>
              <a:t>You will need to resume printing again before print jobs can continue printing</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700709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Controlling the Status of Printing (2 of 2)</a:t>
            </a:r>
            <a:endParaRPr lang="en-US" dirty="0"/>
          </a:p>
        </p:txBody>
      </p:sp>
      <p:pic>
        <p:nvPicPr>
          <p:cNvPr id="6" name="Content Placeholder 5" descr="Figure 6-23, Page No. 273, Complexity level: 2&#10;Screenshot shows “Brother Color Leg Type1 Class Driver – Paused” dialog box. The cursor points to the Printer option which is selected from the dialog box. The Pause Printing option is selected from the Printer option.&#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97682" y="2057400"/>
            <a:ext cx="5929729" cy="3262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6123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Controlling Specific Print Jobs (1 of 3)</a:t>
            </a:r>
            <a:endParaRPr lang="en-US" dirty="0"/>
          </a:p>
        </p:txBody>
      </p:sp>
      <p:sp>
        <p:nvSpPr>
          <p:cNvPr id="2" name="Content Placeholder 1"/>
          <p:cNvSpPr>
            <a:spLocks noGrp="1"/>
          </p:cNvSpPr>
          <p:nvPr>
            <p:ph idx="1"/>
          </p:nvPr>
        </p:nvSpPr>
        <p:spPr/>
        <p:txBody>
          <a:bodyPr/>
          <a:lstStyle/>
          <a:p>
            <a:r>
              <a:rPr lang="en-US" smtClean="0"/>
              <a:t>You can pause, resume, restart, or view the properties of one or more documents</a:t>
            </a:r>
          </a:p>
          <a:p>
            <a:pPr lvl="1"/>
            <a:r>
              <a:rPr lang="en-US" smtClean="0"/>
              <a:t>In the print queue of a printer</a:t>
            </a:r>
          </a:p>
          <a:p>
            <a:r>
              <a:rPr lang="en-US" smtClean="0"/>
              <a:t>Print queue </a:t>
            </a:r>
          </a:p>
          <a:p>
            <a:pPr lvl="1"/>
            <a:r>
              <a:rPr lang="en-US" smtClean="0"/>
              <a:t>Like a stack of print jobs, with the first job submitted at the top of the stack and the last job submitted at the bottom</a:t>
            </a:r>
          </a:p>
          <a:p>
            <a:pPr lvl="1"/>
            <a:r>
              <a:rPr lang="en-US" smtClean="0"/>
              <a:t>And all of the jobs waiting to be sent from the spooler to the printer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69674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Controlling Specific Print Jobs (2 of 3)</a:t>
            </a:r>
            <a:endParaRPr lang="en-US" dirty="0"/>
          </a:p>
        </p:txBody>
      </p:sp>
      <p:sp>
        <p:nvSpPr>
          <p:cNvPr id="2" name="Content Placeholder 1"/>
          <p:cNvSpPr>
            <a:spLocks noGrp="1"/>
          </p:cNvSpPr>
          <p:nvPr>
            <p:ph idx="1"/>
          </p:nvPr>
        </p:nvSpPr>
        <p:spPr/>
        <p:txBody>
          <a:bodyPr/>
          <a:lstStyle/>
          <a:p>
            <a:r>
              <a:rPr lang="en-US" smtClean="0"/>
              <a:t>In Windows Server 2016, to pause a print job, open the print queue window for the printer</a:t>
            </a:r>
          </a:p>
          <a:p>
            <a:r>
              <a:rPr lang="en-US" smtClean="0"/>
              <a:t>The resulting window shows a list of jobs to be printed</a:t>
            </a:r>
          </a:p>
          <a:p>
            <a:pPr lvl="1"/>
            <a:r>
              <a:rPr lang="en-US" smtClean="0"/>
              <a:t>Click the document you want to pause, click the Document menu, and then click Pause</a:t>
            </a:r>
          </a:p>
          <a:p>
            <a:pPr lvl="1"/>
            <a:r>
              <a:rPr lang="en-US" smtClean="0"/>
              <a:t>The print job will stop printing until you highlight the document and click Resume or Restart on the Document menu</a:t>
            </a:r>
          </a:p>
          <a:p>
            <a:r>
              <a:rPr lang="en-US" smtClean="0"/>
              <a:t>Jobs print in the order they are received, unless the administrator changes their priority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18970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Controlling Specific Print Jobs (3 of 3)</a:t>
            </a:r>
            <a:endParaRPr lang="en-US" dirty="0"/>
          </a:p>
        </p:txBody>
      </p:sp>
      <p:pic>
        <p:nvPicPr>
          <p:cNvPr id="6" name="Content Placeholder 5" descr="Figure 6-24, Page No. 274, Complexity level: 2&#10;Screenshot shows “data – Notepad Document Properties” dialog box. The General tab is selected. The cursor points to the drag button of the highest option under the Priority box. The No time restriction radio button is selected under the Schedule box. The OK butto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38400" y="1524000"/>
            <a:ext cx="4041582"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74915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Common Printing Problems</a:t>
            </a:r>
            <a:endParaRPr lang="en-US" dirty="0"/>
          </a:p>
        </p:txBody>
      </p:sp>
      <p:sp>
        <p:nvSpPr>
          <p:cNvPr id="2" name="Content Placeholder 1"/>
          <p:cNvSpPr>
            <a:spLocks noGrp="1"/>
          </p:cNvSpPr>
          <p:nvPr>
            <p:ph idx="1"/>
          </p:nvPr>
        </p:nvSpPr>
        <p:spPr/>
        <p:txBody>
          <a:bodyPr/>
          <a:lstStyle/>
          <a:p>
            <a:r>
              <a:rPr lang="en-US" smtClean="0"/>
              <a:t>Use the Print Management tool to quickly check the status of a printer to see if it is offline or paused</a:t>
            </a:r>
          </a:p>
          <a:p>
            <a:r>
              <a:rPr lang="en-US" smtClean="0"/>
              <a:t>A typical printing problem can occur when the Windows Server 2016 Print Spooler service experiences a temporary difficulty, gets out of synchronization, or hangs</a:t>
            </a:r>
          </a:p>
          <a:p>
            <a:r>
              <a:rPr lang="en-US" smtClean="0"/>
              <a:t>To stop and restart the Print Spooler service:</a:t>
            </a:r>
          </a:p>
          <a:p>
            <a:pPr lvl="1"/>
            <a:r>
              <a:rPr lang="en-US" smtClean="0"/>
              <a:t>Open Server Manager, click Tools, and click Services</a:t>
            </a:r>
          </a:p>
          <a:p>
            <a:pPr lvl="1"/>
            <a:r>
              <a:rPr lang="en-US" smtClean="0"/>
              <a:t>Scroll to find the Print Spooler service and then double-click this service</a:t>
            </a:r>
          </a:p>
          <a:p>
            <a:pPr lvl="1"/>
            <a:r>
              <a:rPr lang="en-US" smtClean="0"/>
              <a:t>Check the status to determine if the Print Spooler service is running and that it is set to start automatically</a:t>
            </a:r>
          </a:p>
          <a:p>
            <a:pPr lvl="1"/>
            <a:r>
              <a:rPr lang="en-US" smtClean="0"/>
              <a:t>Because the Print Spooler service is dependent on the RPC service, check to make sure that the Remote Procedure Call service is also started and set to start automatically</a:t>
            </a:r>
          </a:p>
          <a:p>
            <a:pPr lvl="1"/>
            <a:r>
              <a:rPr lang="en-US" smtClean="0"/>
              <a:t>Close the Service window</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7570145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2)</a:t>
            </a:r>
            <a:endParaRPr lang="en-US" dirty="0"/>
          </a:p>
        </p:txBody>
      </p:sp>
      <p:sp>
        <p:nvSpPr>
          <p:cNvPr id="2" name="Content Placeholder 1"/>
          <p:cNvSpPr>
            <a:spLocks noGrp="1"/>
          </p:cNvSpPr>
          <p:nvPr>
            <p:ph idx="1"/>
          </p:nvPr>
        </p:nvSpPr>
        <p:spPr/>
        <p:txBody>
          <a:bodyPr/>
          <a:lstStyle/>
          <a:p>
            <a:r>
              <a:rPr lang="en-US" smtClean="0"/>
              <a:t>Windows Server 2016 printing uses the graphics device interface (GDI) to integrate print file information with the printer driver</a:t>
            </a:r>
          </a:p>
          <a:p>
            <a:r>
              <a:rPr lang="en-US" smtClean="0"/>
              <a:t>Internet printing enables users to print files through an Internet connection using HTTP and Internet Printing Protocol (IPP)</a:t>
            </a:r>
          </a:p>
          <a:p>
            <a:r>
              <a:rPr lang="en-US" smtClean="0"/>
              <a:t>Windows Server 2016 can be a full-featured printer server through the use of the Print and Document Services role</a:t>
            </a:r>
          </a:p>
          <a:p>
            <a:r>
              <a:rPr lang="en-US" smtClean="0"/>
              <a:t>Windows Server 2016 supports using XML Paper Specification (XPS) for polished print documents</a:t>
            </a:r>
          </a:p>
          <a:p>
            <a:r>
              <a:rPr lang="en-US" smtClean="0"/>
              <a:t>The Devices and Printers utility is one way to set up local and Network printing</a:t>
            </a:r>
          </a:p>
          <a:p>
            <a:r>
              <a:rPr lang="en-US" smtClean="0"/>
              <a:t>The Windows Server 2016 Print Management tool is popular among server administrators for managing print server resources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2)</a:t>
            </a:r>
            <a:endParaRPr lang="en-US" dirty="0"/>
          </a:p>
        </p:txBody>
      </p:sp>
      <p:sp>
        <p:nvSpPr>
          <p:cNvPr id="2" name="Content Placeholder 1"/>
          <p:cNvSpPr>
            <a:spLocks noGrp="1"/>
          </p:cNvSpPr>
          <p:nvPr>
            <p:ph idx="1"/>
          </p:nvPr>
        </p:nvSpPr>
        <p:spPr/>
        <p:txBody>
          <a:bodyPr/>
          <a:lstStyle/>
          <a:p>
            <a:r>
              <a:rPr lang="en-US" smtClean="0"/>
              <a:t>The properties of an installed printer enable you to configure printer sharing, printer port setup, scheduling, security, and specialized device settings</a:t>
            </a:r>
          </a:p>
          <a:p>
            <a:r>
              <a:rPr lang="en-US" smtClean="0"/>
              <a:t>Through the Network Printer Installation Wizard, you can install a local, network, or Internet printer</a:t>
            </a:r>
          </a:p>
          <a:p>
            <a:r>
              <a:rPr lang="en-US" smtClean="0"/>
              <a:t>Printers are configured with permissions to control who can use or manage specific printers</a:t>
            </a:r>
          </a:p>
          <a:p>
            <a:r>
              <a:rPr lang="en-US" smtClean="0"/>
              <a:t>Managing a printer and its printer queue involves actions such as pausing and resuming printing and setting the default printer</a:t>
            </a:r>
          </a:p>
          <a:p>
            <a:r>
              <a:rPr lang="en-US" smtClean="0"/>
              <a:t>Printer problems can occur at any time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4475693"/>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17215</TotalTime>
  <Words>5501</Words>
  <Application>Microsoft Office PowerPoint</Application>
  <PresentationFormat>On-screen Show (4:3)</PresentationFormat>
  <Paragraphs>348</Paragraphs>
  <Slides>49</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Office Theme</vt:lpstr>
      <vt:lpstr>Hands-On Microsoft Windows Server 2016  2nd Edition</vt:lpstr>
      <vt:lpstr>Objectives (1 of 2)</vt:lpstr>
      <vt:lpstr>Objectives (2 of 2)</vt:lpstr>
      <vt:lpstr>An Overview of Windows Server 2016 Printing</vt:lpstr>
      <vt:lpstr>How Network Printing Works</vt:lpstr>
      <vt:lpstr>How Internet Printing Works (1 of 2)</vt:lpstr>
      <vt:lpstr>How Internet Printing Works (2 of 2)</vt:lpstr>
      <vt:lpstr>The Print and Document Services Role (1 of 2)</vt:lpstr>
      <vt:lpstr>The Print and Document Services Role (2 of 2)</vt:lpstr>
      <vt:lpstr>Using the XPS Print Path (1 of 2)</vt:lpstr>
      <vt:lpstr>Using the XPS Print Path (2 of 2)</vt:lpstr>
      <vt:lpstr>The Devices and Printers Utility (1 of 2)</vt:lpstr>
      <vt:lpstr>The Devices and Printers Utility (2 of 2)</vt:lpstr>
      <vt:lpstr>Using the Print Management Tool (1 of 2)</vt:lpstr>
      <vt:lpstr>Using the Print Management Tool (2 of 2)</vt:lpstr>
      <vt:lpstr>Configuring the Print Server Properties</vt:lpstr>
      <vt:lpstr>Installing Local and Shared Printers (1 of 3)</vt:lpstr>
      <vt:lpstr>Installing Local and Shared Printers (2 of 3)</vt:lpstr>
      <vt:lpstr>Installing Local and Shared Printers (3 of 3)</vt:lpstr>
      <vt:lpstr>Configuring Printer Properties</vt:lpstr>
      <vt:lpstr>General Printer Specifications</vt:lpstr>
      <vt:lpstr>Sharing Printers (1 of 2)</vt:lpstr>
      <vt:lpstr>Sharing Printers (2 of 2)</vt:lpstr>
      <vt:lpstr>Port Specifications (1 of 4)</vt:lpstr>
      <vt:lpstr>Port Specifications (2 of 4)</vt:lpstr>
      <vt:lpstr>Port Specifications (3 of 4)</vt:lpstr>
      <vt:lpstr>Port Specifications (4 of 4)</vt:lpstr>
      <vt:lpstr>Printer Scheduling and Advanced Options (1 of 5)</vt:lpstr>
      <vt:lpstr>Printer Scheduling and Advanced Options (2 of 5)</vt:lpstr>
      <vt:lpstr>Printer Scheduling and Advanced Options (3 of 5)</vt:lpstr>
      <vt:lpstr>Printer Scheduling and Advanced Options (4 of 5)</vt:lpstr>
      <vt:lpstr>Printer Scheduling and Advanced Options (5 of 5_</vt:lpstr>
      <vt:lpstr>Configuring Security (1 of 4)</vt:lpstr>
      <vt:lpstr>Configuring Security (2 of 4)</vt:lpstr>
      <vt:lpstr>Configuring Security (3 of 4)</vt:lpstr>
      <vt:lpstr>Configuring Security (4 of 4)</vt:lpstr>
      <vt:lpstr>Configuring Device Settings (1 of 2)</vt:lpstr>
      <vt:lpstr>Configuring Device Settings (2 of 2)</vt:lpstr>
      <vt:lpstr>Configuring a Nonlocal Printer or an Internet Printer (1 of 2)</vt:lpstr>
      <vt:lpstr>Configuring a Nonlocal Printer or an Internet Printer (2 of 2)</vt:lpstr>
      <vt:lpstr>Managing Print Jobs</vt:lpstr>
      <vt:lpstr>Controlling the Status of Printing (1 of 2)</vt:lpstr>
      <vt:lpstr>Controlling the Status of Printing (2 of 2)</vt:lpstr>
      <vt:lpstr>Controlling Specific Print Jobs (1 of 3)</vt:lpstr>
      <vt:lpstr>Controlling Specific Print Jobs (2 of 3)</vt:lpstr>
      <vt:lpstr>Controlling Specific Print Jobs (3 of 3)</vt:lpstr>
      <vt:lpstr>Troubleshooting Common Printing Problems</vt:lpstr>
      <vt:lpstr>Chapter Summary (1 of 2)</vt:lpstr>
      <vt:lpstr>Chapter Summary (2 of 2)</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580</cp:revision>
  <cp:lastPrinted>2017-07-11T22:15:31Z</cp:lastPrinted>
  <dcterms:created xsi:type="dcterms:W3CDTF">2007-02-15T20:50:52Z</dcterms:created>
  <dcterms:modified xsi:type="dcterms:W3CDTF">2017-07-11T22:15:35Z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