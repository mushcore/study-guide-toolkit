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58"/>
  </p:notesMasterIdLst>
  <p:handoutMasterIdLst>
    <p:handoutMasterId r:id="rId59"/>
  </p:handoutMasterIdLst>
  <p:sldIdLst>
    <p:sldId id="256" r:id="rId2"/>
    <p:sldId id="257" r:id="rId3"/>
    <p:sldId id="312" r:id="rId4"/>
    <p:sldId id="313" r:id="rId5"/>
    <p:sldId id="314" r:id="rId6"/>
    <p:sldId id="315" r:id="rId7"/>
    <p:sldId id="316" r:id="rId8"/>
    <p:sldId id="317" r:id="rId9"/>
    <p:sldId id="318" r:id="rId10"/>
    <p:sldId id="319" r:id="rId11"/>
    <p:sldId id="320" r:id="rId12"/>
    <p:sldId id="321" r:id="rId13"/>
    <p:sldId id="322" r:id="rId14"/>
    <p:sldId id="323" r:id="rId15"/>
    <p:sldId id="324" r:id="rId16"/>
    <p:sldId id="325" r:id="rId17"/>
    <p:sldId id="326" r:id="rId18"/>
    <p:sldId id="327" r:id="rId19"/>
    <p:sldId id="328" r:id="rId20"/>
    <p:sldId id="329" r:id="rId21"/>
    <p:sldId id="330" r:id="rId22"/>
    <p:sldId id="331" r:id="rId23"/>
    <p:sldId id="332" r:id="rId24"/>
    <p:sldId id="334" r:id="rId25"/>
    <p:sldId id="335" r:id="rId26"/>
    <p:sldId id="336" r:id="rId27"/>
    <p:sldId id="337" r:id="rId28"/>
    <p:sldId id="338" r:id="rId29"/>
    <p:sldId id="339" r:id="rId30"/>
    <p:sldId id="340" r:id="rId31"/>
    <p:sldId id="341" r:id="rId32"/>
    <p:sldId id="342" r:id="rId33"/>
    <p:sldId id="343" r:id="rId34"/>
    <p:sldId id="344" r:id="rId35"/>
    <p:sldId id="345" r:id="rId36"/>
    <p:sldId id="346" r:id="rId37"/>
    <p:sldId id="347" r:id="rId38"/>
    <p:sldId id="348" r:id="rId39"/>
    <p:sldId id="349" r:id="rId40"/>
    <p:sldId id="350" r:id="rId41"/>
    <p:sldId id="351" r:id="rId42"/>
    <p:sldId id="352" r:id="rId43"/>
    <p:sldId id="353" r:id="rId44"/>
    <p:sldId id="354" r:id="rId45"/>
    <p:sldId id="355" r:id="rId46"/>
    <p:sldId id="356" r:id="rId47"/>
    <p:sldId id="357" r:id="rId48"/>
    <p:sldId id="358" r:id="rId49"/>
    <p:sldId id="359" r:id="rId50"/>
    <p:sldId id="360" r:id="rId51"/>
    <p:sldId id="361" r:id="rId52"/>
    <p:sldId id="362" r:id="rId53"/>
    <p:sldId id="363" r:id="rId54"/>
    <p:sldId id="308" r:id="rId55"/>
    <p:sldId id="310" r:id="rId56"/>
    <p:sldId id="311" r:id="rId57"/>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77" autoAdjust="0"/>
    <p:restoredTop sz="76197" autoAdjust="0"/>
  </p:normalViewPr>
  <p:slideViewPr>
    <p:cSldViewPr>
      <p:cViewPr varScale="1">
        <p:scale>
          <a:sx n="74" d="100"/>
          <a:sy n="74" d="100"/>
        </p:scale>
        <p:origin x="124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54</a:t>
            </a:fld>
            <a:endParaRPr lang="en-US" dirty="0"/>
          </a:p>
        </p:txBody>
      </p:sp>
    </p:spTree>
    <p:extLst>
      <p:ext uri="{BB962C8B-B14F-4D97-AF65-F5344CB8AC3E}">
        <p14:creationId xmlns:p14="http://schemas.microsoft.com/office/powerpoint/2010/main" val="2976098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55</a:t>
            </a:fld>
            <a:endParaRPr lang="en-US" dirty="0"/>
          </a:p>
        </p:txBody>
      </p:sp>
    </p:spTree>
    <p:extLst>
      <p:ext uri="{BB962C8B-B14F-4D97-AF65-F5344CB8AC3E}">
        <p14:creationId xmlns:p14="http://schemas.microsoft.com/office/powerpoint/2010/main" val="2870814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56</a:t>
            </a:fld>
            <a:endParaRPr lang="en-US" dirty="0"/>
          </a:p>
        </p:txBody>
      </p:sp>
    </p:spTree>
    <p:extLst>
      <p:ext uri="{BB962C8B-B14F-4D97-AF65-F5344CB8AC3E}">
        <p14:creationId xmlns:p14="http://schemas.microsoft.com/office/powerpoint/2010/main" val="112096300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7</a:t>
            </a:r>
          </a:p>
          <a:p>
            <a:r>
              <a:rPr lang="en-US" smtClean="0"/>
              <a:t>Configuring and Managing Data Storage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a:t>
            </a:r>
            <a:endParaRPr lang="en-US" dirty="0"/>
          </a:p>
        </p:txBody>
      </p:sp>
      <p:sp>
        <p:nvSpPr>
          <p:cNvPr id="3" name="Text Placeholder 2"/>
          <p:cNvSpPr>
            <a:spLocks noGrp="1"/>
          </p:cNvSpPr>
          <p:nvPr>
            <p:ph type="body" idx="1"/>
          </p:nvPr>
        </p:nvSpPr>
        <p:spPr/>
        <p:txBody>
          <a:bodyPr/>
          <a:lstStyle/>
          <a:p>
            <a:r>
              <a:rPr lang="en-US" smtClean="0"/>
              <a:t>Understand storage options for Windows Server 2016</a:t>
            </a:r>
          </a:p>
          <a:p>
            <a:r>
              <a:rPr lang="en-US" smtClean="0"/>
              <a:t>Use the Disk Management tool to configure and manage storage</a:t>
            </a:r>
          </a:p>
          <a:p>
            <a:r>
              <a:rPr lang="en-US" smtClean="0"/>
              <a:t>Explain and configure RAID disk storage fault tolerance</a:t>
            </a:r>
          </a:p>
          <a:p>
            <a:r>
              <a:rPr lang="en-US" smtClean="0"/>
              <a:t>Use Storage Spaces for disk storage and fault tolerance</a:t>
            </a:r>
          </a:p>
          <a:p>
            <a:r>
              <a:rPr lang="en-US" smtClean="0"/>
              <a:t>Understand Multipath I/O</a:t>
            </a:r>
          </a:p>
          <a:p>
            <a:r>
              <a:rPr lang="en-US" smtClean="0"/>
              <a:t>Back up and recover disks, folders, and files</a:t>
            </a:r>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2016 Storage Options</a:t>
            </a:r>
            <a:endParaRPr lang="en-US" dirty="0"/>
          </a:p>
        </p:txBody>
      </p:sp>
      <p:sp>
        <p:nvSpPr>
          <p:cNvPr id="2" name="Content Placeholder 1"/>
          <p:cNvSpPr>
            <a:spLocks noGrp="1"/>
          </p:cNvSpPr>
          <p:nvPr>
            <p:ph idx="1"/>
          </p:nvPr>
        </p:nvSpPr>
        <p:spPr/>
        <p:txBody>
          <a:bodyPr/>
          <a:lstStyle/>
          <a:p>
            <a:r>
              <a:rPr lang="en-US" smtClean="0"/>
              <a:t>Windows Server 2016 supports two essential disk storage types:</a:t>
            </a:r>
          </a:p>
          <a:p>
            <a:pPr lvl="1"/>
            <a:r>
              <a:rPr lang="en-US" smtClean="0"/>
              <a:t>Basic disk - One that uses traditional disk management techniques and contains primary partitions, extended partitions, and logical drives</a:t>
            </a:r>
          </a:p>
          <a:p>
            <a:pPr lvl="1"/>
            <a:r>
              <a:rPr lang="en-US" smtClean="0"/>
              <a:t>Dynamic disk - One that does not use traditional partitioning</a:t>
            </a:r>
          </a:p>
          <a:p>
            <a:r>
              <a:rPr lang="en-US" smtClean="0"/>
              <a:t>Dynamic disk architecture provides more flexibility than basic disks</a:t>
            </a:r>
          </a:p>
          <a:p>
            <a:pPr lvl="1"/>
            <a:r>
              <a:rPr lang="en-US" smtClean="0"/>
              <a:t>So there is virtually no restriction on the number of volumes that can be on one disk</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48100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Basic Disks (1 of 7)</a:t>
            </a:r>
            <a:endParaRPr lang="en-US" dirty="0"/>
          </a:p>
        </p:txBody>
      </p:sp>
      <p:sp>
        <p:nvSpPr>
          <p:cNvPr id="2" name="Content Placeholder 1"/>
          <p:cNvSpPr>
            <a:spLocks noGrp="1"/>
          </p:cNvSpPr>
          <p:nvPr>
            <p:ph idx="1"/>
          </p:nvPr>
        </p:nvSpPr>
        <p:spPr/>
        <p:txBody>
          <a:bodyPr/>
          <a:lstStyle/>
          <a:p>
            <a:r>
              <a:rPr lang="en-US" smtClean="0"/>
              <a:t>Partitioning</a:t>
            </a:r>
          </a:p>
          <a:p>
            <a:pPr lvl="1"/>
            <a:r>
              <a:rPr lang="en-US" smtClean="0"/>
              <a:t>A process that allocates a group of tracks and sectors to be used by a particular file system, such as NTFS</a:t>
            </a:r>
          </a:p>
          <a:p>
            <a:r>
              <a:rPr lang="en-US" smtClean="0"/>
              <a:t>Formatting</a:t>
            </a:r>
          </a:p>
          <a:p>
            <a:pPr lvl="1"/>
            <a:r>
              <a:rPr lang="en-US" smtClean="0"/>
              <a:t>A process that creates a table containing file and folder information for a specific file system in a partition</a:t>
            </a:r>
          </a:p>
          <a:p>
            <a:r>
              <a:rPr lang="en-US" smtClean="0"/>
              <a:t>Volume</a:t>
            </a:r>
          </a:p>
          <a:p>
            <a:pPr lvl="1"/>
            <a:r>
              <a:rPr lang="en-US" smtClean="0"/>
              <a:t>A logical designation of disk storage that is created out of one or more physical disks</a:t>
            </a:r>
          </a:p>
          <a:p>
            <a:pPr lvl="1"/>
            <a:r>
              <a:rPr lang="en-US" smtClean="0"/>
              <a:t>Is partitioned and formatted with one file system</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95204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Basic Disks (2 of 7)</a:t>
            </a:r>
            <a:endParaRPr lang="en-US" dirty="0"/>
          </a:p>
        </p:txBody>
      </p:sp>
      <p:sp>
        <p:nvSpPr>
          <p:cNvPr id="2" name="Content Placeholder 1"/>
          <p:cNvSpPr>
            <a:spLocks noGrp="1"/>
          </p:cNvSpPr>
          <p:nvPr>
            <p:ph idx="1"/>
          </p:nvPr>
        </p:nvSpPr>
        <p:spPr/>
        <p:txBody>
          <a:bodyPr/>
          <a:lstStyle/>
          <a:p>
            <a:r>
              <a:rPr lang="en-US" smtClean="0"/>
              <a:t>Basic disks recognize primary and extended partitions</a:t>
            </a:r>
          </a:p>
          <a:p>
            <a:r>
              <a:rPr lang="en-US" smtClean="0"/>
              <a:t>Basic disks also can be configured for any of three RAID levels:</a:t>
            </a:r>
          </a:p>
          <a:p>
            <a:pPr lvl="1"/>
            <a:r>
              <a:rPr lang="en-US" smtClean="0"/>
              <a:t>Disk striping (RAID level 0)</a:t>
            </a:r>
          </a:p>
          <a:p>
            <a:pPr lvl="1"/>
            <a:r>
              <a:rPr lang="en-US" smtClean="0"/>
              <a:t>Disk mirroring (RAID level 1)</a:t>
            </a:r>
          </a:p>
          <a:p>
            <a:pPr lvl="1"/>
            <a:r>
              <a:rPr lang="en-US" smtClean="0"/>
              <a:t>Disk striping with parity (RAID level 5)</a:t>
            </a:r>
          </a:p>
          <a:p>
            <a:r>
              <a:rPr lang="en-US" smtClean="0"/>
              <a:t>RAID stands for redundant array of inexpensive (or independent) disks</a:t>
            </a:r>
          </a:p>
          <a:p>
            <a:pPr lvl="1"/>
            <a:r>
              <a:rPr lang="en-US" smtClean="0"/>
              <a:t>A set of standards for lengthening disk life and preventing data loss</a:t>
            </a:r>
          </a:p>
          <a:p>
            <a:r>
              <a:rPr lang="en-US" smtClean="0"/>
              <a:t>Disk striping</a:t>
            </a:r>
          </a:p>
          <a:p>
            <a:pPr lvl="1"/>
            <a:r>
              <a:rPr lang="en-US" smtClean="0"/>
              <a:t>The ability to spread data over multiple disks or volumes</a:t>
            </a:r>
          </a:p>
          <a:p>
            <a:r>
              <a:rPr lang="en-US" smtClean="0"/>
              <a:t>Disk mirroring</a:t>
            </a:r>
          </a:p>
          <a:p>
            <a:pPr lvl="1"/>
            <a:r>
              <a:rPr lang="en-US" smtClean="0"/>
              <a:t>The practice of creating a mirror image of all data on an original disk, so that the data is fully copied or mirrored to a backup disk</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23153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Basic Disks (3 of 7)</a:t>
            </a:r>
            <a:endParaRPr lang="en-US" dirty="0"/>
          </a:p>
        </p:txBody>
      </p:sp>
      <p:sp>
        <p:nvSpPr>
          <p:cNvPr id="2" name="Content Placeholder 1"/>
          <p:cNvSpPr>
            <a:spLocks noGrp="1"/>
          </p:cNvSpPr>
          <p:nvPr>
            <p:ph idx="1"/>
          </p:nvPr>
        </p:nvSpPr>
        <p:spPr/>
        <p:txBody>
          <a:bodyPr/>
          <a:lstStyle/>
          <a:p>
            <a:r>
              <a:rPr lang="en-US" smtClean="0"/>
              <a:t>MBR and GPT support</a:t>
            </a:r>
          </a:p>
          <a:p>
            <a:pPr lvl="1"/>
            <a:r>
              <a:rPr lang="en-US" smtClean="0"/>
              <a:t>When a drive is partitioned, a Master Boot Record (MBR) and a partition table are created</a:t>
            </a:r>
          </a:p>
          <a:p>
            <a:pPr lvl="2"/>
            <a:r>
              <a:rPr lang="en-US" smtClean="0"/>
              <a:t>At the beginning track and sectors on the disk</a:t>
            </a:r>
          </a:p>
          <a:p>
            <a:pPr lvl="1"/>
            <a:r>
              <a:rPr lang="en-US" smtClean="0"/>
              <a:t>The MBR is located in the first sector and track of the hard disk</a:t>
            </a:r>
          </a:p>
          <a:p>
            <a:pPr lvl="2"/>
            <a:r>
              <a:rPr lang="en-US" smtClean="0"/>
              <a:t>Has startup information about partitions and how to access the disk</a:t>
            </a:r>
          </a:p>
          <a:p>
            <a:pPr lvl="1"/>
            <a:r>
              <a:rPr lang="en-US" smtClean="0"/>
              <a:t>The partition table contains information about each partition created</a:t>
            </a:r>
          </a:p>
          <a:p>
            <a:pPr lvl="1"/>
            <a:r>
              <a:rPr lang="en-US" smtClean="0"/>
              <a:t>Globally Unique Identifier (GUID) Partition Table or GPT</a:t>
            </a:r>
          </a:p>
          <a:p>
            <a:pPr lvl="2"/>
            <a:r>
              <a:rPr lang="en-US" smtClean="0"/>
              <a:t>A newer way to partition disks, without imposing the same type of limits on the number of partitions as with MBR</a:t>
            </a:r>
          </a:p>
          <a:p>
            <a:pPr lvl="1"/>
            <a:r>
              <a:rPr lang="en-US" smtClean="0"/>
              <a:t>GPT is one element of the Unified Extensible Firmware Interface (UEFI) approach</a:t>
            </a:r>
          </a:p>
          <a:p>
            <a:pPr lvl="2"/>
            <a:r>
              <a:rPr lang="en-US" smtClean="0"/>
              <a:t>UEFI is an alternative to using BIOS firmware</a:t>
            </a:r>
          </a:p>
          <a:p>
            <a:pPr lvl="1"/>
            <a:r>
              <a:rPr lang="en-US" smtClean="0"/>
              <a:t>GPT disks store partition information in each partition using main and backup tables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25838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Basic Disks (4 of 7)</a:t>
            </a:r>
            <a:endParaRPr lang="en-US" dirty="0"/>
          </a:p>
        </p:txBody>
      </p:sp>
      <p:sp>
        <p:nvSpPr>
          <p:cNvPr id="2" name="Content Placeholder 1"/>
          <p:cNvSpPr>
            <a:spLocks noGrp="1"/>
          </p:cNvSpPr>
          <p:nvPr>
            <p:ph idx="1"/>
          </p:nvPr>
        </p:nvSpPr>
        <p:spPr/>
        <p:txBody>
          <a:bodyPr/>
          <a:lstStyle/>
          <a:p>
            <a:r>
              <a:rPr lang="en-US" smtClean="0"/>
              <a:t>Instead of storing partition information in an MBR and a partition table, GPT disks store partition information using main and backup tables</a:t>
            </a:r>
          </a:p>
          <a:p>
            <a:pPr lvl="1"/>
            <a:r>
              <a:rPr lang="en-US" smtClean="0"/>
              <a:t>Each partition is identified by a different GUID or reference number</a:t>
            </a:r>
          </a:p>
          <a:p>
            <a:r>
              <a:rPr lang="en-US" smtClean="0"/>
              <a:t>In Windows Server 2016 systems:</a:t>
            </a:r>
          </a:p>
          <a:p>
            <a:pPr lvl="1"/>
            <a:r>
              <a:rPr lang="en-US" smtClean="0"/>
              <a:t>A GPT partition can theoretically be up to 18 exabytes</a:t>
            </a:r>
          </a:p>
          <a:p>
            <a:pPr lvl="1"/>
            <a:r>
              <a:rPr lang="en-US" smtClean="0"/>
              <a:t>A GPT disk can hold up to 128 partitions</a:t>
            </a:r>
          </a:p>
          <a:p>
            <a:pPr lvl="1"/>
            <a:r>
              <a:rPr lang="en-US" smtClean="0"/>
              <a:t>You can convert an MBR disk to GPT and vice versa</a:t>
            </a:r>
          </a:p>
          <a:p>
            <a:pPr lvl="2"/>
            <a:r>
              <a:rPr lang="en-US" smtClean="0"/>
              <a:t>Follow steps outlined on pages 287-288 to convert an MBR disk to GPT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27160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Basic Disks (5 of 7)</a:t>
            </a:r>
            <a:endParaRPr lang="en-US" dirty="0"/>
          </a:p>
        </p:txBody>
      </p:sp>
      <p:sp>
        <p:nvSpPr>
          <p:cNvPr id="2" name="Content Placeholder 1"/>
          <p:cNvSpPr>
            <a:spLocks noGrp="1"/>
          </p:cNvSpPr>
          <p:nvPr>
            <p:ph idx="1"/>
          </p:nvPr>
        </p:nvSpPr>
        <p:spPr/>
        <p:txBody>
          <a:bodyPr/>
          <a:lstStyle/>
          <a:p>
            <a:r>
              <a:rPr lang="en-US" smtClean="0"/>
              <a:t>Primary and extended partitions on MBR disks</a:t>
            </a:r>
          </a:p>
          <a:p>
            <a:pPr lvl="1"/>
            <a:r>
              <a:rPr lang="en-US" smtClean="0"/>
              <a:t>A primary partition is one from which you can boot an operating system</a:t>
            </a:r>
          </a:p>
          <a:p>
            <a:pPr lvl="1"/>
            <a:r>
              <a:rPr lang="en-US" smtClean="0"/>
              <a:t>At least one primary partition must be marked as active</a:t>
            </a:r>
          </a:p>
          <a:p>
            <a:pPr lvl="2"/>
            <a:r>
              <a:rPr lang="en-US" smtClean="0"/>
              <a:t>Only one primary partition can be active at a given time</a:t>
            </a:r>
          </a:p>
          <a:p>
            <a:pPr lvl="1"/>
            <a:r>
              <a:rPr lang="en-US" smtClean="0"/>
              <a:t>The active partition is the partition where your computer will look for the hardware-specific files to start the operating system</a:t>
            </a:r>
          </a:p>
          <a:p>
            <a:pPr lvl="1"/>
            <a:r>
              <a:rPr lang="en-US" smtClean="0"/>
              <a:t>An extended partition is created from space that is not yet partitioned</a:t>
            </a:r>
          </a:p>
          <a:p>
            <a:pPr lvl="1"/>
            <a:r>
              <a:rPr lang="en-US" smtClean="0"/>
              <a:t>The purpose of an extended partition is to enable you to exceed the four-partition limit of a basic disk</a:t>
            </a:r>
          </a:p>
          <a:p>
            <a:pPr lvl="1"/>
            <a:r>
              <a:rPr lang="en-US" smtClean="0"/>
              <a:t>Only one extended partition can exist on a single basic disk</a:t>
            </a:r>
          </a:p>
          <a:p>
            <a:r>
              <a:rPr lang="en-US" smtClean="0"/>
              <a:t>A computer with multiple partitions boots from the partition that is designated as the active partition</a:t>
            </a:r>
          </a:p>
          <a:p>
            <a:pPr lvl="1"/>
            <a:r>
              <a:rPr lang="en-US" smtClean="0"/>
              <a:t>Must also be the system partition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90069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Basic Disks (6 of 7)</a:t>
            </a:r>
            <a:endParaRPr lang="en-US" dirty="0"/>
          </a:p>
        </p:txBody>
      </p:sp>
      <p:pic>
        <p:nvPicPr>
          <p:cNvPr id="6" name="Content Placeholder 5" descr="Figure 7-1, Page No. 285, Complexity level: 3&#10;A figure shows two disk drives. The first disk drive named as “Disk 0” is divided into four sectors and they are labeled as “Primary NTFS partition System (C:), NTFS partition Programs (D:), NTFS partition Users (E:), and NTFS partition Documents (F:).” The second disk drive named as “Disk 1” is divided into three sectors and they are labeled as “NTFS partition Database (G:), NTFS partition Backups (H:), and Unformatted extended partition.”&#1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5400" y="2590800"/>
            <a:ext cx="6566581" cy="2424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82486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Basic Disks (7 of 7)</a:t>
            </a:r>
            <a:endParaRPr lang="en-US" dirty="0"/>
          </a:p>
        </p:txBody>
      </p:sp>
      <p:sp>
        <p:nvSpPr>
          <p:cNvPr id="2" name="Content Placeholder 1"/>
          <p:cNvSpPr>
            <a:spLocks noGrp="1"/>
          </p:cNvSpPr>
          <p:nvPr>
            <p:ph idx="1"/>
          </p:nvPr>
        </p:nvSpPr>
        <p:spPr/>
        <p:txBody>
          <a:bodyPr/>
          <a:lstStyle/>
          <a:p>
            <a:r>
              <a:rPr lang="en-US" smtClean="0"/>
              <a:t>Volume and Stripe Sets</a:t>
            </a:r>
          </a:p>
          <a:p>
            <a:pPr lvl="1"/>
            <a:r>
              <a:rPr lang="en-US" smtClean="0"/>
              <a:t>Volume set</a:t>
            </a:r>
          </a:p>
          <a:p>
            <a:pPr lvl="2"/>
            <a:r>
              <a:rPr lang="en-US" smtClean="0"/>
              <a:t>Consists of two or more partitions that are combined to look like one volume with a single drive letter</a:t>
            </a:r>
          </a:p>
          <a:p>
            <a:pPr lvl="1"/>
            <a:r>
              <a:rPr lang="en-US" smtClean="0"/>
              <a:t>Stripe set</a:t>
            </a:r>
          </a:p>
          <a:p>
            <a:pPr lvl="2"/>
            <a:r>
              <a:rPr lang="en-US" smtClean="0"/>
              <a:t>Two or more disks that are combined like a volume set, but that are striped for RAID level 0 or RAID level 5</a:t>
            </a:r>
          </a:p>
          <a:p>
            <a:r>
              <a:rPr lang="en-US" smtClean="0"/>
              <a:t>Windows Server 2016 provides backward compatibility with basic disk volume and stripe sets that have previously been created through legacy Windows Server systems</a:t>
            </a:r>
          </a:p>
          <a:p>
            <a:pPr lvl="1"/>
            <a:r>
              <a:rPr lang="en-US" smtClean="0"/>
              <a:t>However, you should plan to convert basic disks to dynamic disks in order to implement any new multidisk volumes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3931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Dynamic Disks (1 of 6)</a:t>
            </a:r>
            <a:endParaRPr lang="en-US" dirty="0"/>
          </a:p>
        </p:txBody>
      </p:sp>
      <p:sp>
        <p:nvSpPr>
          <p:cNvPr id="2" name="Content Placeholder 1"/>
          <p:cNvSpPr>
            <a:spLocks noGrp="1"/>
          </p:cNvSpPr>
          <p:nvPr>
            <p:ph idx="1"/>
          </p:nvPr>
        </p:nvSpPr>
        <p:spPr/>
        <p:txBody>
          <a:bodyPr/>
          <a:lstStyle/>
          <a:p>
            <a:r>
              <a:rPr lang="en-US" smtClean="0"/>
              <a:t>A dynamic disk does not use traditional partitioning</a:t>
            </a:r>
          </a:p>
          <a:p>
            <a:pPr lvl="1"/>
            <a:r>
              <a:rPr lang="en-US" smtClean="0"/>
              <a:t>Makes it possible to set up a large number of volumes on one disk</a:t>
            </a:r>
          </a:p>
          <a:p>
            <a:pPr lvl="1"/>
            <a:r>
              <a:rPr lang="en-US" smtClean="0"/>
              <a:t>Provides the ability to extend volumes onto additional physical disks</a:t>
            </a:r>
          </a:p>
          <a:p>
            <a:r>
              <a:rPr lang="en-US" smtClean="0"/>
              <a:t>The number of disks that can be incorporated into one spanned volume is limited to 32</a:t>
            </a:r>
          </a:p>
          <a:p>
            <a:r>
              <a:rPr lang="en-US" smtClean="0"/>
              <a:t>Dynamic disks support RAID levels 0, 1, and 5</a:t>
            </a:r>
          </a:p>
          <a:p>
            <a:r>
              <a:rPr lang="en-US" smtClean="0"/>
              <a:t>Plan to convert basic disks to dynamic disks after you install Windows Server 2016</a:t>
            </a:r>
          </a:p>
          <a:p>
            <a:r>
              <a:rPr lang="en-US" smtClean="0"/>
              <a:t>On dynamic disks</a:t>
            </a:r>
          </a:p>
          <a:p>
            <a:pPr lvl="1"/>
            <a:r>
              <a:rPr lang="en-US" smtClean="0"/>
              <a:t>The volume that contains the \Windows folder of system files is called the boot volume</a:t>
            </a:r>
          </a:p>
          <a:p>
            <a:pPr lvl="1"/>
            <a:r>
              <a:rPr lang="en-US" smtClean="0"/>
              <a:t>The volume that contains the files used to boot the computer is called the system volume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06286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Dynamic Disks (2 of 6)</a:t>
            </a:r>
            <a:endParaRPr lang="en-US" dirty="0"/>
          </a:p>
        </p:txBody>
      </p:sp>
      <p:sp>
        <p:nvSpPr>
          <p:cNvPr id="2" name="Content Placeholder 1"/>
          <p:cNvSpPr>
            <a:spLocks noGrp="1"/>
          </p:cNvSpPr>
          <p:nvPr>
            <p:ph idx="1"/>
          </p:nvPr>
        </p:nvSpPr>
        <p:spPr/>
        <p:txBody>
          <a:bodyPr/>
          <a:lstStyle/>
          <a:p>
            <a:r>
              <a:rPr lang="en-US" smtClean="0"/>
              <a:t>Simple volume</a:t>
            </a:r>
          </a:p>
          <a:p>
            <a:pPr lvl="1"/>
            <a:r>
              <a:rPr lang="en-US" smtClean="0"/>
              <a:t>A portion of a disk or an entire disk that is set up as a dynamic disk</a:t>
            </a:r>
          </a:p>
          <a:p>
            <a:pPr lvl="1"/>
            <a:r>
              <a:rPr lang="en-US" smtClean="0"/>
              <a:t>Can be extended onto multiple sections of the same disk</a:t>
            </a:r>
          </a:p>
          <a:p>
            <a:pPr lvl="1"/>
            <a:r>
              <a:rPr lang="en-US" smtClean="0"/>
              <a:t>Does not provide fault tolerance because it cannot be set up for any RAID level</a:t>
            </a:r>
          </a:p>
          <a:p>
            <a:r>
              <a:rPr lang="en-US" smtClean="0"/>
              <a:t>Spanned volume</a:t>
            </a:r>
          </a:p>
          <a:p>
            <a:pPr lvl="1"/>
            <a:r>
              <a:rPr lang="en-US" smtClean="0"/>
              <a:t>Stored on 2 to 32 dynamic disks that are treated as one volume</a:t>
            </a:r>
          </a:p>
          <a:p>
            <a:pPr lvl="1"/>
            <a:r>
              <a:rPr lang="en-US" smtClean="0"/>
              <a:t>As you add new disks, the spanned volume can be extended to include each disk</a:t>
            </a:r>
          </a:p>
          <a:p>
            <a:pPr lvl="1"/>
            <a:r>
              <a:rPr lang="en-US" smtClean="0"/>
              <a:t>Advantage: the ability to more easily manage several small disk drives or to maximize the use of scattered pockets of disk space across several disks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47905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Dynamic Disks (3 of 6)</a:t>
            </a:r>
            <a:endParaRPr lang="en-US" dirty="0"/>
          </a:p>
        </p:txBody>
      </p:sp>
      <p:sp>
        <p:nvSpPr>
          <p:cNvPr id="2" name="Content Placeholder 1"/>
          <p:cNvSpPr>
            <a:spLocks noGrp="1"/>
          </p:cNvSpPr>
          <p:nvPr>
            <p:ph idx="1"/>
          </p:nvPr>
        </p:nvSpPr>
        <p:spPr/>
        <p:txBody>
          <a:bodyPr/>
          <a:lstStyle/>
          <a:p>
            <a:r>
              <a:rPr lang="en-US" smtClean="0"/>
              <a:t>Striped volumes</a:t>
            </a:r>
          </a:p>
          <a:p>
            <a:pPr lvl="1"/>
            <a:r>
              <a:rPr lang="en-US" smtClean="0"/>
              <a:t>Often referred to as RAID-0</a:t>
            </a:r>
          </a:p>
          <a:p>
            <a:pPr lvl="1"/>
            <a:r>
              <a:rPr lang="en-US" smtClean="0"/>
              <a:t>Extend the life of hard disk drives by spreading data equally over two or more drives</a:t>
            </a:r>
          </a:p>
          <a:p>
            <a:pPr lvl="1"/>
            <a:r>
              <a:rPr lang="en-US" smtClean="0"/>
              <a:t>Another advantage: increases disk performance</a:t>
            </a:r>
          </a:p>
          <a:p>
            <a:pPr lvl="1"/>
            <a:r>
              <a:rPr lang="en-US" smtClean="0"/>
              <a:t>In Windows Server 2016, striping requires at least two disks and can be performed over as many as 32</a:t>
            </a:r>
          </a:p>
          <a:p>
            <a:pPr lvl="1"/>
            <a:r>
              <a:rPr lang="en-US" smtClean="0"/>
              <a:t>Useful for volumes that store large databases or for data replication from one volume to another</a:t>
            </a:r>
          </a:p>
          <a:p>
            <a:pPr lvl="1"/>
            <a:r>
              <a:rPr lang="en-US" smtClean="0"/>
              <a:t>Data can be lost when one or more disks in the striped volume fail because the system has no automated way to rebuild data</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03348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Dynamic Disks (4 of 6)</a:t>
            </a:r>
            <a:endParaRPr lang="en-US" dirty="0"/>
          </a:p>
        </p:txBody>
      </p:sp>
      <p:pic>
        <p:nvPicPr>
          <p:cNvPr id="6" name="Content Placeholder 5" descr="Figure 7-4, Page No. 292, Complexity level: 4&#10;A figure shows “Disks in a striped volume.” The figure shows five large rectangular boxes labeled “Disk 1, Disk 2, Disk 3, Disk 4, and Disk 5.” A small rectangular box is placed in each of the disks that are connected in row and labeled “Row 1, Row 2, and Row 3.” In Row 1 the small box of, 1 – 64 KB in the Disk 1 is connected to the 65 – 128 KB in the Disk 2 which in turn is connected to 129 – 192 KB in the Disk 3  which is connected to 193-256 KB in the Disk 4 that is connected to 257 – 320 KB in the Disk 5 further connected to the Row 2 with 321 – 384 KB in the Disk 1 which is connected to the 385 – 448 KB in the Disk 2 that is connected to 449 – 512 KB in the Disk 3 that is connected to 513 - 576 KB in the Disk 4 which is connected to 577 – 640 KB in the Disk 5 that is connected to the Row 3 with 641 – 704 KB in the Disk 1 which is connected to the 705 – 720 KB in the Disk 2.&#1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5400" y="2667000"/>
            <a:ext cx="6623745" cy="2271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78844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Dynamic Disks (5 of 6)</a:t>
            </a:r>
            <a:endParaRPr lang="en-US" dirty="0"/>
          </a:p>
        </p:txBody>
      </p:sp>
      <p:sp>
        <p:nvSpPr>
          <p:cNvPr id="2" name="Content Placeholder 1"/>
          <p:cNvSpPr>
            <a:spLocks noGrp="1"/>
          </p:cNvSpPr>
          <p:nvPr>
            <p:ph idx="1"/>
          </p:nvPr>
        </p:nvSpPr>
        <p:spPr/>
        <p:txBody>
          <a:bodyPr/>
          <a:lstStyle/>
          <a:p>
            <a:r>
              <a:rPr lang="en-US" smtClean="0"/>
              <a:t>Shrinking a volume</a:t>
            </a:r>
          </a:p>
          <a:p>
            <a:pPr lvl="1"/>
            <a:r>
              <a:rPr lang="en-US" smtClean="0"/>
              <a:t>Windows Server 2016 comes with the ability to shrink a basic or dynamic disk volume</a:t>
            </a:r>
          </a:p>
          <a:p>
            <a:pPr lvl="1"/>
            <a:r>
              <a:rPr lang="en-US" smtClean="0"/>
              <a:t>Shrinking a volume enables you to create a new partition when one is needed and you don’t have extra disks</a:t>
            </a:r>
          </a:p>
          <a:p>
            <a:pPr lvl="1"/>
            <a:r>
              <a:rPr lang="en-US" smtClean="0"/>
              <a:t>When you shrink a volume, Windows Server 2016 starts from the end of that volume</a:t>
            </a:r>
          </a:p>
          <a:p>
            <a:pPr lvl="2"/>
            <a:r>
              <a:rPr lang="en-US" smtClean="0"/>
              <a:t>Works its way back through contiguous space to create unallocated disk space</a:t>
            </a:r>
          </a:p>
          <a:p>
            <a:pPr lvl="1"/>
            <a:r>
              <a:rPr lang="en-US" smtClean="0"/>
              <a:t>You can specify the amount of space to recover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35123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Dynamic Disks (6 of 6)</a:t>
            </a:r>
            <a:endParaRPr lang="en-US" dirty="0"/>
          </a:p>
        </p:txBody>
      </p:sp>
      <p:pic>
        <p:nvPicPr>
          <p:cNvPr id="6" name="Content Placeholder 5" descr="Figure 7-5, Page No. 293, Complexity level: 3&#10;Screenshot shows “Shrink D:” dialog box. The dialog box displays the number 151593 which is entered within the Total size before shrink in MB box. The number 59944 is entered within the Size of available shrink space in MB box. The number 59944 is selected within the Enter the amount of space to shrink in MB drop box. The number 91649 is entered within the Total sixe after shrink in MB box. The text note reads: You cannot shrink a volume beyond the point where any unmovable files are located. See the “defrag” event in the Application log for detailed information about the operation when it has completed. See “Shrink a basic volume” in Disk Management help for more information. The Shrin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57400" y="1676400"/>
            <a:ext cx="5125519" cy="3793778"/>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94386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Disk Management</a:t>
            </a:r>
            <a:endParaRPr lang="en-US" dirty="0"/>
          </a:p>
        </p:txBody>
      </p:sp>
      <p:sp>
        <p:nvSpPr>
          <p:cNvPr id="2" name="Content Placeholder 1"/>
          <p:cNvSpPr>
            <a:spLocks noGrp="1"/>
          </p:cNvSpPr>
          <p:nvPr>
            <p:ph idx="1"/>
          </p:nvPr>
        </p:nvSpPr>
        <p:spPr/>
        <p:txBody>
          <a:bodyPr/>
          <a:lstStyle/>
          <a:p>
            <a:r>
              <a:rPr lang="en-US" smtClean="0"/>
              <a:t>Disk Management tool</a:t>
            </a:r>
          </a:p>
          <a:p>
            <a:pPr lvl="1"/>
            <a:r>
              <a:rPr lang="en-US" smtClean="0"/>
              <a:t>Provides a central location for viewing disk information and performing tasks such as creating and deleting partitions and volumes</a:t>
            </a:r>
          </a:p>
          <a:p>
            <a:r>
              <a:rPr lang="en-US" smtClean="0"/>
              <a:t>Different tasks you can perform using the Disk Management tool:</a:t>
            </a:r>
          </a:p>
          <a:p>
            <a:pPr lvl="1"/>
            <a:r>
              <a:rPr lang="en-US" smtClean="0"/>
              <a:t>Creating a partition and simple volume</a:t>
            </a:r>
          </a:p>
          <a:p>
            <a:pPr lvl="1"/>
            <a:r>
              <a:rPr lang="en-US" smtClean="0"/>
              <a:t>Converting to dynamic disks</a:t>
            </a:r>
          </a:p>
          <a:p>
            <a:pPr lvl="1"/>
            <a:r>
              <a:rPr lang="en-US" smtClean="0"/>
              <a:t>Mounting a drive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39825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Creating a Partition and Simple Volume</a:t>
            </a:r>
            <a:endParaRPr lang="en-US" dirty="0"/>
          </a:p>
        </p:txBody>
      </p:sp>
      <p:sp>
        <p:nvSpPr>
          <p:cNvPr id="2" name="Content Placeholder 1"/>
          <p:cNvSpPr>
            <a:spLocks noGrp="1"/>
          </p:cNvSpPr>
          <p:nvPr>
            <p:ph idx="1"/>
          </p:nvPr>
        </p:nvSpPr>
        <p:spPr/>
        <p:txBody>
          <a:bodyPr/>
          <a:lstStyle/>
          <a:p>
            <a:r>
              <a:rPr lang="en-US" smtClean="0"/>
              <a:t>Partitions operate as separate storage units on a hard disk</a:t>
            </a:r>
          </a:p>
          <a:p>
            <a:r>
              <a:rPr lang="en-US" smtClean="0"/>
              <a:t>The most basic way to create a partition is to take unallocated disk space</a:t>
            </a:r>
          </a:p>
          <a:p>
            <a:pPr lvl="1"/>
            <a:r>
              <a:rPr lang="en-US" smtClean="0"/>
              <a:t>Use the New Simple Volume Wizard to create a simple volume</a:t>
            </a:r>
          </a:p>
          <a:p>
            <a:r>
              <a:rPr lang="en-US" smtClean="0"/>
              <a:t>You can also delete a partition using the Disk Management tool</a:t>
            </a:r>
          </a:p>
          <a:p>
            <a:r>
              <a:rPr lang="en-US" smtClean="0"/>
              <a:t>Once a partition is formatted, it is called a volume and can be assigned a drive letter</a:t>
            </a:r>
          </a:p>
          <a:p>
            <a:r>
              <a:rPr lang="en-US" smtClean="0"/>
              <a:t>To format a partition that is not already formatted</a:t>
            </a:r>
          </a:p>
          <a:p>
            <a:pPr lvl="1"/>
            <a:r>
              <a:rPr lang="en-US" smtClean="0"/>
              <a:t>Open the Disk Management tool, right-click the partition to be formatted, click Format</a:t>
            </a:r>
          </a:p>
          <a:p>
            <a:r>
              <a:rPr lang="en-US" smtClean="0"/>
              <a:t>Activity 7-2 shows you how to create a simple volume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54620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Converting a Partitioned Basic Disk to a Dynamic Disk</a:t>
            </a:r>
            <a:endParaRPr lang="en-US" dirty="0"/>
          </a:p>
        </p:txBody>
      </p:sp>
      <p:sp>
        <p:nvSpPr>
          <p:cNvPr id="2" name="Content Placeholder 1"/>
          <p:cNvSpPr>
            <a:spLocks noGrp="1"/>
          </p:cNvSpPr>
          <p:nvPr>
            <p:ph idx="1"/>
          </p:nvPr>
        </p:nvSpPr>
        <p:spPr/>
        <p:txBody>
          <a:bodyPr/>
          <a:lstStyle/>
          <a:p>
            <a:r>
              <a:rPr lang="en-US" smtClean="0"/>
              <a:t>Activity 7-3 takes you through the steps to convert a simple basic  disk to a dynamic disk</a:t>
            </a:r>
            <a:endParaRPr lang="en-US" dirty="0"/>
          </a:p>
        </p:txBody>
      </p:sp>
      <p:pic>
        <p:nvPicPr>
          <p:cNvPr id="5" name="Picture 4" descr="Figure 7-9, Page No. 297, Complexity level: 1&#10;Screenshot shows a dialog box. On the dialog box, the cursor points to the Convert to Dynamic Disk.&#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2286000"/>
            <a:ext cx="3796449" cy="3547872"/>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4866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Mounting a Drive</a:t>
            </a:r>
            <a:endParaRPr lang="en-US" dirty="0"/>
          </a:p>
        </p:txBody>
      </p:sp>
      <p:sp>
        <p:nvSpPr>
          <p:cNvPr id="2" name="Content Placeholder 1"/>
          <p:cNvSpPr>
            <a:spLocks noGrp="1"/>
          </p:cNvSpPr>
          <p:nvPr>
            <p:ph idx="1"/>
          </p:nvPr>
        </p:nvSpPr>
        <p:spPr/>
        <p:txBody>
          <a:bodyPr/>
          <a:lstStyle/>
          <a:p>
            <a:r>
              <a:rPr lang="en-US" smtClean="0"/>
              <a:t>Windows Server 2016 enables you to mount a drive as an alternative to giving it a drive letter</a:t>
            </a:r>
          </a:p>
          <a:p>
            <a:r>
              <a:rPr lang="en-US" smtClean="0"/>
              <a:t>Mounted drive</a:t>
            </a:r>
          </a:p>
          <a:p>
            <a:pPr lvl="1"/>
            <a:r>
              <a:rPr lang="en-US" smtClean="0"/>
              <a:t>One that appears as a folder and is accessed through a path like any other folder</a:t>
            </a:r>
          </a:p>
          <a:p>
            <a:r>
              <a:rPr lang="en-US" smtClean="0"/>
              <a:t>You can mount a basic or dynamic disk drive, a CD/DVD drive, or a removable drive</a:t>
            </a:r>
          </a:p>
          <a:p>
            <a:r>
              <a:rPr lang="en-US" smtClean="0"/>
              <a:t>Once a drive is mounted</a:t>
            </a:r>
          </a:p>
          <a:p>
            <a:pPr lvl="1"/>
            <a:r>
              <a:rPr lang="en-US" smtClean="0"/>
              <a:t>Other drives can be added to the same folder to appear as one drive</a:t>
            </a:r>
          </a:p>
          <a:p>
            <a:r>
              <a:rPr lang="en-US" smtClean="0"/>
              <a:t>Home directory or home folder</a:t>
            </a:r>
          </a:p>
          <a:p>
            <a:pPr lvl="1"/>
            <a:r>
              <a:rPr lang="en-US" smtClean="0"/>
              <a:t>A server folder that is associated with a user’s account and that is a designated workspace for the user to store files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52571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Disks (1 of 3)</a:t>
            </a:r>
            <a:endParaRPr lang="en-US" dirty="0"/>
          </a:p>
        </p:txBody>
      </p:sp>
      <p:sp>
        <p:nvSpPr>
          <p:cNvPr id="2" name="Content Placeholder 1"/>
          <p:cNvSpPr>
            <a:spLocks noGrp="1"/>
          </p:cNvSpPr>
          <p:nvPr>
            <p:ph idx="1"/>
          </p:nvPr>
        </p:nvSpPr>
        <p:spPr/>
        <p:txBody>
          <a:bodyPr/>
          <a:lstStyle/>
          <a:p>
            <a:r>
              <a:rPr lang="en-US" smtClean="0"/>
              <a:t>Windows Server 2016 includes several tools that can be used to diagnose disk problems and maintain disk performance:</a:t>
            </a:r>
          </a:p>
          <a:p>
            <a:pPr lvl="1"/>
            <a:r>
              <a:rPr lang="en-US" smtClean="0"/>
              <a:t>Disk Optimizer, Disk Check, and chkdsk</a:t>
            </a:r>
          </a:p>
          <a:p>
            <a:r>
              <a:rPr lang="en-US" smtClean="0"/>
              <a:t>Using Disk Optimizer</a:t>
            </a:r>
          </a:p>
          <a:p>
            <a:pPr lvl="1"/>
            <a:r>
              <a:rPr lang="en-US" smtClean="0"/>
              <a:t>When you save a file to a disk, Windows Server 2016 saves the file to the first area of available space</a:t>
            </a:r>
          </a:p>
          <a:p>
            <a:pPr lvl="1"/>
            <a:r>
              <a:rPr lang="en-US" smtClean="0"/>
              <a:t>The file might not be saved to a contiguous area of free space</a:t>
            </a:r>
          </a:p>
          <a:p>
            <a:pPr lvl="2"/>
            <a:r>
              <a:rPr lang="en-US" smtClean="0"/>
              <a:t>The disk gradually becomes fragmented</a:t>
            </a:r>
          </a:p>
          <a:p>
            <a:r>
              <a:rPr lang="en-US" smtClean="0"/>
              <a:t>The process of defragmenting</a:t>
            </a:r>
          </a:p>
          <a:p>
            <a:pPr lvl="1"/>
            <a:r>
              <a:rPr lang="en-US" smtClean="0"/>
              <a:t>Locates fragmented folders and files and moves them to a location on the physical disk so they are in contiguous order</a:t>
            </a:r>
          </a:p>
          <a:p>
            <a:r>
              <a:rPr lang="en-US" smtClean="0"/>
              <a:t>Activity 7-5 gives you practice using the Disk Optimizer</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31740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Disks (2 of 3)</a:t>
            </a:r>
            <a:endParaRPr lang="en-US" dirty="0"/>
          </a:p>
        </p:txBody>
      </p:sp>
      <p:sp>
        <p:nvSpPr>
          <p:cNvPr id="2" name="Content Placeholder 1"/>
          <p:cNvSpPr>
            <a:spLocks noGrp="1"/>
          </p:cNvSpPr>
          <p:nvPr>
            <p:ph idx="1"/>
          </p:nvPr>
        </p:nvSpPr>
        <p:spPr/>
        <p:txBody>
          <a:bodyPr/>
          <a:lstStyle/>
          <a:p>
            <a:r>
              <a:rPr lang="en-US" smtClean="0"/>
              <a:t>Using Disk Check</a:t>
            </a:r>
          </a:p>
          <a:p>
            <a:pPr lvl="1"/>
            <a:r>
              <a:rPr lang="en-US" smtClean="0"/>
              <a:t>The Disk Check tool allows you to scan your disk for bad sectors and file system errors</a:t>
            </a:r>
          </a:p>
          <a:p>
            <a:r>
              <a:rPr lang="en-US" smtClean="0"/>
              <a:t>This tool is meant for use when no users need to access the files on the disk you want to check </a:t>
            </a:r>
          </a:p>
          <a:p>
            <a:pPr lvl="1"/>
            <a:r>
              <a:rPr lang="en-US" smtClean="0"/>
              <a:t>Because the disk is made unavailable during the scan for problems</a:t>
            </a:r>
          </a:p>
          <a:p>
            <a:r>
              <a:rPr lang="en-US" smtClean="0"/>
              <a:t>Activity 7-6 show you how to use Disk Check</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73458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Disks (3 of 3)</a:t>
            </a:r>
            <a:endParaRPr lang="en-US" dirty="0"/>
          </a:p>
        </p:txBody>
      </p:sp>
      <p:sp>
        <p:nvSpPr>
          <p:cNvPr id="2" name="Content Placeholder 1"/>
          <p:cNvSpPr>
            <a:spLocks noGrp="1"/>
          </p:cNvSpPr>
          <p:nvPr>
            <p:ph idx="1"/>
          </p:nvPr>
        </p:nvSpPr>
        <p:spPr/>
        <p:txBody>
          <a:bodyPr/>
          <a:lstStyle/>
          <a:p>
            <a:r>
              <a:rPr lang="en-US" smtClean="0"/>
              <a:t>Using chkdsk</a:t>
            </a:r>
          </a:p>
          <a:p>
            <a:pPr lvl="1"/>
            <a:r>
              <a:rPr lang="en-US" smtClean="0"/>
              <a:t>You can also check your disk for errors by running the chkdsk utility from the PowerShell or Command Prompt window</a:t>
            </a:r>
          </a:p>
          <a:p>
            <a:pPr lvl="1"/>
            <a:r>
              <a:rPr lang="en-US" smtClean="0"/>
              <a:t>In NTFS, chkdsk checks files, folders, indexes, security descriptors, user files, sectors, and disk allocation units</a:t>
            </a:r>
          </a:p>
          <a:p>
            <a:r>
              <a:rPr lang="en-US" smtClean="0"/>
              <a:t>When chkdsk finds lost allocation units or chains</a:t>
            </a:r>
          </a:p>
          <a:p>
            <a:pPr lvl="1"/>
            <a:r>
              <a:rPr lang="en-US" smtClean="0"/>
              <a:t>It prompts you with the Yes or No question: Convert lost chains to files?</a:t>
            </a:r>
          </a:p>
          <a:p>
            <a:pPr lvl="1"/>
            <a:r>
              <a:rPr lang="en-US" smtClean="0"/>
              <a:t>Answer Yes to the question so you can save the lost information to files (labeled Filexxx.chk)</a:t>
            </a:r>
          </a:p>
          <a:p>
            <a:r>
              <a:rPr lang="en-US" smtClean="0"/>
              <a:t>Spot Verifier</a:t>
            </a:r>
          </a:p>
          <a:p>
            <a:pPr lvl="1"/>
            <a:r>
              <a:rPr lang="en-US" smtClean="0"/>
              <a:t>A service that is triggered whenever the OS receives a report of a bad disk area</a:t>
            </a:r>
          </a:p>
          <a:p>
            <a:pPr lvl="1"/>
            <a:r>
              <a:rPr lang="en-US" smtClean="0"/>
              <a:t>It records the disk location in an event log</a:t>
            </a:r>
          </a:p>
          <a:p>
            <a:pPr lvl="1"/>
            <a:r>
              <a:rPr lang="en-US" smtClean="0"/>
              <a:t>Run chkdsk /spotfix to fix the bad area</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71547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Introduction to Fault Tolerance</a:t>
            </a:r>
            <a:endParaRPr lang="en-US" dirty="0"/>
          </a:p>
        </p:txBody>
      </p:sp>
      <p:sp>
        <p:nvSpPr>
          <p:cNvPr id="2" name="Content Placeholder 1"/>
          <p:cNvSpPr>
            <a:spLocks noGrp="1"/>
          </p:cNvSpPr>
          <p:nvPr>
            <p:ph idx="1"/>
          </p:nvPr>
        </p:nvSpPr>
        <p:spPr/>
        <p:txBody>
          <a:bodyPr/>
          <a:lstStyle/>
          <a:p>
            <a:r>
              <a:rPr lang="en-US" smtClean="0"/>
              <a:t>Fault tolerance</a:t>
            </a:r>
          </a:p>
          <a:p>
            <a:pPr lvl="1"/>
            <a:r>
              <a:rPr lang="en-US" smtClean="0"/>
              <a:t>The ability of a system to gracefully recover from hardware or software failure</a:t>
            </a:r>
          </a:p>
          <a:p>
            <a:r>
              <a:rPr lang="en-US" smtClean="0"/>
              <a:t>Windows Server 2016 provides a level of fault tolerance through software-level RAID</a:t>
            </a:r>
          </a:p>
          <a:p>
            <a:r>
              <a:rPr lang="en-US" smtClean="0"/>
              <a:t>With fault tolerance, data is written to more than one drive</a:t>
            </a:r>
          </a:p>
          <a:p>
            <a:pPr lvl="1"/>
            <a:r>
              <a:rPr lang="en-US" smtClean="0"/>
              <a:t>In the event one drive fails, data can still be accessed from one of the remaining drives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58622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RAID Volumes (1 of 5)</a:t>
            </a:r>
            <a:endParaRPr lang="en-US" dirty="0"/>
          </a:p>
        </p:txBody>
      </p:sp>
      <p:sp>
        <p:nvSpPr>
          <p:cNvPr id="2" name="Content Placeholder 1"/>
          <p:cNvSpPr>
            <a:spLocks noGrp="1"/>
          </p:cNvSpPr>
          <p:nvPr>
            <p:ph idx="1"/>
          </p:nvPr>
        </p:nvSpPr>
        <p:spPr/>
        <p:txBody>
          <a:bodyPr/>
          <a:lstStyle/>
          <a:p>
            <a:r>
              <a:rPr lang="en-US" smtClean="0"/>
              <a:t>RAID is a set of standards for lengthening disk life, preventing data loss, and enabling relatively uninterrupted access to data</a:t>
            </a:r>
          </a:p>
          <a:p>
            <a:r>
              <a:rPr lang="en-US" smtClean="0"/>
              <a:t>RAID level 0</a:t>
            </a:r>
          </a:p>
          <a:p>
            <a:pPr lvl="1"/>
            <a:r>
              <a:rPr lang="en-US" smtClean="0"/>
              <a:t>Striping with no other redundancy features (such as no parity or mirroring)</a:t>
            </a:r>
          </a:p>
          <a:p>
            <a:r>
              <a:rPr lang="en-US" smtClean="0"/>
              <a:t>RAID level 1</a:t>
            </a:r>
          </a:p>
          <a:p>
            <a:pPr lvl="1"/>
            <a:r>
              <a:rPr lang="en-US" smtClean="0"/>
              <a:t>Disk duplexing is the same as disk mirroring, with the exception that it places the backup disk on a different controller or adapter than is used by the main disk</a:t>
            </a:r>
          </a:p>
          <a:p>
            <a:r>
              <a:rPr lang="en-US" smtClean="0"/>
              <a:t>RAID level 2</a:t>
            </a:r>
          </a:p>
          <a:p>
            <a:pPr lvl="1"/>
            <a:r>
              <a:rPr lang="en-US" smtClean="0"/>
              <a:t>Uses an array of disks whereby the data is striped across all disks in the array</a:t>
            </a:r>
          </a:p>
          <a:p>
            <a:r>
              <a:rPr lang="en-US" smtClean="0"/>
              <a:t>RAID level 3</a:t>
            </a:r>
          </a:p>
          <a:p>
            <a:pPr lvl="1"/>
            <a:r>
              <a:rPr lang="en-US" smtClean="0"/>
              <a:t>Uses disk striping and stores error-correcting information, but the information is only written to one disk in the array</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77097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RAID Volumes (2 of 5)</a:t>
            </a:r>
            <a:endParaRPr lang="en-US" dirty="0"/>
          </a:p>
        </p:txBody>
      </p:sp>
      <p:pic>
        <p:nvPicPr>
          <p:cNvPr id="6" name="Content Placeholder 5" descr="Figure 7-14, Page No. 303, Complexity level: 2&#10;Figure shows “Disk mirroring.” It consists of the first Disk that is labeled “Mirrored drive” and is connected to one end of the second disk labeled “Primary drive.” Another end of the primary drive disk is connected to one end of the Controller or adapter, and another end is connected to the computer.&#1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5400" y="2514600"/>
            <a:ext cx="6513280" cy="2347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46568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RAID Volumes (3 of 5)</a:t>
            </a:r>
            <a:endParaRPr lang="en-US" dirty="0"/>
          </a:p>
        </p:txBody>
      </p:sp>
      <p:pic>
        <p:nvPicPr>
          <p:cNvPr id="5" name="Content Placeholder 4" descr="Figure 7-15, Page No. 304, Complexity level: 2&#10;Figure shows “Disk duplexing.” It consists of a computer connecting to two devices. At the top it is connected to a Controller or adapter that is connected to a disk labeled “Primary Drive.” At the bottom it is connected to a Controller or adapter that is connected to a disk labeled “Mirrored drive.” The two disks are connected together with the help of a dotted arrow.&#1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2209800"/>
            <a:ext cx="6618171" cy="2819400"/>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47031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RAID Volumes (4 of 5)</a:t>
            </a:r>
            <a:endParaRPr lang="en-US" dirty="0"/>
          </a:p>
        </p:txBody>
      </p:sp>
      <p:sp>
        <p:nvSpPr>
          <p:cNvPr id="2" name="Content Placeholder 1"/>
          <p:cNvSpPr>
            <a:spLocks noGrp="1"/>
          </p:cNvSpPr>
          <p:nvPr>
            <p:ph idx="1"/>
          </p:nvPr>
        </p:nvSpPr>
        <p:spPr/>
        <p:txBody>
          <a:bodyPr/>
          <a:lstStyle/>
          <a:p>
            <a:r>
              <a:rPr lang="en-US" smtClean="0"/>
              <a:t>RAID level 4</a:t>
            </a:r>
          </a:p>
          <a:p>
            <a:pPr lvl="1"/>
            <a:r>
              <a:rPr lang="en-US" smtClean="0"/>
              <a:t>Stripes data and stores error-correcting information on all drives with an added feature of performing checksum verification</a:t>
            </a:r>
          </a:p>
          <a:p>
            <a:r>
              <a:rPr lang="en-US" smtClean="0"/>
              <a:t>RAID level 5</a:t>
            </a:r>
          </a:p>
          <a:p>
            <a:pPr lvl="1"/>
            <a:r>
              <a:rPr lang="en-US" smtClean="0"/>
              <a:t>Combines the best features of RAID, including striping, error correction, and checksum verification</a:t>
            </a:r>
          </a:p>
          <a:p>
            <a:r>
              <a:rPr lang="en-US" smtClean="0"/>
              <a:t>Windows Server 2016 supports RAID levels 0, 1, and 5 for disk fault tolerance</a:t>
            </a:r>
          </a:p>
          <a:p>
            <a:pPr lvl="1"/>
            <a:r>
              <a:rPr lang="en-US" smtClean="0"/>
              <a:t>RAID level 0 is not recommended in many situations because it does not really provide fault tolerance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37077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RAID Volumes (5 of 5)</a:t>
            </a:r>
            <a:endParaRPr lang="en-US" dirty="0"/>
          </a:p>
        </p:txBody>
      </p:sp>
      <p:sp>
        <p:nvSpPr>
          <p:cNvPr id="2" name="Content Placeholder 1"/>
          <p:cNvSpPr>
            <a:spLocks noGrp="1"/>
          </p:cNvSpPr>
          <p:nvPr>
            <p:ph idx="1"/>
          </p:nvPr>
        </p:nvSpPr>
        <p:spPr/>
        <p:txBody>
          <a:bodyPr/>
          <a:lstStyle/>
          <a:p>
            <a:r>
              <a:rPr lang="en-US" smtClean="0"/>
              <a:t>When you decide upon using RAID 1 or RAID 5, consider the following:</a:t>
            </a:r>
          </a:p>
          <a:p>
            <a:pPr lvl="1"/>
            <a:r>
              <a:rPr lang="en-US" smtClean="0"/>
              <a:t>The boot and system files can be placed on RAID level 1, but not on RAID level 5</a:t>
            </a:r>
          </a:p>
          <a:p>
            <a:pPr lvl="1"/>
            <a:r>
              <a:rPr lang="en-US" smtClean="0"/>
              <a:t>RAID level 1 uses two hard disks and RAID level 5 uses from 3 to 32</a:t>
            </a:r>
          </a:p>
          <a:p>
            <a:pPr lvl="1"/>
            <a:r>
              <a:rPr lang="en-US" smtClean="0"/>
              <a:t>RAID level 1 is more expensive to implement than RAID level 5</a:t>
            </a:r>
          </a:p>
          <a:p>
            <a:pPr lvl="1"/>
            <a:r>
              <a:rPr lang="en-US" smtClean="0"/>
              <a:t>RAID level 5 requires more memory than RAID level 1</a:t>
            </a:r>
          </a:p>
          <a:p>
            <a:pPr lvl="1"/>
            <a:r>
              <a:rPr lang="en-US" smtClean="0"/>
              <a:t>Depending on the disk controller, in Windows Server 2016 disk read access is faster in RAID level 1 and RAID level 5 than is write access</a:t>
            </a:r>
          </a:p>
          <a:p>
            <a:pPr lvl="1"/>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91788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 Striped Volume (RAID-0)</a:t>
            </a:r>
            <a:endParaRPr lang="en-US" dirty="0"/>
          </a:p>
        </p:txBody>
      </p:sp>
      <p:sp>
        <p:nvSpPr>
          <p:cNvPr id="2" name="Content Placeholder 1"/>
          <p:cNvSpPr>
            <a:spLocks noGrp="1"/>
          </p:cNvSpPr>
          <p:nvPr>
            <p:ph idx="1"/>
          </p:nvPr>
        </p:nvSpPr>
        <p:spPr/>
        <p:txBody>
          <a:bodyPr/>
          <a:lstStyle/>
          <a:p>
            <a:r>
              <a:rPr lang="en-US" smtClean="0"/>
              <a:t>Reasons for using a RAID level 0 or a striped volume in Windows Server 2016 are to:</a:t>
            </a:r>
          </a:p>
          <a:p>
            <a:pPr lvl="1"/>
            <a:r>
              <a:rPr lang="en-US" smtClean="0"/>
              <a:t>Reduce the wear on multiple disk drives by equally spreading the load</a:t>
            </a:r>
          </a:p>
          <a:p>
            <a:pPr lvl="1"/>
            <a:r>
              <a:rPr lang="en-US" smtClean="0"/>
              <a:t>Increase disk performance compared with other methods for configuring dynamic disk volumes</a:t>
            </a:r>
          </a:p>
          <a:p>
            <a:r>
              <a:rPr lang="en-US" smtClean="0"/>
              <a:t>To create a striped volume, right-click the unallocated space for the volume and click New Striped Volume</a:t>
            </a:r>
          </a:p>
          <a:p>
            <a:r>
              <a:rPr lang="en-US" smtClean="0"/>
              <a:t>Only dynamic disks can be striped volumes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036279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 Mirrored Volume (RAID-1)</a:t>
            </a:r>
            <a:endParaRPr lang="en-US" dirty="0"/>
          </a:p>
        </p:txBody>
      </p:sp>
      <p:sp>
        <p:nvSpPr>
          <p:cNvPr id="2" name="Content Placeholder 1"/>
          <p:cNvSpPr>
            <a:spLocks noGrp="1"/>
          </p:cNvSpPr>
          <p:nvPr>
            <p:ph idx="1"/>
          </p:nvPr>
        </p:nvSpPr>
        <p:spPr/>
        <p:txBody>
          <a:bodyPr/>
          <a:lstStyle/>
          <a:p>
            <a:r>
              <a:rPr lang="en-US" smtClean="0"/>
              <a:t>Disk mirroring involves creating a shadow copy of data on a backup disk</a:t>
            </a:r>
          </a:p>
          <a:p>
            <a:r>
              <a:rPr lang="en-US" smtClean="0"/>
              <a:t>Only dynamic disks can be set up as a mirrored volume in Windows Server 2016</a:t>
            </a:r>
          </a:p>
          <a:p>
            <a:r>
              <a:rPr lang="en-US" smtClean="0"/>
              <a:t>One of the most guaranteed forms of disk fault tolerance</a:t>
            </a:r>
          </a:p>
          <a:p>
            <a:r>
              <a:rPr lang="en-US" smtClean="0"/>
              <a:t>Disk read performance is the same as reading data from any single disk drive</a:t>
            </a:r>
          </a:p>
          <a:p>
            <a:r>
              <a:rPr lang="en-US" smtClean="0"/>
              <a:t>A mirrored volume is well suited for situations in which data is mission-critical and must not be lost under any circumstances</a:t>
            </a:r>
          </a:p>
          <a:p>
            <a:pPr lvl="1"/>
            <a:r>
              <a:rPr lang="en-US" smtClean="0"/>
              <a:t>Such as customer files at a bank</a:t>
            </a:r>
          </a:p>
          <a:p>
            <a:r>
              <a:rPr lang="en-US" smtClean="0"/>
              <a:t>A mirrored volume is created through the Disk Management tool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91798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 RAID-5 Volume (1 of 3)</a:t>
            </a:r>
            <a:endParaRPr lang="en-US" dirty="0"/>
          </a:p>
        </p:txBody>
      </p:sp>
      <p:sp>
        <p:nvSpPr>
          <p:cNvPr id="2" name="Content Placeholder 1"/>
          <p:cNvSpPr>
            <a:spLocks noGrp="1"/>
          </p:cNvSpPr>
          <p:nvPr>
            <p:ph idx="1"/>
          </p:nvPr>
        </p:nvSpPr>
        <p:spPr/>
        <p:txBody>
          <a:bodyPr/>
          <a:lstStyle/>
          <a:p>
            <a:r>
              <a:rPr lang="en-US" smtClean="0"/>
              <a:t>Fault tolerance is better for a RAID-5 volume</a:t>
            </a:r>
          </a:p>
          <a:p>
            <a:pPr lvl="1"/>
            <a:r>
              <a:rPr lang="en-US" smtClean="0"/>
              <a:t>Than for a simple striped volume</a:t>
            </a:r>
          </a:p>
          <a:p>
            <a:r>
              <a:rPr lang="en-US" smtClean="0"/>
              <a:t>A RAID-5 volume requires a minimum of three disk drives</a:t>
            </a:r>
          </a:p>
          <a:p>
            <a:r>
              <a:rPr lang="en-US" smtClean="0"/>
              <a:t>Parity information is distributed on each disk</a:t>
            </a:r>
          </a:p>
          <a:p>
            <a:pPr lvl="1"/>
            <a:r>
              <a:rPr lang="en-US" smtClean="0"/>
              <a:t>If one disk fails, the information on that disk can be reconstructed</a:t>
            </a:r>
          </a:p>
          <a:p>
            <a:pPr lvl="1"/>
            <a:r>
              <a:rPr lang="en-US" smtClean="0"/>
              <a:t>The parity used by Microsoft is Boolean (true/false, one/zero) logic</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808859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 RAID-5 Volume (2 of 3)</a:t>
            </a:r>
            <a:endParaRPr lang="en-US" dirty="0"/>
          </a:p>
        </p:txBody>
      </p:sp>
      <p:pic>
        <p:nvPicPr>
          <p:cNvPr id="6" name="Content Placeholder 5" descr="Figure 7-16, Page No. 306, Complexity level: 4&#10;A figure shows “Disks in a RAID-5 volume.” The figure shows five large rectangular boxes labeled “Disk 1, Disk 2, Disk 3, Disk 4, and Disk 5.” A small rectangular boxes are placed in each of the disks that are connected in row and labeled “Row 1, Row 2, and Row 3.” In Row 1 the small box of, Parity block in the Disk 1 is connected to the 1 – 64 KB in the Disk 2 that is connected to 65 – 128 KB in the Disk 3 which is connected to 129-192 KB in the Disk 4 that is connected to 193 – 256 KB in the Disk 5 which is connected to the Row 2 with 257 – 320 KB in the Disk 1 that is connected to the Parity block in the Disk 2 which is connected to 321 – 384 KB in the Disk 3 that is connected to 385 - 448 KB in the Disk 4 which is connected to 449 – 512 KB in the Disk 5 that is connected to the Row 3 with 513 – 576 KB in the Disk 1 which is connected to the 577 – 640 KB in the Disk 2 that is connected to the Parity block in the Disk 3 which is connected to the 641-704 KB in the Disk 4 that is connected to the 705 – 720 KB in the Disk 5. &#1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000" y="2286000"/>
            <a:ext cx="6623745" cy="2271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047607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 RAID-5 Volume (3 of 3)</a:t>
            </a:r>
            <a:endParaRPr lang="en-US" dirty="0"/>
          </a:p>
        </p:txBody>
      </p:sp>
      <p:sp>
        <p:nvSpPr>
          <p:cNvPr id="2" name="Content Placeholder 1"/>
          <p:cNvSpPr>
            <a:spLocks noGrp="1"/>
          </p:cNvSpPr>
          <p:nvPr>
            <p:ph idx="1"/>
          </p:nvPr>
        </p:nvSpPr>
        <p:spPr/>
        <p:txBody>
          <a:bodyPr/>
          <a:lstStyle/>
          <a:p>
            <a:r>
              <a:rPr lang="en-US" smtClean="0"/>
              <a:t>The performance is not as fast as with a striped volume</a:t>
            </a:r>
          </a:p>
          <a:p>
            <a:pPr lvl="1"/>
            <a:r>
              <a:rPr lang="en-US" smtClean="0"/>
              <a:t>Takes longer to write the data and calculate the parity block for each row</a:t>
            </a:r>
          </a:p>
          <a:p>
            <a:r>
              <a:rPr lang="en-US" smtClean="0"/>
              <a:t>Accessing data through disk reads is as fast as a striped volume</a:t>
            </a:r>
          </a:p>
          <a:p>
            <a:r>
              <a:rPr lang="en-US" smtClean="0"/>
              <a:t>A RAID-5 volume is particularly useful in a client/server system that uses a separate database for queries and creating reports</a:t>
            </a:r>
          </a:p>
          <a:p>
            <a:r>
              <a:rPr lang="en-US" smtClean="0"/>
              <a:t>Use the Disk Management tool to create a RAID-5 volume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31060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Software RAID vs. Hardware RAID</a:t>
            </a:r>
            <a:endParaRPr lang="en-US" dirty="0"/>
          </a:p>
        </p:txBody>
      </p:sp>
      <p:sp>
        <p:nvSpPr>
          <p:cNvPr id="2" name="Content Placeholder 1"/>
          <p:cNvSpPr>
            <a:spLocks noGrp="1"/>
          </p:cNvSpPr>
          <p:nvPr>
            <p:ph idx="1"/>
          </p:nvPr>
        </p:nvSpPr>
        <p:spPr/>
        <p:txBody>
          <a:bodyPr/>
          <a:lstStyle/>
          <a:p>
            <a:r>
              <a:rPr lang="en-US" smtClean="0"/>
              <a:t>Software RAID implements fault tolerance through the server’s operating system</a:t>
            </a:r>
          </a:p>
          <a:p>
            <a:r>
              <a:rPr lang="en-US" smtClean="0"/>
              <a:t>Hardware RAID is implemented through the server hardware</a:t>
            </a:r>
          </a:p>
          <a:p>
            <a:pPr lvl="1"/>
            <a:r>
              <a:rPr lang="en-US" smtClean="0"/>
              <a:t>Independent of the operating system</a:t>
            </a:r>
          </a:p>
          <a:p>
            <a:r>
              <a:rPr lang="en-US" smtClean="0"/>
              <a:t>Advantages of hardware RAID over software RAID:</a:t>
            </a:r>
          </a:p>
          <a:p>
            <a:pPr lvl="1"/>
            <a:r>
              <a:rPr lang="en-US" smtClean="0"/>
              <a:t>Faster read and write response</a:t>
            </a:r>
          </a:p>
          <a:p>
            <a:pPr lvl="1"/>
            <a:r>
              <a:rPr lang="en-US" smtClean="0"/>
              <a:t>The ability to place boot and system files on different RAID levels</a:t>
            </a:r>
          </a:p>
          <a:p>
            <a:pPr lvl="1"/>
            <a:r>
              <a:rPr lang="en-US" smtClean="0"/>
              <a:t>The ability to ‘‘hot-swap’’ a failed disk</a:t>
            </a:r>
          </a:p>
          <a:p>
            <a:pPr lvl="1"/>
            <a:r>
              <a:rPr lang="en-US" smtClean="0"/>
              <a:t>More setup options to retrieve damaged data</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350810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Storage Spaces (1 of 3)</a:t>
            </a:r>
            <a:endParaRPr lang="en-US" dirty="0"/>
          </a:p>
        </p:txBody>
      </p:sp>
      <p:sp>
        <p:nvSpPr>
          <p:cNvPr id="2" name="Content Placeholder 1"/>
          <p:cNvSpPr>
            <a:spLocks noGrp="1"/>
          </p:cNvSpPr>
          <p:nvPr>
            <p:ph idx="1"/>
          </p:nvPr>
        </p:nvSpPr>
        <p:spPr/>
        <p:txBody>
          <a:bodyPr/>
          <a:lstStyle/>
          <a:p>
            <a:r>
              <a:rPr lang="en-US" smtClean="0"/>
              <a:t>Storage Spaces</a:t>
            </a:r>
          </a:p>
          <a:p>
            <a:pPr lvl="1"/>
            <a:r>
              <a:rPr lang="en-US" smtClean="0"/>
              <a:t>Enables you to form groupings of physical disks and free disk space to manage together as individual virtual disks</a:t>
            </a:r>
          </a:p>
          <a:p>
            <a:r>
              <a:rPr lang="en-US" smtClean="0"/>
              <a:t>Each grouping is a storage pool</a:t>
            </a:r>
          </a:p>
          <a:p>
            <a:pPr lvl="1"/>
            <a:r>
              <a:rPr lang="en-US" smtClean="0"/>
              <a:t>That gathers together physical disks to appear to an application or a user as one virtual disk</a:t>
            </a:r>
          </a:p>
          <a:p>
            <a:r>
              <a:rPr lang="en-US" smtClean="0"/>
              <a:t>Physical disks that can be combined and used within a storage pool:</a:t>
            </a:r>
          </a:p>
          <a:p>
            <a:pPr lvl="1"/>
            <a:r>
              <a:rPr lang="en-US" smtClean="0"/>
              <a:t>Serial Advanced Technology Attachment (SATA)</a:t>
            </a:r>
          </a:p>
          <a:p>
            <a:pPr lvl="1"/>
            <a:r>
              <a:rPr lang="en-US" smtClean="0"/>
              <a:t>Solid state drive (SSD)</a:t>
            </a:r>
          </a:p>
          <a:p>
            <a:pPr lvl="1"/>
            <a:r>
              <a:rPr lang="en-US" smtClean="0"/>
              <a:t>Non-volatile Memory Express (NVMe)</a:t>
            </a:r>
          </a:p>
          <a:p>
            <a:pPr lvl="1"/>
            <a:r>
              <a:rPr lang="en-US" smtClean="0"/>
              <a:t>Universal Serial Bus </a:t>
            </a:r>
          </a:p>
          <a:p>
            <a:pPr lvl="1"/>
            <a:r>
              <a:rPr lang="en-US" smtClean="0"/>
              <a:t>Small Computer System Interface (SCSI)</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459547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Storage Spaces (2 of 3)</a:t>
            </a:r>
            <a:endParaRPr lang="en-US" dirty="0"/>
          </a:p>
        </p:txBody>
      </p:sp>
      <p:sp>
        <p:nvSpPr>
          <p:cNvPr id="2" name="Content Placeholder 1"/>
          <p:cNvSpPr>
            <a:spLocks noGrp="1"/>
          </p:cNvSpPr>
          <p:nvPr>
            <p:ph idx="1"/>
          </p:nvPr>
        </p:nvSpPr>
        <p:spPr/>
        <p:txBody>
          <a:bodyPr/>
          <a:lstStyle/>
          <a:p>
            <a:r>
              <a:rPr lang="en-US" smtClean="0"/>
              <a:t>Physical disks that can be combined and used within a storage pool (cont’d)</a:t>
            </a:r>
          </a:p>
          <a:p>
            <a:pPr lvl="1"/>
            <a:r>
              <a:rPr lang="en-US" smtClean="0"/>
              <a:t>Internet SCSI (iSCSI)</a:t>
            </a:r>
          </a:p>
          <a:p>
            <a:pPr lvl="1"/>
            <a:r>
              <a:rPr lang="en-US" smtClean="0"/>
              <a:t>Serial Attached SCSI (SAS)</a:t>
            </a:r>
          </a:p>
          <a:p>
            <a:r>
              <a:rPr lang="en-US" smtClean="0"/>
              <a:t>A virtual disk formed out of a storage pool can be one of three resiliency types:</a:t>
            </a:r>
          </a:p>
          <a:p>
            <a:pPr lvl="1"/>
            <a:r>
              <a:rPr lang="en-US" smtClean="0"/>
              <a:t>Simple – similar to RAID level 0</a:t>
            </a:r>
          </a:p>
          <a:p>
            <a:pPr lvl="1"/>
            <a:r>
              <a:rPr lang="en-US" smtClean="0"/>
              <a:t>Mirror – similar to RAID level 1</a:t>
            </a:r>
          </a:p>
          <a:p>
            <a:pPr lvl="1"/>
            <a:r>
              <a:rPr lang="en-US" smtClean="0"/>
              <a:t>Parity – similar to RAID level 5</a:t>
            </a:r>
          </a:p>
          <a:p>
            <a:r>
              <a:rPr lang="en-US" smtClean="0"/>
              <a:t>Advantages of Storage Spaces:</a:t>
            </a:r>
          </a:p>
          <a:p>
            <a:pPr lvl="1"/>
            <a:r>
              <a:rPr lang="en-US" smtClean="0"/>
              <a:t>When there is a failure in a mirror or parity resiliency type, the system can automatically repair the disk failure by using a hot space placed in the pool or by implementing unused space on physical disk in the pool</a:t>
            </a:r>
          </a:p>
          <a:p>
            <a:pPr lvl="1"/>
            <a:r>
              <a:rPr lang="en-US" smtClean="0"/>
              <a:t>When a disk fails in a storage pool, there is no noticeable delay in performance</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169670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Storage Spaces (3 of 3)</a:t>
            </a:r>
            <a:endParaRPr lang="en-US" dirty="0"/>
          </a:p>
        </p:txBody>
      </p:sp>
      <p:sp>
        <p:nvSpPr>
          <p:cNvPr id="2" name="Content Placeholder 1"/>
          <p:cNvSpPr>
            <a:spLocks noGrp="1"/>
          </p:cNvSpPr>
          <p:nvPr>
            <p:ph idx="1"/>
          </p:nvPr>
        </p:nvSpPr>
        <p:spPr/>
        <p:txBody>
          <a:bodyPr/>
          <a:lstStyle/>
          <a:p>
            <a:r>
              <a:rPr lang="en-US" smtClean="0"/>
              <a:t>Tiered storage places</a:t>
            </a:r>
          </a:p>
          <a:p>
            <a:pPr lvl="1"/>
            <a:r>
              <a:rPr lang="en-US" smtClean="0"/>
              <a:t>Two tiers can be established: slow and fast</a:t>
            </a:r>
          </a:p>
          <a:p>
            <a:pPr lvl="1"/>
            <a:r>
              <a:rPr lang="en-US" smtClean="0"/>
              <a:t>The slow tier consists of SATA drives intended for high capacity storage</a:t>
            </a:r>
          </a:p>
          <a:p>
            <a:pPr lvl="1"/>
            <a:r>
              <a:rPr lang="en-US" smtClean="0"/>
              <a:t>The fast tier consists of SSD drives that offer faster performance than SATA and intended to hold data that is frequently accessed</a:t>
            </a:r>
          </a:p>
          <a:p>
            <a:r>
              <a:rPr lang="en-US" smtClean="0"/>
              <a:t>Within a storage pool, you can decide how to allocate disk space using one of the following provisioning methods:</a:t>
            </a:r>
          </a:p>
          <a:p>
            <a:pPr lvl="1"/>
            <a:r>
              <a:rPr lang="en-US" smtClean="0"/>
              <a:t>thin</a:t>
            </a:r>
          </a:p>
          <a:p>
            <a:pPr lvl="1"/>
            <a:r>
              <a:rPr lang="en-US" smtClean="0"/>
              <a:t>fixed</a:t>
            </a:r>
          </a:p>
          <a:p>
            <a:r>
              <a:rPr lang="en-US" smtClean="0"/>
              <a:t>A new storage pool is created through Server Manager</a:t>
            </a:r>
          </a:p>
          <a:p>
            <a:pPr lvl="1"/>
            <a:r>
              <a:rPr lang="en-US" smtClean="0"/>
              <a:t>Steps are outlined on page 309 of the text</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802795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Storage Spaces Direct (1 of 2)</a:t>
            </a:r>
            <a:endParaRPr lang="en-US" dirty="0"/>
          </a:p>
        </p:txBody>
      </p:sp>
      <p:sp>
        <p:nvSpPr>
          <p:cNvPr id="2" name="Content Placeholder 1"/>
          <p:cNvSpPr>
            <a:spLocks noGrp="1"/>
          </p:cNvSpPr>
          <p:nvPr>
            <p:ph idx="1"/>
          </p:nvPr>
        </p:nvSpPr>
        <p:spPr/>
        <p:txBody>
          <a:bodyPr/>
          <a:lstStyle/>
          <a:p>
            <a:r>
              <a:rPr lang="en-US" smtClean="0"/>
              <a:t>Storage Spaces Direct</a:t>
            </a:r>
          </a:p>
          <a:p>
            <a:pPr lvl="1"/>
            <a:r>
              <a:rPr lang="en-US" smtClean="0"/>
              <a:t>Software-defined storage intended to make storage more versatile through making it easier to add storage as needed, to access storage, and to use new storage capabilities</a:t>
            </a:r>
          </a:p>
          <a:p>
            <a:r>
              <a:rPr lang="en-US" smtClean="0"/>
              <a:t>Software-defined storage (SDS)</a:t>
            </a:r>
          </a:p>
          <a:p>
            <a:pPr lvl="1"/>
            <a:r>
              <a:rPr lang="en-US" smtClean="0"/>
              <a:t>Refers to managing data storage with software that is independent of actual storage hardware</a:t>
            </a:r>
          </a:p>
          <a:p>
            <a:r>
              <a:rPr lang="en-US" smtClean="0"/>
              <a:t>Storage Spaces Direct uses Server Message Block version 3 (SMBv3)</a:t>
            </a:r>
          </a:p>
          <a:p>
            <a:pPr lvl="1"/>
            <a:r>
              <a:rPr lang="en-US" smtClean="0"/>
              <a:t>The same protocol that Windows OSs use natively for sharing folders and files on a network</a:t>
            </a:r>
          </a:p>
          <a:p>
            <a:r>
              <a:rPr lang="en-US" smtClean="0"/>
              <a:t>Storage spaces are targeted for use with virtual machines operating through Hyper-V and for clustered VMs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93350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Storage Spaces Direct (2 of 2)</a:t>
            </a:r>
            <a:endParaRPr lang="en-US" dirty="0"/>
          </a:p>
        </p:txBody>
      </p:sp>
      <p:sp>
        <p:nvSpPr>
          <p:cNvPr id="2" name="Content Placeholder 1"/>
          <p:cNvSpPr>
            <a:spLocks noGrp="1"/>
          </p:cNvSpPr>
          <p:nvPr>
            <p:ph idx="1"/>
          </p:nvPr>
        </p:nvSpPr>
        <p:spPr/>
        <p:txBody>
          <a:bodyPr/>
          <a:lstStyle/>
          <a:p>
            <a:r>
              <a:rPr lang="en-US" smtClean="0"/>
              <a:t>At this writing, one cluster can have up to 240 disks and up to 12 nodes within Storage Spaces Direct</a:t>
            </a:r>
          </a:p>
          <a:p>
            <a:r>
              <a:rPr lang="en-US" smtClean="0"/>
              <a:t>There are two ways to deploy Storage Spaces Direct:</a:t>
            </a:r>
          </a:p>
          <a:p>
            <a:pPr lvl="1"/>
            <a:r>
              <a:rPr lang="en-US" smtClean="0"/>
              <a:t>Hyper-converged – Hyper-V clustered servers and their storage are on the same hardware</a:t>
            </a:r>
          </a:p>
          <a:p>
            <a:pPr lvl="1"/>
            <a:r>
              <a:rPr lang="en-US" smtClean="0"/>
              <a:t>Disaggregated – the Hyper-V clusters of servers and the Storage Spaces Direct storage components exist on different hardware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523372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Multipath Input/Output (1 of 3)</a:t>
            </a:r>
            <a:endParaRPr lang="en-US" dirty="0"/>
          </a:p>
        </p:txBody>
      </p:sp>
      <p:sp>
        <p:nvSpPr>
          <p:cNvPr id="2" name="Content Placeholder 1"/>
          <p:cNvSpPr>
            <a:spLocks noGrp="1"/>
          </p:cNvSpPr>
          <p:nvPr>
            <p:ph idx="1"/>
          </p:nvPr>
        </p:nvSpPr>
        <p:spPr/>
        <p:txBody>
          <a:bodyPr/>
          <a:lstStyle/>
          <a:p>
            <a:r>
              <a:rPr lang="en-US" smtClean="0"/>
              <a:t>Multipath I/O</a:t>
            </a:r>
          </a:p>
          <a:p>
            <a:pPr lvl="1"/>
            <a:r>
              <a:rPr lang="en-US" smtClean="0"/>
              <a:t>Provides a means to establish multiple paths between a server and its disk storage</a:t>
            </a:r>
          </a:p>
          <a:p>
            <a:r>
              <a:rPr lang="en-US" smtClean="0"/>
              <a:t>The first step in this process is to create the multiple paths between the storage and the server or servers</a:t>
            </a:r>
          </a:p>
          <a:p>
            <a:pPr lvl="1"/>
            <a:r>
              <a:rPr lang="en-US" smtClean="0"/>
              <a:t>For a SAN, creating multiple paths might involve establishing two or more network paths through two or more network switches to the SAN</a:t>
            </a:r>
          </a:p>
          <a:p>
            <a:r>
              <a:rPr lang="en-US" smtClean="0"/>
              <a:t>The next step is to install Multipath I/O</a:t>
            </a:r>
          </a:p>
          <a:p>
            <a:pPr lvl="1"/>
            <a:r>
              <a:rPr lang="en-US" smtClean="0"/>
              <a:t>A feature installed through Server Manager using the Add Roles and Features Wizard</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114965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Multipath Input/Output (2 of 3)</a:t>
            </a:r>
            <a:endParaRPr lang="en-US" dirty="0"/>
          </a:p>
        </p:txBody>
      </p:sp>
      <p:pic>
        <p:nvPicPr>
          <p:cNvPr id="6" name="Content Placeholder 5" descr="Figure 7-17, Page No. 310, Complexity level: 3&#10;Screenshot shows “Add Roles and Features Wizard” dialog box. On the left pane of the dialog box, the Features option is selected. On the content pane of the dialog box, the cursor points to the Multipath I/O option check box and it is selected. The check box is selected for IIS Hostable Web Core (Installed) option and Internet Printing Client (Installed) option. The radio button is selected for Remote Server Administration Tools (11 of 41 installed). The Install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05000" y="1905000"/>
            <a:ext cx="5001407" cy="3795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791660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Multipath Input/Output (3 of 3)</a:t>
            </a:r>
            <a:endParaRPr lang="en-US" dirty="0"/>
          </a:p>
        </p:txBody>
      </p:sp>
      <p:sp>
        <p:nvSpPr>
          <p:cNvPr id="2" name="Content Placeholder 1"/>
          <p:cNvSpPr>
            <a:spLocks noGrp="1"/>
          </p:cNvSpPr>
          <p:nvPr>
            <p:ph idx="1"/>
          </p:nvPr>
        </p:nvSpPr>
        <p:spPr/>
        <p:txBody>
          <a:bodyPr/>
          <a:lstStyle/>
          <a:p>
            <a:r>
              <a:rPr lang="en-US" smtClean="0"/>
              <a:t>When you install Multipath I/O, you also install DSM</a:t>
            </a:r>
          </a:p>
          <a:p>
            <a:r>
              <a:rPr lang="en-US" smtClean="0"/>
              <a:t>Device Specific Module (DSM)</a:t>
            </a:r>
          </a:p>
          <a:p>
            <a:pPr lvl="1"/>
            <a:r>
              <a:rPr lang="en-US" smtClean="0"/>
              <a:t>Compatible with the following disk storage array controller technologies:</a:t>
            </a:r>
          </a:p>
          <a:p>
            <a:pPr lvl="2"/>
            <a:r>
              <a:rPr lang="en-US" smtClean="0"/>
              <a:t>Asymmetric logical unit access (ALUA)</a:t>
            </a:r>
          </a:p>
          <a:p>
            <a:pPr lvl="2"/>
            <a:r>
              <a:rPr lang="en-US" smtClean="0"/>
              <a:t>Active/Active controller model</a:t>
            </a:r>
          </a:p>
          <a:p>
            <a:r>
              <a:rPr lang="en-US" smtClean="0"/>
              <a:t>Configuration models:</a:t>
            </a:r>
          </a:p>
          <a:p>
            <a:pPr lvl="1"/>
            <a:r>
              <a:rPr lang="en-US" smtClean="0"/>
              <a:t>Dynamic Least Queue Depth</a:t>
            </a:r>
          </a:p>
          <a:p>
            <a:pPr lvl="1"/>
            <a:r>
              <a:rPr lang="en-US" smtClean="0"/>
              <a:t>Failback</a:t>
            </a:r>
          </a:p>
          <a:p>
            <a:pPr lvl="1"/>
            <a:r>
              <a:rPr lang="en-US" smtClean="0"/>
              <a:t>Failover</a:t>
            </a:r>
          </a:p>
          <a:p>
            <a:pPr lvl="1"/>
            <a:r>
              <a:rPr lang="en-US" smtClean="0"/>
              <a:t>Round Robin</a:t>
            </a:r>
          </a:p>
          <a:p>
            <a:pPr lvl="1"/>
            <a:r>
              <a:rPr lang="en-US" smtClean="0"/>
              <a:t>Round Robin with a subset of paths</a:t>
            </a:r>
          </a:p>
          <a:p>
            <a:pPr lvl="1"/>
            <a:r>
              <a:rPr lang="en-US" smtClean="0"/>
              <a:t>Weighted Path</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297055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Disk Backup</a:t>
            </a:r>
            <a:endParaRPr lang="en-US" dirty="0"/>
          </a:p>
        </p:txBody>
      </p:sp>
      <p:sp>
        <p:nvSpPr>
          <p:cNvPr id="2" name="Content Placeholder 1"/>
          <p:cNvSpPr>
            <a:spLocks noGrp="1"/>
          </p:cNvSpPr>
          <p:nvPr>
            <p:ph idx="1"/>
          </p:nvPr>
        </p:nvSpPr>
        <p:spPr/>
        <p:txBody>
          <a:bodyPr/>
          <a:lstStyle/>
          <a:p>
            <a:r>
              <a:rPr lang="en-US" smtClean="0"/>
              <a:t>One of the best ways to make sure you do not lose valuable information on a hard disk is to fully back up information on a regular basis</a:t>
            </a:r>
          </a:p>
          <a:p>
            <a:pPr lvl="1"/>
            <a:r>
              <a:rPr lang="en-US" smtClean="0"/>
              <a:t>These backups can be performed from a server on the network</a:t>
            </a:r>
          </a:p>
          <a:p>
            <a:r>
              <a:rPr lang="en-US" smtClean="0"/>
              <a:t>Performing backups from a backup device installed on the server has several advantages:</a:t>
            </a:r>
          </a:p>
          <a:p>
            <a:pPr lvl="1"/>
            <a:r>
              <a:rPr lang="en-US" smtClean="0"/>
              <a:t>No extra load is produced on the network</a:t>
            </a:r>
          </a:p>
          <a:p>
            <a:pPr lvl="1"/>
            <a:r>
              <a:rPr lang="en-US" smtClean="0"/>
              <a:t>Perform backups on a multiple-server network</a:t>
            </a:r>
          </a:p>
          <a:p>
            <a:pPr lvl="1"/>
            <a:r>
              <a:rPr lang="en-US" smtClean="0"/>
              <a:t>Provides more assurance that key OS files/settings, including the Registry, is backed up</a:t>
            </a:r>
          </a:p>
          <a:p>
            <a:r>
              <a:rPr lang="en-US" smtClean="0"/>
              <a:t>The advantages of performing a network backup</a:t>
            </a:r>
          </a:p>
          <a:p>
            <a:pPr lvl="1"/>
            <a:r>
              <a:rPr lang="en-US" smtClean="0"/>
              <a:t>Backup jobs can be stored on a single backup media </a:t>
            </a:r>
          </a:p>
          <a:p>
            <a:pPr lvl="1"/>
            <a:r>
              <a:rPr lang="en-US" smtClean="0"/>
              <a:t>One administrator can be responsible for backing up multiple servers</a:t>
            </a:r>
          </a:p>
          <a:p>
            <a:r>
              <a:rPr lang="en-US" smtClean="0"/>
              <a:t>The main disadvantage</a:t>
            </a:r>
          </a:p>
          <a:p>
            <a:pPr lvl="1"/>
            <a:r>
              <a:rPr lang="en-US" smtClean="0"/>
              <a:t>The increase in network traffic</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409628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Backup (1 of 2)</a:t>
            </a:r>
            <a:endParaRPr lang="en-US" dirty="0"/>
          </a:p>
        </p:txBody>
      </p:sp>
      <p:sp>
        <p:nvSpPr>
          <p:cNvPr id="2" name="Content Placeholder 1"/>
          <p:cNvSpPr>
            <a:spLocks noGrp="1"/>
          </p:cNvSpPr>
          <p:nvPr>
            <p:ph idx="1"/>
          </p:nvPr>
        </p:nvSpPr>
        <p:spPr/>
        <p:txBody>
          <a:bodyPr/>
          <a:lstStyle/>
          <a:p>
            <a:r>
              <a:rPr lang="en-US" smtClean="0"/>
              <a:t>Windows Server Backup tool offers the ability to back up all server files or files that have changed</a:t>
            </a:r>
          </a:p>
          <a:p>
            <a:r>
              <a:rPr lang="en-US" smtClean="0"/>
              <a:t>Features in Windows Server 2016:</a:t>
            </a:r>
          </a:p>
          <a:p>
            <a:pPr lvl="1"/>
            <a:r>
              <a:rPr lang="en-US" smtClean="0"/>
              <a:t>It offers both full and incremental backups</a:t>
            </a:r>
          </a:p>
          <a:p>
            <a:pPr lvl="1"/>
            <a:r>
              <a:rPr lang="en-US" smtClean="0"/>
              <a:t>Has more backup options, including using the Volume Shadow Copy Service (VSS)</a:t>
            </a:r>
          </a:p>
          <a:p>
            <a:pPr lvl="1"/>
            <a:r>
              <a:rPr lang="en-US" smtClean="0"/>
              <a:t>Offers reliable data restoration</a:t>
            </a:r>
          </a:p>
          <a:p>
            <a:pPr lvl="1"/>
            <a:r>
              <a:rPr lang="en-US" smtClean="0"/>
              <a:t>Provides information about disk space</a:t>
            </a:r>
          </a:p>
          <a:p>
            <a:pPr lvl="1"/>
            <a:r>
              <a:rPr lang="en-US" smtClean="0"/>
              <a:t>Offers the wbadmin command-line tool</a:t>
            </a:r>
          </a:p>
          <a:p>
            <a:pPr lvl="1"/>
            <a:r>
              <a:rPr lang="en-US" smtClean="0"/>
              <a:t>Has full support to back up to optical media</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672862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Server Backup (2 of 2)</a:t>
            </a:r>
            <a:endParaRPr lang="en-US" dirty="0"/>
          </a:p>
        </p:txBody>
      </p:sp>
      <p:sp>
        <p:nvSpPr>
          <p:cNvPr id="2" name="Content Placeholder 1"/>
          <p:cNvSpPr>
            <a:spLocks noGrp="1"/>
          </p:cNvSpPr>
          <p:nvPr>
            <p:ph idx="1"/>
          </p:nvPr>
        </p:nvSpPr>
        <p:spPr/>
        <p:txBody>
          <a:bodyPr/>
          <a:lstStyle/>
          <a:p>
            <a:r>
              <a:rPr lang="en-US" smtClean="0"/>
              <a:t>Considerations for using Windows Server Backup tool:</a:t>
            </a:r>
          </a:p>
          <a:p>
            <a:pPr lvl="1"/>
            <a:r>
              <a:rPr lang="en-US" smtClean="0"/>
              <a:t>Tool only backs up NTFS volumes</a:t>
            </a:r>
          </a:p>
          <a:p>
            <a:pPr lvl="1"/>
            <a:r>
              <a:rPr lang="en-US" smtClean="0"/>
              <a:t>Tool does not back up to tape</a:t>
            </a:r>
          </a:p>
          <a:p>
            <a:pPr lvl="1"/>
            <a:r>
              <a:rPr lang="en-US" smtClean="0"/>
              <a:t>Cannot restore backups made from pre-Windows Server 2008 OSs that use Ntbackup.exe, such as archived financial records</a:t>
            </a:r>
          </a:p>
          <a:p>
            <a:pPr lvl="2"/>
            <a:r>
              <a:rPr lang="en-US" smtClean="0"/>
              <a:t>You can download Ntbackup.exe from Microsoft’s website and run it in Windows Server 2016 to restore files from backups made from pre-Windows Server 2008 server systems</a:t>
            </a:r>
          </a:p>
          <a:p>
            <a:r>
              <a:rPr lang="en-US" smtClean="0"/>
              <a:t>The first step in using Windows Server Backup is to install it as a feature, as shown in Activity 7-8</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64848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Backup Options</a:t>
            </a:r>
            <a:endParaRPr lang="en-US" dirty="0"/>
          </a:p>
        </p:txBody>
      </p:sp>
      <p:sp>
        <p:nvSpPr>
          <p:cNvPr id="2" name="Content Placeholder 1"/>
          <p:cNvSpPr>
            <a:spLocks noGrp="1"/>
          </p:cNvSpPr>
          <p:nvPr>
            <p:ph idx="1"/>
          </p:nvPr>
        </p:nvSpPr>
        <p:spPr/>
        <p:txBody>
          <a:bodyPr/>
          <a:lstStyle/>
          <a:p>
            <a:r>
              <a:rPr lang="en-US" smtClean="0"/>
              <a:t>Full backup</a:t>
            </a:r>
          </a:p>
          <a:p>
            <a:pPr lvl="1"/>
            <a:r>
              <a:rPr lang="en-US" smtClean="0"/>
              <a:t>A backup of an entire system, including all system files, programs, and data files</a:t>
            </a:r>
          </a:p>
          <a:p>
            <a:pPr lvl="1"/>
            <a:r>
              <a:rPr lang="en-US" smtClean="0"/>
              <a:t>Changes each file’s archive attribute to show that it has been backed up</a:t>
            </a:r>
          </a:p>
          <a:p>
            <a:r>
              <a:rPr lang="en-US" smtClean="0"/>
              <a:t>Incremental backup</a:t>
            </a:r>
          </a:p>
          <a:p>
            <a:pPr lvl="1"/>
            <a:r>
              <a:rPr lang="en-US" smtClean="0"/>
              <a:t>Only backs up files that are new or that have been updated</a:t>
            </a:r>
          </a:p>
          <a:p>
            <a:pPr lvl="1"/>
            <a:r>
              <a:rPr lang="en-US" smtClean="0"/>
              <a:t>Backs up only files that have the archive attribute marked</a:t>
            </a:r>
          </a:p>
          <a:p>
            <a:r>
              <a:rPr lang="en-US" smtClean="0"/>
              <a:t>Custom backup</a:t>
            </a:r>
          </a:p>
          <a:p>
            <a:pPr lvl="1"/>
            <a:r>
              <a:rPr lang="en-US" smtClean="0"/>
              <a:t>Enables you to configure backups differently for each volume</a:t>
            </a:r>
          </a:p>
          <a:p>
            <a:pPr lvl="2"/>
            <a:r>
              <a:rPr lang="en-US" smtClean="0"/>
              <a:t>Such as a file-by-file backup so that you back up only a specific drive, folder, or subfolder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03160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Scheduling Backups 1 of 2)</a:t>
            </a:r>
            <a:endParaRPr lang="en-US" dirty="0"/>
          </a:p>
        </p:txBody>
      </p:sp>
      <p:sp>
        <p:nvSpPr>
          <p:cNvPr id="2" name="Content Placeholder 1"/>
          <p:cNvSpPr>
            <a:spLocks noGrp="1"/>
          </p:cNvSpPr>
          <p:nvPr>
            <p:ph idx="1"/>
          </p:nvPr>
        </p:nvSpPr>
        <p:spPr/>
        <p:txBody>
          <a:bodyPr/>
          <a:lstStyle/>
          <a:p>
            <a:r>
              <a:rPr lang="en-US" smtClean="0"/>
              <a:t>Windows Server Backup includes a scheduling capability</a:t>
            </a:r>
          </a:p>
          <a:p>
            <a:pPr lvl="1"/>
            <a:r>
              <a:rPr lang="en-US" smtClean="0"/>
              <a:t>Can have the server automatically start backups after regular work hours or at a specific time of day</a:t>
            </a:r>
          </a:p>
          <a:p>
            <a:r>
              <a:rPr lang="en-US" smtClean="0"/>
              <a:t>The general steps that illustrate how to create and schedule a backup</a:t>
            </a:r>
          </a:p>
          <a:p>
            <a:pPr lvl="1"/>
            <a:r>
              <a:rPr lang="en-US" smtClean="0"/>
              <a:t>Are outlined on page 316 of the text</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421967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Scheduling Backups (2 of 2)</a:t>
            </a:r>
            <a:endParaRPr lang="en-US" dirty="0"/>
          </a:p>
        </p:txBody>
      </p:sp>
      <p:pic>
        <p:nvPicPr>
          <p:cNvPr id="6" name="Content Placeholder 5" descr=" Figure 7-22, Page No. 317, Complexity level: 2&#10;Screenshot shows “Backup Schedule Wizard” dialog box. On the left pane of the dialog box, the Specify Backup Time Option is selected. On the content pane of the dialog box, once a day radio button is selected, 9:00 PM is selected within the Select time of day drop down box. The Next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62200" y="1704523"/>
            <a:ext cx="4213550" cy="3871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701492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Backup Performance</a:t>
            </a:r>
            <a:endParaRPr lang="en-US" dirty="0"/>
          </a:p>
        </p:txBody>
      </p:sp>
      <p:sp>
        <p:nvSpPr>
          <p:cNvPr id="2" name="Content Placeholder 1"/>
          <p:cNvSpPr>
            <a:spLocks noGrp="1"/>
          </p:cNvSpPr>
          <p:nvPr>
            <p:ph idx="1"/>
          </p:nvPr>
        </p:nvSpPr>
        <p:spPr/>
        <p:txBody>
          <a:bodyPr/>
          <a:lstStyle/>
          <a:p>
            <a:r>
              <a:rPr lang="en-US" smtClean="0"/>
              <a:t>Configuring the backup performance options enables you to specify the speed of the backup and whether to perform a full backup or incremental backup</a:t>
            </a:r>
          </a:p>
          <a:p>
            <a:r>
              <a:rPr lang="en-US" smtClean="0"/>
              <a:t>The default is to always perform full backups</a:t>
            </a:r>
          </a:p>
          <a:p>
            <a:pPr lvl="1"/>
            <a:r>
              <a:rPr lang="en-US" smtClean="0"/>
              <a:t>To save time on your backups, you might prefer to use incremental backups or a combination of full and incremental </a:t>
            </a:r>
          </a:p>
          <a:p>
            <a:r>
              <a:rPr lang="en-US" smtClean="0"/>
              <a:t>Activity 7-10 shows you how to configure backup performance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589165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Performing a Recovery (1 of 3)</a:t>
            </a:r>
            <a:endParaRPr lang="en-US" dirty="0"/>
          </a:p>
        </p:txBody>
      </p:sp>
      <p:sp>
        <p:nvSpPr>
          <p:cNvPr id="2" name="Content Placeholder 1"/>
          <p:cNvSpPr>
            <a:spLocks noGrp="1"/>
          </p:cNvSpPr>
          <p:nvPr>
            <p:ph idx="1"/>
          </p:nvPr>
        </p:nvSpPr>
        <p:spPr/>
        <p:txBody>
          <a:bodyPr/>
          <a:lstStyle/>
          <a:p>
            <a:r>
              <a:rPr lang="en-US" smtClean="0"/>
              <a:t>The Windows Server Backup tool enables you to recover any of the following:</a:t>
            </a:r>
          </a:p>
          <a:p>
            <a:pPr lvl="1"/>
            <a:r>
              <a:rPr lang="en-US" smtClean="0"/>
              <a:t>Files</a:t>
            </a:r>
          </a:p>
          <a:p>
            <a:pPr lvl="1"/>
            <a:r>
              <a:rPr lang="en-US" smtClean="0"/>
              <a:t>Folders</a:t>
            </a:r>
          </a:p>
          <a:p>
            <a:pPr lvl="1"/>
            <a:r>
              <a:rPr lang="en-US" smtClean="0"/>
              <a:t>Volumes</a:t>
            </a:r>
          </a:p>
          <a:p>
            <a:pPr lvl="1"/>
            <a:r>
              <a:rPr lang="en-US" smtClean="0"/>
              <a:t>Applications and application data</a:t>
            </a:r>
          </a:p>
          <a:p>
            <a:pPr lvl="1"/>
            <a:r>
              <a:rPr lang="en-US" smtClean="0"/>
              <a:t>The backup catalog (of information in the backup)</a:t>
            </a:r>
          </a:p>
          <a:p>
            <a:pPr lvl="1"/>
            <a:r>
              <a:rPr lang="en-US" smtClean="0"/>
              <a:t>The operating system (to the same computer or to another computer using identical hardware)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27165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Performing a Recovery (2 of 3)</a:t>
            </a:r>
            <a:endParaRPr lang="en-US" dirty="0"/>
          </a:p>
        </p:txBody>
      </p:sp>
      <p:sp>
        <p:nvSpPr>
          <p:cNvPr id="2" name="Content Placeholder 1"/>
          <p:cNvSpPr>
            <a:spLocks noGrp="1"/>
          </p:cNvSpPr>
          <p:nvPr>
            <p:ph idx="1"/>
          </p:nvPr>
        </p:nvSpPr>
        <p:spPr/>
        <p:txBody>
          <a:bodyPr/>
          <a:lstStyle/>
          <a:p>
            <a:r>
              <a:rPr lang="en-US" smtClean="0"/>
              <a:t>Before you start, determine the following information:</a:t>
            </a:r>
          </a:p>
          <a:p>
            <a:pPr lvl="1"/>
            <a:r>
              <a:rPr lang="en-US" smtClean="0"/>
              <a:t>Date of the backup from which to recover</a:t>
            </a:r>
          </a:p>
          <a:p>
            <a:pPr lvl="1"/>
            <a:r>
              <a:rPr lang="en-US" smtClean="0"/>
              <a:t>Type of recovery, such as files and folders or applications</a:t>
            </a:r>
          </a:p>
          <a:p>
            <a:pPr lvl="1"/>
            <a:r>
              <a:rPr lang="en-US" smtClean="0"/>
              <a:t>What to recover</a:t>
            </a:r>
          </a:p>
          <a:p>
            <a:pPr lvl="1"/>
            <a:r>
              <a:rPr lang="en-US" smtClean="0"/>
              <a:t>Where to recover, such as in the original location or another location</a:t>
            </a:r>
          </a:p>
          <a:p>
            <a:r>
              <a:rPr lang="en-US" smtClean="0"/>
              <a:t>Use the Windows Server Backup tool to perform a recovery of data</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47686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Performing a Recovery (3 of 3)</a:t>
            </a:r>
            <a:endParaRPr lang="en-US" dirty="0"/>
          </a:p>
        </p:txBody>
      </p:sp>
      <p:pic>
        <p:nvPicPr>
          <p:cNvPr id="6" name="Content Placeholder 5" descr="Figure 7-23, Page No. 319, Complexity level: 2&#10;Screenshot shows “Recovery Wizard” dialog box. On the left pane of the dialog box, Getting Started option is selected. On the content pane of the dialog box, this server (ACCOUNTING) radio button is selected under “where is the backup stored that you want to use for the recovery option.” The Next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33600" y="1752600"/>
            <a:ext cx="4543689" cy="3795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136718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3)</a:t>
            </a:r>
            <a:endParaRPr lang="en-US" dirty="0"/>
          </a:p>
        </p:txBody>
      </p:sp>
      <p:sp>
        <p:nvSpPr>
          <p:cNvPr id="2" name="Content Placeholder 1"/>
          <p:cNvSpPr>
            <a:spLocks noGrp="1"/>
          </p:cNvSpPr>
          <p:nvPr>
            <p:ph idx="1"/>
          </p:nvPr>
        </p:nvSpPr>
        <p:spPr/>
        <p:txBody>
          <a:bodyPr/>
          <a:lstStyle/>
          <a:p>
            <a:r>
              <a:rPr lang="en-US" smtClean="0"/>
              <a:t>Windows Server 2016 uses basic and dynamic disks</a:t>
            </a:r>
          </a:p>
          <a:p>
            <a:r>
              <a:rPr lang="en-US" smtClean="0"/>
              <a:t>Dynamic disks can be configured as simple, spanned, striped, mirrored, and RAID-5 volumes</a:t>
            </a:r>
          </a:p>
          <a:p>
            <a:r>
              <a:rPr lang="en-US" smtClean="0"/>
              <a:t>If you need to recover space from a basic or dynamic disk, you can shrink the disk</a:t>
            </a:r>
          </a:p>
          <a:p>
            <a:r>
              <a:rPr lang="en-US" smtClean="0"/>
              <a:t>The Disk Management tool enables you to create basic and dynamic disks</a:t>
            </a:r>
          </a:p>
          <a:p>
            <a:r>
              <a:rPr lang="en-US" smtClean="0"/>
              <a:t>For optimum disk performance, plan to set up a schedule to regularly defragment disks on a server</a:t>
            </a:r>
          </a:p>
          <a:p>
            <a:r>
              <a:rPr lang="en-US" smtClean="0"/>
              <a:t>Use the Disk Check and chkdsk tools to find and repair disk problems</a:t>
            </a:r>
          </a:p>
          <a:p>
            <a:r>
              <a:rPr lang="en-US" smtClean="0"/>
              <a:t>RAID provides fault tolerance for hard disks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3)</a:t>
            </a:r>
            <a:endParaRPr lang="en-US" dirty="0"/>
          </a:p>
        </p:txBody>
      </p:sp>
      <p:sp>
        <p:nvSpPr>
          <p:cNvPr id="2" name="Content Placeholder 1"/>
          <p:cNvSpPr>
            <a:spLocks noGrp="1"/>
          </p:cNvSpPr>
          <p:nvPr>
            <p:ph idx="1"/>
          </p:nvPr>
        </p:nvSpPr>
        <p:spPr/>
        <p:txBody>
          <a:bodyPr/>
          <a:lstStyle/>
          <a:p>
            <a:r>
              <a:rPr lang="en-US" smtClean="0"/>
              <a:t>RAID level 0 is disk striping</a:t>
            </a:r>
          </a:p>
          <a:p>
            <a:r>
              <a:rPr lang="en-US" smtClean="0"/>
              <a:t>With disk mirroring or duplexing (RAID level 1), the same data is written to a partition on each of the two disks included in the mirror</a:t>
            </a:r>
          </a:p>
          <a:p>
            <a:r>
              <a:rPr lang="en-US" smtClean="0"/>
              <a:t>With RAID level 5, data is written across a minimum of three disks</a:t>
            </a:r>
          </a:p>
          <a:p>
            <a:r>
              <a:rPr lang="en-US" smtClean="0"/>
              <a:t>Storage Spaces enables you to create storage pools containing different types of storage technologies, such as combining SATA and SSD storage in the same pool</a:t>
            </a:r>
          </a:p>
          <a:p>
            <a:r>
              <a:rPr lang="en-US" smtClean="0"/>
              <a:t>Three RAID-like resiliency types are offered through Storage Spaces: simple, mirror, and parity</a:t>
            </a:r>
          </a:p>
          <a:p>
            <a:r>
              <a:rPr lang="en-US" smtClean="0"/>
              <a:t>New to Windows Server 2016, Storage Spaces Direct makes it even easier to add and access storage spaces and is especially targeted for virtual machines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444756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(3 of 3)</a:t>
            </a:r>
            <a:endParaRPr lang="en-US" dirty="0"/>
          </a:p>
        </p:txBody>
      </p:sp>
      <p:sp>
        <p:nvSpPr>
          <p:cNvPr id="2" name="Content Placeholder 1"/>
          <p:cNvSpPr>
            <a:spLocks noGrp="1"/>
          </p:cNvSpPr>
          <p:nvPr>
            <p:ph idx="1"/>
          </p:nvPr>
        </p:nvSpPr>
        <p:spPr/>
        <p:txBody>
          <a:bodyPr/>
          <a:lstStyle/>
          <a:p>
            <a:r>
              <a:rPr lang="en-US" smtClean="0"/>
              <a:t>Multipath I/O extends your  options for creating fault tolerance for storage through using redundant paths</a:t>
            </a:r>
          </a:p>
          <a:p>
            <a:r>
              <a:rPr lang="en-US" smtClean="0"/>
              <a:t>Windows Server Backup offers features to schedule backups, perform full or incremental backups, and recover data from backups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22766980"/>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17440</TotalTime>
  <Words>6860</Words>
  <Application>Microsoft Office PowerPoint</Application>
  <PresentationFormat>On-screen Show (4:3)</PresentationFormat>
  <Paragraphs>445</Paragraphs>
  <Slides>56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Calibri Light</vt:lpstr>
      <vt:lpstr>Office Theme</vt:lpstr>
      <vt:lpstr>Hands-On Microsoft Windows Server 2016  2nd Edition</vt:lpstr>
      <vt:lpstr>Objectives</vt:lpstr>
      <vt:lpstr>Windows Server 2016 Storage Options</vt:lpstr>
      <vt:lpstr>Basic Disks (1 of 7)</vt:lpstr>
      <vt:lpstr>Basic Disks (2 of 7)</vt:lpstr>
      <vt:lpstr>Basic Disks (3 of 7)</vt:lpstr>
      <vt:lpstr>Basic Disks (4 of 7)</vt:lpstr>
      <vt:lpstr>Basic Disks (5 of 7)</vt:lpstr>
      <vt:lpstr>Basic Disks (6 of 7)</vt:lpstr>
      <vt:lpstr>Basic Disks (7 of 7)</vt:lpstr>
      <vt:lpstr>Dynamic Disks (1 of 6)</vt:lpstr>
      <vt:lpstr>Dynamic Disks (2 of 6)</vt:lpstr>
      <vt:lpstr>Dynamic Disks (3 of 6)</vt:lpstr>
      <vt:lpstr>Dynamic Disks (4 of 6)</vt:lpstr>
      <vt:lpstr>Dynamic Disks (5 of 6)</vt:lpstr>
      <vt:lpstr>Dynamic Disks (6 of 6)</vt:lpstr>
      <vt:lpstr>Disk Management</vt:lpstr>
      <vt:lpstr>Creating a Partition and Simple Volume</vt:lpstr>
      <vt:lpstr>Converting a Partitioned Basic Disk to a Dynamic Disk</vt:lpstr>
      <vt:lpstr>Mounting a Drive</vt:lpstr>
      <vt:lpstr>Managing Disks (1 of 3)</vt:lpstr>
      <vt:lpstr>Managing Disks (2 of 3)</vt:lpstr>
      <vt:lpstr>Managing Disks (3 of 3)</vt:lpstr>
      <vt:lpstr>Introduction to Fault Tolerance</vt:lpstr>
      <vt:lpstr>RAID Volumes (1 of 5)</vt:lpstr>
      <vt:lpstr>RAID Volumes (2 of 5)</vt:lpstr>
      <vt:lpstr>RAID Volumes (3 of 5)</vt:lpstr>
      <vt:lpstr>RAID Volumes (4 of 5)</vt:lpstr>
      <vt:lpstr>RAID Volumes (5 of 5)</vt:lpstr>
      <vt:lpstr>Using a Striped Volume (RAID-0)</vt:lpstr>
      <vt:lpstr>Using a Mirrored Volume (RAID-1)</vt:lpstr>
      <vt:lpstr>Using a RAID-5 Volume (1 of 3)</vt:lpstr>
      <vt:lpstr>Using a RAID-5 Volume (2 of 3)</vt:lpstr>
      <vt:lpstr>Using a RAID-5 Volume (3 of 3)</vt:lpstr>
      <vt:lpstr>Software RAID vs. Hardware RAID</vt:lpstr>
      <vt:lpstr>Storage Spaces (1 of 3)</vt:lpstr>
      <vt:lpstr>Storage Spaces (2 of 3)</vt:lpstr>
      <vt:lpstr>Storage Spaces (3 of 3)</vt:lpstr>
      <vt:lpstr>Storage Spaces Direct (1 of 2)</vt:lpstr>
      <vt:lpstr>Storage Spaces Direct (2 of 2)</vt:lpstr>
      <vt:lpstr>Multipath Input/Output (1 of 3)</vt:lpstr>
      <vt:lpstr>Multipath Input/Output (2 of 3)</vt:lpstr>
      <vt:lpstr>Multipath Input/Output (3 of 3)</vt:lpstr>
      <vt:lpstr>Disk Backup</vt:lpstr>
      <vt:lpstr>Windows Server Backup (1 of 2)</vt:lpstr>
      <vt:lpstr>Windows Server Backup (2 of 2)</vt:lpstr>
      <vt:lpstr>Backup Options</vt:lpstr>
      <vt:lpstr>Scheduling Backups 1 of 2)</vt:lpstr>
      <vt:lpstr>Scheduling Backups (2 of 2)</vt:lpstr>
      <vt:lpstr>Configuring Backup Performance</vt:lpstr>
      <vt:lpstr>Performing a Recovery (1 of 3)</vt:lpstr>
      <vt:lpstr>Performing a Recovery (2 of 3)</vt:lpstr>
      <vt:lpstr>Performing a Recovery (3 of 3)</vt:lpstr>
      <vt:lpstr>Chapter Summary (1 of 3)</vt:lpstr>
      <vt:lpstr>Chapter Summary (2 of 3)</vt:lpstr>
      <vt:lpstr>Chapter Summary (3 of 3)</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615</cp:revision>
  <cp:lastPrinted>2017-07-11T22:16:01Z</cp:lastPrinted>
  <dcterms:created xsi:type="dcterms:W3CDTF">2007-02-15T20:50:52Z</dcterms:created>
  <dcterms:modified xsi:type="dcterms:W3CDTF">2017-07-11T22:16:05Z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