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52"/>
  </p:notesMasterIdLst>
  <p:handoutMasterIdLst>
    <p:handoutMasterId r:id="rId53"/>
  </p:handoutMasterIdLst>
  <p:sldIdLst>
    <p:sldId id="256" r:id="rId2"/>
    <p:sldId id="257" r:id="rId3"/>
    <p:sldId id="350"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67" r:id="rId21"/>
    <p:sldId id="368" r:id="rId22"/>
    <p:sldId id="369" r:id="rId23"/>
    <p:sldId id="370" r:id="rId24"/>
    <p:sldId id="371" r:id="rId25"/>
    <p:sldId id="372" r:id="rId26"/>
    <p:sldId id="373" r:id="rId27"/>
    <p:sldId id="374" r:id="rId28"/>
    <p:sldId id="375" r:id="rId29"/>
    <p:sldId id="376" r:id="rId30"/>
    <p:sldId id="377" r:id="rId31"/>
    <p:sldId id="378" r:id="rId32"/>
    <p:sldId id="379" r:id="rId33"/>
    <p:sldId id="380" r:id="rId34"/>
    <p:sldId id="381" r:id="rId35"/>
    <p:sldId id="382" r:id="rId36"/>
    <p:sldId id="383" r:id="rId37"/>
    <p:sldId id="384" r:id="rId38"/>
    <p:sldId id="385" r:id="rId39"/>
    <p:sldId id="386" r:id="rId40"/>
    <p:sldId id="387" r:id="rId41"/>
    <p:sldId id="388" r:id="rId42"/>
    <p:sldId id="389" r:id="rId43"/>
    <p:sldId id="390" r:id="rId44"/>
    <p:sldId id="391" r:id="rId45"/>
    <p:sldId id="392" r:id="rId46"/>
    <p:sldId id="393" r:id="rId47"/>
    <p:sldId id="394" r:id="rId48"/>
    <p:sldId id="395" r:id="rId49"/>
    <p:sldId id="308" r:id="rId50"/>
    <p:sldId id="310" r:id="rId51"/>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72" autoAdjust="0"/>
    <p:restoredTop sz="76197" autoAdjust="0"/>
  </p:normalViewPr>
  <p:slideViewPr>
    <p:cSldViewPr>
      <p:cViewPr varScale="1">
        <p:scale>
          <a:sx n="74" d="100"/>
          <a:sy n="74" d="100"/>
        </p:scale>
        <p:origin x="1440"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3635783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49</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50</a:t>
            </a:fld>
            <a:endParaRPr lang="en-US" dirty="0"/>
          </a:p>
        </p:txBody>
      </p:sp>
    </p:spTree>
    <p:extLst>
      <p:ext uri="{BB962C8B-B14F-4D97-AF65-F5344CB8AC3E}">
        <p14:creationId xmlns:p14="http://schemas.microsoft.com/office/powerpoint/2010/main" val="28708147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11</a:t>
            </a:r>
          </a:p>
          <a:p>
            <a:r>
              <a:rPr lang="en-US" smtClean="0"/>
              <a:t>Server and Network Monitoring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Understand the importance of server monitoring</a:t>
            </a:r>
          </a:p>
          <a:p>
            <a:r>
              <a:rPr lang="en-US" smtClean="0"/>
              <a:t>Use Resource Monitor</a:t>
            </a:r>
          </a:p>
          <a:p>
            <a:r>
              <a:rPr lang="en-US" smtClean="0"/>
              <a:t>Monitor server services and solve problems with services</a:t>
            </a:r>
          </a:p>
          <a:p>
            <a:r>
              <a:rPr lang="en-US" smtClean="0"/>
              <a:t>Use Task Manager for server monitoring</a:t>
            </a:r>
          </a:p>
          <a:p>
            <a:r>
              <a:rPr lang="en-US" smtClean="0"/>
              <a:t>Configure and use Performance Monitor</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Set up and use Data Collector Sets for performance and diagnostic information</a:t>
            </a:r>
          </a:p>
          <a:p>
            <a:r>
              <a:rPr lang="en-US" smtClean="0"/>
              <a:t>Implement the SNMP service for network management</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8522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Server Monitoring (1 of 2)</a:t>
            </a:r>
            <a:endParaRPr lang="en-US" dirty="0"/>
          </a:p>
        </p:txBody>
      </p:sp>
      <p:sp>
        <p:nvSpPr>
          <p:cNvPr id="2" name="Content Placeholder 1"/>
          <p:cNvSpPr>
            <a:spLocks noGrp="1"/>
          </p:cNvSpPr>
          <p:nvPr>
            <p:ph idx="1"/>
          </p:nvPr>
        </p:nvSpPr>
        <p:spPr/>
        <p:txBody>
          <a:bodyPr/>
          <a:lstStyle/>
          <a:p>
            <a:r>
              <a:rPr lang="en-US" smtClean="0"/>
              <a:t>Server monitoring is performed for several reasons</a:t>
            </a:r>
          </a:p>
          <a:p>
            <a:pPr lvl="1"/>
            <a:r>
              <a:rPr lang="en-US" smtClean="0"/>
              <a:t>To establish a baseline of performance so problems can be more easily identified when they occur</a:t>
            </a:r>
          </a:p>
          <a:p>
            <a:pPr lvl="1"/>
            <a:r>
              <a:rPr lang="en-US" smtClean="0"/>
              <a:t>To prevent problems before they occur and to diagnose existing problems</a:t>
            </a:r>
          </a:p>
          <a:p>
            <a:r>
              <a:rPr lang="en-US" smtClean="0"/>
              <a:t>Benchmarks or baselines</a:t>
            </a:r>
          </a:p>
          <a:p>
            <a:pPr lvl="1"/>
            <a:r>
              <a:rPr lang="en-US" smtClean="0"/>
              <a:t>Provide a basis for comparing data collected during problem situations with data showing normal performance conditions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2806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Server Monitoring (2 of 2)</a:t>
            </a:r>
            <a:endParaRPr lang="en-US" dirty="0"/>
          </a:p>
        </p:txBody>
      </p:sp>
      <p:sp>
        <p:nvSpPr>
          <p:cNvPr id="2" name="Content Placeholder 1"/>
          <p:cNvSpPr>
            <a:spLocks noGrp="1"/>
          </p:cNvSpPr>
          <p:nvPr>
            <p:ph idx="1"/>
          </p:nvPr>
        </p:nvSpPr>
        <p:spPr/>
        <p:txBody>
          <a:bodyPr/>
          <a:lstStyle/>
          <a:p>
            <a:r>
              <a:rPr lang="en-US" smtClean="0"/>
              <a:t>Sample benchmarks that you might establish include the following:</a:t>
            </a:r>
          </a:p>
          <a:p>
            <a:pPr lvl="1"/>
            <a:r>
              <a:rPr lang="en-US" smtClean="0"/>
              <a:t>Test benchmarks of disk, CPU, memory, and network response before releasing a new operating system, server hardware, or a complex application to users</a:t>
            </a:r>
          </a:p>
          <a:p>
            <a:pPr lvl="1"/>
            <a:r>
              <a:rPr lang="en-US" smtClean="0"/>
              <a:t>Slow, typical, and heavy usage of disk, CPU, memory, and other server resources for each server</a:t>
            </a:r>
          </a:p>
          <a:p>
            <a:pPr lvl="1"/>
            <a:r>
              <a:rPr lang="en-US" smtClean="0"/>
              <a:t>Slow, typical, and heavy usage of the combined network and server resources</a:t>
            </a:r>
          </a:p>
          <a:p>
            <a:pPr lvl="1"/>
            <a:r>
              <a:rPr lang="en-US" smtClean="0"/>
              <a:t>Growth of use of network and server resources at specific intervals, such as every six months to a year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94914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Resource Monitor (1 of 3)</a:t>
            </a:r>
            <a:endParaRPr lang="en-US" dirty="0"/>
          </a:p>
        </p:txBody>
      </p:sp>
      <p:sp>
        <p:nvSpPr>
          <p:cNvPr id="2" name="Content Placeholder 1"/>
          <p:cNvSpPr>
            <a:spLocks noGrp="1"/>
          </p:cNvSpPr>
          <p:nvPr>
            <p:ph idx="1"/>
          </p:nvPr>
        </p:nvSpPr>
        <p:spPr/>
        <p:txBody>
          <a:bodyPr/>
          <a:lstStyle/>
          <a:p>
            <a:r>
              <a:rPr lang="en-US" smtClean="0"/>
              <a:t>Resource Monitor provides a real-time snapshot for monitoring the following resources:</a:t>
            </a:r>
          </a:p>
          <a:p>
            <a:pPr lvl="1"/>
            <a:r>
              <a:rPr lang="en-US" smtClean="0"/>
              <a:t>CPU</a:t>
            </a:r>
          </a:p>
          <a:p>
            <a:pPr lvl="1"/>
            <a:r>
              <a:rPr lang="en-US" smtClean="0"/>
              <a:t>Memory</a:t>
            </a:r>
          </a:p>
          <a:p>
            <a:pPr lvl="1"/>
            <a:r>
              <a:rPr lang="en-US" smtClean="0"/>
              <a:t>Disk</a:t>
            </a:r>
          </a:p>
          <a:p>
            <a:pPr lvl="1"/>
            <a:r>
              <a:rPr lang="en-US" smtClean="0"/>
              <a:t>Network</a:t>
            </a:r>
          </a:p>
          <a:p>
            <a:r>
              <a:rPr lang="en-US" smtClean="0"/>
              <a:t>This tool is very useful for a first quick analysis of a problem</a:t>
            </a:r>
          </a:p>
          <a:p>
            <a:r>
              <a:rPr lang="en-US" smtClean="0"/>
              <a:t>Processes or services running on a server are displayed according to the four main categories above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1190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Resource Monitor (2 of 3)</a:t>
            </a:r>
            <a:endParaRPr lang="en-US" dirty="0"/>
          </a:p>
        </p:txBody>
      </p:sp>
      <p:pic>
        <p:nvPicPr>
          <p:cNvPr id="6" name="Content Placeholder 5" descr="Figure 11-1, Page No. 473, Complexity level: 4&#10;Screenshot shows the “Resource Monitor” dialog box. The Overview tab is selected within the dialog box. The content pane displays the process of CPU section drop down box with 5% CPU Usage and 50% Maximum Frequency. The process of Disk section dropdown box with 0 kilobytes per second Disk Input/output and 1% Highest Active Time. The process of Network section dropdown box with 3 kilobytes per second Network Input/output and 0% Network Utilization. The process of Memory section dropdown box with 6 hard Faults per second and 26% Used Physical Memory. On the right pane, the view tab displays four graphs. The first graph shows the CPU section, ranging from 0% to 100% on the vertical line at 60 seconds. The second graph shows the Disk section, ranging from 0 to 100 kilobytes per second on the vertical line. The third graph shows the Network section ranging from 0 to 10 Kilobits per second on the vertical line. The fourth graph shows the Memory section, ranging from 0 to 100 Hard Faults per second on the vertical line.&#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1600200"/>
            <a:ext cx="4522621"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67151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Resource Monitor (3 of 3)</a:t>
            </a:r>
            <a:endParaRPr lang="en-US" dirty="0"/>
          </a:p>
        </p:txBody>
      </p:sp>
      <p:sp>
        <p:nvSpPr>
          <p:cNvPr id="2" name="Content Placeholder 1"/>
          <p:cNvSpPr>
            <a:spLocks noGrp="1"/>
          </p:cNvSpPr>
          <p:nvPr>
            <p:ph idx="1"/>
          </p:nvPr>
        </p:nvSpPr>
        <p:spPr/>
        <p:txBody>
          <a:bodyPr/>
          <a:lstStyle/>
          <a:p>
            <a:r>
              <a:rPr lang="en-US" smtClean="0"/>
              <a:t>Processor(s) in a server can be a bottleneck for several reasons:</a:t>
            </a:r>
          </a:p>
          <a:p>
            <a:pPr lvl="1"/>
            <a:r>
              <a:rPr lang="en-US" smtClean="0"/>
              <a:t>The processor does not have enough processing speed</a:t>
            </a:r>
          </a:p>
          <a:p>
            <a:pPr lvl="1"/>
            <a:r>
              <a:rPr lang="en-US" smtClean="0"/>
              <a:t>One or more applications are inefficient or poorly programmed </a:t>
            </a:r>
          </a:p>
          <a:p>
            <a:r>
              <a:rPr lang="en-US" smtClean="0"/>
              <a:t>Memory bottlenecks can be caused by insufficient memory or inefficient programs</a:t>
            </a:r>
          </a:p>
          <a:p>
            <a:r>
              <a:rPr lang="en-US" smtClean="0"/>
              <a:t>Hard disk bottlenecks affect the overall server performance</a:t>
            </a:r>
          </a:p>
          <a:p>
            <a:pPr lvl="1"/>
            <a:r>
              <a:rPr lang="en-US" smtClean="0"/>
              <a:t>Resource Monitor shows disk I/O and the highest active time</a:t>
            </a:r>
          </a:p>
          <a:p>
            <a:r>
              <a:rPr lang="en-US" smtClean="0"/>
              <a:t>Network performance is a possible bottleneck</a:t>
            </a:r>
          </a:p>
          <a:p>
            <a:pPr lvl="1"/>
            <a:r>
              <a:rPr lang="en-US" smtClean="0"/>
              <a:t>Problems to look for include a problem with a server NIC or a network that is saturated with traffic</a:t>
            </a:r>
          </a:p>
          <a:p>
            <a:r>
              <a:rPr lang="en-US" smtClean="0"/>
              <a:t>Activity 11-1 shows you how to use Resource Monitor for an initial server assessment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16292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Server Services</a:t>
            </a:r>
            <a:endParaRPr lang="en-US" dirty="0"/>
          </a:p>
        </p:txBody>
      </p:sp>
      <p:sp>
        <p:nvSpPr>
          <p:cNvPr id="2" name="Content Placeholder 1"/>
          <p:cNvSpPr>
            <a:spLocks noGrp="1"/>
          </p:cNvSpPr>
          <p:nvPr>
            <p:ph idx="1"/>
          </p:nvPr>
        </p:nvSpPr>
        <p:spPr/>
        <p:txBody>
          <a:bodyPr/>
          <a:lstStyle/>
          <a:p>
            <a:r>
              <a:rPr lang="en-US" smtClean="0"/>
              <a:t>Servers are always running a number of services</a:t>
            </a:r>
          </a:p>
          <a:p>
            <a:r>
              <a:rPr lang="en-US" smtClean="0"/>
              <a:t>Table 11-1 on page 475 presents a sampling of some of the services typically in use in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11081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Accessing Server Services</a:t>
            </a:r>
            <a:endParaRPr lang="en-US" dirty="0"/>
          </a:p>
        </p:txBody>
      </p:sp>
      <p:sp>
        <p:nvSpPr>
          <p:cNvPr id="2" name="Content Placeholder 1"/>
          <p:cNvSpPr>
            <a:spLocks noGrp="1"/>
          </p:cNvSpPr>
          <p:nvPr>
            <p:ph idx="1"/>
          </p:nvPr>
        </p:nvSpPr>
        <p:spPr/>
        <p:txBody>
          <a:bodyPr/>
          <a:lstStyle/>
          <a:p>
            <a:r>
              <a:rPr lang="en-US" smtClean="0"/>
              <a:t>You can access server services through Server Manager or the Computer Management tool</a:t>
            </a:r>
          </a:p>
          <a:p>
            <a:endParaRPr lang="en-US" dirty="0"/>
          </a:p>
        </p:txBody>
      </p:sp>
      <p:pic>
        <p:nvPicPr>
          <p:cNvPr id="5" name="Picture 4" descr="Figure 11-2, Page No. 476, Complexity level: 1&#10;Screenshot shows the “Services” dialog box. On the left pane of the dialog box, the Services (Local) option is selected. The content pane of the dialog box displays the list of Name with its description, Status, Startup Type, and Log on As.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554" y="2286000"/>
            <a:ext cx="4602480" cy="3700272"/>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19172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Solving a Problem with a Service (1 of 2)</a:t>
            </a:r>
            <a:endParaRPr lang="en-US" dirty="0"/>
          </a:p>
        </p:txBody>
      </p:sp>
      <p:sp>
        <p:nvSpPr>
          <p:cNvPr id="2" name="Content Placeholder 1"/>
          <p:cNvSpPr>
            <a:spLocks noGrp="1"/>
          </p:cNvSpPr>
          <p:nvPr>
            <p:ph idx="1"/>
          </p:nvPr>
        </p:nvSpPr>
        <p:spPr/>
        <p:txBody>
          <a:bodyPr/>
          <a:lstStyle/>
          <a:p>
            <a:r>
              <a:rPr lang="en-US" smtClean="0"/>
              <a:t>When you experience a problem on a server that is associated with a service</a:t>
            </a:r>
          </a:p>
          <a:p>
            <a:pPr lvl="1"/>
            <a:r>
              <a:rPr lang="en-US" smtClean="0"/>
              <a:t>Check the status of the service to make sure that it is started or set to start automatically</a:t>
            </a:r>
          </a:p>
          <a:p>
            <a:r>
              <a:rPr lang="en-US" smtClean="0"/>
              <a:t>You can start, stop, pause, resume, or restart a service</a:t>
            </a:r>
          </a:p>
          <a:p>
            <a:pPr lvl="1"/>
            <a:r>
              <a:rPr lang="en-US" smtClean="0"/>
              <a:t>By right-clicking it and clicking any of these options</a:t>
            </a:r>
          </a:p>
          <a:p>
            <a:r>
              <a:rPr lang="en-US" smtClean="0"/>
              <a:t>You can check dependencies by double-clicking a service and clicking the Dependencies tab</a:t>
            </a:r>
          </a:p>
          <a:p>
            <a:r>
              <a:rPr lang="en-US" smtClean="0"/>
              <a:t>Pausing a service takes it offline to be used only by Administrators or Server Operators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50860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Solving a Problem with a Service (2 of 2)</a:t>
            </a:r>
            <a:endParaRPr lang="en-US" dirty="0"/>
          </a:p>
        </p:txBody>
      </p:sp>
      <p:pic>
        <p:nvPicPr>
          <p:cNvPr id="6" name="Content Placeholder 5" descr="Figure 11-3, Page No. 477, Complexity level: 2&#10;Screenshot shows the “Workstation Properties (Local Computer)” dialog box. The cursor points to the Dependencies tab and it is selected. The window displays the text and it reads &#10;“Some services depend on other services, system drivers or load order groups. If a system component is stopped, or is not running properly, dependent services can be affected.” The Browser Support Driver option is selected under the option “this service depends on the following system components.”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600200"/>
            <a:ext cx="3577882"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961443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Task Manager</a:t>
            </a:r>
            <a:endParaRPr lang="en-US" dirty="0"/>
          </a:p>
        </p:txBody>
      </p:sp>
      <p:sp>
        <p:nvSpPr>
          <p:cNvPr id="2" name="Content Placeholder 1"/>
          <p:cNvSpPr>
            <a:spLocks noGrp="1"/>
          </p:cNvSpPr>
          <p:nvPr>
            <p:ph idx="1"/>
          </p:nvPr>
        </p:nvSpPr>
        <p:spPr/>
        <p:txBody>
          <a:bodyPr/>
          <a:lstStyle/>
          <a:p>
            <a:r>
              <a:rPr lang="en-US" smtClean="0"/>
              <a:t>Windows Server 2016 includes the Task Manager tool</a:t>
            </a:r>
          </a:p>
          <a:p>
            <a:pPr lvl="1"/>
            <a:r>
              <a:rPr lang="en-US" smtClean="0"/>
              <a:t>Can be used to monitor applications and processes running on a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817371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Applications (1 of 3)</a:t>
            </a:r>
            <a:endParaRPr lang="en-US" dirty="0"/>
          </a:p>
        </p:txBody>
      </p:sp>
      <p:sp>
        <p:nvSpPr>
          <p:cNvPr id="2" name="Content Placeholder 1"/>
          <p:cNvSpPr>
            <a:spLocks noGrp="1"/>
          </p:cNvSpPr>
          <p:nvPr>
            <p:ph idx="1"/>
          </p:nvPr>
        </p:nvSpPr>
        <p:spPr/>
        <p:txBody>
          <a:bodyPr/>
          <a:lstStyle/>
          <a:p>
            <a:r>
              <a:rPr lang="en-US" smtClean="0"/>
              <a:t>You can use Task Manager to view applications running on the server</a:t>
            </a:r>
          </a:p>
          <a:p>
            <a:pPr lvl="1"/>
            <a:r>
              <a:rPr lang="en-US" smtClean="0"/>
              <a:t>By pressing CTRL+ALT+DEL while logged on as Administrator or as a member of the Administrators group</a:t>
            </a:r>
          </a:p>
          <a:p>
            <a:r>
              <a:rPr lang="en-US" smtClean="0"/>
              <a:t>The Processes tab shows:</a:t>
            </a:r>
          </a:p>
          <a:p>
            <a:pPr lvl="1"/>
            <a:r>
              <a:rPr lang="en-US" smtClean="0"/>
              <a:t>All the software applications, background processes, and Windows processes running from the server console</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879467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Applications (2 of 3)</a:t>
            </a:r>
            <a:endParaRPr lang="en-US" dirty="0"/>
          </a:p>
        </p:txBody>
      </p:sp>
      <p:pic>
        <p:nvPicPr>
          <p:cNvPr id="6" name="Content Placeholder 5" descr="Figure 11-5, Page No. 480, Complexity level: 2&#10;Screenshot shows the “Task Manager” dialog box. The Process tab is selected. The window displays the names and its 5% CPU and 32% Memory for the list of four Apps and thirty background process. The End tas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4600" y="1524000"/>
            <a:ext cx="3964776"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4874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Applications (3 of 3)</a:t>
            </a:r>
            <a:endParaRPr lang="en-US" dirty="0"/>
          </a:p>
        </p:txBody>
      </p:sp>
      <p:sp>
        <p:nvSpPr>
          <p:cNvPr id="2" name="Content Placeholder 1"/>
          <p:cNvSpPr>
            <a:spLocks noGrp="1"/>
          </p:cNvSpPr>
          <p:nvPr>
            <p:ph idx="1"/>
          </p:nvPr>
        </p:nvSpPr>
        <p:spPr/>
        <p:txBody>
          <a:bodyPr/>
          <a:lstStyle/>
          <a:p>
            <a:r>
              <a:rPr lang="en-US" smtClean="0"/>
              <a:t>If you right-click an application, several active options appear in a shortcut menu, as follows:</a:t>
            </a:r>
          </a:p>
          <a:p>
            <a:pPr lvl="1"/>
            <a:r>
              <a:rPr lang="en-US" smtClean="0"/>
              <a:t>Expand</a:t>
            </a:r>
          </a:p>
          <a:p>
            <a:pPr lvl="1"/>
            <a:r>
              <a:rPr lang="en-US" smtClean="0"/>
              <a:t>Restart</a:t>
            </a:r>
          </a:p>
          <a:p>
            <a:pPr lvl="1"/>
            <a:r>
              <a:rPr lang="en-US" smtClean="0"/>
              <a:t>End task</a:t>
            </a:r>
          </a:p>
          <a:p>
            <a:pPr lvl="1"/>
            <a:r>
              <a:rPr lang="en-US" smtClean="0"/>
              <a:t>Resource values</a:t>
            </a:r>
          </a:p>
          <a:p>
            <a:pPr lvl="1"/>
            <a:r>
              <a:rPr lang="en-US" smtClean="0"/>
              <a:t>Create dump file</a:t>
            </a:r>
          </a:p>
          <a:p>
            <a:pPr lvl="1"/>
            <a:r>
              <a:rPr lang="en-US" smtClean="0"/>
              <a:t>Go to details</a:t>
            </a:r>
          </a:p>
          <a:p>
            <a:pPr lvl="1"/>
            <a:r>
              <a:rPr lang="en-US" smtClean="0"/>
              <a:t>Open file location</a:t>
            </a:r>
          </a:p>
          <a:p>
            <a:pPr lvl="1"/>
            <a:r>
              <a:rPr lang="en-US" smtClean="0"/>
              <a:t>Search online</a:t>
            </a:r>
          </a:p>
          <a:p>
            <a:pPr lvl="1"/>
            <a:r>
              <a:rPr lang="en-US" smtClean="0"/>
              <a:t>Properties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59416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Processes (1 of 2)</a:t>
            </a:r>
            <a:endParaRPr lang="en-US" dirty="0"/>
          </a:p>
        </p:txBody>
      </p:sp>
      <p:sp>
        <p:nvSpPr>
          <p:cNvPr id="2" name="Content Placeholder 1"/>
          <p:cNvSpPr>
            <a:spLocks noGrp="1"/>
          </p:cNvSpPr>
          <p:nvPr>
            <p:ph idx="1"/>
          </p:nvPr>
        </p:nvSpPr>
        <p:spPr/>
        <p:txBody>
          <a:bodyPr/>
          <a:lstStyle/>
          <a:p>
            <a:r>
              <a:rPr lang="en-US" smtClean="0"/>
              <a:t>The Details tab lists the processes in use by all running applications</a:t>
            </a:r>
          </a:p>
          <a:p>
            <a:r>
              <a:rPr lang="en-US" smtClean="0"/>
              <a:t>If you need to stop a process, simply highlight it and click End task</a:t>
            </a:r>
          </a:p>
          <a:p>
            <a:r>
              <a:rPr lang="en-US" smtClean="0"/>
              <a:t>The Details tab also shows information about each started process</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031590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Processes (2 of 2)</a:t>
            </a:r>
            <a:endParaRPr lang="en-US" dirty="0"/>
          </a:p>
        </p:txBody>
      </p:sp>
      <p:pic>
        <p:nvPicPr>
          <p:cNvPr id="6" name="Content Placeholder 5" descr="Figure 11-7, Page No. 483, Complexity level: 1&#10;Screenshot shows the “Task Manager” dialog box. The Details tab is selected. The window displays the list of Names and its PID, Status, User name, CPU, Memory, and Description. The End tas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38400" y="1524000"/>
            <a:ext cx="3951821" cy="4405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37520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Setting Priorities (1 of 2)</a:t>
            </a:r>
            <a:endParaRPr lang="en-US" dirty="0"/>
          </a:p>
        </p:txBody>
      </p:sp>
      <p:sp>
        <p:nvSpPr>
          <p:cNvPr id="2" name="Content Placeholder 1"/>
          <p:cNvSpPr>
            <a:spLocks noGrp="1"/>
          </p:cNvSpPr>
          <p:nvPr>
            <p:ph idx="1"/>
          </p:nvPr>
        </p:nvSpPr>
        <p:spPr/>
        <p:txBody>
          <a:bodyPr/>
          <a:lstStyle/>
          <a:p>
            <a:r>
              <a:rPr lang="en-US" smtClean="0"/>
              <a:t>Using the Details tab within Task Manager</a:t>
            </a:r>
          </a:p>
          <a:p>
            <a:pPr lvl="1"/>
            <a:r>
              <a:rPr lang="en-US" smtClean="0"/>
              <a:t>You can increase the priority of a process (or processes) in the list so that it has more CPU priority than what is set as its default</a:t>
            </a:r>
          </a:p>
          <a:p>
            <a:r>
              <a:rPr lang="en-US" smtClean="0"/>
              <a:t>Base priority class</a:t>
            </a:r>
          </a:p>
          <a:p>
            <a:pPr lvl="1"/>
            <a:r>
              <a:rPr lang="en-US" smtClean="0"/>
              <a:t>The priority at which a process runs is set in the program code of the application</a:t>
            </a:r>
          </a:p>
          <a:p>
            <a:r>
              <a:rPr lang="en-US" smtClean="0"/>
              <a:t>If the base priority class is not set by the program, a normal (average) priority is set by the system</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64357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Setting Priorities (2 of 2)</a:t>
            </a:r>
            <a:endParaRPr lang="en-US" dirty="0"/>
          </a:p>
        </p:txBody>
      </p:sp>
      <p:pic>
        <p:nvPicPr>
          <p:cNvPr id="6" name="Content Placeholder 5" descr=" Figure 11-8, Page No. 485, Complexity level: 2&#10;Screenshot shows the “Task Manager” dialog box. The Details tab is selected. The window displays the list of details. The explorer.exe, 2396, Running, SYSTEM,00, 9,908 k, Windows Explorer is selected and a small window displays. On the small window, the cursor points to the Set priority option which leads to another window in which the normal option is selected. The End tas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4600" y="1600200"/>
            <a:ext cx="4101936" cy="4557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61804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Services (1 of 2)</a:t>
            </a:r>
            <a:endParaRPr lang="en-US" dirty="0"/>
          </a:p>
        </p:txBody>
      </p:sp>
      <p:sp>
        <p:nvSpPr>
          <p:cNvPr id="2" name="Content Placeholder 1"/>
          <p:cNvSpPr>
            <a:spLocks noGrp="1"/>
          </p:cNvSpPr>
          <p:nvPr>
            <p:ph idx="1"/>
          </p:nvPr>
        </p:nvSpPr>
        <p:spPr/>
        <p:txBody>
          <a:bodyPr/>
          <a:lstStyle/>
          <a:p>
            <a:r>
              <a:rPr lang="en-US" smtClean="0"/>
              <a:t>The Services tab in Task Manager shows the services that are started, stopped, or paused</a:t>
            </a:r>
          </a:p>
          <a:p>
            <a:r>
              <a:rPr lang="en-US" smtClean="0"/>
              <a:t>If you want to manage services using more management options</a:t>
            </a:r>
          </a:p>
          <a:p>
            <a:pPr lvl="1"/>
            <a:r>
              <a:rPr lang="en-US" smtClean="0"/>
              <a:t>Use Server Manager or the Computer Management tool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55872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Services (2 of 2)</a:t>
            </a:r>
            <a:endParaRPr lang="en-US" dirty="0"/>
          </a:p>
        </p:txBody>
      </p:sp>
      <p:pic>
        <p:nvPicPr>
          <p:cNvPr id="6" name="Content Placeholder 5" descr="Figure 11-9, Page No. 487, Complexity level: 1&#10;Screenshot shows the “Task Manager” dialog box. The Services tab is selected. The window displays the list of details. The WinDefend, 2060, Windows Defender Service, Running is selected and a small window displays. On the small window, the cursor points to the Stop option.&#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524000"/>
            <a:ext cx="3883465" cy="4329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696988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(1 of 6)</a:t>
            </a:r>
            <a:endParaRPr lang="en-US" dirty="0"/>
          </a:p>
        </p:txBody>
      </p:sp>
      <p:sp>
        <p:nvSpPr>
          <p:cNvPr id="2" name="Content Placeholder 1"/>
          <p:cNvSpPr>
            <a:spLocks noGrp="1"/>
          </p:cNvSpPr>
          <p:nvPr>
            <p:ph idx="1"/>
          </p:nvPr>
        </p:nvSpPr>
        <p:spPr/>
        <p:txBody>
          <a:bodyPr/>
          <a:lstStyle/>
          <a:p>
            <a:r>
              <a:rPr lang="en-US" smtClean="0"/>
              <a:t>The Performance tab shows vital CPU and memory performance information</a:t>
            </a:r>
          </a:p>
          <a:p>
            <a:pPr lvl="1"/>
            <a:r>
              <a:rPr lang="en-US" smtClean="0"/>
              <a:t>Through graphs and performance statistics</a:t>
            </a:r>
          </a:p>
          <a:p>
            <a:r>
              <a:rPr lang="en-US" smtClean="0"/>
              <a:t>Handle</a:t>
            </a:r>
          </a:p>
          <a:p>
            <a:pPr lvl="1"/>
            <a:r>
              <a:rPr lang="en-US" smtClean="0"/>
              <a:t>A resource, such as a file, used by a program and having its own identification so the program is able to access it</a:t>
            </a:r>
          </a:p>
          <a:p>
            <a:r>
              <a:rPr lang="en-US" smtClean="0"/>
              <a:t>Threads</a:t>
            </a:r>
          </a:p>
          <a:p>
            <a:pPr lvl="1"/>
            <a:r>
              <a:rPr lang="en-US" smtClean="0"/>
              <a:t>Blocks of code within a program</a:t>
            </a:r>
          </a:p>
          <a:p>
            <a:r>
              <a:rPr lang="en-US" smtClean="0"/>
              <a:t>Committed memory</a:t>
            </a:r>
          </a:p>
          <a:p>
            <a:pPr lvl="1"/>
            <a:r>
              <a:rPr lang="en-US" smtClean="0"/>
              <a:t>The number of bytes a process has designated for use and that are promised by the OS to a designated portion of the page file</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05005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(2 of 6)</a:t>
            </a:r>
            <a:endParaRPr lang="en-US" dirty="0"/>
          </a:p>
        </p:txBody>
      </p:sp>
      <p:sp>
        <p:nvSpPr>
          <p:cNvPr id="2" name="Content Placeholder 1"/>
          <p:cNvSpPr>
            <a:spLocks noGrp="1"/>
          </p:cNvSpPr>
          <p:nvPr>
            <p:ph idx="1"/>
          </p:nvPr>
        </p:nvSpPr>
        <p:spPr/>
        <p:txBody>
          <a:bodyPr/>
          <a:lstStyle/>
          <a:p>
            <a:r>
              <a:rPr lang="en-US" smtClean="0"/>
              <a:t>Paged pool</a:t>
            </a:r>
          </a:p>
          <a:p>
            <a:pPr lvl="1"/>
            <a:r>
              <a:rPr lang="en-US" smtClean="0"/>
              <a:t>Represents data that can be stored in the paging file and so can be paged in and out of the virtual memory</a:t>
            </a:r>
          </a:p>
          <a:p>
            <a:r>
              <a:rPr lang="en-US" smtClean="0"/>
              <a:t>Non-paged pool</a:t>
            </a:r>
          </a:p>
          <a:p>
            <a:pPr lvl="1"/>
            <a:r>
              <a:rPr lang="en-US" smtClean="0"/>
              <a:t>Hold the OS kernel and device drivers that cannot be paged out</a:t>
            </a:r>
          </a:p>
          <a:p>
            <a:pPr lvl="2"/>
            <a:r>
              <a:rPr lang="en-US" smtClean="0"/>
              <a:t>These processes are always kept in physical memory or RAM to assure faster,  uninterrupted service</a:t>
            </a:r>
          </a:p>
          <a:p>
            <a:r>
              <a:rPr lang="en-US" smtClean="0"/>
              <a:t>Page fault</a:t>
            </a:r>
          </a:p>
          <a:p>
            <a:pPr lvl="1"/>
            <a:r>
              <a:rPr lang="en-US" smtClean="0"/>
              <a:t>Occurs whenever memory pages are called by a program or process from the paging file on disk</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62400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(3 of 6)</a:t>
            </a:r>
            <a:endParaRPr lang="en-US" dirty="0"/>
          </a:p>
        </p:txBody>
      </p:sp>
      <p:pic>
        <p:nvPicPr>
          <p:cNvPr id="6" name="Content Placeholder 5" descr="Figure 11-10, Page No. 488, Complexity level: 3&#10;Screenshot shows the “Task Manager” dialog box. The Performance tab is selected. On the left pane of the dialog box, the CPU with 3% 1.67 GHz radio button is selected. The content pane of the dialog box displays the CPU Intel(R) Core(TM) iS-3570K CPU @ 3.40GHz graph. The graph ranges from 0 to 60 seconds from right to left at the bottom. 100% to % Utilization from right to left at the top. The readings given below the graph are shown as Utilization = 3%, Speed = 1.67 GHZ, Processes = 68, Threads = 1180, Handles = 44876, Up-Time = 0:04:09:37, Maximum speed = 3.40 GHZ, Sockets: 1, Cores: 4, Logical processors = 4, Virtualization = Enabled, L1 Cache = 256 KB, L2 Cache = 1.0 MB, and L3 Cache = 6.0 MB.&#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90800" y="1676400"/>
            <a:ext cx="3690456"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710889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(4 of 6)</a:t>
            </a:r>
            <a:endParaRPr lang="en-US" dirty="0"/>
          </a:p>
        </p:txBody>
      </p:sp>
      <p:pic>
        <p:nvPicPr>
          <p:cNvPr id="5" name="Content Placeholder 4" descr="Figure 11-11, Page No. 489, Complexity level: 3&#10;Screenshot shows the “Task Manager” dialog box. The Performance tab is selected. On the left pane of the dialog box, the Memory with 3.3/7.7 GB (43%) radio button is selected. The content pane of the dialog box displays the Memory 8.0GB DDR3 graph. The graph ranges from 0 to 60 seconds from right to left at the bottom. 7.7 GB to Memory usage from right to left at the top. A horizontal line is drawn in the middle of the graph. Below that, a horizontal bar is shown with three segments. The cursor points to the first segment and the text reads “In use (3128 MB) Memory used by processes, drivers or the operating system, in use compressed (0 MB) Memory compensation is not enabled.”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33600" y="1600200"/>
            <a:ext cx="4528099" cy="4252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87783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(5 of 6)</a:t>
            </a:r>
            <a:endParaRPr lang="en-US" dirty="0"/>
          </a:p>
        </p:txBody>
      </p:sp>
      <p:sp>
        <p:nvSpPr>
          <p:cNvPr id="2" name="Content Placeholder 1"/>
          <p:cNvSpPr>
            <a:spLocks noGrp="1"/>
          </p:cNvSpPr>
          <p:nvPr>
            <p:ph idx="1"/>
          </p:nvPr>
        </p:nvSpPr>
        <p:spPr/>
        <p:txBody>
          <a:bodyPr/>
          <a:lstStyle/>
          <a:p>
            <a:r>
              <a:rPr lang="en-US" smtClean="0"/>
              <a:t>Network performance information shows real-time send and receive throughput on the network</a:t>
            </a:r>
          </a:p>
          <a:p>
            <a:r>
              <a:rPr lang="en-US" smtClean="0"/>
              <a:t>Network performance data can be a quick diagnostic tool</a:t>
            </a:r>
          </a:p>
          <a:p>
            <a:pPr lvl="1"/>
            <a:r>
              <a:rPr lang="en-US" smtClean="0"/>
              <a:t>Not only to determine if the network is busy but also to ensure that the NIC is connected and working</a:t>
            </a:r>
          </a:p>
          <a:p>
            <a:r>
              <a:rPr lang="en-US" smtClean="0"/>
              <a:t>This information can be valuable if you suspect there is a problem with a NIC in the server</a:t>
            </a:r>
          </a:p>
          <a:p>
            <a:pPr lvl="1"/>
            <a:r>
              <a:rPr lang="en-US" smtClean="0"/>
              <a:t>Can also be an initial warning that something is causing prolonged high network utilization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68545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Real-Time Performance (6 of 6)</a:t>
            </a:r>
            <a:endParaRPr lang="en-US" dirty="0"/>
          </a:p>
        </p:txBody>
      </p:sp>
      <p:pic>
        <p:nvPicPr>
          <p:cNvPr id="6" name="Content Placeholder 5" descr="Figure 11-12, Page No. 489, Complexity level: 3&#10;Screenshot shows the “Task Manager” dialog box. The Performance tab is selected. On the left pane of the dialog box, the Ethernet: 16.0 Kbps R: 8.0 Kbps radio button is selected. The content pane of the dialog box displays the Ethernet Realtek PCIe GBE Family Controller graph. The graph ranges from 0 to 60 seconds from right to left at the bottom. 100 Kbps to Throughput from right to left at the top. An irregular graph is drawn. The readings below the graph are Send = 16.0 Kbps, Receive = 8.0 Kbps, Adapter name = Ethernet, Domain name = jpcomp.com, Connection type = Ethernet, IPv4 address = 192.168.0.22, and IPv6 address = fd47.6aa9.2c9e.3333::1.&#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1600200"/>
            <a:ext cx="4377897"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5557327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Users (1of 2)</a:t>
            </a:r>
            <a:endParaRPr lang="en-US" dirty="0"/>
          </a:p>
        </p:txBody>
      </p:sp>
      <p:sp>
        <p:nvSpPr>
          <p:cNvPr id="2" name="Content Placeholder 1"/>
          <p:cNvSpPr>
            <a:spLocks noGrp="1"/>
          </p:cNvSpPr>
          <p:nvPr>
            <p:ph idx="1"/>
          </p:nvPr>
        </p:nvSpPr>
        <p:spPr/>
        <p:txBody>
          <a:bodyPr/>
          <a:lstStyle/>
          <a:p>
            <a:r>
              <a:rPr lang="en-US" smtClean="0"/>
              <a:t>The Users tab provides a list of the users currently signed in</a:t>
            </a:r>
          </a:p>
          <a:p>
            <a:r>
              <a:rPr lang="en-US" smtClean="0"/>
              <a:t>You can sign out a user by clicking that user and clicking the Disconnect button</a:t>
            </a:r>
          </a:p>
          <a:p>
            <a:pPr lvl="1"/>
            <a:r>
              <a:rPr lang="en-US" smtClean="0"/>
              <a:t>Ensures that any open files are closed before the user is signed out</a:t>
            </a:r>
          </a:p>
          <a:p>
            <a:r>
              <a:rPr lang="en-US" smtClean="0"/>
              <a:t>To view programs in use and the amount of CPU or memory occupied by an individual program</a:t>
            </a:r>
          </a:p>
          <a:p>
            <a:pPr lvl="1"/>
            <a:r>
              <a:rPr lang="en-US" smtClean="0"/>
              <a:t>Right-click a user and click Expand</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2323367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Users (2 of 2)</a:t>
            </a:r>
            <a:endParaRPr lang="en-US" dirty="0"/>
          </a:p>
        </p:txBody>
      </p:sp>
      <p:pic>
        <p:nvPicPr>
          <p:cNvPr id="6" name="Content Placeholder 5" descr="Figure 11-13, Page No. 490, Complexity level: 1&#10;Screenshot shows the “Task Manager” dialog box. The Users tab is selected. The window displays the list of Users details, status, 3% CPU, and 40% Memory.&#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133600" y="1524000"/>
            <a:ext cx="4365838" cy="41005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106795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Performance Monitor</a:t>
            </a:r>
            <a:endParaRPr lang="en-US" dirty="0"/>
          </a:p>
        </p:txBody>
      </p:sp>
      <p:sp>
        <p:nvSpPr>
          <p:cNvPr id="2" name="Content Placeholder 1"/>
          <p:cNvSpPr>
            <a:spLocks noGrp="1"/>
          </p:cNvSpPr>
          <p:nvPr>
            <p:ph idx="1"/>
          </p:nvPr>
        </p:nvSpPr>
        <p:spPr/>
        <p:txBody>
          <a:bodyPr/>
          <a:lstStyle/>
          <a:p>
            <a:r>
              <a:rPr lang="en-US" smtClean="0"/>
              <a:t>Performance Monitor</a:t>
            </a:r>
          </a:p>
          <a:p>
            <a:pPr lvl="1"/>
            <a:r>
              <a:rPr lang="en-US" smtClean="0"/>
              <a:t>Can be used to monitor components such as hard disks, memory, the processor, a network interface, a started process, and the paging file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83883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(1 of 6)</a:t>
            </a:r>
            <a:endParaRPr lang="en-US" dirty="0"/>
          </a:p>
        </p:txBody>
      </p:sp>
      <p:sp>
        <p:nvSpPr>
          <p:cNvPr id="2" name="Content Placeholder 1"/>
          <p:cNvSpPr>
            <a:spLocks noGrp="1"/>
          </p:cNvSpPr>
          <p:nvPr>
            <p:ph idx="1"/>
          </p:nvPr>
        </p:nvSpPr>
        <p:spPr/>
        <p:txBody>
          <a:bodyPr/>
          <a:lstStyle/>
          <a:p>
            <a:r>
              <a:rPr lang="en-US" smtClean="0"/>
              <a:t>Performance Monitor can be opened from:</a:t>
            </a:r>
          </a:p>
          <a:p>
            <a:pPr lvl="1"/>
            <a:r>
              <a:rPr lang="en-US" smtClean="0"/>
              <a:t>Server Manager</a:t>
            </a:r>
          </a:p>
          <a:p>
            <a:pPr lvl="1"/>
            <a:r>
              <a:rPr lang="en-US" smtClean="0"/>
              <a:t>The Windows Administrative Tools folder through the Start button</a:t>
            </a:r>
          </a:p>
          <a:p>
            <a:pPr lvl="1"/>
            <a:r>
              <a:rPr lang="en-US" smtClean="0"/>
              <a:t>An MMC snap-in</a:t>
            </a:r>
          </a:p>
          <a:p>
            <a:r>
              <a:rPr lang="en-US" smtClean="0"/>
              <a:t>The default view is in the line mode, showing a grid that you use for graphing activities on the server</a:t>
            </a:r>
          </a:p>
          <a:p>
            <a:r>
              <a:rPr lang="en-US" smtClean="0"/>
              <a:t>Counter</a:t>
            </a:r>
          </a:p>
          <a:p>
            <a:pPr lvl="1"/>
            <a:r>
              <a:rPr lang="en-US" smtClean="0"/>
              <a:t>An indicator of a quantity of the object that can be measured in some unit, such as percentage, rate per second, or peak value, depending on what is appropriate to the object</a:t>
            </a:r>
          </a:p>
          <a:p>
            <a:r>
              <a:rPr lang="en-US" smtClean="0"/>
              <a:t>Example: % Processor Time counter measures the percentage of processor time that is in use by nonidle processes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11445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(2 of 6)</a:t>
            </a:r>
            <a:endParaRPr lang="en-US" dirty="0"/>
          </a:p>
        </p:txBody>
      </p:sp>
      <p:pic>
        <p:nvPicPr>
          <p:cNvPr id="6" name="Content Placeholder 5" descr="Figure 11-14, Page No. 491, Complexity level: 2&#10;Screenshot shows the “Performance Monitor” dialog box. On the left pane of the dialog box, the Performance Monitor option is selected. The content pane of the dialog box shows a graph that ranges from 3:45:57 PM to 3:47:35 PM on the horizontal axis and from 0 to 100 on the vertical axis. An irregular graph is drawn at the interval of 3:45:57 PM to 3:46:20 PM below 10 on the vertical axis. A horizontal line is drawn from the 3:46:11 PM from the horizontal axis.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676400"/>
            <a:ext cx="5155766" cy="3948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97756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(3 of 6)</a:t>
            </a:r>
            <a:endParaRPr lang="en-US" dirty="0"/>
          </a:p>
        </p:txBody>
      </p:sp>
      <p:pic>
        <p:nvPicPr>
          <p:cNvPr id="5" name="Content Placeholder 4" descr="Figure 11-15, Page No. 492, Complexity level: 1&#10;Screenshot shows the “Add Counters” dialog box. The window displays the Available counters. The cursor points to the % Processor Time option and it is selected in the drop down box. The total option is selected under the Instances of selected object. The OK button shown is selected.&#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7400" y="1752600"/>
            <a:ext cx="4851275" cy="38719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276950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(4 of 6)</a:t>
            </a:r>
            <a:endParaRPr lang="en-US" dirty="0"/>
          </a:p>
        </p:txBody>
      </p:sp>
      <p:sp>
        <p:nvSpPr>
          <p:cNvPr id="2" name="Content Placeholder 1"/>
          <p:cNvSpPr>
            <a:spLocks noGrp="1"/>
          </p:cNvSpPr>
          <p:nvPr>
            <p:ph idx="1"/>
          </p:nvPr>
        </p:nvSpPr>
        <p:spPr/>
        <p:txBody>
          <a:bodyPr/>
          <a:lstStyle/>
          <a:p>
            <a:r>
              <a:rPr lang="en-US" smtClean="0"/>
              <a:t>Sometimes instances are associated with a counter</a:t>
            </a:r>
          </a:p>
          <a:p>
            <a:r>
              <a:rPr lang="en-US" smtClean="0"/>
              <a:t>An instance exists when there are different elements to monitor</a:t>
            </a:r>
          </a:p>
          <a:p>
            <a:pPr lvl="1"/>
            <a:r>
              <a:rPr lang="en-US" smtClean="0"/>
              <a:t>Such as individual processes when you use the Process object</a:t>
            </a:r>
          </a:p>
          <a:p>
            <a:r>
              <a:rPr lang="en-US" smtClean="0"/>
              <a:t>You can monitor one or more objects at a time</a:t>
            </a:r>
          </a:p>
          <a:p>
            <a:pPr lvl="1"/>
            <a:r>
              <a:rPr lang="en-US" smtClean="0"/>
              <a:t>As a way to get a better understanding of how particular objects interact</a:t>
            </a:r>
          </a:p>
          <a:p>
            <a:r>
              <a:rPr lang="en-US" smtClean="0"/>
              <a:t>You can use three view modes when monitoring objects: </a:t>
            </a:r>
          </a:p>
          <a:p>
            <a:pPr lvl="1"/>
            <a:r>
              <a:rPr lang="en-US" smtClean="0"/>
              <a:t>Line – a running line chart of the object that shows distinct peaks and valleys</a:t>
            </a:r>
          </a:p>
          <a:p>
            <a:pPr lvl="1"/>
            <a:r>
              <a:rPr lang="en-US" smtClean="0"/>
              <a:t>Histogram bar – a running bar chart that shows each object as a bar in a different color</a:t>
            </a:r>
          </a:p>
          <a:p>
            <a:pPr lvl="1"/>
            <a:r>
              <a:rPr lang="en-US" smtClean="0"/>
              <a:t>Report – provides numbers on a screen, which you can capture to put in a report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78411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(5 of 6)</a:t>
            </a:r>
            <a:endParaRPr lang="en-US" dirty="0"/>
          </a:p>
        </p:txBody>
      </p:sp>
      <p:pic>
        <p:nvPicPr>
          <p:cNvPr id="6" name="Content Placeholder 5" descr="Figure 11-16, Page No. 493, Complexity level: 3&#10;Screenshot shows the “Performance Monitor” dialog box. On the left pane of the dialog box, the Performance Monitor option is selected. The content pane of the dialog box shows a graph that ranges from 0 to 100 on the vertical axis. On the graph, a bar is drawn at interval of 0 to 10. The second graph is drawn at the interval of 0 to 100. The third graph is drawn at the interval of 0 to 20. Below, the readings show 7.097 in the Last box, 1.985 in the Average box, 0.000 in the Minimum box, 24.615 in the Maximum box, 1.46 in the Duration box. The radio button is selected for color, Scale: 1.5, Counter: % Processor Time, Instance: Total, Parent: ---, Object: Project Information, Computer: \\Accounting.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57400" y="1828800"/>
            <a:ext cx="4975408" cy="3810000"/>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991812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Capturing Data Using Performance Monitor (6 of 6)</a:t>
            </a:r>
            <a:endParaRPr lang="en-US" dirty="0"/>
          </a:p>
        </p:txBody>
      </p:sp>
      <p:pic>
        <p:nvPicPr>
          <p:cNvPr id="5" name="Content Placeholder 4" descr=" Figure 11-17, Page No. 494, Complexity level: 2&#10;Screenshot shows the “Performance Monitor” dialog box. On the left pane of the dialog box, the Performance Monitor option is selected. The content pane of the dialog box shows a graph that ranges from 0 to 100 on the vertical axis and from 11:49:08 AM to 11:49:07 AM. The graph shows an irregular graph. Below, the readings show 4.231 in the Last box, 1.442 in the Average box, 0.000 in the Minimum box, 19.141 in the Maximum box, 1.40 in the Duration box. The radio button is selected for color, Scale: 1.0, Counter: % Processor Time, Instance: Total, Parent: ---, Object: Project Information, Computer: \\Accounting.&#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600200"/>
            <a:ext cx="5155766" cy="39481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641324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Monitoring System Components</a:t>
            </a:r>
            <a:endParaRPr lang="en-US" dirty="0"/>
          </a:p>
        </p:txBody>
      </p:sp>
      <p:sp>
        <p:nvSpPr>
          <p:cNvPr id="2" name="Content Placeholder 1"/>
          <p:cNvSpPr>
            <a:spLocks noGrp="1"/>
          </p:cNvSpPr>
          <p:nvPr>
            <p:ph idx="1"/>
          </p:nvPr>
        </p:nvSpPr>
        <p:spPr/>
        <p:txBody>
          <a:bodyPr/>
          <a:lstStyle/>
          <a:p>
            <a:r>
              <a:rPr lang="en-US" smtClean="0"/>
              <a:t>When monitoring the performance of a server, four objects are often used:</a:t>
            </a:r>
          </a:p>
          <a:p>
            <a:pPr lvl="1"/>
            <a:r>
              <a:rPr lang="en-US" smtClean="0"/>
              <a:t>Processor</a:t>
            </a:r>
          </a:p>
          <a:p>
            <a:pPr lvl="1"/>
            <a:r>
              <a:rPr lang="en-US" smtClean="0"/>
              <a:t>Memory</a:t>
            </a:r>
          </a:p>
          <a:p>
            <a:pPr lvl="1"/>
            <a:r>
              <a:rPr lang="en-US" smtClean="0"/>
              <a:t>Physical disk</a:t>
            </a:r>
          </a:p>
          <a:p>
            <a:pPr lvl="1"/>
            <a:r>
              <a:rPr lang="en-US" smtClean="0"/>
              <a:t>Network interface</a:t>
            </a:r>
          </a:p>
          <a:p>
            <a:r>
              <a:rPr lang="en-US" smtClean="0"/>
              <a:t>Activities 11-5 and 11-6 enable you to explore how to use Performance Monitor and how to troubleshoot processor difficulties</a:t>
            </a:r>
          </a:p>
          <a:p>
            <a:r>
              <a:rPr lang="en-US" smtClean="0"/>
              <a:t>In Activity 11-7, you’ll learn how to enable Performance Monitor to track disk activity through activating the Disk Performance Statistic Driver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90145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Data Collector Sets (1 of 3)</a:t>
            </a:r>
            <a:endParaRPr lang="en-US" dirty="0"/>
          </a:p>
        </p:txBody>
      </p:sp>
      <p:sp>
        <p:nvSpPr>
          <p:cNvPr id="2" name="Content Placeholder 1"/>
          <p:cNvSpPr>
            <a:spLocks noGrp="1"/>
          </p:cNvSpPr>
          <p:nvPr>
            <p:ph idx="1"/>
          </p:nvPr>
        </p:nvSpPr>
        <p:spPr/>
        <p:txBody>
          <a:bodyPr/>
          <a:lstStyle/>
          <a:p>
            <a:r>
              <a:rPr lang="en-US" smtClean="0"/>
              <a:t>Data Collector Sets tool</a:t>
            </a:r>
          </a:p>
          <a:p>
            <a:pPr lvl="1"/>
            <a:r>
              <a:rPr lang="en-US" smtClean="0"/>
              <a:t>Another vehicle that is used to monitor performance and to consolidate performance information</a:t>
            </a:r>
          </a:p>
          <a:p>
            <a:r>
              <a:rPr lang="en-US" smtClean="0"/>
              <a:t>Data collector set is a collection of diagnostic and performance information in the form of a report or log</a:t>
            </a:r>
          </a:p>
          <a:p>
            <a:r>
              <a:rPr lang="en-US" smtClean="0"/>
              <a:t>There are three basic types of data collection tools and formats:</a:t>
            </a:r>
          </a:p>
          <a:p>
            <a:pPr lvl="1"/>
            <a:r>
              <a:rPr lang="en-US" smtClean="0"/>
              <a:t>Performance counters and performance counter reports</a:t>
            </a:r>
          </a:p>
          <a:p>
            <a:pPr lvl="1"/>
            <a:r>
              <a:rPr lang="en-US" smtClean="0"/>
              <a:t>Traces and trace reports</a:t>
            </a:r>
          </a:p>
          <a:p>
            <a:pPr lvl="1"/>
            <a:r>
              <a:rPr lang="en-US" smtClean="0"/>
              <a:t>System configuration data</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57963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Data Collector Sets (2 of 3)</a:t>
            </a:r>
            <a:endParaRPr lang="en-US" dirty="0"/>
          </a:p>
        </p:txBody>
      </p:sp>
      <p:sp>
        <p:nvSpPr>
          <p:cNvPr id="2" name="Content Placeholder 1"/>
          <p:cNvSpPr>
            <a:spLocks noGrp="1"/>
          </p:cNvSpPr>
          <p:nvPr>
            <p:ph idx="1"/>
          </p:nvPr>
        </p:nvSpPr>
        <p:spPr/>
        <p:txBody>
          <a:bodyPr/>
          <a:lstStyle/>
          <a:p>
            <a:r>
              <a:rPr lang="en-US" smtClean="0"/>
              <a:t>Performance counter report</a:t>
            </a:r>
          </a:p>
          <a:p>
            <a:pPr lvl="1"/>
            <a:r>
              <a:rPr lang="en-US" smtClean="0"/>
              <a:t>Tracks information using objects, counters, and instances</a:t>
            </a:r>
          </a:p>
          <a:p>
            <a:r>
              <a:rPr lang="en-US" smtClean="0"/>
              <a:t>A trace monitors particular events</a:t>
            </a:r>
          </a:p>
          <a:p>
            <a:r>
              <a:rPr lang="en-US" smtClean="0"/>
              <a:t>Trace report contains only those instances when the events occur</a:t>
            </a:r>
          </a:p>
          <a:p>
            <a:r>
              <a:rPr lang="en-US" smtClean="0"/>
              <a:t>Data collector sets can be created in several ways</a:t>
            </a:r>
          </a:p>
          <a:p>
            <a:pPr lvl="1"/>
            <a:r>
              <a:rPr lang="en-US" smtClean="0"/>
              <a:t>One way is to use a predefined data collector set</a:t>
            </a:r>
          </a:p>
          <a:p>
            <a:pPr lvl="1"/>
            <a:r>
              <a:rPr lang="en-US" smtClean="0"/>
              <a:t>Using a predefined data collector set helps to take the guesswork out of what to monitor</a:t>
            </a:r>
          </a:p>
          <a:p>
            <a:pPr lvl="1"/>
            <a:r>
              <a:rPr lang="en-US" smtClean="0"/>
              <a:t>The Data Collector Sets tool also enables you to start a wizard and select a template to use for creating a data collector set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453227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Data Collector Sets (3 of 3)</a:t>
            </a:r>
            <a:endParaRPr lang="en-US" dirty="0"/>
          </a:p>
        </p:txBody>
      </p:sp>
      <p:sp>
        <p:nvSpPr>
          <p:cNvPr id="2" name="Content Placeholder 1"/>
          <p:cNvSpPr>
            <a:spLocks noGrp="1"/>
          </p:cNvSpPr>
          <p:nvPr>
            <p:ph idx="1"/>
          </p:nvPr>
        </p:nvSpPr>
        <p:spPr/>
        <p:txBody>
          <a:bodyPr/>
          <a:lstStyle/>
          <a:p>
            <a:r>
              <a:rPr lang="en-US" smtClean="0"/>
              <a:t>Each data collector set consists of properties that you can configure as follows:</a:t>
            </a:r>
          </a:p>
          <a:p>
            <a:pPr lvl="1"/>
            <a:r>
              <a:rPr lang="en-US" smtClean="0"/>
              <a:t>General</a:t>
            </a:r>
          </a:p>
          <a:p>
            <a:pPr lvl="1"/>
            <a:r>
              <a:rPr lang="en-US" smtClean="0"/>
              <a:t>Directory</a:t>
            </a:r>
          </a:p>
          <a:p>
            <a:pPr lvl="1"/>
            <a:r>
              <a:rPr lang="en-US" smtClean="0"/>
              <a:t>Security</a:t>
            </a:r>
          </a:p>
          <a:p>
            <a:pPr lvl="1"/>
            <a:r>
              <a:rPr lang="en-US" smtClean="0"/>
              <a:t>Schedule</a:t>
            </a:r>
          </a:p>
          <a:p>
            <a:pPr lvl="1"/>
            <a:r>
              <a:rPr lang="en-US" smtClean="0"/>
              <a:t>Stop Condition</a:t>
            </a:r>
          </a:p>
          <a:p>
            <a:pPr lvl="1"/>
            <a:r>
              <a:rPr lang="en-US" smtClean="0"/>
              <a:t>Task</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506156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Wizard and a Template to Create a Data Collector Set</a:t>
            </a:r>
            <a:endParaRPr lang="en-US" dirty="0"/>
          </a:p>
        </p:txBody>
      </p:sp>
      <p:sp>
        <p:nvSpPr>
          <p:cNvPr id="2" name="Content Placeholder 1"/>
          <p:cNvSpPr>
            <a:spLocks noGrp="1"/>
          </p:cNvSpPr>
          <p:nvPr>
            <p:ph idx="1"/>
          </p:nvPr>
        </p:nvSpPr>
        <p:spPr/>
        <p:txBody>
          <a:bodyPr/>
          <a:lstStyle/>
          <a:p>
            <a:r>
              <a:rPr lang="en-US" smtClean="0"/>
              <a:t>Templates that can be deployed from the Create new Data Collector Set Wizard:</a:t>
            </a:r>
          </a:p>
          <a:p>
            <a:pPr lvl="1"/>
            <a:r>
              <a:rPr lang="en-US" smtClean="0"/>
              <a:t>Active Directory Diagnostics</a:t>
            </a:r>
          </a:p>
          <a:p>
            <a:pPr lvl="1"/>
            <a:r>
              <a:rPr lang="en-US" smtClean="0"/>
              <a:t>Basic</a:t>
            </a:r>
          </a:p>
          <a:p>
            <a:pPr lvl="1"/>
            <a:r>
              <a:rPr lang="en-US" smtClean="0"/>
              <a:t>System Diagnostics</a:t>
            </a:r>
          </a:p>
          <a:p>
            <a:pPr lvl="1"/>
            <a:r>
              <a:rPr lang="en-US" smtClean="0"/>
              <a:t>System Performance</a:t>
            </a:r>
          </a:p>
          <a:p>
            <a:pPr lvl="1"/>
            <a:r>
              <a:rPr lang="en-US" smtClean="0"/>
              <a:t>WDAC Diagnostics</a:t>
            </a:r>
          </a:p>
          <a:p>
            <a:r>
              <a:rPr lang="en-US" smtClean="0"/>
              <a:t>The Create new Data Collector Set Wizard steps you through deploying one of these templates</a:t>
            </a:r>
          </a:p>
          <a:p>
            <a:r>
              <a:rPr lang="en-US" smtClean="0"/>
              <a:t>To start the wizard, right-click the User Defined folder under Data Collector Sets in the Performance Monitor tool</a:t>
            </a:r>
          </a:p>
          <a:p>
            <a:pPr lvl="1"/>
            <a:r>
              <a:rPr lang="en-US" smtClean="0"/>
              <a:t>Point to New and click Data Collector Set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7516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Returning to a Report and the Importance of Network Data (1 of 2)</a:t>
            </a:r>
            <a:endParaRPr lang="en-US" dirty="0"/>
          </a:p>
        </p:txBody>
      </p:sp>
      <p:sp>
        <p:nvSpPr>
          <p:cNvPr id="2" name="Content Placeholder 1"/>
          <p:cNvSpPr>
            <a:spLocks noGrp="1"/>
          </p:cNvSpPr>
          <p:nvPr>
            <p:ph idx="1"/>
          </p:nvPr>
        </p:nvSpPr>
        <p:spPr/>
        <p:txBody>
          <a:bodyPr/>
          <a:lstStyle/>
          <a:p>
            <a:r>
              <a:rPr lang="en-US" smtClean="0"/>
              <a:t>After you create a report, you can go back to it by finding that report</a:t>
            </a:r>
          </a:p>
          <a:p>
            <a:pPr lvl="1"/>
            <a:r>
              <a:rPr lang="en-US" smtClean="0"/>
              <a:t>Under Reports in the tree within the Reliability and Performance Monitor tool</a:t>
            </a:r>
          </a:p>
          <a:p>
            <a:r>
              <a:rPr lang="en-US" smtClean="0"/>
              <a:t>Monitoring the network is one of the monitoring tasks you should set out to do early on</a:t>
            </a:r>
          </a:p>
          <a:p>
            <a:pPr lvl="1"/>
            <a:r>
              <a:rPr lang="en-US" smtClean="0"/>
              <a:t>Provides a way to determine baselines</a:t>
            </a:r>
          </a:p>
          <a:p>
            <a:pPr lvl="1"/>
            <a:r>
              <a:rPr lang="en-US" smtClean="0"/>
              <a:t>And later, to compare baseline data with current system performance statistics to locate a problem source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179231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Returning to a Report and the Importance of Network Data (2 of 2)</a:t>
            </a:r>
            <a:endParaRPr lang="en-US" dirty="0"/>
          </a:p>
        </p:txBody>
      </p:sp>
      <p:sp>
        <p:nvSpPr>
          <p:cNvPr id="2" name="Content Placeholder 1"/>
          <p:cNvSpPr>
            <a:spLocks noGrp="1"/>
          </p:cNvSpPr>
          <p:nvPr>
            <p:ph idx="1"/>
          </p:nvPr>
        </p:nvSpPr>
        <p:spPr/>
        <p:txBody>
          <a:bodyPr/>
          <a:lstStyle/>
          <a:p>
            <a:r>
              <a:rPr lang="en-US" smtClean="0"/>
              <a:t>Plan to gather data such as the following:</a:t>
            </a:r>
          </a:p>
          <a:p>
            <a:pPr lvl="1"/>
            <a:r>
              <a:rPr lang="en-US" smtClean="0"/>
              <a:t>Network Interface performance counter</a:t>
            </a:r>
          </a:p>
          <a:p>
            <a:pPr lvl="1"/>
            <a:r>
              <a:rPr lang="en-US" smtClean="0"/>
              <a:t>IPv4 and IPv6 performance counters</a:t>
            </a:r>
          </a:p>
          <a:p>
            <a:pPr lvl="1"/>
            <a:r>
              <a:rPr lang="en-US" smtClean="0"/>
              <a:t>TCPv4 and TCPv6 performance counters</a:t>
            </a:r>
          </a:p>
          <a:p>
            <a:r>
              <a:rPr lang="en-US" smtClean="0"/>
              <a:t>Begin gathering benchmarks so that you have an understanding of what network activity is typical</a:t>
            </a:r>
          </a:p>
          <a:p>
            <a:r>
              <a:rPr lang="en-US" smtClean="0"/>
              <a:t>Also gather benchmarks on typical network error levels</a:t>
            </a:r>
          </a:p>
          <a:p>
            <a:pPr lvl="1"/>
            <a:r>
              <a:rPr lang="en-US" smtClean="0"/>
              <a:t>So you know at what point an increase in network errors signals a problem</a:t>
            </a:r>
          </a:p>
          <a:p>
            <a:r>
              <a:rPr lang="en-US" smtClean="0"/>
              <a:t>Activity 11-9 shows you how to go back to view a report you have already created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7326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a Predefined Data Collector Set</a:t>
            </a:r>
            <a:endParaRPr lang="en-US" dirty="0"/>
          </a:p>
        </p:txBody>
      </p:sp>
      <p:sp>
        <p:nvSpPr>
          <p:cNvPr id="2" name="Content Placeholder 1"/>
          <p:cNvSpPr>
            <a:spLocks noGrp="1"/>
          </p:cNvSpPr>
          <p:nvPr>
            <p:ph idx="1"/>
          </p:nvPr>
        </p:nvSpPr>
        <p:spPr/>
        <p:txBody>
          <a:bodyPr/>
          <a:lstStyle/>
          <a:p>
            <a:r>
              <a:rPr lang="en-US" smtClean="0"/>
              <a:t>Performance Monitor has several predefined data collector sets</a:t>
            </a:r>
          </a:p>
          <a:p>
            <a:pPr lvl="1"/>
            <a:r>
              <a:rPr lang="en-US" smtClean="0"/>
              <a:t>That you can run at anytime without first creating them through the Create new Data Collector Set Wizard</a:t>
            </a:r>
          </a:p>
          <a:p>
            <a:r>
              <a:rPr lang="en-US" smtClean="0"/>
              <a:t>For diagnosing system and network problems</a:t>
            </a:r>
          </a:p>
          <a:p>
            <a:pPr lvl="1"/>
            <a:r>
              <a:rPr lang="en-US" smtClean="0"/>
              <a:t>The predefined System Diagnostics data collector set is valuable</a:t>
            </a:r>
          </a:p>
          <a:p>
            <a:r>
              <a:rPr lang="en-US" smtClean="0"/>
              <a:t>Activity 11-10 enables you to use the System Diagnostics data collector set</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720797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the SNMP Service (1 of 3)</a:t>
            </a:r>
            <a:endParaRPr lang="en-US" dirty="0"/>
          </a:p>
        </p:txBody>
      </p:sp>
      <p:sp>
        <p:nvSpPr>
          <p:cNvPr id="2" name="Content Placeholder 1"/>
          <p:cNvSpPr>
            <a:spLocks noGrp="1"/>
          </p:cNvSpPr>
          <p:nvPr>
            <p:ph idx="1"/>
          </p:nvPr>
        </p:nvSpPr>
        <p:spPr/>
        <p:txBody>
          <a:bodyPr/>
          <a:lstStyle/>
          <a:p>
            <a:r>
              <a:rPr lang="en-US" smtClean="0"/>
              <a:t>Simple Network Management Protocol (SNMP)</a:t>
            </a:r>
          </a:p>
          <a:p>
            <a:pPr lvl="1"/>
            <a:r>
              <a:rPr lang="en-US" smtClean="0"/>
              <a:t>Used for network management on TCP/IP-based networks</a:t>
            </a:r>
          </a:p>
          <a:p>
            <a:pPr lvl="1"/>
            <a:r>
              <a:rPr lang="en-US" smtClean="0"/>
              <a:t>Provides administrators with a way of centrally managing workstations, servers, hubs, and routers from a central computer running management software</a:t>
            </a:r>
          </a:p>
          <a:p>
            <a:r>
              <a:rPr lang="en-US" smtClean="0"/>
              <a:t>SNMP can be used for the following:</a:t>
            </a:r>
          </a:p>
          <a:p>
            <a:pPr lvl="1"/>
            <a:r>
              <a:rPr lang="en-US" smtClean="0"/>
              <a:t>Configuring network devices</a:t>
            </a:r>
          </a:p>
          <a:p>
            <a:pPr lvl="1"/>
            <a:r>
              <a:rPr lang="en-US" smtClean="0"/>
              <a:t>Monitoring the performance of a network</a:t>
            </a:r>
          </a:p>
          <a:p>
            <a:pPr lvl="1"/>
            <a:r>
              <a:rPr lang="en-US" smtClean="0"/>
              <a:t>Locating network problems</a:t>
            </a:r>
          </a:p>
          <a:p>
            <a:pPr lvl="1"/>
            <a:r>
              <a:rPr lang="en-US" smtClean="0"/>
              <a:t>Monitoring network usage</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853786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the SNMP Service (2 of 3)</a:t>
            </a:r>
            <a:endParaRPr lang="en-US" dirty="0"/>
          </a:p>
        </p:txBody>
      </p:sp>
      <p:sp>
        <p:nvSpPr>
          <p:cNvPr id="2" name="Content Placeholder 1"/>
          <p:cNvSpPr>
            <a:spLocks noGrp="1"/>
          </p:cNvSpPr>
          <p:nvPr>
            <p:ph idx="1"/>
          </p:nvPr>
        </p:nvSpPr>
        <p:spPr/>
        <p:txBody>
          <a:bodyPr/>
          <a:lstStyle/>
          <a:p>
            <a:r>
              <a:rPr lang="en-US" smtClean="0"/>
              <a:t>SNMP provides network management services through agents and management systems</a:t>
            </a:r>
          </a:p>
          <a:p>
            <a:r>
              <a:rPr lang="en-US" smtClean="0"/>
              <a:t>SNMP management system </a:t>
            </a:r>
          </a:p>
          <a:p>
            <a:pPr lvl="1"/>
            <a:r>
              <a:rPr lang="en-US" smtClean="0"/>
              <a:t>A computer running management software</a:t>
            </a:r>
          </a:p>
          <a:p>
            <a:pPr lvl="1"/>
            <a:r>
              <a:rPr lang="en-US" smtClean="0"/>
              <a:t>Sends and requests information from an SNMP agent</a:t>
            </a:r>
          </a:p>
          <a:p>
            <a:r>
              <a:rPr lang="en-US" smtClean="0"/>
              <a:t>SNMP agent</a:t>
            </a:r>
          </a:p>
          <a:p>
            <a:pPr lvl="1"/>
            <a:r>
              <a:rPr lang="en-US" smtClean="0"/>
              <a:t>Any computer or network device running SNMP agent software</a:t>
            </a:r>
          </a:p>
          <a:p>
            <a:pPr lvl="1"/>
            <a:r>
              <a:rPr lang="en-US" smtClean="0"/>
              <a:t>Responds to the management system’s request for information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932860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Implementing the SNMP Service (3 of 3)</a:t>
            </a:r>
            <a:endParaRPr lang="en-US" dirty="0"/>
          </a:p>
        </p:txBody>
      </p:sp>
      <p:sp>
        <p:nvSpPr>
          <p:cNvPr id="2" name="Content Placeholder 1"/>
          <p:cNvSpPr>
            <a:spLocks noGrp="1"/>
          </p:cNvSpPr>
          <p:nvPr>
            <p:ph idx="1"/>
          </p:nvPr>
        </p:nvSpPr>
        <p:spPr/>
        <p:txBody>
          <a:bodyPr/>
          <a:lstStyle/>
          <a:p>
            <a:r>
              <a:rPr lang="en-US" smtClean="0"/>
              <a:t>Microsoft operating systems and components compatible with SNMP:</a:t>
            </a:r>
          </a:p>
          <a:p>
            <a:pPr lvl="1"/>
            <a:r>
              <a:rPr lang="en-US" smtClean="0"/>
              <a:t>All versions of Windows Server OSs from Windows 2000 Server to Windows Server 2016</a:t>
            </a:r>
          </a:p>
          <a:p>
            <a:pPr lvl="1"/>
            <a:r>
              <a:rPr lang="en-US" smtClean="0"/>
              <a:t>All versions of Windows workstation OSs from Windows 2000 to Windows 10</a:t>
            </a:r>
          </a:p>
          <a:p>
            <a:pPr lvl="1"/>
            <a:r>
              <a:rPr lang="en-US" smtClean="0"/>
              <a:t>WINS servers</a:t>
            </a:r>
          </a:p>
          <a:p>
            <a:pPr lvl="1"/>
            <a:r>
              <a:rPr lang="en-US" smtClean="0"/>
              <a:t>DHCP servers</a:t>
            </a:r>
          </a:p>
          <a:p>
            <a:pPr lvl="1"/>
            <a:r>
              <a:rPr lang="en-US" smtClean="0"/>
              <a:t>Web (IIS) servers</a:t>
            </a:r>
          </a:p>
          <a:p>
            <a:pPr lvl="1"/>
            <a:r>
              <a:rPr lang="en-US" smtClean="0"/>
              <a:t>Microsoft Remote Access servers</a:t>
            </a:r>
          </a:p>
          <a:p>
            <a:r>
              <a:rPr lang="en-US" smtClean="0"/>
              <a:t>At this writing, Windows Server 2016 does not come with a full-fledged SNMP network management system application</a:t>
            </a:r>
          </a:p>
          <a:p>
            <a:pPr lvl="1"/>
            <a:r>
              <a:rPr lang="en-US" smtClean="0"/>
              <a:t>The Windows Management Instrumentation (WMI) Software Development Kit (SDK) enables SNMP applications to access SNMP data</a:t>
            </a:r>
          </a:p>
          <a:p>
            <a:r>
              <a:rPr lang="en-US" smtClean="0"/>
              <a:t>Activity 11-11 shows you how to install SNMP</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77478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2)</a:t>
            </a:r>
            <a:endParaRPr lang="en-US" dirty="0"/>
          </a:p>
        </p:txBody>
      </p:sp>
      <p:sp>
        <p:nvSpPr>
          <p:cNvPr id="2" name="Content Placeholder 1"/>
          <p:cNvSpPr>
            <a:spLocks noGrp="1"/>
          </p:cNvSpPr>
          <p:nvPr>
            <p:ph idx="1"/>
          </p:nvPr>
        </p:nvSpPr>
        <p:spPr/>
        <p:txBody>
          <a:bodyPr/>
          <a:lstStyle/>
          <a:p>
            <a:r>
              <a:rPr lang="en-US" smtClean="0"/>
              <a:t>Server monitoring enables you to establish benchmarks or baselines to help identify areas that need improvement and to identify problem areas</a:t>
            </a:r>
          </a:p>
          <a:p>
            <a:r>
              <a:rPr lang="en-US" smtClean="0"/>
              <a:t>Resource Monitor is a tool you can use to gain an initial picture of how CPU, memory, disk, and network resources are employed and to use as a springboard to troubleshooting server problems</a:t>
            </a:r>
          </a:p>
          <a:p>
            <a:r>
              <a:rPr lang="en-US" smtClean="0"/>
              <a:t>A server has many services running at the same time</a:t>
            </a:r>
          </a:p>
          <a:p>
            <a:r>
              <a:rPr lang="en-US" smtClean="0"/>
              <a:t>Task Manager enables you to monitor applications, processes, services, system performance, network performance, and logged-on users</a:t>
            </a:r>
          </a:p>
          <a:p>
            <a:r>
              <a:rPr lang="en-US" smtClean="0"/>
              <a:t>Performance Monitor uses objects such as the processor or memory for monitoring</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2)</a:t>
            </a:r>
            <a:endParaRPr lang="en-US" dirty="0"/>
          </a:p>
        </p:txBody>
      </p:sp>
      <p:sp>
        <p:nvSpPr>
          <p:cNvPr id="2" name="Content Placeholder 1"/>
          <p:cNvSpPr>
            <a:spLocks noGrp="1"/>
          </p:cNvSpPr>
          <p:nvPr>
            <p:ph idx="1"/>
          </p:nvPr>
        </p:nvSpPr>
        <p:spPr/>
        <p:txBody>
          <a:bodyPr/>
          <a:lstStyle/>
          <a:p>
            <a:r>
              <a:rPr lang="en-US" smtClean="0"/>
              <a:t>A data collector set is a tool associated with Performance Monitor that enables you to collect data about a server or network and compile the data into a report</a:t>
            </a:r>
          </a:p>
          <a:p>
            <a:r>
              <a:rPr lang="en-US" smtClean="0"/>
              <a:t>Windows Server 2016 offers the SNMP service, which you can choose to install</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21643</TotalTime>
  <Words>4920</Words>
  <Application>Microsoft Office PowerPoint</Application>
  <PresentationFormat>On-screen Show (4:3)</PresentationFormat>
  <Paragraphs>308</Paragraphs>
  <Slides>50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Calibri Light</vt:lpstr>
      <vt:lpstr>Office Theme</vt:lpstr>
      <vt:lpstr>Hands-On Microsoft Windows Server 2016  2nd Edition</vt:lpstr>
      <vt:lpstr>Objectives (1 of 2)</vt:lpstr>
      <vt:lpstr>Objectives (2 of 2)</vt:lpstr>
      <vt:lpstr>Introduction to Server Monitoring (1 of 2)</vt:lpstr>
      <vt:lpstr>Introduction to Server Monitoring (2 of 2)</vt:lpstr>
      <vt:lpstr>Using Resource Monitor (1 of 3)</vt:lpstr>
      <vt:lpstr>Using Resource Monitor (2 of 3)</vt:lpstr>
      <vt:lpstr>Using Resource Monitor (3 of 3)</vt:lpstr>
      <vt:lpstr>Monitoring Server Services</vt:lpstr>
      <vt:lpstr>Accessing Server Services</vt:lpstr>
      <vt:lpstr>Solving a Problem with a Service (1 of 2)</vt:lpstr>
      <vt:lpstr>Solving a Problem with a Service (2 of 2)</vt:lpstr>
      <vt:lpstr>Using Task Manager</vt:lpstr>
      <vt:lpstr>Monitoring Applications (1 of 3)</vt:lpstr>
      <vt:lpstr>Monitoring Applications (2 of 3)</vt:lpstr>
      <vt:lpstr>Monitoring Applications (3 of 3)</vt:lpstr>
      <vt:lpstr>Monitoring Processes (1 of 2)</vt:lpstr>
      <vt:lpstr>Monitoring Processes (2 of 2)</vt:lpstr>
      <vt:lpstr>Setting Priorities (1 of 2)</vt:lpstr>
      <vt:lpstr>Setting Priorities (2 of 2)</vt:lpstr>
      <vt:lpstr>Monitoring Services (1 of 2)</vt:lpstr>
      <vt:lpstr>Monitoring Services (2 of 2)</vt:lpstr>
      <vt:lpstr>Monitoring Real-Time Performance (1 of 6)</vt:lpstr>
      <vt:lpstr>Monitoring Real-Time Performance (2 of 6)</vt:lpstr>
      <vt:lpstr>Monitoring Real-Time Performance (3 of 6)</vt:lpstr>
      <vt:lpstr>Monitoring Real-Time Performance (4 of 6)</vt:lpstr>
      <vt:lpstr>Monitoring Real-Time Performance (5 of 6)</vt:lpstr>
      <vt:lpstr>Monitoring Real-Time Performance (6 of 6)</vt:lpstr>
      <vt:lpstr>Monitoring Users (1of 2)</vt:lpstr>
      <vt:lpstr>Monitoring Users (2 of 2)</vt:lpstr>
      <vt:lpstr>Using Performance Monitor</vt:lpstr>
      <vt:lpstr>Capturing Data Using Performance Monitor (1 of 6)</vt:lpstr>
      <vt:lpstr>Capturing Data Using Performance Monitor (2 of 6)</vt:lpstr>
      <vt:lpstr>Capturing Data Using Performance Monitor (3 of 6)</vt:lpstr>
      <vt:lpstr>Capturing Data Using Performance Monitor (4 of 6)</vt:lpstr>
      <vt:lpstr>Capturing Data Using Performance Monitor (5 of 6)</vt:lpstr>
      <vt:lpstr>Capturing Data Using Performance Monitor (6 of 6)</vt:lpstr>
      <vt:lpstr>Monitoring System Components</vt:lpstr>
      <vt:lpstr>Using Data Collector Sets (1 of 3)</vt:lpstr>
      <vt:lpstr>Using Data Collector Sets (2 of 3)</vt:lpstr>
      <vt:lpstr>Using Data Collector Sets (3 of 3)</vt:lpstr>
      <vt:lpstr>Using a Wizard and a Template to Create a Data Collector Set</vt:lpstr>
      <vt:lpstr>Returning to a Report and the Importance of Network Data (1 of 2)</vt:lpstr>
      <vt:lpstr>Returning to a Report and the Importance of Network Data (2 of 2)</vt:lpstr>
      <vt:lpstr>Using a Predefined Data Collector Set</vt:lpstr>
      <vt:lpstr>Implementing the SNMP Service (1 of 3)</vt:lpstr>
      <vt:lpstr>Implementing the SNMP Service (2 of 3)</vt:lpstr>
      <vt:lpstr>Implementing the SNMP Service (3 of 3)</vt:lpstr>
      <vt:lpstr>Chapter Summary (1 of 2)</vt:lpstr>
      <vt:lpstr>Chapter Summary (2 of 2)</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773</cp:revision>
  <cp:lastPrinted>2017-07-11T22:17:40Z</cp:lastPrinted>
  <dcterms:created xsi:type="dcterms:W3CDTF">2007-02-15T20:50:52Z</dcterms:created>
  <dcterms:modified xsi:type="dcterms:W3CDTF">2017-07-11T22:17:43Z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