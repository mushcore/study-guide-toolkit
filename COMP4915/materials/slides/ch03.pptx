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1"/>
  </p:notesMasterIdLst>
  <p:handoutMasterIdLst>
    <p:handoutMasterId r:id="rId52"/>
  </p:handoutMasterIdLst>
  <p:sldIdLst>
    <p:sldId id="256" r:id="rId2"/>
    <p:sldId id="257" r:id="rId3"/>
    <p:sldId id="260"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 id="307" r:id="rId49"/>
    <p:sldId id="308" r:id="rId50"/>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77" autoAdjust="0"/>
    <p:restoredTop sz="76197" autoAdjust="0"/>
  </p:normalViewPr>
  <p:slideViewPr>
    <p:cSldViewPr>
      <p:cViewPr varScale="1">
        <p:scale>
          <a:sx n="74" d="100"/>
          <a:sy n="74" d="100"/>
        </p:scale>
        <p:origin x="124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217983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2302620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49</a:t>
            </a:fld>
            <a:endParaRPr lang="en-US" dirty="0"/>
          </a:p>
        </p:txBody>
      </p:sp>
    </p:spTree>
    <p:extLst>
      <p:ext uri="{BB962C8B-B14F-4D97-AF65-F5344CB8AC3E}">
        <p14:creationId xmlns:p14="http://schemas.microsoft.com/office/powerpoint/2010/main" val="297609808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3</a:t>
            </a:r>
          </a:p>
          <a:p>
            <a:r>
              <a:rPr lang="en-US" smtClean="0"/>
              <a:t>Configuring the Windows Server 2016 Environment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Use Server Manager to manage a server</a:t>
            </a:r>
          </a:p>
          <a:p>
            <a:r>
              <a:rPr lang="en-US" smtClean="0"/>
              <a:t>Install and remove server roles</a:t>
            </a:r>
          </a:p>
          <a:p>
            <a:r>
              <a:rPr lang="en-US" smtClean="0"/>
              <a:t>Use the Best Practices Analyzer on server roles</a:t>
            </a:r>
          </a:p>
          <a:p>
            <a:r>
              <a:rPr lang="en-US" smtClean="0"/>
              <a:t>Configure server hardware</a:t>
            </a:r>
          </a:p>
          <a:p>
            <a:r>
              <a:rPr lang="en-US" smtClean="0"/>
              <a:t>Use System File Checker and Sigverif to verify system files</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Configure the operating system, tune performance, and configure environment variables</a:t>
            </a:r>
          </a:p>
          <a:p>
            <a:r>
              <a:rPr lang="en-US" smtClean="0"/>
              <a:t>Understand and configure the Registry</a:t>
            </a:r>
          </a:p>
          <a:p>
            <a:r>
              <a:rPr lang="en-US" smtClean="0"/>
              <a:t>Use Windows PowerShell</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839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(1 of 6)</a:t>
            </a:r>
            <a:endParaRPr lang="en-US" dirty="0"/>
          </a:p>
        </p:txBody>
      </p:sp>
      <p:sp>
        <p:nvSpPr>
          <p:cNvPr id="2" name="Content Placeholder 1"/>
          <p:cNvSpPr>
            <a:spLocks noGrp="1"/>
          </p:cNvSpPr>
          <p:nvPr>
            <p:ph idx="1"/>
          </p:nvPr>
        </p:nvSpPr>
        <p:spPr/>
        <p:txBody>
          <a:bodyPr/>
          <a:lstStyle/>
          <a:p>
            <a:r>
              <a:rPr lang="en-US" smtClean="0"/>
              <a:t>Server Manager</a:t>
            </a:r>
          </a:p>
          <a:p>
            <a:pPr lvl="1"/>
            <a:r>
              <a:rPr lang="en-US" smtClean="0"/>
              <a:t>Consolidates administrative functions to make a server easier to manage</a:t>
            </a:r>
          </a:p>
          <a:p>
            <a:r>
              <a:rPr lang="en-US" smtClean="0"/>
              <a:t>Server Manager typically has two main panels</a:t>
            </a:r>
          </a:p>
          <a:p>
            <a:pPr lvl="1"/>
            <a:r>
              <a:rPr lang="en-US" smtClean="0"/>
              <a:t>See Figures 3-1 through 3-5</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64734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(2 of 6)</a:t>
            </a:r>
            <a:endParaRPr lang="en-US" dirty="0"/>
          </a:p>
        </p:txBody>
      </p:sp>
      <p:pic>
        <p:nvPicPr>
          <p:cNvPr id="6" name="Content Placeholder 5" descr="Figure 3-1, Page No. 103, Complexity level: 1&#10;Screenshot shows a “Server Manager” dialog box. On the left pane of the dialog box, the Dashboard option is selected. On the content pane of the dialog box, the link Configure this local server is selected from the Quick start box option in the Welcome to Server Manager Section.&#10;" title="Figure 3-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1752600"/>
            <a:ext cx="4534682"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4054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(3 of 6)</a:t>
            </a:r>
            <a:endParaRPr lang="en-US" dirty="0"/>
          </a:p>
        </p:txBody>
      </p:sp>
      <p:pic>
        <p:nvPicPr>
          <p:cNvPr id="5" name="Content Placeholder 4" descr="Figure 3-2, Page No. 103, Complexity level: 2&#10;Screenshot shows a “Server Manager” dialog box. On the left pane of the dialog box, the Dashboard option is selected. On the content pane of the dialog box, the Local Server properties box is shown at the left bottom and the All Servers properties box is shown at the bottom right. On the Local Server, the number 5 is shown on the left of Services option below the Events option that represents the error condition. On the All Servers, the number 5 is shown on the left of Services option below the Events option that represents the error condition. &#10;" title="Figure 3-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752600"/>
            <a:ext cx="5185938"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7430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(4 of 6)</a:t>
            </a:r>
            <a:endParaRPr lang="en-US" dirty="0"/>
          </a:p>
        </p:txBody>
      </p:sp>
      <p:pic>
        <p:nvPicPr>
          <p:cNvPr id="6" name="Content Placeholder 5" descr="Figure 3-3, Page No. 104, Complexity level: 1&#10;Screenshot shows a “Server Manager” dialog box. On the left pane of the dialog box, the Local Server option is selected. The content pane of the dialog box shows the Properties (for accounting) box and the Events box.&#10;" title="Figure 3-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752600"/>
            <a:ext cx="5147361"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34741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(5 of 6)</a:t>
            </a:r>
            <a:endParaRPr lang="en-US" dirty="0"/>
          </a:p>
        </p:txBody>
      </p:sp>
      <p:pic>
        <p:nvPicPr>
          <p:cNvPr id="5" name="Content Placeholder 4" descr="Figure 3-4, Page No. 105, Complexity level: 1&#10;Screenshot shows a “Server Manager” dialog box. On the left pane of the dialog box, the Local Server option is selected. The content pane of the dialog box shows the Event box, Services box, and Best Practices Analyzer box. The cursor points at the scroll bar of the Server Manager.&#10;" title="Figure 3-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1600200"/>
            <a:ext cx="4428031" cy="4252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24573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Server Manager (6 of 6)</a:t>
            </a:r>
            <a:endParaRPr lang="en-US" dirty="0"/>
          </a:p>
        </p:txBody>
      </p:sp>
      <p:pic>
        <p:nvPicPr>
          <p:cNvPr id="6" name="Content Placeholder 5" descr="Figure 3-5, Page No. 105, Complexity level: 1&#10;Screenshot shows a “Server Manager” dialog box. On the left pane of the dialog box, the Local Server option is selected. The content pane of the dialog box shows the Performance box, and Roles and Features box. The cursor points at the scroll bar of the Server Manager.&#10;" title="Figure 3-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1600200"/>
            <a:ext cx="4301655"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85023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and Removing Server Roles</a:t>
            </a:r>
            <a:endParaRPr lang="en-US" dirty="0"/>
          </a:p>
        </p:txBody>
      </p:sp>
      <p:sp>
        <p:nvSpPr>
          <p:cNvPr id="2" name="Content Placeholder 1"/>
          <p:cNvSpPr>
            <a:spLocks noGrp="1"/>
          </p:cNvSpPr>
          <p:nvPr>
            <p:ph idx="1"/>
          </p:nvPr>
        </p:nvSpPr>
        <p:spPr/>
        <p:txBody>
          <a:bodyPr/>
          <a:lstStyle/>
          <a:p>
            <a:r>
              <a:rPr lang="en-US" smtClean="0"/>
              <a:t>For most rolls you install</a:t>
            </a:r>
          </a:p>
          <a:p>
            <a:pPr lvl="1"/>
            <a:r>
              <a:rPr lang="en-US" smtClean="0"/>
              <a:t>There are different role services you can choose to include or omit</a:t>
            </a:r>
          </a:p>
          <a:p>
            <a:r>
              <a:rPr lang="en-US" smtClean="0"/>
              <a:t>Two common roles for a Windows Server 2016 server</a:t>
            </a:r>
          </a:p>
          <a:p>
            <a:pPr lvl="1"/>
            <a:r>
              <a:rPr lang="en-US" smtClean="0"/>
              <a:t>File and Storage Services role</a:t>
            </a:r>
          </a:p>
          <a:p>
            <a:pPr lvl="2"/>
            <a:r>
              <a:rPr lang="en-US" smtClean="0"/>
              <a:t>Focuses on sharing files from the server or using the server to coordinate and simplify file sharing through Distributed File System (DFS)</a:t>
            </a:r>
          </a:p>
          <a:p>
            <a:pPr lvl="1"/>
            <a:r>
              <a:rPr lang="en-US" smtClean="0"/>
              <a:t>Print and Document Services role</a:t>
            </a:r>
          </a:p>
          <a:p>
            <a:pPr lvl="2"/>
            <a:r>
              <a:rPr lang="en-US" smtClean="0"/>
              <a:t>Used to manage network printing services and it can offer one or more network printers connected to the network through the server itself</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45483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Best Practices Analyzer (BPA) for Server Roles (1 of 3)</a:t>
            </a:r>
            <a:endParaRPr lang="en-US" dirty="0"/>
          </a:p>
        </p:txBody>
      </p:sp>
      <p:sp>
        <p:nvSpPr>
          <p:cNvPr id="2" name="Content Placeholder 1"/>
          <p:cNvSpPr>
            <a:spLocks noGrp="1"/>
          </p:cNvSpPr>
          <p:nvPr>
            <p:ph idx="1"/>
          </p:nvPr>
        </p:nvSpPr>
        <p:spPr/>
        <p:txBody>
          <a:bodyPr/>
          <a:lstStyle/>
          <a:p>
            <a:r>
              <a:rPr lang="en-US" smtClean="0"/>
              <a:t>Once you’ve installed a role and set it up</a:t>
            </a:r>
          </a:p>
          <a:p>
            <a:pPr lvl="1"/>
            <a:r>
              <a:rPr lang="en-US" smtClean="0"/>
              <a:t>It is important to determine that you have followed the best practices for the establishment of the role</a:t>
            </a:r>
          </a:p>
          <a:p>
            <a:r>
              <a:rPr lang="en-US" smtClean="0"/>
              <a:t>You can run the BPA to determine if one or more roles are installed and configured to follow the guidelines recommended by Microsoft </a:t>
            </a:r>
          </a:p>
          <a:p>
            <a:r>
              <a:rPr lang="en-US" smtClean="0"/>
              <a:t>When problems are found, the analysis of each role yields a report that shows three levels of severity:</a:t>
            </a:r>
          </a:p>
          <a:p>
            <a:pPr lvl="1"/>
            <a:r>
              <a:rPr lang="en-US" smtClean="0"/>
              <a:t>Information</a:t>
            </a:r>
          </a:p>
          <a:p>
            <a:pPr lvl="1"/>
            <a:r>
              <a:rPr lang="en-US" smtClean="0"/>
              <a:t>Warning</a:t>
            </a:r>
          </a:p>
          <a:p>
            <a:pPr lvl="1"/>
            <a:r>
              <a:rPr lang="en-US" smtClean="0"/>
              <a:t>Error</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2808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Best Practices Analyzer (BPA) for Server Roles (2 of 3)</a:t>
            </a:r>
            <a:endParaRPr lang="en-US" dirty="0"/>
          </a:p>
        </p:txBody>
      </p:sp>
      <p:sp>
        <p:nvSpPr>
          <p:cNvPr id="2" name="Content Placeholder 1"/>
          <p:cNvSpPr>
            <a:spLocks noGrp="1"/>
          </p:cNvSpPr>
          <p:nvPr>
            <p:ph idx="1"/>
          </p:nvPr>
        </p:nvSpPr>
        <p:spPr/>
        <p:txBody>
          <a:bodyPr/>
          <a:lstStyle/>
          <a:p>
            <a:r>
              <a:rPr lang="en-US" smtClean="0"/>
              <a:t>The guidelines the BPA uses for analysis are:</a:t>
            </a:r>
          </a:p>
          <a:p>
            <a:pPr lvl="1"/>
            <a:r>
              <a:rPr lang="en-US" smtClean="0"/>
              <a:t>Configuration</a:t>
            </a:r>
          </a:p>
          <a:p>
            <a:pPr lvl="1"/>
            <a:r>
              <a:rPr lang="en-US" smtClean="0"/>
              <a:t>Predeployment</a:t>
            </a:r>
          </a:p>
          <a:p>
            <a:pPr lvl="1"/>
            <a:r>
              <a:rPr lang="en-US" smtClean="0"/>
              <a:t>Postdeployment</a:t>
            </a:r>
          </a:p>
          <a:p>
            <a:pPr lvl="1"/>
            <a:r>
              <a:rPr lang="en-US" smtClean="0"/>
              <a:t>Performance</a:t>
            </a:r>
          </a:p>
          <a:p>
            <a:pPr lvl="1"/>
            <a:r>
              <a:rPr lang="en-US" smtClean="0"/>
              <a:t>BPA Prerequisites</a:t>
            </a:r>
          </a:p>
          <a:p>
            <a:r>
              <a:rPr lang="en-US" smtClean="0"/>
              <a:t>General steps for running BPA:</a:t>
            </a:r>
          </a:p>
          <a:p>
            <a:pPr lvl="1"/>
            <a:r>
              <a:rPr lang="en-US" smtClean="0"/>
              <a:t>Open Server Manager</a:t>
            </a:r>
          </a:p>
          <a:p>
            <a:pPr lvl="1"/>
            <a:r>
              <a:rPr lang="en-US" smtClean="0"/>
              <a:t>Click Local Server in the left pane</a:t>
            </a:r>
          </a:p>
          <a:p>
            <a:pPr lvl="1"/>
            <a:r>
              <a:rPr lang="en-US" smtClean="0"/>
              <a:t>In the right pane, scroll to Best Practices Analyzer</a:t>
            </a:r>
          </a:p>
          <a:p>
            <a:pPr lvl="1"/>
            <a:r>
              <a:rPr lang="en-US" smtClean="0"/>
              <a:t>Click the down arrow for TASKS</a:t>
            </a:r>
          </a:p>
          <a:p>
            <a:pPr lvl="1"/>
            <a:r>
              <a:rPr lang="en-US" smtClean="0"/>
              <a:t>Click Start BPA Scan and wait for the scan to complete</a:t>
            </a:r>
          </a:p>
          <a:p>
            <a:pPr lvl="1"/>
            <a:r>
              <a:rPr lang="en-US" smtClean="0"/>
              <a:t>Read the results for the scan</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9589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Best Practices Analyzer (BPA) for Server Roles (3 of 3)</a:t>
            </a:r>
            <a:endParaRPr lang="en-US" dirty="0"/>
          </a:p>
        </p:txBody>
      </p:sp>
      <p:pic>
        <p:nvPicPr>
          <p:cNvPr id="6" name="Content Placeholder 5" descr="Figure 3-10, Page No. 111, Complexity level: 1&#10;Screenshot shows “Server Manager” dialog box. On the left pane of the dialog box, the Local Server option is selected. The content pane of the dialog box displays the Best Practices Analyzer drop down box for server roles.&#10;" title="Figure 3-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82442" y="1981200"/>
            <a:ext cx="5829297" cy="3643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40066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Server Hardware Devices</a:t>
            </a:r>
            <a:endParaRPr lang="en-US" dirty="0"/>
          </a:p>
        </p:txBody>
      </p:sp>
      <p:sp>
        <p:nvSpPr>
          <p:cNvPr id="2" name="Content Placeholder 1"/>
          <p:cNvSpPr>
            <a:spLocks noGrp="1"/>
          </p:cNvSpPr>
          <p:nvPr>
            <p:ph idx="1"/>
          </p:nvPr>
        </p:nvSpPr>
        <p:spPr/>
        <p:txBody>
          <a:bodyPr/>
          <a:lstStyle/>
          <a:p>
            <a:r>
              <a:rPr lang="en-US" smtClean="0"/>
              <a:t>Hardware devices can include the following:</a:t>
            </a:r>
          </a:p>
          <a:p>
            <a:pPr lvl="1"/>
            <a:r>
              <a:rPr lang="en-US" smtClean="0"/>
              <a:t>Disk drives</a:t>
            </a:r>
          </a:p>
          <a:p>
            <a:pPr lvl="1"/>
            <a:r>
              <a:rPr lang="en-US" smtClean="0"/>
              <a:t>Disk controllers</a:t>
            </a:r>
          </a:p>
          <a:p>
            <a:pPr lvl="1"/>
            <a:r>
              <a:rPr lang="en-US" smtClean="0"/>
              <a:t>Network adapters</a:t>
            </a:r>
          </a:p>
          <a:p>
            <a:pPr lvl="1"/>
            <a:r>
              <a:rPr lang="en-US" smtClean="0"/>
              <a:t>Optical drives</a:t>
            </a:r>
          </a:p>
          <a:p>
            <a:pPr lvl="1"/>
            <a:r>
              <a:rPr lang="en-US" smtClean="0"/>
              <a:t>Keyboard</a:t>
            </a:r>
          </a:p>
          <a:p>
            <a:pPr lvl="1"/>
            <a:r>
              <a:rPr lang="en-US" smtClean="0"/>
              <a:t>Pointing devices</a:t>
            </a:r>
          </a:p>
          <a:p>
            <a:pPr lvl="1"/>
            <a:r>
              <a:rPr lang="en-US" smtClean="0"/>
              <a:t>Monitor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25246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Plug and Play</a:t>
            </a:r>
            <a:endParaRPr lang="en-US" dirty="0"/>
          </a:p>
        </p:txBody>
      </p:sp>
      <p:sp>
        <p:nvSpPr>
          <p:cNvPr id="2" name="Content Placeholder 1"/>
          <p:cNvSpPr>
            <a:spLocks noGrp="1"/>
          </p:cNvSpPr>
          <p:nvPr>
            <p:ph idx="1"/>
          </p:nvPr>
        </p:nvSpPr>
        <p:spPr/>
        <p:txBody>
          <a:bodyPr/>
          <a:lstStyle/>
          <a:p>
            <a:r>
              <a:rPr lang="en-US" smtClean="0"/>
              <a:t>Plug and Play (PnP)</a:t>
            </a:r>
          </a:p>
          <a:p>
            <a:pPr lvl="1"/>
            <a:r>
              <a:rPr lang="en-US" smtClean="0"/>
              <a:t>The ability to automatically detect and configure newly installed hardware devices</a:t>
            </a:r>
          </a:p>
          <a:p>
            <a:r>
              <a:rPr lang="en-US" smtClean="0"/>
              <a:t>For this capability to work, PnP must be:</a:t>
            </a:r>
          </a:p>
          <a:p>
            <a:pPr lvl="1"/>
            <a:r>
              <a:rPr lang="en-US" smtClean="0"/>
              <a:t>Built into the device</a:t>
            </a:r>
          </a:p>
          <a:p>
            <a:pPr lvl="1"/>
            <a:r>
              <a:rPr lang="en-US" smtClean="0"/>
              <a:t>Enabled in the target computer’s BIOS</a:t>
            </a:r>
          </a:p>
          <a:p>
            <a:pPr lvl="1"/>
            <a:r>
              <a:rPr lang="en-US" smtClean="0"/>
              <a:t>Built into the computer operating system kernel</a:t>
            </a:r>
          </a:p>
          <a:p>
            <a:r>
              <a:rPr lang="en-US" smtClean="0"/>
              <a:t>PnP eliminates hours of time that server administrators and computer users once spent installing and configuring hardware</a:t>
            </a:r>
          </a:p>
          <a:p>
            <a:r>
              <a:rPr lang="en-US" smtClean="0"/>
              <a:t>In some cases	</a:t>
            </a:r>
          </a:p>
          <a:p>
            <a:pPr lvl="1"/>
            <a:r>
              <a:rPr lang="en-US" smtClean="0"/>
              <a:t>Once the device is installed you might need to configure its properties and settings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93457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Control Panel and the Devices and Printers Utility (1 of 6)</a:t>
            </a:r>
            <a:endParaRPr lang="en-US" dirty="0"/>
          </a:p>
        </p:txBody>
      </p:sp>
      <p:sp>
        <p:nvSpPr>
          <p:cNvPr id="2" name="Content Placeholder 1"/>
          <p:cNvSpPr>
            <a:spLocks noGrp="1"/>
          </p:cNvSpPr>
          <p:nvPr>
            <p:ph idx="1"/>
          </p:nvPr>
        </p:nvSpPr>
        <p:spPr/>
        <p:txBody>
          <a:bodyPr/>
          <a:lstStyle/>
          <a:p>
            <a:r>
              <a:rPr lang="en-US" smtClean="0"/>
              <a:t>The Devices and Printers utility is used for the following tasks:</a:t>
            </a:r>
          </a:p>
          <a:p>
            <a:pPr lvl="1"/>
            <a:r>
              <a:rPr lang="en-US" smtClean="0"/>
              <a:t>Invoke the operating system to use PnP to detect new hardware</a:t>
            </a:r>
          </a:p>
          <a:p>
            <a:pPr lvl="1"/>
            <a:r>
              <a:rPr lang="en-US" smtClean="0"/>
              <a:t>Install new non-PnP hardware and hardware drivers</a:t>
            </a:r>
          </a:p>
          <a:p>
            <a:pPr lvl="1"/>
            <a:r>
              <a:rPr lang="en-US" smtClean="0"/>
              <a:t>Troubleshoot problems you might be having with existing hardware</a:t>
            </a:r>
          </a:p>
          <a:p>
            <a:r>
              <a:rPr lang="en-US" smtClean="0"/>
              <a:t>The Devices and Printers utility is started from Control Panel</a:t>
            </a:r>
          </a:p>
          <a:p>
            <a:r>
              <a:rPr lang="en-US" smtClean="0"/>
              <a:t>Windows Server 2016 provides two Control Panel view options: Control Panel Home with Category View and Control Panel with Classic View</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53271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Control Panel and the Devices and Printers Utility (2 of 6)</a:t>
            </a:r>
            <a:endParaRPr lang="en-US" dirty="0"/>
          </a:p>
        </p:txBody>
      </p:sp>
      <p:pic>
        <p:nvPicPr>
          <p:cNvPr id="6" name="Content Placeholder 5" descr="Figure 3-11, Page No. 113, Complexity level: 1&#10;Screenshot shows the “Category view of Control panel” for configuring the Window Server 2016.&#10;" title="Figure 3-1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95400" y="1676400"/>
            <a:ext cx="6191737" cy="4252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99431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Control Panel and the Devices and Printers Utility (3 of 6)</a:t>
            </a:r>
            <a:endParaRPr lang="en-US" dirty="0"/>
          </a:p>
        </p:txBody>
      </p:sp>
      <p:pic>
        <p:nvPicPr>
          <p:cNvPr id="5" name="Content Placeholder 4" descr="Figure 3-12, Page No. 114, Complexity level: 1&#10;Screenshot shows the “Classic view of Control panel” for configuring the Window Server 2016. The icons on the panel appears small.&#10;" title="Figure 3-1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600200"/>
            <a:ext cx="3679728"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82480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Control Panel and the Devices and Printers Utility (4 of 6)</a:t>
            </a:r>
            <a:endParaRPr lang="en-US" dirty="0"/>
          </a:p>
        </p:txBody>
      </p:sp>
      <p:pic>
        <p:nvPicPr>
          <p:cNvPr id="6" name="Content Placeholder 5" descr="Figure 3-13, Page No. 114, Complexity level: 1&#10;Screenshot shows the “Devices and Printers” window. The window shows six devices named as Accounting, ASUS DRW-24F1ST b, Cruzer Glide, Dell USB Entry keyboard, Dell USB Optical Mouse, and Toshiba DT01ACA100. Two printers are named as Microsoft Print to PDF and Microsoft XPS Document Writer. Totally, there are eight items shown.&#10;" title="Figure 3-1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95600" y="1524000"/>
            <a:ext cx="3523639" cy="4538024"/>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77753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Control Panel and the Devices and Printers Utility (5 of 6)</a:t>
            </a:r>
            <a:endParaRPr lang="en-US" dirty="0"/>
          </a:p>
        </p:txBody>
      </p:sp>
      <p:sp>
        <p:nvSpPr>
          <p:cNvPr id="2" name="Content Placeholder 1"/>
          <p:cNvSpPr>
            <a:spLocks noGrp="1"/>
          </p:cNvSpPr>
          <p:nvPr>
            <p:ph idx="1"/>
          </p:nvPr>
        </p:nvSpPr>
        <p:spPr/>
        <p:txBody>
          <a:bodyPr/>
          <a:lstStyle/>
          <a:p>
            <a:r>
              <a:rPr lang="en-US" smtClean="0"/>
              <a:t>Device Manager</a:t>
            </a:r>
          </a:p>
          <a:p>
            <a:pPr lvl="1"/>
            <a:r>
              <a:rPr lang="en-US" smtClean="0"/>
              <a:t>Used to check for a resource conflict and to examine other properties associated with a device</a:t>
            </a:r>
          </a:p>
          <a:p>
            <a:pPr lvl="1"/>
            <a:r>
              <a:rPr lang="en-US" smtClean="0"/>
              <a:t>Provides a view of all hardware currently installed on your computer</a:t>
            </a:r>
          </a:p>
          <a:p>
            <a:pPr lvl="1"/>
            <a:r>
              <a:rPr lang="en-US" smtClean="0"/>
              <a:t>Can also be used to:</a:t>
            </a:r>
          </a:p>
          <a:p>
            <a:pPr lvl="2"/>
            <a:r>
              <a:rPr lang="en-US" smtClean="0"/>
              <a:t>Verify if hardware installed is working properly</a:t>
            </a:r>
          </a:p>
          <a:p>
            <a:pPr lvl="2"/>
            <a:r>
              <a:rPr lang="en-US" smtClean="0"/>
              <a:t>Update device drivers</a:t>
            </a:r>
          </a:p>
          <a:p>
            <a:pPr lvl="2"/>
            <a:r>
              <a:rPr lang="en-US" smtClean="0"/>
              <a:t>Disable a device</a:t>
            </a:r>
          </a:p>
          <a:p>
            <a:pPr lvl="2"/>
            <a:r>
              <a:rPr lang="en-US" smtClean="0"/>
              <a:t>Uninstall a device</a:t>
            </a:r>
          </a:p>
          <a:p>
            <a:pPr lvl="2"/>
            <a:r>
              <a:rPr lang="en-US" smtClean="0"/>
              <a:t>Configure the settings for a device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7128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Control Panel and the Devices and Printers Utility (6 of 6)</a:t>
            </a:r>
            <a:endParaRPr lang="en-US" dirty="0"/>
          </a:p>
        </p:txBody>
      </p:sp>
      <p:sp>
        <p:nvSpPr>
          <p:cNvPr id="2" name="Content Placeholder 1"/>
          <p:cNvSpPr>
            <a:spLocks noGrp="1"/>
          </p:cNvSpPr>
          <p:nvPr>
            <p:ph idx="1"/>
          </p:nvPr>
        </p:nvSpPr>
        <p:spPr/>
        <p:txBody>
          <a:bodyPr/>
          <a:lstStyle/>
          <a:p>
            <a:r>
              <a:rPr lang="en-US" smtClean="0"/>
              <a:t>Driver signing</a:t>
            </a:r>
          </a:p>
          <a:p>
            <a:pPr lvl="1"/>
            <a:r>
              <a:rPr lang="en-US" smtClean="0"/>
              <a:t>When a driver is verified, a unique digital signature is incorporated into it</a:t>
            </a:r>
          </a:p>
          <a:p>
            <a:pPr lvl="1"/>
            <a:r>
              <a:rPr lang="en-US" smtClean="0"/>
              <a:t>When Windows Server 2016 determines that a device driver is not signed, it gives you a warning</a:t>
            </a:r>
          </a:p>
          <a:p>
            <a:pPr lvl="1"/>
            <a:r>
              <a:rPr lang="en-US" smtClean="0"/>
              <a:t>Device drivers that are unsigned cannot be loaded in x64 versions of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25536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System File Checker</a:t>
            </a:r>
            <a:endParaRPr lang="en-US" dirty="0"/>
          </a:p>
        </p:txBody>
      </p:sp>
      <p:sp>
        <p:nvSpPr>
          <p:cNvPr id="2" name="Content Placeholder 1"/>
          <p:cNvSpPr>
            <a:spLocks noGrp="1"/>
          </p:cNvSpPr>
          <p:nvPr>
            <p:ph idx="1"/>
          </p:nvPr>
        </p:nvSpPr>
        <p:spPr/>
        <p:txBody>
          <a:bodyPr/>
          <a:lstStyle/>
          <a:p>
            <a:r>
              <a:rPr lang="en-US" smtClean="0"/>
              <a:t>Use the System File Checker</a:t>
            </a:r>
          </a:p>
          <a:p>
            <a:pPr lvl="1"/>
            <a:r>
              <a:rPr lang="en-US" smtClean="0"/>
              <a:t>To scan system files for integrity</a:t>
            </a:r>
          </a:p>
          <a:p>
            <a:r>
              <a:rPr lang="en-US" smtClean="0"/>
              <a:t>You can run this utility to:</a:t>
            </a:r>
          </a:p>
          <a:p>
            <a:pPr lvl="1"/>
            <a:r>
              <a:rPr lang="en-US" smtClean="0"/>
              <a:t>Scan all system files to verify integrity</a:t>
            </a:r>
          </a:p>
          <a:p>
            <a:pPr lvl="1"/>
            <a:r>
              <a:rPr lang="en-US" smtClean="0"/>
              <a:t>Scan and replace files as needed</a:t>
            </a:r>
          </a:p>
          <a:p>
            <a:pPr lvl="1"/>
            <a:r>
              <a:rPr lang="en-US" smtClean="0"/>
              <a:t>Scan only certain files</a:t>
            </a:r>
          </a:p>
          <a:p>
            <a:r>
              <a:rPr lang="en-US" smtClean="0"/>
              <a:t>The System File Checker can be manually run from the Command Prompt window or Windows PowerShell window</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32845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Sigverif to Verify System and Critical Files</a:t>
            </a:r>
            <a:endParaRPr lang="en-US" dirty="0"/>
          </a:p>
        </p:txBody>
      </p:sp>
      <p:sp>
        <p:nvSpPr>
          <p:cNvPr id="2" name="Content Placeholder 1"/>
          <p:cNvSpPr>
            <a:spLocks noGrp="1"/>
          </p:cNvSpPr>
          <p:nvPr>
            <p:ph idx="1"/>
          </p:nvPr>
        </p:nvSpPr>
        <p:spPr/>
        <p:txBody>
          <a:bodyPr/>
          <a:lstStyle/>
          <a:p>
            <a:r>
              <a:rPr lang="en-US" smtClean="0"/>
              <a:t>Sigverif verifies system and critical files to determine if they have a signature</a:t>
            </a:r>
          </a:p>
          <a:p>
            <a:pPr lvl="1"/>
            <a:r>
              <a:rPr lang="en-US" smtClean="0"/>
              <a:t>Only scans files and does not overwrite inappropriate files, enabling you to use the tool while users are logged on</a:t>
            </a:r>
          </a:p>
          <a:p>
            <a:r>
              <a:rPr lang="en-US" smtClean="0"/>
              <a:t>After the scan is complete, the results are written to a log file, called sigverif.txt</a:t>
            </a:r>
          </a:p>
          <a:p>
            <a:r>
              <a:rPr lang="en-US" smtClean="0"/>
              <a:t>If the tool finds a file without a signature that you believe needs to be replaced</a:t>
            </a:r>
          </a:p>
          <a:p>
            <a:pPr lvl="1"/>
            <a:r>
              <a:rPr lang="en-US" smtClean="0"/>
              <a:t>You can replace the file when users are off the system</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00527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the Operating System</a:t>
            </a:r>
            <a:endParaRPr lang="en-US" dirty="0"/>
          </a:p>
        </p:txBody>
      </p:sp>
      <p:sp>
        <p:nvSpPr>
          <p:cNvPr id="2" name="Content Placeholder 1"/>
          <p:cNvSpPr>
            <a:spLocks noGrp="1"/>
          </p:cNvSpPr>
          <p:nvPr>
            <p:ph idx="1"/>
          </p:nvPr>
        </p:nvSpPr>
        <p:spPr/>
        <p:txBody>
          <a:bodyPr/>
          <a:lstStyle/>
          <a:p>
            <a:r>
              <a:rPr lang="en-US" smtClean="0"/>
              <a:t>After the operating system has been installed</a:t>
            </a:r>
          </a:p>
          <a:p>
            <a:pPr lvl="1"/>
            <a:r>
              <a:rPr lang="en-US" smtClean="0"/>
              <a:t>It can be configured to optimize performance and meet very specific requirements</a:t>
            </a:r>
          </a:p>
          <a:p>
            <a:r>
              <a:rPr lang="en-US" smtClean="0"/>
              <a:t>Using tools included with Windows Server 2016 you can configure elements of the OS such as:</a:t>
            </a:r>
          </a:p>
          <a:p>
            <a:pPr lvl="1"/>
            <a:r>
              <a:rPr lang="en-US" smtClean="0"/>
              <a:t>Performance options</a:t>
            </a:r>
          </a:p>
          <a:p>
            <a:pPr lvl="1"/>
            <a:r>
              <a:rPr lang="en-US" smtClean="0"/>
              <a:t>Environment variables</a:t>
            </a:r>
          </a:p>
          <a:p>
            <a:pPr lvl="1"/>
            <a:r>
              <a:rPr lang="en-US" smtClean="0"/>
              <a:t>Startup and recovery options</a:t>
            </a:r>
          </a:p>
          <a:p>
            <a:pPr lvl="1"/>
            <a:r>
              <a:rPr lang="en-US" smtClean="0"/>
              <a:t>Power options</a:t>
            </a:r>
          </a:p>
          <a:p>
            <a:pPr lvl="1"/>
            <a:r>
              <a:rPr lang="en-US" smtClean="0"/>
              <a:t>Protocols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3522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Performance Options (1 of 2)</a:t>
            </a:r>
            <a:endParaRPr lang="en-US" dirty="0"/>
          </a:p>
        </p:txBody>
      </p:sp>
      <p:sp>
        <p:nvSpPr>
          <p:cNvPr id="2" name="Content Placeholder 1"/>
          <p:cNvSpPr>
            <a:spLocks noGrp="1"/>
          </p:cNvSpPr>
          <p:nvPr>
            <p:ph idx="1"/>
          </p:nvPr>
        </p:nvSpPr>
        <p:spPr/>
        <p:txBody>
          <a:bodyPr/>
          <a:lstStyle/>
          <a:p>
            <a:r>
              <a:rPr lang="en-US" smtClean="0"/>
              <a:t>You can configure basic areas of performance including:</a:t>
            </a:r>
          </a:p>
          <a:p>
            <a:pPr lvl="1"/>
            <a:r>
              <a:rPr lang="en-US" smtClean="0"/>
              <a:t>Processor scheduling and Data Execution Prevention</a:t>
            </a:r>
          </a:p>
          <a:p>
            <a:pPr lvl="1"/>
            <a:r>
              <a:rPr lang="en-US" smtClean="0"/>
              <a:t>Virtual memory</a:t>
            </a:r>
          </a:p>
          <a:p>
            <a:pPr lvl="1"/>
            <a:r>
              <a:rPr lang="en-US" smtClean="0"/>
              <a:t>File caching and flushing</a:t>
            </a:r>
          </a:p>
          <a:p>
            <a:r>
              <a:rPr lang="en-US" smtClean="0"/>
              <a:t>Configuring Processor Scheduling and Data Execution Prevention</a:t>
            </a:r>
          </a:p>
          <a:p>
            <a:pPr lvl="1"/>
            <a:r>
              <a:rPr lang="en-US" smtClean="0"/>
              <a:t>Processor scheduling</a:t>
            </a:r>
          </a:p>
          <a:p>
            <a:pPr lvl="2"/>
            <a:r>
              <a:rPr lang="en-US" smtClean="0"/>
              <a:t>Allows you to configure how processor resources are allocated to programs</a:t>
            </a:r>
          </a:p>
          <a:p>
            <a:pPr lvl="1"/>
            <a:r>
              <a:rPr lang="en-US" smtClean="0"/>
              <a:t>Data Execution Prevention (DEP)</a:t>
            </a:r>
          </a:p>
          <a:p>
            <a:pPr lvl="2"/>
            <a:r>
              <a:rPr lang="en-US" smtClean="0"/>
              <a:t>Monitors how programs use memory to ensure they are not causing memory problems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92759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Performance Options (2 of 2)</a:t>
            </a:r>
            <a:endParaRPr lang="en-US" dirty="0"/>
          </a:p>
        </p:txBody>
      </p:sp>
      <p:sp>
        <p:nvSpPr>
          <p:cNvPr id="5" name="Content Placeholder 4"/>
          <p:cNvSpPr>
            <a:spLocks noGrp="1"/>
          </p:cNvSpPr>
          <p:nvPr>
            <p:ph idx="1"/>
          </p:nvPr>
        </p:nvSpPr>
        <p:spPr/>
        <p:txBody>
          <a:bodyPr/>
          <a:lstStyle/>
          <a:p>
            <a:r>
              <a:rPr lang="en-US" smtClean="0"/>
              <a:t>Configuring virtual memory</a:t>
            </a:r>
          </a:p>
          <a:p>
            <a:pPr lvl="1"/>
            <a:r>
              <a:rPr lang="en-US" smtClean="0"/>
              <a:t>Virtual memory - Disk storage used to expand the capacity of the physical RAM installed in the computer</a:t>
            </a:r>
          </a:p>
          <a:p>
            <a:pPr lvl="1"/>
            <a:r>
              <a:rPr lang="en-US" smtClean="0"/>
              <a:t>Virtual memory works through a technique called paging</a:t>
            </a:r>
          </a:p>
          <a:p>
            <a:pPr lvl="2"/>
            <a:r>
              <a:rPr lang="en-US" smtClean="0"/>
              <a:t>Whereby blocks of information, called pages, are moved from RAM into virtual memory on disk</a:t>
            </a:r>
          </a:p>
          <a:p>
            <a:pPr lvl="1"/>
            <a:r>
              <a:rPr lang="en-US" smtClean="0"/>
              <a:t>The area of disk that is allocated for this purpose is called the paging file</a:t>
            </a:r>
          </a:p>
          <a:p>
            <a:r>
              <a:rPr lang="en-US" smtClean="0"/>
              <a:t>Tips for placement of the paging file:</a:t>
            </a:r>
          </a:p>
          <a:p>
            <a:pPr lvl="1"/>
            <a:r>
              <a:rPr lang="en-US" smtClean="0"/>
              <a:t>Server performance is better if the paging file is not placed on the boot partition</a:t>
            </a:r>
          </a:p>
          <a:p>
            <a:pPr lvl="1"/>
            <a:r>
              <a:rPr lang="en-US" smtClean="0"/>
              <a:t>If there are multiple disks, performance can be improved by placing a paging file on each disk</a:t>
            </a:r>
          </a:p>
          <a:p>
            <a:pPr lvl="1"/>
            <a:r>
              <a:rPr lang="en-US" smtClean="0"/>
              <a:t>In a mirrored set or volume, place the paging file on the main disk</a:t>
            </a:r>
          </a:p>
          <a:p>
            <a:pPr lvl="1"/>
            <a:r>
              <a:rPr lang="en-US" smtClean="0"/>
              <a:t>Do not place the paging file on a stripe set, striped volume, stripe set with parity, or RAID-5 volume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31972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File Caching</a:t>
            </a:r>
            <a:endParaRPr lang="en-US" dirty="0"/>
          </a:p>
        </p:txBody>
      </p:sp>
      <p:sp>
        <p:nvSpPr>
          <p:cNvPr id="2" name="Content Placeholder 1"/>
          <p:cNvSpPr>
            <a:spLocks noGrp="1"/>
          </p:cNvSpPr>
          <p:nvPr>
            <p:ph idx="1"/>
          </p:nvPr>
        </p:nvSpPr>
        <p:spPr/>
        <p:txBody>
          <a:bodyPr/>
          <a:lstStyle/>
          <a:p>
            <a:r>
              <a:rPr lang="en-US" smtClean="0"/>
              <a:t>File caching is turned on by default</a:t>
            </a:r>
          </a:p>
          <a:p>
            <a:pPr lvl="1"/>
            <a:r>
              <a:rPr lang="en-US" smtClean="0"/>
              <a:t>Uses an area of RAM already established for file caching</a:t>
            </a:r>
          </a:p>
          <a:p>
            <a:pPr lvl="1"/>
            <a:r>
              <a:rPr lang="en-US" smtClean="0"/>
              <a:t>Is controlled by the cache manager in Windows OSs</a:t>
            </a:r>
          </a:p>
          <a:p>
            <a:r>
              <a:rPr lang="en-US" smtClean="0"/>
              <a:t>Flushing</a:t>
            </a:r>
          </a:p>
          <a:p>
            <a:pPr lvl="1"/>
            <a:r>
              <a:rPr lang="en-US" smtClean="0"/>
              <a:t>After data is written to disk, the RAM used for that cached data is freed </a:t>
            </a:r>
          </a:p>
          <a:p>
            <a:r>
              <a:rPr lang="en-US" smtClean="0"/>
              <a:t>When file caching is off</a:t>
            </a:r>
          </a:p>
          <a:p>
            <a:pPr lvl="1"/>
            <a:r>
              <a:rPr lang="en-US" smtClean="0"/>
              <a:t>Server can seem slower to users</a:t>
            </a:r>
          </a:p>
          <a:p>
            <a:r>
              <a:rPr lang="en-US" smtClean="0"/>
              <a:t>In most cases, server performance is better and disk operations are safer when file caching and flushing are turned 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38491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Environment Variables</a:t>
            </a:r>
            <a:endParaRPr lang="en-US" dirty="0"/>
          </a:p>
        </p:txBody>
      </p:sp>
      <p:sp>
        <p:nvSpPr>
          <p:cNvPr id="2" name="Content Placeholder 1"/>
          <p:cNvSpPr>
            <a:spLocks noGrp="1"/>
          </p:cNvSpPr>
          <p:nvPr>
            <p:ph idx="1"/>
          </p:nvPr>
        </p:nvSpPr>
        <p:spPr/>
        <p:txBody>
          <a:bodyPr/>
          <a:lstStyle/>
          <a:p>
            <a:r>
              <a:rPr lang="en-US" smtClean="0"/>
              <a:t>Environment variables</a:t>
            </a:r>
          </a:p>
          <a:p>
            <a:pPr lvl="1"/>
            <a:r>
              <a:rPr lang="en-US" smtClean="0"/>
              <a:t>Used to tell the operating system where to find certain programs and how to allocate memory to programs, and to control different programs</a:t>
            </a:r>
          </a:p>
          <a:p>
            <a:r>
              <a:rPr lang="en-US" smtClean="0"/>
              <a:t>System environment variables</a:t>
            </a:r>
          </a:p>
          <a:p>
            <a:pPr lvl="1"/>
            <a:r>
              <a:rPr lang="en-US" smtClean="0"/>
              <a:t>Defined by the operating system and apply to any user logged onto the computer</a:t>
            </a:r>
          </a:p>
          <a:p>
            <a:r>
              <a:rPr lang="en-US" smtClean="0"/>
              <a:t>User environment variables</a:t>
            </a:r>
          </a:p>
          <a:p>
            <a:pPr lvl="1"/>
            <a:r>
              <a:rPr lang="en-US" smtClean="0"/>
              <a:t>Can be defined on a per-user basis, such as specifying the path where application files are stored</a:t>
            </a:r>
          </a:p>
          <a:p>
            <a:r>
              <a:rPr lang="en-US" smtClean="0"/>
              <a:t>Keep the following in mind:</a:t>
            </a:r>
          </a:p>
          <a:p>
            <a:pPr lvl="1"/>
            <a:r>
              <a:rPr lang="en-US" smtClean="0"/>
              <a:t>System environment variables are always set first</a:t>
            </a:r>
          </a:p>
          <a:p>
            <a:pPr lvl="1"/>
            <a:r>
              <a:rPr lang="en-US" smtClean="0"/>
              <a:t>User environment variables are set next, overriding any conflicting system environment variables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1230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Startup and Recovery</a:t>
            </a:r>
            <a:endParaRPr lang="en-US" dirty="0"/>
          </a:p>
        </p:txBody>
      </p:sp>
      <p:sp>
        <p:nvSpPr>
          <p:cNvPr id="2" name="Content Placeholder 1"/>
          <p:cNvSpPr>
            <a:spLocks noGrp="1"/>
          </p:cNvSpPr>
          <p:nvPr>
            <p:ph idx="1"/>
          </p:nvPr>
        </p:nvSpPr>
        <p:spPr/>
        <p:txBody>
          <a:bodyPr/>
          <a:lstStyle/>
          <a:p>
            <a:r>
              <a:rPr lang="en-US" smtClean="0"/>
              <a:t>You can configure the following system startup options:</a:t>
            </a:r>
          </a:p>
          <a:p>
            <a:pPr lvl="1"/>
            <a:r>
              <a:rPr lang="en-US" smtClean="0"/>
              <a:t>Which operating system to boot by default, if more than one operating system is installed</a:t>
            </a:r>
          </a:p>
          <a:p>
            <a:pPr lvl="1"/>
            <a:r>
              <a:rPr lang="en-US" smtClean="0"/>
              <a:t>How long to display a list of operating systems from which to boot</a:t>
            </a:r>
          </a:p>
          <a:p>
            <a:pPr lvl="1"/>
            <a:r>
              <a:rPr lang="en-US" smtClean="0"/>
              <a:t>How long to display a list of recovery options, if the computer needs to go into recovery mode after a system failure</a:t>
            </a:r>
          </a:p>
          <a:p>
            <a:r>
              <a:rPr lang="en-US" smtClean="0"/>
              <a:t>In the event of a system failure, you can configure these options:</a:t>
            </a:r>
          </a:p>
          <a:p>
            <a:pPr lvl="1"/>
            <a:r>
              <a:rPr lang="en-US" smtClean="0"/>
              <a:t>Writing information to the system log (hard configured so you cannot change this)</a:t>
            </a:r>
          </a:p>
          <a:p>
            <a:pPr lvl="1"/>
            <a:r>
              <a:rPr lang="en-US" smtClean="0"/>
              <a:t>Whether to start automatically after a system failure</a:t>
            </a:r>
          </a:p>
          <a:p>
            <a:pPr lvl="1"/>
            <a:r>
              <a:rPr lang="en-US" smtClean="0"/>
              <a:t>How and where to write debugging information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89416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Power Options</a:t>
            </a:r>
            <a:endParaRPr lang="en-US" dirty="0"/>
          </a:p>
        </p:txBody>
      </p:sp>
      <p:sp>
        <p:nvSpPr>
          <p:cNvPr id="2" name="Content Placeholder 1"/>
          <p:cNvSpPr>
            <a:spLocks noGrp="1"/>
          </p:cNvSpPr>
          <p:nvPr>
            <p:ph idx="1"/>
          </p:nvPr>
        </p:nvSpPr>
        <p:spPr/>
        <p:txBody>
          <a:bodyPr/>
          <a:lstStyle/>
          <a:p>
            <a:r>
              <a:rPr lang="en-US" smtClean="0"/>
              <a:t>The Power Options that you can set are as follows:</a:t>
            </a:r>
          </a:p>
          <a:p>
            <a:pPr lvl="1"/>
            <a:r>
              <a:rPr lang="en-US" smtClean="0"/>
              <a:t>Select a power plan</a:t>
            </a:r>
          </a:p>
          <a:p>
            <a:pPr lvl="1"/>
            <a:r>
              <a:rPr lang="en-US" smtClean="0"/>
              <a:t>Choose what the power button does</a:t>
            </a:r>
          </a:p>
          <a:p>
            <a:pPr lvl="1"/>
            <a:r>
              <a:rPr lang="en-US" smtClean="0"/>
              <a:t>Create a power plan</a:t>
            </a:r>
          </a:p>
          <a:p>
            <a:pPr lvl="1"/>
            <a:r>
              <a:rPr lang="en-US" smtClean="0"/>
              <a:t>Choose when to turn off the display</a:t>
            </a:r>
          </a:p>
          <a:p>
            <a:r>
              <a:rPr lang="en-US" smtClean="0"/>
              <a:t>Three power plans are already created: balanced, power saver, and high performance</a:t>
            </a:r>
          </a:p>
          <a:p>
            <a:r>
              <a:rPr lang="en-US" smtClean="0"/>
              <a:t>Choosing what the power button does give you three options:</a:t>
            </a:r>
          </a:p>
          <a:p>
            <a:pPr lvl="1"/>
            <a:r>
              <a:rPr lang="en-US" smtClean="0"/>
              <a:t>Shut down</a:t>
            </a:r>
          </a:p>
          <a:p>
            <a:pPr lvl="1"/>
            <a:r>
              <a:rPr lang="en-US" smtClean="0"/>
              <a:t>Do nothing</a:t>
            </a:r>
          </a:p>
          <a:p>
            <a:pPr lvl="1"/>
            <a:r>
              <a:rPr lang="en-US" smtClean="0"/>
              <a:t>Hibernate</a:t>
            </a:r>
          </a:p>
          <a:p>
            <a:r>
              <a:rPr lang="en-US" smtClean="0"/>
              <a:t>The option to create a power plan enables you to customize a power plan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9342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a Protocol</a:t>
            </a:r>
            <a:endParaRPr lang="en-US" dirty="0"/>
          </a:p>
        </p:txBody>
      </p:sp>
      <p:sp>
        <p:nvSpPr>
          <p:cNvPr id="2" name="Content Placeholder 1"/>
          <p:cNvSpPr>
            <a:spLocks noGrp="1"/>
          </p:cNvSpPr>
          <p:nvPr>
            <p:ph idx="1"/>
          </p:nvPr>
        </p:nvSpPr>
        <p:spPr/>
        <p:txBody>
          <a:bodyPr/>
          <a:lstStyle/>
          <a:p>
            <a:r>
              <a:rPr lang="en-US" smtClean="0"/>
              <a:t>You might need to add other protocols to customize the server for your network</a:t>
            </a:r>
          </a:p>
          <a:p>
            <a:r>
              <a:rPr lang="en-US" smtClean="0"/>
              <a:t>Hyper-V Extensible Virtual Switch Protocol</a:t>
            </a:r>
          </a:p>
          <a:p>
            <a:pPr lvl="1"/>
            <a:r>
              <a:rPr lang="en-US" smtClean="0"/>
              <a:t>Used when the Hyper-V role is installed in Windows Server 2016</a:t>
            </a:r>
          </a:p>
          <a:p>
            <a:pPr lvl="1"/>
            <a:r>
              <a:rPr lang="en-US" smtClean="0"/>
              <a:t>Enables the use of a software virtual switch between the main operating system and the operating systems on virtual partitions</a:t>
            </a:r>
          </a:p>
          <a:p>
            <a:pPr lvl="1"/>
            <a:r>
              <a:rPr lang="en-US" smtClean="0"/>
              <a:t>Reduces the overhead in network communications when Hyper-V is installed</a:t>
            </a:r>
          </a:p>
          <a:p>
            <a:r>
              <a:rPr lang="en-US" smtClean="0"/>
              <a:t>Reliable Multicast Protocol</a:t>
            </a:r>
          </a:p>
          <a:p>
            <a:pPr lvl="1"/>
            <a:r>
              <a:rPr lang="en-US" smtClean="0"/>
              <a:t>Used for multimedia transmissions</a:t>
            </a:r>
          </a:p>
          <a:p>
            <a:pPr lvl="1"/>
            <a:r>
              <a:rPr lang="en-US" smtClean="0"/>
              <a:t>Runs on top of IP and simplifies multicast communications</a:t>
            </a:r>
          </a:p>
          <a:p>
            <a:pPr lvl="2"/>
            <a:r>
              <a:rPr lang="en-US" smtClean="0"/>
              <a:t>Because multicasting can be done even without routers to direct network traffic</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01256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the Windows Server 2016 Registry (1 of 3)</a:t>
            </a:r>
            <a:endParaRPr lang="en-US" dirty="0"/>
          </a:p>
        </p:txBody>
      </p:sp>
      <p:sp>
        <p:nvSpPr>
          <p:cNvPr id="2" name="Content Placeholder 1"/>
          <p:cNvSpPr>
            <a:spLocks noGrp="1"/>
          </p:cNvSpPr>
          <p:nvPr>
            <p:ph idx="1"/>
          </p:nvPr>
        </p:nvSpPr>
        <p:spPr/>
        <p:txBody>
          <a:bodyPr/>
          <a:lstStyle/>
          <a:p>
            <a:r>
              <a:rPr lang="en-US" smtClean="0"/>
              <a:t>Windows Server 2016 Registry</a:t>
            </a:r>
          </a:p>
          <a:p>
            <a:pPr lvl="1"/>
            <a:r>
              <a:rPr lang="en-US" smtClean="0"/>
              <a:t>A very complex database containing all information the operating system needs about the entire server</a:t>
            </a:r>
          </a:p>
          <a:p>
            <a:pPr lvl="1"/>
            <a:r>
              <a:rPr lang="en-US" smtClean="0"/>
              <a:t>The Registry is the coordinating center for a specific server</a:t>
            </a:r>
          </a:p>
          <a:p>
            <a:r>
              <a:rPr lang="en-US" smtClean="0"/>
              <a:t>Data contained in the Registry include:</a:t>
            </a:r>
          </a:p>
          <a:p>
            <a:pPr lvl="1"/>
            <a:r>
              <a:rPr lang="en-US" smtClean="0"/>
              <a:t>Information about all hardware components</a:t>
            </a:r>
          </a:p>
          <a:p>
            <a:pPr lvl="1"/>
            <a:r>
              <a:rPr lang="en-US" smtClean="0"/>
              <a:t>Information about Windows Server 2016 services that are installed</a:t>
            </a:r>
          </a:p>
          <a:p>
            <a:pPr lvl="1"/>
            <a:r>
              <a:rPr lang="en-US" smtClean="0"/>
              <a:t>Data about user profiles and Windows Server 2016 group policies</a:t>
            </a:r>
          </a:p>
          <a:p>
            <a:pPr lvl="1"/>
            <a:r>
              <a:rPr lang="en-US" smtClean="0"/>
              <a:t>Data on the last current and last known setup used to boot the computer</a:t>
            </a:r>
          </a:p>
          <a:p>
            <a:pPr lvl="1"/>
            <a:r>
              <a:rPr lang="en-US" smtClean="0"/>
              <a:t>Configuration information about all software in use</a:t>
            </a:r>
          </a:p>
          <a:p>
            <a:pPr lvl="1"/>
            <a:r>
              <a:rPr lang="en-US" smtClean="0"/>
              <a:t>Software licensing information</a:t>
            </a:r>
          </a:p>
          <a:p>
            <a:pPr lvl="1"/>
            <a:r>
              <a:rPr lang="en-US" smtClean="0"/>
              <a:t>Server Manager and Control Panel parameter configurations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59555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the Windows Server 2016 Registry (2 of 3)</a:t>
            </a:r>
            <a:endParaRPr lang="en-US" dirty="0"/>
          </a:p>
        </p:txBody>
      </p:sp>
      <p:sp>
        <p:nvSpPr>
          <p:cNvPr id="5" name="Content Placeholder 4"/>
          <p:cNvSpPr>
            <a:spLocks noGrp="1"/>
          </p:cNvSpPr>
          <p:nvPr>
            <p:ph idx="1"/>
          </p:nvPr>
        </p:nvSpPr>
        <p:spPr/>
        <p:txBody>
          <a:bodyPr/>
          <a:lstStyle/>
          <a:p>
            <a:r>
              <a:rPr lang="en-US" dirty="0" smtClean="0"/>
              <a:t>The Registry Editor is launched from the Start button Run or Command prompt option as </a:t>
            </a:r>
            <a:r>
              <a:rPr lang="en-US" dirty="0" err="1" smtClean="0"/>
              <a:t>regedit</a:t>
            </a:r>
            <a:endParaRPr lang="en-US" dirty="0" smtClean="0"/>
          </a:p>
          <a:p>
            <a:r>
              <a:rPr lang="en-US" dirty="0" smtClean="0"/>
              <a:t>The same command can be used to start the Registry Editor in Windows PowerShell</a:t>
            </a:r>
            <a:endParaRPr lang="en-US" dirty="0"/>
          </a:p>
        </p:txBody>
      </p:sp>
      <p:pic>
        <p:nvPicPr>
          <p:cNvPr id="6" name="Picture 5" descr="Figure 3-27, Page No. 131, Complexity level: 1&#10;Screenshot shows the “Registry Editor” window. On the left pane of the window, the Computer option is selected which splits into five keys of hierarchical in structure given as HKEY_CLASSES_ROOT, HKEY_CURRENT_USER, HKEY_LOCAL_MACHINE, HKEY_USERS, and HKEY_CURRENT_CONFIG.&#10;" title="Figure 3-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505200"/>
            <a:ext cx="6781800" cy="2021066"/>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87472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the Windows Server 2016 Registry (3 of 3)</a:t>
            </a:r>
            <a:endParaRPr lang="en-US" dirty="0"/>
          </a:p>
        </p:txBody>
      </p:sp>
      <p:sp>
        <p:nvSpPr>
          <p:cNvPr id="2" name="Content Placeholder 1"/>
          <p:cNvSpPr>
            <a:spLocks noGrp="1"/>
          </p:cNvSpPr>
          <p:nvPr>
            <p:ph idx="1"/>
          </p:nvPr>
        </p:nvSpPr>
        <p:spPr/>
        <p:txBody>
          <a:bodyPr/>
          <a:lstStyle/>
          <a:p>
            <a:r>
              <a:rPr lang="en-US" smtClean="0"/>
              <a:t>Precautions when working with the Registry:</a:t>
            </a:r>
          </a:p>
          <a:p>
            <a:pPr lvl="1"/>
            <a:r>
              <a:rPr lang="en-US" smtClean="0"/>
              <a:t>Establish a specific group of administrators who have privileges to open and modify the Registry </a:t>
            </a:r>
          </a:p>
          <a:p>
            <a:pPr lvl="1"/>
            <a:r>
              <a:rPr lang="en-US" smtClean="0"/>
              <a:t>Only make changes to the Registry as a last resort</a:t>
            </a:r>
          </a:p>
          <a:p>
            <a:pPr lvl="1"/>
            <a:r>
              <a:rPr lang="en-US" smtClean="0"/>
              <a:t>Regularly back up the Registry as part of backing up the Windows Server 2016 Windows folder</a:t>
            </a:r>
          </a:p>
          <a:p>
            <a:pPr lvl="1"/>
            <a:r>
              <a:rPr lang="en-US" smtClean="0"/>
              <a:t>Never copy the Registry from one Windows-based system over the Registry of a different system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42208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Registry Contents (1 of 2)</a:t>
            </a:r>
            <a:endParaRPr lang="en-US" dirty="0"/>
          </a:p>
        </p:txBody>
      </p:sp>
      <p:sp>
        <p:nvSpPr>
          <p:cNvPr id="2" name="Content Placeholder 1"/>
          <p:cNvSpPr>
            <a:spLocks noGrp="1"/>
          </p:cNvSpPr>
          <p:nvPr>
            <p:ph idx="1"/>
          </p:nvPr>
        </p:nvSpPr>
        <p:spPr/>
        <p:txBody>
          <a:bodyPr/>
          <a:lstStyle/>
          <a:p>
            <a:r>
              <a:rPr lang="en-US" smtClean="0"/>
              <a:t>The Registry is hierarchical in structure</a:t>
            </a:r>
          </a:p>
          <a:p>
            <a:pPr lvl="1"/>
            <a:r>
              <a:rPr lang="en-US" smtClean="0"/>
              <a:t>Made up of keys, subkeys, and entries</a:t>
            </a:r>
          </a:p>
          <a:p>
            <a:r>
              <a:rPr lang="en-US" smtClean="0"/>
              <a:t>Registry key</a:t>
            </a:r>
          </a:p>
          <a:p>
            <a:pPr lvl="1"/>
            <a:r>
              <a:rPr lang="en-US" smtClean="0"/>
              <a:t>A category or division of information within the Registry</a:t>
            </a:r>
          </a:p>
          <a:p>
            <a:r>
              <a:rPr lang="en-US" smtClean="0"/>
              <a:t>Registry subkeys</a:t>
            </a:r>
          </a:p>
          <a:p>
            <a:pPr lvl="1"/>
            <a:r>
              <a:rPr lang="en-US" smtClean="0"/>
              <a:t>A single key may contain one or more lower-level keys</a:t>
            </a:r>
          </a:p>
          <a:p>
            <a:r>
              <a:rPr lang="en-US" smtClean="0"/>
              <a:t>Registry entry</a:t>
            </a:r>
          </a:p>
          <a:p>
            <a:pPr lvl="1"/>
            <a:r>
              <a:rPr lang="en-US" smtClean="0"/>
              <a:t>A data parameter associated with a software or hardware characteristic under a key (or subkey)</a:t>
            </a:r>
          </a:p>
          <a:p>
            <a:r>
              <a:rPr lang="en-US" smtClean="0"/>
              <a:t>Root key (subkey)</a:t>
            </a:r>
          </a:p>
          <a:p>
            <a:pPr lvl="1"/>
            <a:r>
              <a:rPr lang="en-US" smtClean="0"/>
              <a:t>A primary or highest level category of data contained in the Registry</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62949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Registry Contents (2 of 2)</a:t>
            </a:r>
            <a:endParaRPr lang="en-US" dirty="0"/>
          </a:p>
        </p:txBody>
      </p:sp>
      <p:pic>
        <p:nvPicPr>
          <p:cNvPr id="6" name="Content Placeholder 5" descr="Figure 3-28, Page No. 133, Complexity level: 3&#10;Screenshot shows the “Registry Editor” window. The left pane of the window shows the hierarchical structure of registry. It is made of keys, subkeys, and entries. The computer is divided into two mains keys named as HKEY_CLASSES_ROOT and HKEY_CURRENT_USER. The HKEY_CURRENT_USER splits into seven subkeys named as AppEvents, AppXBackupContent Type, Console, Control Panel, Environment, EUDC, and Keyboard Layout. The AppEvents splits into two named as EventLabels and Schemes. The Schemes further splits into Apps, Names. Further the Names splits into .Default and .None. The keyboard Layout splits into three named as Preload, Substitutes, and Toggle. The cursor points to the option Preload and it is selected. The content pane of the window shows a table with three column headings given as Name, Type and Data. The first row reads (Default), REG_SZ, AND (value not set). The second row reads 1, REG_SZ, and 00000409.&#10;" title="Figure 3-2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71600" y="1981200"/>
            <a:ext cx="6333351" cy="3338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05340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HKEY_LOCAL_MACHINE (1 of 2)</a:t>
            </a:r>
            <a:endParaRPr lang="en-US" dirty="0"/>
          </a:p>
        </p:txBody>
      </p:sp>
      <p:sp>
        <p:nvSpPr>
          <p:cNvPr id="2" name="Content Placeholder 1"/>
          <p:cNvSpPr>
            <a:spLocks noGrp="1"/>
          </p:cNvSpPr>
          <p:nvPr>
            <p:ph idx="1"/>
          </p:nvPr>
        </p:nvSpPr>
        <p:spPr/>
        <p:txBody>
          <a:bodyPr/>
          <a:lstStyle/>
          <a:p>
            <a:r>
              <a:rPr lang="en-US" smtClean="0"/>
              <a:t>HKEY_LOCAL_ MACHINE root key</a:t>
            </a:r>
          </a:p>
          <a:p>
            <a:pPr lvl="1"/>
            <a:r>
              <a:rPr lang="en-US" smtClean="0"/>
              <a:t>Contains information on every hardware component in the server</a:t>
            </a:r>
          </a:p>
          <a:p>
            <a:pPr lvl="1"/>
            <a:r>
              <a:rPr lang="en-US" smtClean="0"/>
              <a:t>Includes information about what drivers are loaded and their version levels, what IRQ lines are used, setup configurations, the BIOS version, and more</a:t>
            </a:r>
          </a:p>
          <a:p>
            <a:r>
              <a:rPr lang="en-US" smtClean="0"/>
              <a:t>A few subkeys are stored as a set, called hives, because they hold related information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313717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HKEY_LOCAL_MACHINE (2 of 2)</a:t>
            </a:r>
            <a:endParaRPr lang="en-US" dirty="0"/>
          </a:p>
        </p:txBody>
      </p:sp>
      <p:pic>
        <p:nvPicPr>
          <p:cNvPr id="6" name="Content Placeholder 5" descr="Figure 3-29, Page No. 134, Complexity level: 4&#10;Screenshot shows “Registry Editor” window. The left pane of the window shows the hierarchical structure of registry. It is made of keys, subkeys, and entries. The computer is divided into two mains keys named as HKEY_CLASSES_ROOT and HKEY_CURRENT_USER; HKEY_LOCAL_MACHINE, HKEY_USERS, and HKEY_CURRENT_CONFIG. The HKEY_LOCAL_MACHINE is divided into three subkeys named as BCD00000000, HARDWARE, and RESOURCE MAP. The HARDWARE subkey further splits into ACPI, DESCRIPTION, and DEVICEMAP. The DEVICEMAP further splits into keyboardClass, PointerClass, Scsi, and Video. The HKEY_CURRENT_USER is divided into four subkeys SAM, SECURITY, SOFTWARE, and SYSTEM. The cursor points to the Video under the DEVICEMAP and it is selected. The content pane of the window shows a table with three column headings given as Name, Type, and Data. The first row reads (Default), REG_SZ, AND (value not set). The second row reads \Device\Disc, REG_SZ, \REGISTRY\Machine\System\CurrentControlS. The third row reads \Device\Video0, REG_SZ, and \REGISTRY\Machine\System\CurrentControlSet. The fourth row reads \Device\Video1, REG_SZ, and \REGISTRY\MACHINE\SYSTEM\ControlSet001. The fifth row reads MaxObjectNumber, REG_DIWORD, 0X00000001 (1). The sixth row reads ObjectNumberLine, REG_BINARY, 00 00 00 00 01 00 00 00." title="Figure 3-29"/>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95400" y="1600200"/>
            <a:ext cx="6400658"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04437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HKEY_CURRENT_USER</a:t>
            </a:r>
            <a:endParaRPr lang="en-US" dirty="0"/>
          </a:p>
        </p:txBody>
      </p:sp>
      <p:sp>
        <p:nvSpPr>
          <p:cNvPr id="2" name="Content Placeholder 1"/>
          <p:cNvSpPr>
            <a:spLocks noGrp="1"/>
          </p:cNvSpPr>
          <p:nvPr>
            <p:ph idx="1"/>
          </p:nvPr>
        </p:nvSpPr>
        <p:spPr/>
        <p:txBody>
          <a:bodyPr/>
          <a:lstStyle/>
          <a:p>
            <a:r>
              <a:rPr lang="en-US" smtClean="0"/>
              <a:t>HKEY_CURRENT_USER key</a:t>
            </a:r>
          </a:p>
          <a:p>
            <a:pPr lvl="1"/>
            <a:r>
              <a:rPr lang="en-US" smtClean="0"/>
              <a:t>Contains information about the desktop setup for the account presently signed in to the server console</a:t>
            </a:r>
          </a:p>
          <a:p>
            <a:r>
              <a:rPr lang="en-US" smtClean="0"/>
              <a:t>HKEY_USERS key</a:t>
            </a:r>
          </a:p>
          <a:p>
            <a:pPr lvl="1"/>
            <a:r>
              <a:rPr lang="en-US" smtClean="0"/>
              <a:t>Contains profile settings for all users who have logged onto the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241381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HKEY_USERS</a:t>
            </a:r>
            <a:endParaRPr lang="en-US" dirty="0"/>
          </a:p>
        </p:txBody>
      </p:sp>
      <p:sp>
        <p:nvSpPr>
          <p:cNvPr id="2" name="Content Placeholder 1"/>
          <p:cNvSpPr>
            <a:spLocks noGrp="1"/>
          </p:cNvSpPr>
          <p:nvPr>
            <p:ph idx="1"/>
          </p:nvPr>
        </p:nvSpPr>
        <p:spPr/>
        <p:txBody>
          <a:bodyPr/>
          <a:lstStyle/>
          <a:p>
            <a:r>
              <a:rPr lang="en-US" smtClean="0"/>
              <a:t>HKEY_USERS root key</a:t>
            </a:r>
          </a:p>
          <a:p>
            <a:pPr lvl="1"/>
            <a:r>
              <a:rPr lang="en-US" smtClean="0"/>
              <a:t>Contains profile information for each user who has logged onto the computer</a:t>
            </a:r>
          </a:p>
          <a:p>
            <a:pPr lvl="1"/>
            <a:r>
              <a:rPr lang="en-US" smtClean="0"/>
              <a:t>Each profile is listed under this root key</a:t>
            </a:r>
          </a:p>
          <a:p>
            <a:r>
              <a:rPr lang="en-US" smtClean="0"/>
              <a:t>Within each user profile is information identical to that viewed within the HKEY_CURRENT_USER root key</a:t>
            </a:r>
          </a:p>
          <a:p>
            <a:pPr lvl="1"/>
            <a:r>
              <a:rPr lang="en-US" smtClean="0"/>
              <a:t>The profile used when you are signed in is one of the profiles stored under HKEY_USERS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727596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HKEY_CLASSES_ROOT</a:t>
            </a:r>
            <a:endParaRPr lang="en-US" dirty="0"/>
          </a:p>
        </p:txBody>
      </p:sp>
      <p:sp>
        <p:nvSpPr>
          <p:cNvPr id="2" name="Content Placeholder 1"/>
          <p:cNvSpPr>
            <a:spLocks noGrp="1"/>
          </p:cNvSpPr>
          <p:nvPr>
            <p:ph idx="1"/>
          </p:nvPr>
        </p:nvSpPr>
        <p:spPr/>
        <p:txBody>
          <a:bodyPr/>
          <a:lstStyle/>
          <a:p>
            <a:r>
              <a:rPr lang="en-US" smtClean="0"/>
              <a:t>HKEY_CLASSES_ROOT key</a:t>
            </a:r>
          </a:p>
          <a:p>
            <a:pPr lvl="1"/>
            <a:r>
              <a:rPr lang="en-US" smtClean="0"/>
              <a:t>Holds data to associate file extensions with programs</a:t>
            </a:r>
          </a:p>
          <a:p>
            <a:r>
              <a:rPr lang="en-US" smtClean="0"/>
              <a:t>Associations exist for executable files, text files, graphics files, Clipboard files, audio files, and many more</a:t>
            </a:r>
          </a:p>
          <a:p>
            <a:pPr lvl="1"/>
            <a:r>
              <a:rPr lang="en-US" smtClean="0"/>
              <a:t>These associations are used as defaults for all users who log on to Windows Server 2016</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180862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HKEY_CURRENT_CONFIG</a:t>
            </a:r>
            <a:endParaRPr lang="en-US" dirty="0"/>
          </a:p>
        </p:txBody>
      </p:sp>
      <p:sp>
        <p:nvSpPr>
          <p:cNvPr id="2" name="Content Placeholder 1"/>
          <p:cNvSpPr>
            <a:spLocks noGrp="1"/>
          </p:cNvSpPr>
          <p:nvPr>
            <p:ph idx="1"/>
          </p:nvPr>
        </p:nvSpPr>
        <p:spPr/>
        <p:txBody>
          <a:bodyPr/>
          <a:lstStyle/>
          <a:p>
            <a:r>
              <a:rPr lang="en-US" smtClean="0"/>
              <a:t>HKEY_CURRENT_CONFIG root key</a:t>
            </a:r>
          </a:p>
          <a:p>
            <a:pPr lvl="1"/>
            <a:r>
              <a:rPr lang="en-US" smtClean="0"/>
              <a:t>Has information about the current hardware profile</a:t>
            </a:r>
          </a:p>
          <a:p>
            <a:pPr lvl="1"/>
            <a:r>
              <a:rPr lang="en-US" smtClean="0"/>
              <a:t>Holds information about the monitor type, keyboard, mouse, and other hardware characteristics for the current profile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843601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Backing Up the Registry</a:t>
            </a:r>
            <a:endParaRPr lang="en-US" dirty="0"/>
          </a:p>
        </p:txBody>
      </p:sp>
      <p:sp>
        <p:nvSpPr>
          <p:cNvPr id="2" name="Content Placeholder 1"/>
          <p:cNvSpPr>
            <a:spLocks noGrp="1"/>
          </p:cNvSpPr>
          <p:nvPr>
            <p:ph idx="1"/>
          </p:nvPr>
        </p:nvSpPr>
        <p:spPr/>
        <p:txBody>
          <a:bodyPr/>
          <a:lstStyle/>
          <a:p>
            <a:r>
              <a:rPr lang="en-US" smtClean="0"/>
              <a:t>Before working on the Registry</a:t>
            </a:r>
          </a:p>
          <a:p>
            <a:pPr lvl="1"/>
            <a:r>
              <a:rPr lang="en-US" smtClean="0"/>
              <a:t>It is important to have a backup of its contents</a:t>
            </a:r>
          </a:p>
          <a:p>
            <a:r>
              <a:rPr lang="en-US" smtClean="0"/>
              <a:t>An easy way to create a backup</a:t>
            </a:r>
          </a:p>
          <a:p>
            <a:pPr lvl="1"/>
            <a:r>
              <a:rPr lang="en-US" smtClean="0"/>
              <a:t>Set a restore point</a:t>
            </a:r>
          </a:p>
          <a:p>
            <a:r>
              <a:rPr lang="en-US" smtClean="0"/>
              <a:t>If Registry is damaged after you work on it</a:t>
            </a:r>
          </a:p>
          <a:p>
            <a:pPr lvl="1"/>
            <a:r>
              <a:rPr lang="en-US" smtClean="0"/>
              <a:t>You can go back to the restore point you created just before working on the Registry</a:t>
            </a:r>
          </a:p>
          <a:p>
            <a:r>
              <a:rPr lang="en-US" smtClean="0"/>
              <a:t>Create a restore point</a:t>
            </a:r>
          </a:p>
          <a:p>
            <a:pPr lvl="1"/>
            <a:r>
              <a:rPr lang="en-US" smtClean="0"/>
              <a:t>Using the Checkpoint-Computer cmdlet in PowerShell</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10121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(1 of 4)</a:t>
            </a:r>
            <a:endParaRPr lang="en-US" dirty="0"/>
          </a:p>
        </p:txBody>
      </p:sp>
      <p:sp>
        <p:nvSpPr>
          <p:cNvPr id="2" name="Content Placeholder 1"/>
          <p:cNvSpPr>
            <a:spLocks noGrp="1"/>
          </p:cNvSpPr>
          <p:nvPr>
            <p:ph idx="1"/>
          </p:nvPr>
        </p:nvSpPr>
        <p:spPr/>
        <p:txBody>
          <a:bodyPr/>
          <a:lstStyle/>
          <a:p>
            <a:r>
              <a:rPr lang="en-US" smtClean="0"/>
              <a:t>Windows PowerShell is a command-line interface or shell</a:t>
            </a:r>
          </a:p>
          <a:p>
            <a:r>
              <a:rPr lang="en-US" smtClean="0"/>
              <a:t>A shell is a customized environment for executing commands and scripts</a:t>
            </a:r>
          </a:p>
          <a:p>
            <a:r>
              <a:rPr lang="en-US" smtClean="0"/>
              <a:t>Script </a:t>
            </a:r>
          </a:p>
          <a:p>
            <a:pPr lvl="1"/>
            <a:r>
              <a:rPr lang="en-US" smtClean="0"/>
              <a:t>A file of commands that is run when you run the script</a:t>
            </a:r>
          </a:p>
          <a:p>
            <a:r>
              <a:rPr lang="en-US" smtClean="0"/>
              <a:t>cmdlets </a:t>
            </a:r>
          </a:p>
          <a:p>
            <a:pPr lvl="1"/>
            <a:r>
              <a:rPr lang="en-US" smtClean="0"/>
              <a:t>Specialized commands for completing common tasks in PowerShell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43980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(2 of 4)</a:t>
            </a:r>
            <a:endParaRPr lang="en-US" dirty="0"/>
          </a:p>
        </p:txBody>
      </p:sp>
      <p:sp>
        <p:nvSpPr>
          <p:cNvPr id="2" name="Content Placeholder 1"/>
          <p:cNvSpPr>
            <a:spLocks noGrp="1"/>
          </p:cNvSpPr>
          <p:nvPr>
            <p:ph idx="1"/>
          </p:nvPr>
        </p:nvSpPr>
        <p:spPr/>
        <p:txBody>
          <a:bodyPr/>
          <a:lstStyle/>
          <a:p>
            <a:r>
              <a:rPr lang="en-US" smtClean="0"/>
              <a:t>Windows PowerShell is a command-line interface or shell</a:t>
            </a:r>
          </a:p>
          <a:p>
            <a:r>
              <a:rPr lang="en-US" smtClean="0"/>
              <a:t>A shell is a customized environment for executing commands and scripts</a:t>
            </a:r>
          </a:p>
          <a:p>
            <a:r>
              <a:rPr lang="en-US" smtClean="0"/>
              <a:t>Script </a:t>
            </a:r>
          </a:p>
          <a:p>
            <a:pPr lvl="1"/>
            <a:r>
              <a:rPr lang="en-US" smtClean="0"/>
              <a:t>A file of commands that is run when you run the script</a:t>
            </a:r>
          </a:p>
          <a:p>
            <a:r>
              <a:rPr lang="en-US" smtClean="0"/>
              <a:t>cmdlets </a:t>
            </a:r>
          </a:p>
          <a:p>
            <a:pPr lvl="1"/>
            <a:r>
              <a:rPr lang="en-US" smtClean="0"/>
              <a:t>Specialized commands for completing common tasks in PowerShell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73811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(3 of 4)</a:t>
            </a:r>
            <a:endParaRPr lang="en-US" dirty="0"/>
          </a:p>
        </p:txBody>
      </p:sp>
      <p:sp>
        <p:nvSpPr>
          <p:cNvPr id="2" name="Content Placeholder 1"/>
          <p:cNvSpPr>
            <a:spLocks noGrp="1"/>
          </p:cNvSpPr>
          <p:nvPr>
            <p:ph idx="1"/>
          </p:nvPr>
        </p:nvSpPr>
        <p:spPr/>
        <p:txBody>
          <a:bodyPr/>
          <a:lstStyle/>
          <a:p>
            <a:r>
              <a:rPr lang="en-US" smtClean="0"/>
              <a:t>Some of the tasks you can complete using Windows PowerShell include the following:</a:t>
            </a:r>
          </a:p>
          <a:p>
            <a:pPr lvl="1"/>
            <a:r>
              <a:rPr lang="en-US" smtClean="0"/>
              <a:t>Manage files and folders</a:t>
            </a:r>
          </a:p>
          <a:p>
            <a:pPr lvl="1"/>
            <a:r>
              <a:rPr lang="en-US" smtClean="0"/>
              <a:t>Manage network tasks</a:t>
            </a:r>
          </a:p>
          <a:p>
            <a:pPr lvl="1"/>
            <a:r>
              <a:rPr lang="en-US" smtClean="0"/>
              <a:t>Manage fixed and removable storage</a:t>
            </a:r>
          </a:p>
          <a:p>
            <a:pPr lvl="1"/>
            <a:r>
              <a:rPr lang="en-US" smtClean="0"/>
              <a:t>Configure printing services</a:t>
            </a:r>
          </a:p>
          <a:p>
            <a:pPr lvl="1"/>
            <a:r>
              <a:rPr lang="en-US" smtClean="0"/>
              <a:t>Manage software applications and updates</a:t>
            </a:r>
          </a:p>
          <a:p>
            <a:pPr lvl="1"/>
            <a:r>
              <a:rPr lang="en-US" smtClean="0"/>
              <a:t>Manage Remote Desktop Services</a:t>
            </a:r>
          </a:p>
          <a:p>
            <a:pPr lvl="1"/>
            <a:r>
              <a:rPr lang="en-US" smtClean="0"/>
              <a:t>Manage server services and features</a:t>
            </a:r>
          </a:p>
          <a:p>
            <a:pPr lvl="1"/>
            <a:r>
              <a:rPr lang="en-US" smtClean="0"/>
              <a:t>Manage web server services</a:t>
            </a:r>
          </a:p>
          <a:p>
            <a:pPr lvl="1"/>
            <a:r>
              <a:rPr lang="en-US" smtClean="0"/>
              <a:t>Work with the Registry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408486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PowerShell (4 of 4)</a:t>
            </a:r>
            <a:endParaRPr lang="en-US" dirty="0"/>
          </a:p>
        </p:txBody>
      </p:sp>
      <p:pic>
        <p:nvPicPr>
          <p:cNvPr id="6" name="Content Placeholder 5" descr="Figure 3-30, Page No. 138, Complexity level: 2&#10;Screenshot shows the “Administrators Windows PowerShell.” The text in the window reads “Windows PowerShell. Copyright (C) 2016 Microsoft Corporation. Al rights reserved. PS C:\Users\Administrator greater than symbol dir I more. The table below the text is shown with three column headings named as Mode, LastWriteTime, and Length Name. First row: d-r---, 10/2/2018, 1:58 PM, and Contacts. Second row: d-r---, 10/2/2018, 1:58 PM, and Desktop. Third row: d-r---, 10/17/2018, 11:52 AM, and Documents. Fourth row: d-r---, 10/2/2018, 1:58 PM, and Downloads. Fifth row: d-r---, 10/2/2018, 1:58 PM, and Favorites. Sixth row: d-r---, 10/2/2018, 1:58 PM, and Links. Seventh row: d-r---, 10/2/2018, 1:58 PM, and Music. Eighth row: d-r---, 10/2/2018, 1:58 PM, and Pictures. Ninth row: d-r---, 10/2/2018, 1:58 PM, and Saved Games. Tenth row: d-r---, 10/2/2018, 1:58 PM, and Searches. Eleventh row: d-r---, 10/2/2018, 1:58 PM, and Videos.&#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61340" y="1905000"/>
            <a:ext cx="6011463" cy="3643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83603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Server Manager is tool offered in Windows Server 2016 that helps centralize server management tasks</a:t>
            </a:r>
          </a:p>
          <a:p>
            <a:r>
              <a:rPr lang="en-US" smtClean="0"/>
              <a:t>After server roles are installed, you can use the Best Practices Analyzer (BPA) to ensure one or more roles are optimally configured and running</a:t>
            </a:r>
          </a:p>
          <a:p>
            <a:r>
              <a:rPr lang="en-US" smtClean="0"/>
              <a:t>The Devices and Printers utility in Control Panel with the Add a device option enables the installation of hardware devices not properly detected by PnP</a:t>
            </a:r>
          </a:p>
          <a:p>
            <a:r>
              <a:rPr lang="en-US" smtClean="0"/>
              <a:t>Device Manager is a tool you can access from Control Panel or the Computer Management tool to manage hardware</a:t>
            </a:r>
          </a:p>
          <a:p>
            <a:r>
              <a:rPr lang="en-US" smtClean="0"/>
              <a:t>The System File Checker and Sigverif are tools for verifying system files</a:t>
            </a:r>
          </a:p>
          <a:p>
            <a:r>
              <a:rPr lang="en-US" smtClean="0"/>
              <a:t>After Windows Server 2016 is installed, you can tune performance by configuring processor scheduling and Data Execution Prevention (DEP) use, virtual memory, and file caching and flushing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405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Environment variables are important to configure because they help the OS to find specific programs, help programs to properly allocate memory, and help to control specific programs</a:t>
            </a:r>
          </a:p>
          <a:p>
            <a:r>
              <a:rPr lang="en-US" smtClean="0"/>
              <a:t>To protect your system from complications due to power problems, configure startup and recovery options as well as power options</a:t>
            </a:r>
          </a:p>
          <a:p>
            <a:r>
              <a:rPr lang="en-US" smtClean="0"/>
              <a:t>Knowing how to install a protocol is a skill that is similar to knowing how to change a flat tire; don’t need it often but it is important to know</a:t>
            </a:r>
          </a:p>
          <a:p>
            <a:r>
              <a:rPr lang="en-US" smtClean="0"/>
              <a:t>The Registry is a database that is at the foundation of Windows Server 2016</a:t>
            </a:r>
          </a:p>
          <a:p>
            <a:r>
              <a:rPr lang="en-US" smtClean="0"/>
              <a:t>Windows PowerShell is a command-line tool that enables a system administrator to manage a server using commands, cmdlets, and scripts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15047</TotalTime>
  <Words>5060</Words>
  <Application>Microsoft Office PowerPoint</Application>
  <PresentationFormat>On-screen Show (4:3)</PresentationFormat>
  <Paragraphs>353</Paragraphs>
  <Slides>49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Hands-On Microsoft Windows Server 2016  2nd Edition</vt:lpstr>
      <vt:lpstr>Objectives (1 of 2)</vt:lpstr>
      <vt:lpstr>Objectives (2 of 2)</vt:lpstr>
      <vt:lpstr>Using Server Manager (1 of 6)</vt:lpstr>
      <vt:lpstr>Using Server Manager (2 of 6)</vt:lpstr>
      <vt:lpstr>Using Server Manager (3 of 6)</vt:lpstr>
      <vt:lpstr>Using Server Manager (4 of 6)</vt:lpstr>
      <vt:lpstr>Using Server Manager (5 of 6)</vt:lpstr>
      <vt:lpstr>Using Server Manager (6 of 6)</vt:lpstr>
      <vt:lpstr>Installing and Removing Server Roles</vt:lpstr>
      <vt:lpstr>Using the Best Practices Analyzer (BPA) for Server Roles (1 of 3)</vt:lpstr>
      <vt:lpstr>Using the Best Practices Analyzer (BPA) for Server Roles (2 of 3)</vt:lpstr>
      <vt:lpstr>Using the Best Practices Analyzer (BPA) for Server Roles (3 of 3)</vt:lpstr>
      <vt:lpstr>Configuring Server Hardware Devices</vt:lpstr>
      <vt:lpstr>Plug and Play</vt:lpstr>
      <vt:lpstr>Using Control Panel and the Devices and Printers Utility (1 of 6)</vt:lpstr>
      <vt:lpstr>Using Control Panel and the Devices and Printers Utility (2 of 6)</vt:lpstr>
      <vt:lpstr>Using Control Panel and the Devices and Printers Utility (3 of 6)</vt:lpstr>
      <vt:lpstr>Using Control Panel and the Devices and Printers Utility (4 of 6)</vt:lpstr>
      <vt:lpstr>Using Control Panel and the Devices and Printers Utility (5 of 6)</vt:lpstr>
      <vt:lpstr>Using Control Panel and the Devices and Printers Utility (6 of 6)</vt:lpstr>
      <vt:lpstr>Using the System File Checker</vt:lpstr>
      <vt:lpstr>Using Sigverif to Verify System and Critical Files</vt:lpstr>
      <vt:lpstr>Configuring the Operating System</vt:lpstr>
      <vt:lpstr>Configuring Performance Options (1 of 2)</vt:lpstr>
      <vt:lpstr>Configuring Performance Options (2 of 2)</vt:lpstr>
      <vt:lpstr>Configuring File Caching</vt:lpstr>
      <vt:lpstr>Configuring Environment Variables</vt:lpstr>
      <vt:lpstr>Configuring Startup and Recovery</vt:lpstr>
      <vt:lpstr>Configuring Power Options</vt:lpstr>
      <vt:lpstr>Installing a Protocol</vt:lpstr>
      <vt:lpstr>Understanding the Windows Server 2016 Registry (1 of 3)</vt:lpstr>
      <vt:lpstr>Understanding the Windows Server 2016 Registry (2 of 3)</vt:lpstr>
      <vt:lpstr>Understanding the Windows Server 2016 Registry (3 of 3)</vt:lpstr>
      <vt:lpstr>Registry Contents (1 of 2)</vt:lpstr>
      <vt:lpstr>Registry Contents (2 of 2)</vt:lpstr>
      <vt:lpstr>HKEY_LOCAL_MACHINE (1 of 2)</vt:lpstr>
      <vt:lpstr>HKEY_LOCAL_MACHINE (2 of 2)</vt:lpstr>
      <vt:lpstr>HKEY_CURRENT_USER</vt:lpstr>
      <vt:lpstr>HKEY_USERS</vt:lpstr>
      <vt:lpstr>HKEY_CLASSES_ROOT</vt:lpstr>
      <vt:lpstr>HKEY_CURRENT_CONFIG</vt:lpstr>
      <vt:lpstr>Backing Up the Registry</vt:lpstr>
      <vt:lpstr>Windows PowerShell (1 of 4)</vt:lpstr>
      <vt:lpstr>Windows PowerShell (2 of 4)</vt:lpstr>
      <vt:lpstr>Windows PowerShell (3 of 4)</vt:lpstr>
      <vt:lpstr>Windows PowerShell (4 of 4)</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451</cp:revision>
  <cp:lastPrinted>2017-07-11T22:09:52Z</cp:lastPrinted>
  <dcterms:created xsi:type="dcterms:W3CDTF">2007-02-15T20:50:52Z</dcterms:created>
  <dcterms:modified xsi:type="dcterms:W3CDTF">2017-07-11T22:09:56Z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