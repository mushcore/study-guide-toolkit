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49"/>
  </p:notesMasterIdLst>
  <p:handoutMasterIdLst>
    <p:handoutMasterId r:id="rId50"/>
  </p:handoutMasterIdLst>
  <p:sldIdLst>
    <p:sldId id="256" r:id="rId2"/>
    <p:sldId id="257" r:id="rId3"/>
    <p:sldId id="260" r:id="rId4"/>
    <p:sldId id="309" r:id="rId5"/>
    <p:sldId id="310" r:id="rId6"/>
    <p:sldId id="311" r:id="rId7"/>
    <p:sldId id="312"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 id="351" r:id="rId33"/>
    <p:sldId id="337" r:id="rId34"/>
    <p:sldId id="338" r:id="rId35"/>
    <p:sldId id="339" r:id="rId36"/>
    <p:sldId id="340" r:id="rId37"/>
    <p:sldId id="341" r:id="rId38"/>
    <p:sldId id="342" r:id="rId39"/>
    <p:sldId id="343" r:id="rId40"/>
    <p:sldId id="344" r:id="rId41"/>
    <p:sldId id="345" r:id="rId42"/>
    <p:sldId id="346" r:id="rId43"/>
    <p:sldId id="347" r:id="rId44"/>
    <p:sldId id="348" r:id="rId45"/>
    <p:sldId id="350" r:id="rId46"/>
    <p:sldId id="307" r:id="rId47"/>
    <p:sldId id="308" r:id="rId48"/>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66" autoAdjust="0"/>
    <p:restoredTop sz="76197" autoAdjust="0"/>
  </p:normalViewPr>
  <p:slideViewPr>
    <p:cSldViewPr>
      <p:cViewPr varScale="1">
        <p:scale>
          <a:sx n="74" d="100"/>
          <a:sy n="74" d="100"/>
        </p:scale>
        <p:origin x="1368"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a:t>
            </a:fld>
            <a:endParaRPr lang="en-US" dirty="0"/>
          </a:p>
        </p:txBody>
      </p:sp>
    </p:spTree>
    <p:extLst>
      <p:ext uri="{BB962C8B-B14F-4D97-AF65-F5344CB8AC3E}">
        <p14:creationId xmlns:p14="http://schemas.microsoft.com/office/powerpoint/2010/main" val="2179832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a:t>
            </a:fld>
            <a:endParaRPr lang="en-US" dirty="0"/>
          </a:p>
        </p:txBody>
      </p:sp>
    </p:spTree>
    <p:extLst>
      <p:ext uri="{BB962C8B-B14F-4D97-AF65-F5344CB8AC3E}">
        <p14:creationId xmlns:p14="http://schemas.microsoft.com/office/powerpoint/2010/main" val="1968942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a:t>
            </a:fld>
            <a:endParaRPr lang="en-US" dirty="0"/>
          </a:p>
        </p:txBody>
      </p:sp>
    </p:spTree>
    <p:extLst>
      <p:ext uri="{BB962C8B-B14F-4D97-AF65-F5344CB8AC3E}">
        <p14:creationId xmlns:p14="http://schemas.microsoft.com/office/powerpoint/2010/main" val="2954646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6</a:t>
            </a:fld>
            <a:endParaRPr lang="en-US" dirty="0"/>
          </a:p>
        </p:txBody>
      </p:sp>
    </p:spTree>
    <p:extLst>
      <p:ext uri="{BB962C8B-B14F-4D97-AF65-F5344CB8AC3E}">
        <p14:creationId xmlns:p14="http://schemas.microsoft.com/office/powerpoint/2010/main" val="2398121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46</a:t>
            </a:fld>
            <a:endParaRPr lang="en-US" dirty="0"/>
          </a:p>
        </p:txBody>
      </p:sp>
    </p:spTree>
    <p:extLst>
      <p:ext uri="{BB962C8B-B14F-4D97-AF65-F5344CB8AC3E}">
        <p14:creationId xmlns:p14="http://schemas.microsoft.com/office/powerpoint/2010/main" val="2302620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47</a:t>
            </a:fld>
            <a:endParaRPr lang="en-US" dirty="0"/>
          </a:p>
        </p:txBody>
      </p:sp>
    </p:spTree>
    <p:extLst>
      <p:ext uri="{BB962C8B-B14F-4D97-AF65-F5344CB8AC3E}">
        <p14:creationId xmlns:p14="http://schemas.microsoft.com/office/powerpoint/2010/main" val="297609808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2</a:t>
            </a:r>
          </a:p>
          <a:p>
            <a:r>
              <a:rPr lang="en-US" smtClean="0"/>
              <a:t>Installing Windows Server 2016</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(1 of 2)</a:t>
            </a:r>
            <a:endParaRPr lang="en-US" dirty="0"/>
          </a:p>
        </p:txBody>
      </p:sp>
      <p:sp>
        <p:nvSpPr>
          <p:cNvPr id="3" name="Text Placeholder 2"/>
          <p:cNvSpPr>
            <a:spLocks noGrp="1"/>
          </p:cNvSpPr>
          <p:nvPr>
            <p:ph type="body" idx="1"/>
          </p:nvPr>
        </p:nvSpPr>
        <p:spPr/>
        <p:txBody>
          <a:bodyPr/>
          <a:lstStyle/>
          <a:p>
            <a:r>
              <a:rPr lang="en-US" smtClean="0"/>
              <a:t>Plan and make the appropriate preparations for installing Windows Server 2016</a:t>
            </a:r>
          </a:p>
          <a:p>
            <a:r>
              <a:rPr lang="en-US" smtClean="0"/>
              <a:t>Understand the different installation methods used and install Windows Server 2016</a:t>
            </a:r>
          </a:p>
          <a:p>
            <a:r>
              <a:rPr lang="en-US" smtClean="0"/>
              <a:t>Set up Windows Server 2016 using Server Manager</a:t>
            </a:r>
          </a:p>
          <a:p>
            <a:r>
              <a:rPr lang="en-US" smtClean="0"/>
              <a:t>Activate Windows Server 2016</a:t>
            </a:r>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(2 of 2)</a:t>
            </a:r>
            <a:endParaRPr lang="en-US" dirty="0"/>
          </a:p>
        </p:txBody>
      </p:sp>
      <p:sp>
        <p:nvSpPr>
          <p:cNvPr id="3" name="Text Placeholder 2"/>
          <p:cNvSpPr>
            <a:spLocks noGrp="1"/>
          </p:cNvSpPr>
          <p:nvPr>
            <p:ph type="body" idx="1"/>
          </p:nvPr>
        </p:nvSpPr>
        <p:spPr/>
        <p:txBody>
          <a:bodyPr/>
          <a:lstStyle/>
          <a:p>
            <a:r>
              <a:rPr lang="en-US" smtClean="0"/>
              <a:t>Install and configure Windows Deployment Services</a:t>
            </a:r>
          </a:p>
          <a:p>
            <a:r>
              <a:rPr lang="en-US" smtClean="0"/>
              <a:t>Install Windows Server Core</a:t>
            </a:r>
          </a:p>
          <a:p>
            <a:r>
              <a:rPr lang="en-US" smtClean="0"/>
              <a:t>Install service packs</a:t>
            </a:r>
          </a:p>
          <a:p>
            <a:r>
              <a:rPr lang="en-US" smtClean="0"/>
              <a:t>Troubleshoot installation problems</a:t>
            </a:r>
          </a:p>
          <a:p>
            <a:r>
              <a:rPr lang="en-US" smtClean="0"/>
              <a:t>Uninstall Windows Server 2008</a:t>
            </a:r>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18395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Preparing for Installation</a:t>
            </a:r>
            <a:endParaRPr lang="en-US" dirty="0"/>
          </a:p>
        </p:txBody>
      </p:sp>
      <p:sp>
        <p:nvSpPr>
          <p:cNvPr id="2" name="Content Placeholder 1"/>
          <p:cNvSpPr>
            <a:spLocks noGrp="1"/>
          </p:cNvSpPr>
          <p:nvPr>
            <p:ph idx="1"/>
          </p:nvPr>
        </p:nvSpPr>
        <p:spPr/>
        <p:txBody>
          <a:bodyPr/>
          <a:lstStyle/>
          <a:p>
            <a:r>
              <a:rPr lang="en-US" smtClean="0"/>
              <a:t>Preinstallation tasks:</a:t>
            </a:r>
          </a:p>
          <a:p>
            <a:pPr lvl="1"/>
            <a:r>
              <a:rPr lang="en-US" smtClean="0"/>
              <a:t>Identify the hardware requirements and check hardware compatibility</a:t>
            </a:r>
          </a:p>
          <a:p>
            <a:pPr lvl="1"/>
            <a:r>
              <a:rPr lang="en-US" smtClean="0"/>
              <a:t>Determine disk partitioning options</a:t>
            </a:r>
          </a:p>
          <a:p>
            <a:pPr lvl="1"/>
            <a:r>
              <a:rPr lang="en-US" smtClean="0"/>
              <a:t>Understand the file system</a:t>
            </a:r>
          </a:p>
          <a:p>
            <a:pPr lvl="1"/>
            <a:r>
              <a:rPr lang="en-US" smtClean="0"/>
              <a:t>Determine upgrade options</a:t>
            </a:r>
          </a:p>
          <a:p>
            <a:pPr lvl="1"/>
            <a:r>
              <a:rPr lang="en-US" smtClean="0"/>
              <a:t>Plan user licensing</a:t>
            </a:r>
          </a:p>
          <a:p>
            <a:pPr lvl="1"/>
            <a:r>
              <a:rPr lang="en-US" smtClean="0"/>
              <a:t>Determine domain or workgroup membership</a:t>
            </a:r>
          </a:p>
          <a:p>
            <a:pPr lvl="1"/>
            <a:r>
              <a:rPr lang="en-US" smtClean="0"/>
              <a:t>Choose a computer name</a:t>
            </a:r>
          </a:p>
          <a:p>
            <a:pPr lvl="1"/>
            <a:r>
              <a:rPr lang="en-US" smtClean="0"/>
              <a:t>Determine whether to install Nano Server, Server Core, or the full GUI version</a:t>
            </a:r>
          </a:p>
          <a:p>
            <a:pPr lvl="1"/>
            <a:r>
              <a:rPr lang="en-US" smtClean="0"/>
              <a:t>Identify the server roles to implement</a:t>
            </a:r>
          </a:p>
          <a:p>
            <a:pPr lvl="1"/>
            <a:r>
              <a:rPr lang="en-US" smtClean="0"/>
              <a:t>Determine the immediate preparations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56689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Identifying Hardware Requirements and Determining Compatibility (1 of 2)</a:t>
            </a:r>
            <a:endParaRPr lang="en-US" dirty="0"/>
          </a:p>
        </p:txBody>
      </p:sp>
      <p:sp>
        <p:nvSpPr>
          <p:cNvPr id="2" name="Content Placeholder 1"/>
          <p:cNvSpPr>
            <a:spLocks noGrp="1"/>
          </p:cNvSpPr>
          <p:nvPr>
            <p:ph idx="1"/>
          </p:nvPr>
        </p:nvSpPr>
        <p:spPr/>
        <p:txBody>
          <a:bodyPr/>
          <a:lstStyle/>
          <a:p>
            <a:r>
              <a:rPr lang="en-US" smtClean="0"/>
              <a:t>Most operating systems come with a list of minimum hardware requirements</a:t>
            </a:r>
          </a:p>
          <a:p>
            <a:r>
              <a:rPr lang="en-US" smtClean="0"/>
              <a:t>Always better to exceed the minimum recommendations</a:t>
            </a:r>
          </a:p>
          <a:p>
            <a:pPr lvl="1"/>
            <a:r>
              <a:rPr lang="en-US" smtClean="0"/>
              <a:t>By how much will be determined by what role the Windows Server 2016 server will play on the network</a:t>
            </a:r>
          </a:p>
          <a:p>
            <a:r>
              <a:rPr lang="en-US" smtClean="0"/>
              <a:t>In terms of speed</a:t>
            </a:r>
          </a:p>
          <a:p>
            <a:pPr lvl="1"/>
            <a:r>
              <a:rPr lang="en-US" smtClean="0"/>
              <a:t>Pay attention to the speed of the CPU and the amount of RAM</a:t>
            </a:r>
          </a:p>
          <a:p>
            <a:r>
              <a:rPr lang="en-US" smtClean="0"/>
              <a:t>A large corporation or university might start with a redundant array of inexpensive disks (RAID)</a:t>
            </a:r>
          </a:p>
          <a:p>
            <a:pPr lvl="1"/>
            <a:r>
              <a:rPr lang="en-US" smtClean="0"/>
              <a:t>An array of multiple hard drives designed to extend the life of disk drives and to prevent data loss from a hard disk failure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21071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Identifying Hardware Requirements and Determining Compatibility (2 of 2)</a:t>
            </a:r>
            <a:endParaRPr lang="en-US" dirty="0"/>
          </a:p>
        </p:txBody>
      </p:sp>
      <p:sp>
        <p:nvSpPr>
          <p:cNvPr id="2" name="Content Placeholder 1"/>
          <p:cNvSpPr>
            <a:spLocks noGrp="1"/>
          </p:cNvSpPr>
          <p:nvPr>
            <p:ph idx="1"/>
          </p:nvPr>
        </p:nvSpPr>
        <p:spPr/>
        <p:txBody>
          <a:bodyPr/>
          <a:lstStyle/>
          <a:p>
            <a:r>
              <a:rPr lang="en-US" smtClean="0"/>
              <a:t>Hardware compatibility testing</a:t>
            </a:r>
          </a:p>
          <a:p>
            <a:pPr lvl="1"/>
            <a:r>
              <a:rPr lang="en-US" smtClean="0"/>
              <a:t>The most up-to-date listing of compatible hardware (and software) is the Windows Server Catalog</a:t>
            </a:r>
          </a:p>
          <a:p>
            <a:pPr lvl="2"/>
            <a:r>
              <a:rPr lang="en-US" smtClean="0"/>
              <a:t>www.windowsservercatalog.com</a:t>
            </a:r>
          </a:p>
          <a:p>
            <a:pPr lvl="1"/>
            <a:r>
              <a:rPr lang="en-US" smtClean="0"/>
              <a:t>Recommended that you select hardware listed on the Windows Server Catalog or labeled with the Certified for Windows Server 2016 logo</a:t>
            </a:r>
          </a:p>
          <a:p>
            <a:pPr lvl="1"/>
            <a:r>
              <a:rPr lang="en-US" smtClean="0"/>
              <a:t>Might still be necessary to upgrade the basic input/output system (BIOS)</a:t>
            </a:r>
          </a:p>
          <a:p>
            <a:pPr lvl="1"/>
            <a:r>
              <a:rPr lang="en-US" smtClean="0"/>
              <a:t>BIOS is a program on a read-only or flash memory chip that establishes basic communication with components such as the monitor and disk drives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18037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Determining Disk Partitioning Options (1 of 3)</a:t>
            </a:r>
            <a:endParaRPr lang="en-US" dirty="0"/>
          </a:p>
        </p:txBody>
      </p:sp>
      <p:sp>
        <p:nvSpPr>
          <p:cNvPr id="2" name="Content Placeholder 1"/>
          <p:cNvSpPr>
            <a:spLocks noGrp="1"/>
          </p:cNvSpPr>
          <p:nvPr>
            <p:ph idx="1"/>
          </p:nvPr>
        </p:nvSpPr>
        <p:spPr/>
        <p:txBody>
          <a:bodyPr/>
          <a:lstStyle/>
          <a:p>
            <a:r>
              <a:rPr lang="en-US" smtClean="0"/>
              <a:t>Creating a partition</a:t>
            </a:r>
          </a:p>
          <a:p>
            <a:pPr lvl="1"/>
            <a:r>
              <a:rPr lang="en-US" smtClean="0"/>
              <a:t>A process in which a hard disk section or a complete hard disk is prepared for use by an operating system</a:t>
            </a:r>
          </a:p>
          <a:p>
            <a:r>
              <a:rPr lang="en-US" smtClean="0"/>
              <a:t>A disk can be formatted after it is partitioned</a:t>
            </a:r>
          </a:p>
          <a:p>
            <a:pPr lvl="1"/>
            <a:r>
              <a:rPr lang="en-US" smtClean="0"/>
              <a:t>Process divides the disk into small sections called tracks and sectors for the storage of files by a particular file system</a:t>
            </a:r>
          </a:p>
          <a:p>
            <a:r>
              <a:rPr lang="en-US" smtClean="0"/>
              <a:t>The Windows Server 2016 installation program will detect how your hard disk is currently partitioned</a:t>
            </a:r>
          </a:p>
          <a:p>
            <a:pPr lvl="1"/>
            <a:r>
              <a:rPr lang="en-US" smtClean="0"/>
              <a:t>Allows you to install the operating system on an existing partition or create a new one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50227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Determining Disk Partitioning Options (2 of 3)</a:t>
            </a:r>
            <a:endParaRPr lang="en-US" dirty="0"/>
          </a:p>
        </p:txBody>
      </p:sp>
      <p:pic>
        <p:nvPicPr>
          <p:cNvPr id="6" name="Content Placeholder 5" descr="Figure 2-1, Page No. 53, Complexity level: 1&#10;Screenshot shows a “Windows Setup” dialog box. The content pane shows the text “Where do you want to install Windows?” A table below shows four column headings as Name, Total size, Free space, and Type. A row reads Drive 0 Unallocated Space, 1550.0 GB and 1550.0 GB.  A few icons below the table are Refresh, Delete, Format, New, Load Driver, and Extend. Below, the next button is selected.&#10;" title="Figure 2-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81200" y="1676400"/>
            <a:ext cx="4947533" cy="4024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74100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Determining Disk Partitioning Options (3 of 3)</a:t>
            </a:r>
            <a:endParaRPr lang="en-US" dirty="0"/>
          </a:p>
        </p:txBody>
      </p:sp>
      <p:sp>
        <p:nvSpPr>
          <p:cNvPr id="2" name="Content Placeholder 1"/>
          <p:cNvSpPr>
            <a:spLocks noGrp="1"/>
          </p:cNvSpPr>
          <p:nvPr>
            <p:ph idx="1"/>
          </p:nvPr>
        </p:nvSpPr>
        <p:spPr/>
        <p:txBody>
          <a:bodyPr/>
          <a:lstStyle/>
          <a:p>
            <a:r>
              <a:rPr lang="en-US" dirty="0" smtClean="0"/>
              <a:t>After the installation is complete</a:t>
            </a:r>
          </a:p>
          <a:p>
            <a:pPr lvl="1"/>
            <a:r>
              <a:rPr lang="en-US" dirty="0" smtClean="0"/>
              <a:t>You can use Server manager or the Disk Management tool to create additional partitions</a:t>
            </a:r>
            <a:endParaRPr lang="en-US" dirty="0"/>
          </a:p>
        </p:txBody>
      </p:sp>
      <p:pic>
        <p:nvPicPr>
          <p:cNvPr id="5" name="Picture 4" descr="Figure 2-2, Page No. 53, Complexity level: 2&#10;Screenshot shows a “Server Manager” dialog box. On the right pane, the Disks tool is selected from the Volumes option under the File and Storage Services. On the content pane, the Disks tool box is selected and displays a row of 0, Online, 932 GB, 0.00 B, MBR within the Accounting (1) option. The Volumes box is displayed on the left corner of the content pane and a row of 0, Fixed, 763 GB, and 769 GB is selected within Accounting (2) option. The Storage Pool is displayed on the right corner of the content pane.&#10;" title="Figure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2286000"/>
            <a:ext cx="5562600" cy="4021938"/>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48292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Understanding NTFS and ReFS (1 of 3)</a:t>
            </a:r>
            <a:endParaRPr lang="en-US" dirty="0"/>
          </a:p>
        </p:txBody>
      </p:sp>
      <p:sp>
        <p:nvSpPr>
          <p:cNvPr id="2" name="Content Placeholder 1"/>
          <p:cNvSpPr>
            <a:spLocks noGrp="1"/>
          </p:cNvSpPr>
          <p:nvPr>
            <p:ph idx="1"/>
          </p:nvPr>
        </p:nvSpPr>
        <p:spPr/>
        <p:txBody>
          <a:bodyPr/>
          <a:lstStyle/>
          <a:p>
            <a:r>
              <a:rPr lang="en-US" smtClean="0"/>
              <a:t>New Technology File System (NTFS)</a:t>
            </a:r>
          </a:p>
          <a:p>
            <a:pPr lvl="1"/>
            <a:r>
              <a:rPr lang="en-US" smtClean="0"/>
              <a:t>The native Windows Server file system</a:t>
            </a:r>
          </a:p>
          <a:p>
            <a:r>
              <a:rPr lang="en-US" smtClean="0"/>
              <a:t>NTFS features include:</a:t>
            </a:r>
          </a:p>
          <a:p>
            <a:pPr lvl="1"/>
            <a:r>
              <a:rPr lang="en-US" smtClean="0"/>
              <a:t>Local security through file and folder permissions</a:t>
            </a:r>
          </a:p>
          <a:p>
            <a:pPr lvl="1"/>
            <a:r>
              <a:rPr lang="en-US" smtClean="0"/>
              <a:t>Compression</a:t>
            </a:r>
          </a:p>
          <a:p>
            <a:pPr lvl="1"/>
            <a:r>
              <a:rPr lang="en-US" smtClean="0"/>
              <a:t>Disk quotas</a:t>
            </a:r>
          </a:p>
          <a:p>
            <a:pPr lvl="1"/>
            <a:r>
              <a:rPr lang="en-US" smtClean="0"/>
              <a:t>Encryption</a:t>
            </a:r>
          </a:p>
          <a:p>
            <a:pPr lvl="1"/>
            <a:r>
              <a:rPr lang="en-US" smtClean="0"/>
              <a:t>Indexing</a:t>
            </a:r>
          </a:p>
          <a:p>
            <a:pPr lvl="1"/>
            <a:r>
              <a:rPr lang="en-US" smtClean="0"/>
              <a:t>POSIX.1 support</a:t>
            </a:r>
          </a:p>
          <a:p>
            <a:pPr lvl="1"/>
            <a:r>
              <a:rPr lang="en-US" smtClean="0"/>
              <a:t>Journaling</a:t>
            </a:r>
          </a:p>
          <a:p>
            <a:pPr lvl="1"/>
            <a:r>
              <a:rPr lang="en-US" smtClean="0"/>
              <a:t>Large volume capacity</a:t>
            </a:r>
          </a:p>
          <a:p>
            <a:pPr lvl="1"/>
            <a:r>
              <a:rPr lang="en-US" smtClean="0"/>
              <a:t>Hard links</a:t>
            </a:r>
          </a:p>
          <a:p>
            <a:pPr lvl="1"/>
            <a:r>
              <a:rPr lang="en-US" smtClean="0"/>
              <a:t>Self-healing</a:t>
            </a:r>
          </a:p>
          <a:p>
            <a:pPr lvl="1"/>
            <a:r>
              <a:rPr lang="en-US" smtClean="0"/>
              <a:t>File system cache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76479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Understanding NTFS and ReFS (2 of 3)</a:t>
            </a:r>
            <a:endParaRPr lang="en-US" dirty="0"/>
          </a:p>
        </p:txBody>
      </p:sp>
      <p:sp>
        <p:nvSpPr>
          <p:cNvPr id="2" name="Content Placeholder 1"/>
          <p:cNvSpPr>
            <a:spLocks noGrp="1"/>
          </p:cNvSpPr>
          <p:nvPr>
            <p:ph idx="1"/>
          </p:nvPr>
        </p:nvSpPr>
        <p:spPr/>
        <p:txBody>
          <a:bodyPr/>
          <a:lstStyle/>
          <a:p>
            <a:r>
              <a:rPr lang="en-US" smtClean="0"/>
              <a:t>Portable operating system interface (POSIX)</a:t>
            </a:r>
          </a:p>
          <a:p>
            <a:pPr lvl="1"/>
            <a:r>
              <a:rPr lang="en-US" smtClean="0"/>
              <a:t>A set of standards designed to enable portability of applications from one computer system to another</a:t>
            </a:r>
          </a:p>
          <a:p>
            <a:r>
              <a:rPr lang="en-US" smtClean="0"/>
              <a:t>Journaling by a file system means that it tracks changes to files and keeps a record of these changes in a separate log file</a:t>
            </a:r>
          </a:p>
          <a:p>
            <a:r>
              <a:rPr lang="en-US" smtClean="0"/>
              <a:t>A hard link enables you to create one file and then establish links to that file in other folders</a:t>
            </a:r>
          </a:p>
          <a:p>
            <a:r>
              <a:rPr lang="en-US" smtClean="0"/>
              <a:t>File system cache</a:t>
            </a:r>
          </a:p>
          <a:p>
            <a:pPr lvl="1"/>
            <a:r>
              <a:rPr lang="en-US" smtClean="0"/>
              <a:t>An area designated in physical computer memory that is used in Windows OSs to help speed up reading and writing to hard disk</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69116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Understanding NTFS and ReFS (3 of 3)</a:t>
            </a:r>
            <a:endParaRPr lang="en-US" dirty="0"/>
          </a:p>
        </p:txBody>
      </p:sp>
      <p:sp>
        <p:nvSpPr>
          <p:cNvPr id="2" name="Content Placeholder 1"/>
          <p:cNvSpPr>
            <a:spLocks noGrp="1"/>
          </p:cNvSpPr>
          <p:nvPr>
            <p:ph idx="1"/>
          </p:nvPr>
        </p:nvSpPr>
        <p:spPr/>
        <p:txBody>
          <a:bodyPr/>
          <a:lstStyle/>
          <a:p>
            <a:r>
              <a:rPr lang="en-US" smtClean="0"/>
              <a:t>Resilient File System (ReFS)</a:t>
            </a:r>
          </a:p>
          <a:p>
            <a:pPr lvl="1"/>
            <a:r>
              <a:rPr lang="en-US" smtClean="0"/>
              <a:t>Microsoft targets ReFS v2 primarily for use with data stores and storage spaces in Hyper-V</a:t>
            </a:r>
          </a:p>
          <a:p>
            <a:pPr lvl="1"/>
            <a:r>
              <a:rPr lang="en-US" smtClean="0"/>
              <a:t>At this writing, there are still questions about performance</a:t>
            </a:r>
          </a:p>
          <a:p>
            <a:pPr lvl="1"/>
            <a:r>
              <a:rPr lang="en-US" smtClean="0"/>
              <a:t>ReFS can be faster than NTFS in read and write activities, but it is not consistent in different circumstances and types of loads</a:t>
            </a:r>
          </a:p>
          <a:p>
            <a:pPr lvl="1"/>
            <a:r>
              <a:rPr lang="en-US" smtClean="0"/>
              <a:t>Disk errors and file system corruption that occur in ReFS can be repaired more quickly than NTFS</a:t>
            </a:r>
          </a:p>
          <a:p>
            <a:pPr lvl="1"/>
            <a:r>
              <a:rPr lang="en-US" smtClean="0"/>
              <a:t>ReFS provides more versatility than NTFS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24907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Upgrading to Windows Server 2016</a:t>
            </a:r>
            <a:endParaRPr lang="en-US" dirty="0"/>
          </a:p>
        </p:txBody>
      </p:sp>
      <p:sp>
        <p:nvSpPr>
          <p:cNvPr id="2" name="Content Placeholder 1"/>
          <p:cNvSpPr>
            <a:spLocks noGrp="1"/>
          </p:cNvSpPr>
          <p:nvPr>
            <p:ph idx="1"/>
          </p:nvPr>
        </p:nvSpPr>
        <p:spPr/>
        <p:txBody>
          <a:bodyPr/>
          <a:lstStyle/>
          <a:p>
            <a:r>
              <a:rPr lang="en-US" smtClean="0"/>
              <a:t>Windows Server 2012 R2 can be upgraded to Windows Server 2016</a:t>
            </a:r>
          </a:p>
          <a:p>
            <a:pPr lvl="1"/>
            <a:r>
              <a:rPr lang="en-US" smtClean="0"/>
              <a:t>If upgrading from compatible edition to compatible edition</a:t>
            </a:r>
          </a:p>
          <a:p>
            <a:pPr lvl="1"/>
            <a:r>
              <a:rPr lang="en-US" smtClean="0"/>
              <a:t>Example: You can upgrade Windows Server 2012 R2 Standard Edition to Windows Server 2016 Standard or Datacenter Edition</a:t>
            </a:r>
          </a:p>
          <a:p>
            <a:pPr lvl="1"/>
            <a:r>
              <a:rPr lang="en-US" smtClean="0"/>
              <a:t>When you upgrade to Windows Server 2016, you use a full version of the new OS and not a special upgrade version sold at a reduced price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64909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Planning User and Device Licensing</a:t>
            </a:r>
            <a:endParaRPr lang="en-US" dirty="0"/>
          </a:p>
        </p:txBody>
      </p:sp>
      <p:sp>
        <p:nvSpPr>
          <p:cNvPr id="2" name="Content Placeholder 1"/>
          <p:cNvSpPr>
            <a:spLocks noGrp="1"/>
          </p:cNvSpPr>
          <p:nvPr>
            <p:ph idx="1"/>
          </p:nvPr>
        </p:nvSpPr>
        <p:spPr/>
        <p:txBody>
          <a:bodyPr/>
          <a:lstStyle/>
          <a:p>
            <a:r>
              <a:rPr lang="en-US" smtClean="0"/>
              <a:t>Access for a user or device is enabled through a client access licenses (CALs)</a:t>
            </a:r>
          </a:p>
          <a:p>
            <a:pPr lvl="1"/>
            <a:r>
              <a:rPr lang="en-US" smtClean="0"/>
              <a:t>One CAL is a license for one client or device to access one or more Windows servers on a network</a:t>
            </a:r>
          </a:p>
          <a:p>
            <a:r>
              <a:rPr lang="en-US" smtClean="0"/>
              <a:t>When Windows Server 2016 Standard or Datacenter Edition is installed in a VM</a:t>
            </a:r>
          </a:p>
          <a:p>
            <a:pPr lvl="1"/>
            <a:r>
              <a:rPr lang="en-US" smtClean="0"/>
              <a:t>Users may have one virtual access per CAL</a:t>
            </a:r>
          </a:p>
          <a:p>
            <a:r>
              <a:rPr lang="en-US" smtClean="0"/>
              <a:t>Licensing is also done through processor cores</a:t>
            </a:r>
          </a:p>
          <a:p>
            <a:pPr lvl="1"/>
            <a:r>
              <a:rPr lang="en-US" smtClean="0"/>
              <a:t>Available in two-core packs</a:t>
            </a:r>
          </a:p>
          <a:p>
            <a:r>
              <a:rPr lang="en-US" smtClean="0"/>
              <a:t>Standard and Datacenter editions require both CALs and core-based licensing</a:t>
            </a:r>
          </a:p>
          <a:p>
            <a:r>
              <a:rPr lang="en-US" smtClean="0"/>
              <a:t>Essentials and Storage Server 2016 Editions use processor-based licensing</a:t>
            </a:r>
          </a:p>
          <a:p>
            <a:r>
              <a:rPr lang="en-US" smtClean="0"/>
              <a:t>Multipoint Server requires processor-based licensing</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55532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Determining Domain or Workgroup Membership</a:t>
            </a:r>
            <a:endParaRPr lang="en-US" dirty="0"/>
          </a:p>
        </p:txBody>
      </p:sp>
      <p:sp>
        <p:nvSpPr>
          <p:cNvPr id="2" name="Content Placeholder 1"/>
          <p:cNvSpPr>
            <a:spLocks noGrp="1"/>
          </p:cNvSpPr>
          <p:nvPr>
            <p:ph idx="1"/>
          </p:nvPr>
        </p:nvSpPr>
        <p:spPr/>
        <p:txBody>
          <a:bodyPr/>
          <a:lstStyle/>
          <a:p>
            <a:r>
              <a:rPr lang="en-US" smtClean="0"/>
              <a:t>Determine the type of network access for which your computer will be configured</a:t>
            </a:r>
          </a:p>
          <a:p>
            <a:r>
              <a:rPr lang="en-US" smtClean="0"/>
              <a:t>You can specify a domain or workgroup through the Server Manager window</a:t>
            </a:r>
          </a:p>
          <a:p>
            <a:r>
              <a:rPr lang="en-US" smtClean="0"/>
              <a:t>Requirements for adding the computer to a domain:</a:t>
            </a:r>
          </a:p>
          <a:p>
            <a:pPr lvl="1"/>
            <a:r>
              <a:rPr lang="en-US" smtClean="0"/>
              <a:t>Provide the DNS name of the domain you want to join</a:t>
            </a:r>
          </a:p>
          <a:p>
            <a:pPr lvl="1"/>
            <a:r>
              <a:rPr lang="en-US" smtClean="0"/>
              <a:t>You must have an authorized user account in the domain you want to join</a:t>
            </a:r>
          </a:p>
          <a:p>
            <a:pPr lvl="1"/>
            <a:r>
              <a:rPr lang="en-US" smtClean="0"/>
              <a:t>One domain controller and a DNS server must be online before you can join the domain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61668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Choosing a Computer Name</a:t>
            </a:r>
            <a:endParaRPr lang="en-US" dirty="0"/>
          </a:p>
        </p:txBody>
      </p:sp>
      <p:sp>
        <p:nvSpPr>
          <p:cNvPr id="2" name="Content Placeholder 1"/>
          <p:cNvSpPr>
            <a:spLocks noGrp="1"/>
          </p:cNvSpPr>
          <p:nvPr>
            <p:ph idx="1"/>
          </p:nvPr>
        </p:nvSpPr>
        <p:spPr/>
        <p:txBody>
          <a:bodyPr/>
          <a:lstStyle/>
          <a:p>
            <a:r>
              <a:rPr lang="en-US" smtClean="0"/>
              <a:t>The installation process assigns a randomly generated name for the server computer</a:t>
            </a:r>
          </a:p>
          <a:p>
            <a:r>
              <a:rPr lang="en-US" smtClean="0"/>
              <a:t>Some organizations have a predetermined naming scheme for computers on their network</a:t>
            </a:r>
          </a:p>
          <a:p>
            <a:r>
              <a:rPr lang="en-US" smtClean="0"/>
              <a:t>Microsoft’s recommendations for creating a computer name include the following:</a:t>
            </a:r>
          </a:p>
          <a:p>
            <a:pPr lvl="1"/>
            <a:r>
              <a:rPr lang="en-US" smtClean="0"/>
              <a:t>The maximum length is 63 characters</a:t>
            </a:r>
          </a:p>
          <a:p>
            <a:pPr lvl="1"/>
            <a:r>
              <a:rPr lang="en-US" smtClean="0"/>
              <a:t>Use shorter names up to 15 characters for easier typing</a:t>
            </a:r>
          </a:p>
          <a:p>
            <a:pPr lvl="1"/>
            <a:r>
              <a:rPr lang="en-US" smtClean="0"/>
              <a:t>The computer should have a name that is different from any other computer name on the local network or in the domain</a:t>
            </a:r>
          </a:p>
          <a:p>
            <a:pPr lvl="1"/>
            <a:r>
              <a:rPr lang="en-US" smtClean="0"/>
              <a:t>If no DNS server exists on the network, use only standard Internet characters</a:t>
            </a:r>
          </a:p>
          <a:p>
            <a:pPr lvl="1"/>
            <a:r>
              <a:rPr lang="en-US" smtClean="0"/>
              <a:t>If a DNS server is present on the network, use standard Internet characters plus additional characters such as $, %, &amp;,* , and others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21279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Determining Whether to Install Nano Server, Server Core, or the Full GUI Version (1 of 2)</a:t>
            </a:r>
            <a:endParaRPr lang="en-US" dirty="0"/>
          </a:p>
        </p:txBody>
      </p:sp>
      <p:sp>
        <p:nvSpPr>
          <p:cNvPr id="2" name="Content Placeholder 1"/>
          <p:cNvSpPr>
            <a:spLocks noGrp="1"/>
          </p:cNvSpPr>
          <p:nvPr>
            <p:ph idx="1"/>
          </p:nvPr>
        </p:nvSpPr>
        <p:spPr/>
        <p:txBody>
          <a:bodyPr/>
          <a:lstStyle/>
          <a:p>
            <a:r>
              <a:rPr lang="en-US" smtClean="0"/>
              <a:t>Some scenarios for a Nano Server or Server Core installation:</a:t>
            </a:r>
          </a:p>
          <a:p>
            <a:pPr lvl="1"/>
            <a:r>
              <a:rPr lang="en-US" smtClean="0"/>
              <a:t>Your organization is medium or large in size and wants to dedicate one server to operate as a DHCP or combined DHCP and DNS server</a:t>
            </a:r>
          </a:p>
          <a:p>
            <a:pPr lvl="1"/>
            <a:r>
              <a:rPr lang="en-US" smtClean="0"/>
              <a:t>Your organization offers many shared folders to users for their work and the organization wants to centralize all of the shared folders on one computer</a:t>
            </a:r>
          </a:p>
          <a:p>
            <a:pPr lvl="1"/>
            <a:r>
              <a:rPr lang="en-US" smtClean="0"/>
              <a:t>The server contains only centralized databases accessed by users</a:t>
            </a:r>
          </a:p>
          <a:p>
            <a:pPr lvl="1"/>
            <a:r>
              <a:rPr lang="en-US" smtClean="0"/>
              <a:t>The server is dedicated to one narrow task</a:t>
            </a:r>
          </a:p>
          <a:p>
            <a:pPr lvl="1"/>
            <a:r>
              <a:rPr lang="en-US" smtClean="0"/>
              <a:t>The server is a dedicated web server and you want to give it a small attack surface</a:t>
            </a:r>
          </a:p>
          <a:p>
            <a:pPr lvl="1"/>
            <a:r>
              <a:rPr lang="en-US" smtClean="0"/>
              <a:t>The server is used to offer private cloud-based applications to users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38378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Determining Whether to Install Nano Server, Server Core, or the Full GUI Version (2 of 2)</a:t>
            </a:r>
            <a:endParaRPr lang="en-US" dirty="0"/>
          </a:p>
        </p:txBody>
      </p:sp>
      <p:sp>
        <p:nvSpPr>
          <p:cNvPr id="2" name="Content Placeholder 1"/>
          <p:cNvSpPr>
            <a:spLocks noGrp="1"/>
          </p:cNvSpPr>
          <p:nvPr>
            <p:ph idx="1"/>
          </p:nvPr>
        </p:nvSpPr>
        <p:spPr/>
        <p:txBody>
          <a:bodyPr/>
          <a:lstStyle/>
          <a:p>
            <a:r>
              <a:rPr lang="en-US" smtClean="0"/>
              <a:t>Sample scenarios for installing the full GUI version are:</a:t>
            </a:r>
          </a:p>
          <a:p>
            <a:pPr lvl="1"/>
            <a:r>
              <a:rPr lang="en-US" smtClean="0"/>
              <a:t>Your organization is a small or medium-size business and does not plan to dedicate a server for a specific function, such as for DHCP</a:t>
            </a:r>
          </a:p>
          <a:p>
            <a:pPr lvl="1"/>
            <a:r>
              <a:rPr lang="en-US" smtClean="0"/>
              <a:t>You prefer to work in a GUI environment</a:t>
            </a:r>
          </a:p>
          <a:p>
            <a:pPr lvl="1"/>
            <a:r>
              <a:rPr lang="en-US" smtClean="0"/>
              <a:t>Your organization needs to have GUI-based software on the server</a:t>
            </a:r>
          </a:p>
          <a:p>
            <a:pPr lvl="1"/>
            <a:r>
              <a:rPr lang="en-US" smtClean="0"/>
              <a:t>The server administrator is relatively new to Windows Server 2016 and wants to use wizards for guidance</a:t>
            </a:r>
          </a:p>
          <a:p>
            <a:pPr lvl="1"/>
            <a:r>
              <a:rPr lang="en-US" smtClean="0"/>
              <a:t>The server is used by small business in which the server administrator and the administrator’s backup person are relatively novice at managing a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34112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Identifying Server Roles (1 of 8)</a:t>
            </a:r>
            <a:endParaRPr lang="en-US" dirty="0"/>
          </a:p>
        </p:txBody>
      </p:sp>
      <p:sp>
        <p:nvSpPr>
          <p:cNvPr id="2" name="Content Placeholder 1"/>
          <p:cNvSpPr>
            <a:spLocks noGrp="1"/>
          </p:cNvSpPr>
          <p:nvPr>
            <p:ph idx="1"/>
          </p:nvPr>
        </p:nvSpPr>
        <p:spPr/>
        <p:txBody>
          <a:bodyPr/>
          <a:lstStyle/>
          <a:p>
            <a:r>
              <a:rPr lang="en-US" smtClean="0"/>
              <a:t>Active Directory Certificates Services Role</a:t>
            </a:r>
          </a:p>
          <a:p>
            <a:pPr lvl="1"/>
            <a:r>
              <a:rPr lang="en-US" smtClean="0"/>
              <a:t>Offers the ability to establish digital certificates for enhanced security</a:t>
            </a:r>
          </a:p>
          <a:p>
            <a:pPr lvl="1"/>
            <a:r>
              <a:rPr lang="en-US" smtClean="0"/>
              <a:t>A digital certificate is a set of unique identification information that is typically put at the end of a file or that is associated with a computer communication</a:t>
            </a:r>
          </a:p>
          <a:p>
            <a:pPr lvl="1"/>
            <a:r>
              <a:rPr lang="en-US" smtClean="0"/>
              <a:t>Four services are incorporated into the Active Directory Certificate Services role, see Table below</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10048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Identifying Server Roles (2 of 8)</a:t>
            </a:r>
            <a:endParaRPr lang="en-US" dirty="0"/>
          </a:p>
        </p:txBody>
      </p:sp>
      <p:sp>
        <p:nvSpPr>
          <p:cNvPr id="2" name="Content Placeholder 1"/>
          <p:cNvSpPr>
            <a:spLocks noGrp="1"/>
          </p:cNvSpPr>
          <p:nvPr>
            <p:ph idx="1"/>
          </p:nvPr>
        </p:nvSpPr>
        <p:spPr/>
        <p:txBody>
          <a:bodyPr/>
          <a:lstStyle/>
          <a:p>
            <a:r>
              <a:rPr lang="en-US" smtClean="0"/>
              <a:t>Active Directory Domain Services Role</a:t>
            </a:r>
          </a:p>
          <a:p>
            <a:pPr lvl="1"/>
            <a:r>
              <a:rPr lang="en-US" smtClean="0"/>
              <a:t>Central to implementing Active Directory and creating one or more domains</a:t>
            </a:r>
          </a:p>
          <a:p>
            <a:pPr lvl="1"/>
            <a:r>
              <a:rPr lang="en-US" smtClean="0"/>
              <a:t>Offers two central services:</a:t>
            </a:r>
          </a:p>
          <a:p>
            <a:pPr lvl="2"/>
            <a:r>
              <a:rPr lang="en-US" smtClean="0"/>
              <a:t>Active Directory Domain Controller</a:t>
            </a:r>
          </a:p>
          <a:p>
            <a:pPr lvl="2"/>
            <a:r>
              <a:rPr lang="en-US" smtClean="0"/>
              <a:t>Identity Management for UNIX</a:t>
            </a:r>
          </a:p>
          <a:p>
            <a:pPr lvl="1"/>
            <a:r>
              <a:rPr lang="en-US" smtClean="0"/>
              <a:t>Can use Microsoft Passport</a:t>
            </a:r>
          </a:p>
          <a:p>
            <a:pPr lvl="2"/>
            <a:r>
              <a:rPr lang="en-US" smtClean="0"/>
              <a:t>A new authentication technique that replaces the use of passwords with a two-step authentication process</a:t>
            </a:r>
          </a:p>
          <a:p>
            <a:r>
              <a:rPr lang="en-US" smtClean="0"/>
              <a:t>Active Directory Federation Services Role</a:t>
            </a:r>
          </a:p>
          <a:p>
            <a:pPr lvl="1"/>
            <a:r>
              <a:rPr lang="en-US" smtClean="0"/>
              <a:t>Used to manage security tokens and security services on a Windows Server 2016 Web-based network</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05568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Identifying Server Roles (3 of 8)</a:t>
            </a:r>
            <a:endParaRPr lang="en-US" dirty="0"/>
          </a:p>
        </p:txBody>
      </p:sp>
      <p:sp>
        <p:nvSpPr>
          <p:cNvPr id="2" name="Content Placeholder 1"/>
          <p:cNvSpPr>
            <a:spLocks noGrp="1"/>
          </p:cNvSpPr>
          <p:nvPr>
            <p:ph idx="1"/>
          </p:nvPr>
        </p:nvSpPr>
        <p:spPr/>
        <p:txBody>
          <a:bodyPr/>
          <a:lstStyle/>
          <a:p>
            <a:r>
              <a:rPr lang="en-US" smtClean="0"/>
              <a:t>Active Directory Lightweight Directory Services Role</a:t>
            </a:r>
          </a:p>
          <a:p>
            <a:pPr lvl="2"/>
            <a:r>
              <a:rPr lang="en-US" smtClean="0"/>
              <a:t>Intended for servers that primarily manage applications for users</a:t>
            </a:r>
          </a:p>
          <a:p>
            <a:r>
              <a:rPr lang="en-US" smtClean="0"/>
              <a:t>Active Directory Rights Management Services Role</a:t>
            </a:r>
          </a:p>
          <a:p>
            <a:pPr lvl="1"/>
            <a:r>
              <a:rPr lang="en-US" smtClean="0"/>
              <a:t>Uses security capabilities such as encryption, user authentication, and security certificates to help safeguard information</a:t>
            </a:r>
          </a:p>
          <a:p>
            <a:r>
              <a:rPr lang="en-US" smtClean="0"/>
              <a:t>Device Health Attestation Service Role</a:t>
            </a:r>
          </a:p>
          <a:p>
            <a:pPr lvl="1"/>
            <a:r>
              <a:rPr lang="en-US" smtClean="0"/>
              <a:t>Enables the server to assure that each server client meets a predetermined level of security before that client can gain access to server-managed resources</a:t>
            </a:r>
          </a:p>
          <a:p>
            <a:r>
              <a:rPr lang="en-US" smtClean="0"/>
              <a:t>DHCP Server Role</a:t>
            </a:r>
          </a:p>
          <a:p>
            <a:pPr lvl="1"/>
            <a:r>
              <a:rPr lang="en-US" smtClean="0"/>
              <a:t>Role in which the server leases IP addresses to network clients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85259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Identifying Server Roles (4 of 8)</a:t>
            </a:r>
            <a:endParaRPr lang="en-US" dirty="0"/>
          </a:p>
        </p:txBody>
      </p:sp>
      <p:sp>
        <p:nvSpPr>
          <p:cNvPr id="2" name="Content Placeholder 1"/>
          <p:cNvSpPr>
            <a:spLocks noGrp="1"/>
          </p:cNvSpPr>
          <p:nvPr>
            <p:ph idx="1"/>
          </p:nvPr>
        </p:nvSpPr>
        <p:spPr/>
        <p:txBody>
          <a:bodyPr/>
          <a:lstStyle/>
          <a:p>
            <a:r>
              <a:rPr lang="en-US" smtClean="0"/>
              <a:t>DNS Server Role</a:t>
            </a:r>
          </a:p>
          <a:p>
            <a:pPr lvl="1"/>
            <a:r>
              <a:rPr lang="en-US" smtClean="0"/>
              <a:t>DNS maintains tables from which this service translates domain and computer names into IP addresses and vice versa</a:t>
            </a:r>
          </a:p>
          <a:p>
            <a:r>
              <a:rPr lang="en-US" smtClean="0"/>
              <a:t>Fax Server Role</a:t>
            </a:r>
          </a:p>
          <a:p>
            <a:pPr lvl="1"/>
            <a:r>
              <a:rPr lang="en-US" smtClean="0"/>
              <a:t>Through the Fax Server role, you can manage all fax resources on a network</a:t>
            </a:r>
          </a:p>
          <a:p>
            <a:r>
              <a:rPr lang="en-US" smtClean="0"/>
              <a:t>File and Storage Services Role</a:t>
            </a:r>
          </a:p>
          <a:p>
            <a:pPr lvl="1"/>
            <a:r>
              <a:rPr lang="en-US" smtClean="0"/>
              <a:t>Enables users to access and share files through one or more servers</a:t>
            </a:r>
          </a:p>
          <a:p>
            <a:pPr lvl="1"/>
            <a:r>
              <a:rPr lang="en-US" smtClean="0"/>
              <a:t>Distribute File System (DFS) – enables folders shared from multiple computers to appear as through they exist in one centralized hierarchy of folders</a:t>
            </a:r>
          </a:p>
          <a:p>
            <a:r>
              <a:rPr lang="en-US" smtClean="0"/>
              <a:t>Host Guardian Service Role</a:t>
            </a:r>
          </a:p>
          <a:p>
            <a:pPr lvl="1"/>
            <a:r>
              <a:rPr lang="en-US" smtClean="0"/>
              <a:t>Ensures the “shielding” of VMs, particularly in the cloud</a:t>
            </a:r>
          </a:p>
          <a:p>
            <a:r>
              <a:rPr lang="en-US" smtClean="0"/>
              <a:t>Hyper-V Role</a:t>
            </a:r>
          </a:p>
          <a:p>
            <a:pPr lvl="1"/>
            <a:r>
              <a:rPr lang="en-US" smtClean="0"/>
              <a:t>Enables Windows Server 2016 to function as a virtual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48142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Identifying Server Roles (5 of 8)</a:t>
            </a:r>
            <a:endParaRPr lang="en-US" dirty="0"/>
          </a:p>
        </p:txBody>
      </p:sp>
      <p:sp>
        <p:nvSpPr>
          <p:cNvPr id="2" name="Content Placeholder 1"/>
          <p:cNvSpPr>
            <a:spLocks noGrp="1"/>
          </p:cNvSpPr>
          <p:nvPr>
            <p:ph idx="1"/>
          </p:nvPr>
        </p:nvSpPr>
        <p:spPr/>
        <p:txBody>
          <a:bodyPr/>
          <a:lstStyle/>
          <a:p>
            <a:r>
              <a:rPr lang="en-US" smtClean="0"/>
              <a:t>Multipoint Services Role</a:t>
            </a:r>
          </a:p>
          <a:p>
            <a:pPr lvl="1"/>
            <a:r>
              <a:rPr lang="en-US" smtClean="0"/>
              <a:t>Enables multiple users to share one computer through connecting a keyboard, mouse, and monitor into a USB hub and connecting the USB hub to a USB port on a server</a:t>
            </a:r>
          </a:p>
          <a:p>
            <a:r>
              <a:rPr lang="en-US" smtClean="0"/>
              <a:t>Network Controller Role</a:t>
            </a:r>
          </a:p>
          <a:p>
            <a:pPr lvl="1"/>
            <a:r>
              <a:rPr lang="en-US" smtClean="0"/>
              <a:t>Turns a NIC in the server into a central device that can mine the network for information to be used by one or more network management applications</a:t>
            </a:r>
          </a:p>
          <a:p>
            <a:pPr lvl="1"/>
            <a:r>
              <a:rPr lang="en-US" smtClean="0"/>
              <a:t>Medium and large organizations will find the Network Controller role valuable to enable centralized management of their networks through automation software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88367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Identifying Server Roles (6 of 8)</a:t>
            </a:r>
            <a:endParaRPr lang="en-US" dirty="0"/>
          </a:p>
        </p:txBody>
      </p:sp>
      <p:sp>
        <p:nvSpPr>
          <p:cNvPr id="2" name="Content Placeholder 1"/>
          <p:cNvSpPr>
            <a:spLocks noGrp="1"/>
          </p:cNvSpPr>
          <p:nvPr>
            <p:ph idx="1"/>
          </p:nvPr>
        </p:nvSpPr>
        <p:spPr/>
        <p:txBody>
          <a:bodyPr/>
          <a:lstStyle/>
          <a:p>
            <a:r>
              <a:rPr lang="en-US" smtClean="0"/>
              <a:t>Network Policy and Access Services Role</a:t>
            </a:r>
          </a:p>
          <a:p>
            <a:pPr lvl="1"/>
            <a:r>
              <a:rPr lang="en-US" smtClean="0"/>
              <a:t>A network is kept secure and healthy by having policies governing who can access it</a:t>
            </a:r>
          </a:p>
          <a:p>
            <a:pPr lvl="1"/>
            <a:r>
              <a:rPr lang="en-US" smtClean="0"/>
              <a:t>This role offers services to:</a:t>
            </a:r>
          </a:p>
          <a:p>
            <a:pPr lvl="2"/>
            <a:r>
              <a:rPr lang="en-US" smtClean="0"/>
              <a:t>Set up and manage network policy by creating and using a Network Policy Server (NPS)</a:t>
            </a:r>
          </a:p>
          <a:p>
            <a:pPr lvl="2"/>
            <a:r>
              <a:rPr lang="en-US" smtClean="0"/>
              <a:t>Configure network policy from a single location rather than having to configure network policy on each network access server</a:t>
            </a:r>
          </a:p>
          <a:p>
            <a:pPr lvl="2"/>
            <a:r>
              <a:rPr lang="en-US" smtClean="0"/>
              <a:t>Enable the use of secure wired and wireless authentication protocols so that unauthorized clients cannot access a network or receive an IP address via DHCP</a:t>
            </a:r>
          </a:p>
          <a:p>
            <a:pPr lvl="2"/>
            <a:r>
              <a:rPr lang="en-US" smtClean="0"/>
              <a:t>Validate client health certificates to be sure all network client workstations are current on their security patches and other security conditions</a:t>
            </a:r>
          </a:p>
          <a:p>
            <a:r>
              <a:rPr lang="en-US" smtClean="0"/>
              <a:t>Print and Document Services Role</a:t>
            </a:r>
          </a:p>
          <a:p>
            <a:pPr lvl="1"/>
            <a:r>
              <a:rPr lang="en-US" smtClean="0"/>
              <a:t>Includes a service to make a Windows Server 2016 server a formal Print Server that manages print jobs and network printers from one place</a:t>
            </a:r>
          </a:p>
          <a:p>
            <a:pPr lvl="1"/>
            <a:r>
              <a:rPr lang="en-US" smtClean="0"/>
              <a:t>Another service manages Internet printing, including sharing web-based printers</a:t>
            </a:r>
          </a:p>
          <a:p>
            <a:pPr lvl="1"/>
            <a:r>
              <a:rPr lang="en-US" smtClean="0"/>
              <a:t>Line Printer Daemon (LPD) service manages printing activities for UNIX and Linux computers</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18621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Identifying Server Roles (7 of 8)</a:t>
            </a:r>
            <a:endParaRPr lang="en-US" dirty="0"/>
          </a:p>
        </p:txBody>
      </p:sp>
      <p:sp>
        <p:nvSpPr>
          <p:cNvPr id="2" name="Content Placeholder 1"/>
          <p:cNvSpPr>
            <a:spLocks noGrp="1"/>
          </p:cNvSpPr>
          <p:nvPr>
            <p:ph idx="1"/>
          </p:nvPr>
        </p:nvSpPr>
        <p:spPr/>
        <p:txBody>
          <a:bodyPr/>
          <a:lstStyle/>
          <a:p>
            <a:r>
              <a:rPr lang="en-US" smtClean="0"/>
              <a:t>Remote Access Role</a:t>
            </a:r>
          </a:p>
          <a:p>
            <a:pPr lvl="1"/>
            <a:r>
              <a:rPr lang="en-US" smtClean="0"/>
              <a:t>Enables clients to access network and server resources from anywhere the Internet is available</a:t>
            </a:r>
          </a:p>
          <a:p>
            <a:r>
              <a:rPr lang="en-US" smtClean="0"/>
              <a:t>Remote Desktop Services Role</a:t>
            </a:r>
          </a:p>
          <a:p>
            <a:pPr lvl="1"/>
            <a:r>
              <a:rPr lang="en-US" smtClean="0"/>
              <a:t>Terminal Services were renamed Remote Desktop Services beginning with Windows Server 2008 R2</a:t>
            </a:r>
          </a:p>
          <a:p>
            <a:pPr lvl="1"/>
            <a:r>
              <a:rPr lang="en-US" smtClean="0"/>
              <a:t>Clients can use VM and session-based desktops to access and run applications on a server</a:t>
            </a:r>
          </a:p>
          <a:p>
            <a:r>
              <a:rPr lang="en-US" smtClean="0"/>
              <a:t>Volume Activation Services Role</a:t>
            </a:r>
          </a:p>
          <a:p>
            <a:pPr lvl="1"/>
            <a:r>
              <a:rPr lang="en-US" smtClean="0"/>
              <a:t>Can be used by business, government, and other organizations that purchase software in bulk for many clients</a:t>
            </a:r>
          </a:p>
          <a:p>
            <a:pPr lvl="1"/>
            <a:endParaRPr lang="en-US" smtClean="0"/>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78774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Identifying Server Roles (8 of 8)</a:t>
            </a:r>
            <a:endParaRPr lang="en-US" dirty="0"/>
          </a:p>
        </p:txBody>
      </p:sp>
      <p:sp>
        <p:nvSpPr>
          <p:cNvPr id="2" name="Content Placeholder 1"/>
          <p:cNvSpPr>
            <a:spLocks noGrp="1"/>
          </p:cNvSpPr>
          <p:nvPr>
            <p:ph idx="1"/>
          </p:nvPr>
        </p:nvSpPr>
        <p:spPr/>
        <p:txBody>
          <a:bodyPr/>
          <a:lstStyle/>
          <a:p>
            <a:r>
              <a:rPr lang="en-US" smtClean="0"/>
              <a:t>Web Server (IIS) Role</a:t>
            </a:r>
          </a:p>
          <a:p>
            <a:pPr lvl="1"/>
            <a:r>
              <a:rPr lang="en-US" smtClean="0"/>
              <a:t>Enables Windows Server 2016 to provide an ever-expanding range of Web services</a:t>
            </a:r>
          </a:p>
          <a:p>
            <a:pPr lvl="1"/>
            <a:r>
              <a:rPr lang="en-US" smtClean="0"/>
              <a:t>Turns Windows Server 2016 into a full-featured web server</a:t>
            </a:r>
          </a:p>
          <a:p>
            <a:r>
              <a:rPr lang="en-US" smtClean="0"/>
              <a:t>Windows Deployment Service Role</a:t>
            </a:r>
          </a:p>
          <a:p>
            <a:pPr lvl="1"/>
            <a:r>
              <a:rPr lang="en-US" smtClean="0"/>
              <a:t>Enables an organization to purchase multiple computers without operating systems and then install Windows Server 2016 on all of the computers</a:t>
            </a:r>
          </a:p>
          <a:p>
            <a:r>
              <a:rPr lang="en-US" smtClean="0"/>
              <a:t>Windows Server Essentials Experience Role</a:t>
            </a:r>
          </a:p>
          <a:p>
            <a:pPr lvl="1"/>
            <a:r>
              <a:rPr lang="en-US" smtClean="0"/>
              <a:t>Offers automated features that Standard and Datacenter Edition server administrators may want to use</a:t>
            </a:r>
          </a:p>
          <a:p>
            <a:r>
              <a:rPr lang="en-US" smtClean="0"/>
              <a:t>Windows Server Update Services Role</a:t>
            </a:r>
          </a:p>
          <a:p>
            <a:pPr lvl="1"/>
            <a:r>
              <a:rPr lang="en-US" smtClean="0"/>
              <a:t>Provides a way to automate updating one, some, or all Windows servers and Windows clients on your network</a:t>
            </a:r>
          </a:p>
          <a:p>
            <a:pPr lvl="1"/>
            <a:endParaRPr lang="en-US" smtClean="0"/>
          </a:p>
          <a:p>
            <a:pPr lvl="1"/>
            <a:endParaRPr lang="en-US" smtClean="0"/>
          </a:p>
          <a:p>
            <a:pPr lvl="1"/>
            <a:endParaRPr lang="en-US" smtClean="0"/>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50820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Making Immediate Preparations</a:t>
            </a:r>
            <a:endParaRPr lang="en-US" dirty="0"/>
          </a:p>
        </p:txBody>
      </p:sp>
      <p:sp>
        <p:nvSpPr>
          <p:cNvPr id="2" name="Content Placeholder 1"/>
          <p:cNvSpPr>
            <a:spLocks noGrp="1"/>
          </p:cNvSpPr>
          <p:nvPr>
            <p:ph idx="1"/>
          </p:nvPr>
        </p:nvSpPr>
        <p:spPr/>
        <p:txBody>
          <a:bodyPr/>
          <a:lstStyle/>
          <a:p>
            <a:r>
              <a:rPr lang="en-US" smtClean="0"/>
              <a:t>Immediate preparations include:</a:t>
            </a:r>
          </a:p>
          <a:p>
            <a:pPr lvl="1"/>
            <a:r>
              <a:rPr lang="en-US" smtClean="0"/>
              <a:t>If you are upgrading, back up the files before starting</a:t>
            </a:r>
          </a:p>
          <a:p>
            <a:pPr lvl="1"/>
            <a:r>
              <a:rPr lang="en-US" smtClean="0"/>
              <a:t>Ensure that all important hardware are preinstalled</a:t>
            </a:r>
          </a:p>
          <a:p>
            <a:pPr lvl="1"/>
            <a:r>
              <a:rPr lang="en-US" smtClean="0"/>
              <a:t>Disconnect or remove removable storage devices</a:t>
            </a:r>
          </a:p>
          <a:p>
            <a:pPr lvl="1"/>
            <a:r>
              <a:rPr lang="en-US" smtClean="0"/>
              <a:t>Disconnect any connection for communications with an (UPS)</a:t>
            </a:r>
          </a:p>
          <a:p>
            <a:pPr lvl="1"/>
            <a:r>
              <a:rPr lang="en-US" smtClean="0"/>
              <a:t>Have on hand USB thumb drives or DVDs or other media with drivers for new peripherals</a:t>
            </a:r>
          </a:p>
          <a:p>
            <a:pPr lvl="1"/>
            <a:r>
              <a:rPr lang="en-US" smtClean="0"/>
              <a:t>Use the test software disc or USB thumb drive that comes with the server to verify that the CPU, memory, and disk drives are working properly</a:t>
            </a:r>
          </a:p>
          <a:p>
            <a:pPr lvl="1"/>
            <a:r>
              <a:rPr lang="en-US" smtClean="0"/>
              <a:t>If you are installing Windows Server 2016 into a VM, ensure there is adequate memory and disk storage on the parent virtual server hardware to support the installation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318153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Overview of Windows Server 2016 Installation Methods</a:t>
            </a:r>
            <a:endParaRPr lang="en-US" dirty="0"/>
          </a:p>
        </p:txBody>
      </p:sp>
      <p:sp>
        <p:nvSpPr>
          <p:cNvPr id="2" name="Content Placeholder 1"/>
          <p:cNvSpPr>
            <a:spLocks noGrp="1"/>
          </p:cNvSpPr>
          <p:nvPr>
            <p:ph idx="1"/>
          </p:nvPr>
        </p:nvSpPr>
        <p:spPr/>
        <p:txBody>
          <a:bodyPr/>
          <a:lstStyle/>
          <a:p>
            <a:r>
              <a:rPr lang="en-US" smtClean="0"/>
              <a:t>The primary installation methods are as follows:</a:t>
            </a:r>
          </a:p>
          <a:p>
            <a:pPr lvl="1"/>
            <a:r>
              <a:rPr lang="en-US" smtClean="0"/>
              <a:t>DVD or USB thumb drive installation</a:t>
            </a:r>
          </a:p>
          <a:p>
            <a:pPr lvl="1"/>
            <a:r>
              <a:rPr lang="en-US" smtClean="0"/>
              <a:t>Upgrade from Windows Server 2012 or Server 2012 R2</a:t>
            </a:r>
          </a:p>
          <a:p>
            <a:pPr lvl="1"/>
            <a:r>
              <a:rPr lang="en-US" smtClean="0"/>
              <a:t>Installation for a virtual server using Hyper-V</a:t>
            </a:r>
          </a:p>
          <a:p>
            <a:pPr lvl="1"/>
            <a:r>
              <a:rPr lang="en-US" smtClean="0"/>
              <a:t>Windows Deployment Services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195548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DVD or USB Thumb Drive Installation</a:t>
            </a:r>
            <a:endParaRPr lang="en-US" dirty="0"/>
          </a:p>
        </p:txBody>
      </p:sp>
      <p:sp>
        <p:nvSpPr>
          <p:cNvPr id="2" name="Content Placeholder 1"/>
          <p:cNvSpPr>
            <a:spLocks noGrp="1"/>
          </p:cNvSpPr>
          <p:nvPr>
            <p:ph idx="1"/>
          </p:nvPr>
        </p:nvSpPr>
        <p:spPr/>
        <p:txBody>
          <a:bodyPr/>
          <a:lstStyle/>
          <a:p>
            <a:r>
              <a:rPr lang="en-US" smtClean="0"/>
              <a:t>To start the installation from DVD:</a:t>
            </a:r>
          </a:p>
          <a:p>
            <a:pPr lvl="1"/>
            <a:r>
              <a:rPr lang="en-US" smtClean="0"/>
              <a:t>Make sure the computer’s BIOS is set to boot first from the optical drive</a:t>
            </a:r>
          </a:p>
          <a:p>
            <a:pPr lvl="1"/>
            <a:r>
              <a:rPr lang="en-US" smtClean="0"/>
              <a:t>Insert the Windows Server 2016 installation DVD</a:t>
            </a:r>
          </a:p>
          <a:p>
            <a:pPr lvl="1"/>
            <a:r>
              <a:rPr lang="en-US" smtClean="0"/>
              <a:t>Power off the computer</a:t>
            </a:r>
          </a:p>
          <a:p>
            <a:pPr lvl="1"/>
            <a:r>
              <a:rPr lang="en-US" smtClean="0"/>
              <a:t>Turn on the computer, and if necessary, press the key combination to boot from the CD/DVD drive</a:t>
            </a:r>
          </a:p>
          <a:p>
            <a:pPr lvl="1"/>
            <a:r>
              <a:rPr lang="en-US" smtClean="0"/>
              <a:t>Follow the instructions for installing Windows Server 2016</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571474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Upgrading from Windows Server 2012/R2</a:t>
            </a:r>
            <a:endParaRPr lang="en-US" dirty="0"/>
          </a:p>
        </p:txBody>
      </p:sp>
      <p:sp>
        <p:nvSpPr>
          <p:cNvPr id="2" name="Content Placeholder 1"/>
          <p:cNvSpPr>
            <a:spLocks noGrp="1"/>
          </p:cNvSpPr>
          <p:nvPr>
            <p:ph idx="1"/>
          </p:nvPr>
        </p:nvSpPr>
        <p:spPr/>
        <p:txBody>
          <a:bodyPr/>
          <a:lstStyle/>
          <a:p>
            <a:r>
              <a:rPr lang="en-US" smtClean="0"/>
              <a:t>The general steps to begin an upgrade are as follows:</a:t>
            </a:r>
          </a:p>
          <a:p>
            <a:pPr lvl="1"/>
            <a:r>
              <a:rPr lang="en-US" smtClean="0"/>
              <a:t>Make sure the computer’s BIOS is set to boot first from the optical drive</a:t>
            </a:r>
          </a:p>
          <a:p>
            <a:pPr lvl="1"/>
            <a:r>
              <a:rPr lang="en-US" smtClean="0"/>
              <a:t>Insert the Windows Server 2016 installation DVD</a:t>
            </a:r>
          </a:p>
          <a:p>
            <a:pPr lvl="1"/>
            <a:r>
              <a:rPr lang="en-US" smtClean="0"/>
              <a:t>Power off the computer</a:t>
            </a:r>
          </a:p>
          <a:p>
            <a:pPr lvl="1"/>
            <a:r>
              <a:rPr lang="en-US" smtClean="0"/>
              <a:t>Turn on the computer, and if necessary, press the key combination to boot from the optical drive</a:t>
            </a:r>
          </a:p>
          <a:p>
            <a:pPr lvl="1"/>
            <a:r>
              <a:rPr lang="en-US" smtClean="0"/>
              <a:t>Follow the instructions for installing Windows Server 2016</a:t>
            </a:r>
          </a:p>
          <a:p>
            <a:pPr lvl="1"/>
            <a:r>
              <a:rPr lang="en-US" smtClean="0"/>
              <a:t>When you reach Step 11 in Activity 2-4, select Upgrade: Install Windows and keep files, settings, and applications</a:t>
            </a:r>
          </a:p>
          <a:p>
            <a:pPr lvl="1"/>
            <a:r>
              <a:rPr lang="en-US" smtClean="0"/>
              <a:t>Follow the remaining steps to complete the installation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47351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Installation for a Virtual Server Using Hyper-V (1 of 2)</a:t>
            </a:r>
            <a:endParaRPr lang="en-US" dirty="0"/>
          </a:p>
        </p:txBody>
      </p:sp>
      <p:sp>
        <p:nvSpPr>
          <p:cNvPr id="2" name="Content Placeholder 1"/>
          <p:cNvSpPr>
            <a:spLocks noGrp="1"/>
          </p:cNvSpPr>
          <p:nvPr>
            <p:ph idx="1"/>
          </p:nvPr>
        </p:nvSpPr>
        <p:spPr/>
        <p:txBody>
          <a:bodyPr/>
          <a:lstStyle/>
          <a:p>
            <a:r>
              <a:rPr lang="en-US" smtClean="0"/>
              <a:t>The actual installation steps of Windows Server 2016 as a virtual server are nearly the same as those for a DVD installation</a:t>
            </a:r>
          </a:p>
          <a:p>
            <a:pPr lvl="1"/>
            <a:r>
              <a:rPr lang="en-US" smtClean="0"/>
              <a:t>But first you need to go through the steps to set up a virtual server (see Pages 70-71)</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77163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Installation for a Virtual Server Using Hyper-V (2 of 2)</a:t>
            </a:r>
            <a:endParaRPr lang="en-US" dirty="0"/>
          </a:p>
        </p:txBody>
      </p:sp>
      <p:pic>
        <p:nvPicPr>
          <p:cNvPr id="5" name="Picture 4" descr="Figure 2-6, Page No. 71, Complexity level: 1&#10;Screenshot shows a “Hyper-V manager” dialog box. On the left pane of the dialog box, the Virtual machine is selected from the New option under the Action menu. On the right pane of the dialog box, the Accounting drop box is selected under the Actions menu.&#10;" title="Figure 2-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940" y="2133600"/>
            <a:ext cx="7380441" cy="3103470"/>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10191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Deployment Services</a:t>
            </a:r>
            <a:endParaRPr lang="en-US" dirty="0"/>
          </a:p>
        </p:txBody>
      </p:sp>
      <p:sp>
        <p:nvSpPr>
          <p:cNvPr id="2" name="Content Placeholder 1"/>
          <p:cNvSpPr>
            <a:spLocks noGrp="1"/>
          </p:cNvSpPr>
          <p:nvPr>
            <p:ph idx="1"/>
          </p:nvPr>
        </p:nvSpPr>
        <p:spPr/>
        <p:txBody>
          <a:bodyPr/>
          <a:lstStyle/>
          <a:p>
            <a:r>
              <a:rPr lang="en-US" smtClean="0"/>
              <a:t>The WDS role is designed to enable the installation of Windows operating systems on multiple computers</a:t>
            </a:r>
          </a:p>
          <a:p>
            <a:r>
              <a:rPr lang="en-US" smtClean="0"/>
              <a:t>New to WDS in Windows Server 2016 is the ability to use Windows PowerShell cmdlets</a:t>
            </a:r>
          </a:p>
          <a:p>
            <a:pPr lvl="1"/>
            <a:r>
              <a:rPr lang="en-US" smtClean="0"/>
              <a:t>Also WDS in Server 2016 adds driver provisioning to support more manufacturer’s drivers</a:t>
            </a:r>
          </a:p>
          <a:p>
            <a:r>
              <a:rPr lang="en-US" smtClean="0"/>
              <a:t>When you use WDS, it’s not necessary to stay at the computer during the operating system installation </a:t>
            </a:r>
          </a:p>
          <a:p>
            <a:r>
              <a:rPr lang="en-US" smtClean="0"/>
              <a:t>An installation DVD is not necessary</a:t>
            </a:r>
          </a:p>
          <a:p>
            <a:pPr lvl="1"/>
            <a:r>
              <a:rPr lang="en-US" smtClean="0"/>
              <a:t>The installation files are sent over a network from the Windows Server 2016 Windows Deployment Services server</a:t>
            </a:r>
          </a:p>
          <a:p>
            <a:pPr lvl="1"/>
            <a:r>
              <a:rPr lang="en-US" smtClean="0"/>
              <a:t>However, you do need to have licenses for all of the operating systems you install through WDS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78937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Performing a DVD-Based Installation</a:t>
            </a:r>
            <a:endParaRPr lang="en-US" dirty="0"/>
          </a:p>
        </p:txBody>
      </p:sp>
      <p:sp>
        <p:nvSpPr>
          <p:cNvPr id="2" name="Content Placeholder 1"/>
          <p:cNvSpPr>
            <a:spLocks noGrp="1"/>
          </p:cNvSpPr>
          <p:nvPr>
            <p:ph idx="1"/>
          </p:nvPr>
        </p:nvSpPr>
        <p:spPr/>
        <p:txBody>
          <a:bodyPr/>
          <a:lstStyle/>
          <a:p>
            <a:r>
              <a:rPr lang="en-US" smtClean="0"/>
              <a:t>Complete Activity 2-4: Installing Windows Server 2016 from DVD</a:t>
            </a:r>
          </a:p>
          <a:p>
            <a:pPr lvl="1"/>
            <a:r>
              <a:rPr lang="en-US" smtClean="0"/>
              <a:t>Time Required: Approximately 30–60 minutes (depending on the speed of your computer)</a:t>
            </a:r>
          </a:p>
          <a:p>
            <a:pPr lvl="1"/>
            <a:r>
              <a:rPr lang="en-US" smtClean="0"/>
              <a:t>Objective: Install Windows Server 2016 from DVD</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88605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Server Manager for the Initial Setup</a:t>
            </a:r>
            <a:endParaRPr lang="en-US" dirty="0"/>
          </a:p>
        </p:txBody>
      </p:sp>
      <p:sp>
        <p:nvSpPr>
          <p:cNvPr id="2" name="Content Placeholder 1"/>
          <p:cNvSpPr>
            <a:spLocks noGrp="1"/>
          </p:cNvSpPr>
          <p:nvPr>
            <p:ph idx="1"/>
          </p:nvPr>
        </p:nvSpPr>
        <p:spPr/>
        <p:txBody>
          <a:bodyPr/>
          <a:lstStyle/>
          <a:p>
            <a:r>
              <a:rPr lang="en-US" smtClean="0"/>
              <a:t>Use Server Manager to begin configuring the server through tasks such as:</a:t>
            </a:r>
          </a:p>
          <a:p>
            <a:pPr lvl="1"/>
            <a:r>
              <a:rPr lang="en-US" smtClean="0"/>
              <a:t>Providing Computer Information</a:t>
            </a:r>
          </a:p>
          <a:p>
            <a:pPr lvl="1"/>
            <a:r>
              <a:rPr lang="en-US" smtClean="0"/>
              <a:t>Configuring the time zone</a:t>
            </a:r>
          </a:p>
          <a:p>
            <a:pPr lvl="1"/>
            <a:r>
              <a:rPr lang="en-US" smtClean="0"/>
              <a:t>Configuring IP addressing information</a:t>
            </a:r>
          </a:p>
          <a:p>
            <a:pPr lvl="1"/>
            <a:r>
              <a:rPr lang="en-US" smtClean="0"/>
              <a:t>Configuring server services and monitoring those services</a:t>
            </a:r>
          </a:p>
          <a:p>
            <a:pPr lvl="1"/>
            <a:r>
              <a:rPr lang="en-US" smtClean="0"/>
              <a:t>Installing and managing server roles and program features</a:t>
            </a:r>
          </a:p>
          <a:p>
            <a:r>
              <a:rPr lang="en-US" smtClean="0"/>
              <a:t>You don’t need to complete all of the tasks at this time</a:t>
            </a:r>
          </a:p>
          <a:p>
            <a:pPr lvl="1"/>
            <a:r>
              <a:rPr lang="en-US" smtClean="0"/>
              <a:t>But you should complete some preliminary tasks right away</a:t>
            </a:r>
          </a:p>
          <a:p>
            <a:r>
              <a:rPr lang="en-US" smtClean="0"/>
              <a:t>Many server administrators check for the following:</a:t>
            </a:r>
          </a:p>
          <a:p>
            <a:pPr lvl="1"/>
            <a:r>
              <a:rPr lang="en-US" smtClean="0"/>
              <a:t>Remote management is enabled</a:t>
            </a:r>
          </a:p>
          <a:p>
            <a:pPr lvl="1"/>
            <a:r>
              <a:rPr lang="en-US" smtClean="0"/>
              <a:t>Windows Firewall is working or they disable it to set up other firewall software</a:t>
            </a:r>
          </a:p>
          <a:p>
            <a:pPr lvl="1"/>
            <a:r>
              <a:rPr lang="en-US" smtClean="0"/>
              <a:t>Windows Update is configured to ensure latest updates are obtained</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064812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Server Activation (1 of 2)</a:t>
            </a:r>
            <a:endParaRPr lang="en-US" dirty="0"/>
          </a:p>
        </p:txBody>
      </p:sp>
      <p:sp>
        <p:nvSpPr>
          <p:cNvPr id="2" name="Content Placeholder 1"/>
          <p:cNvSpPr>
            <a:spLocks noGrp="1"/>
          </p:cNvSpPr>
          <p:nvPr>
            <p:ph idx="1"/>
          </p:nvPr>
        </p:nvSpPr>
        <p:spPr/>
        <p:txBody>
          <a:bodyPr/>
          <a:lstStyle/>
          <a:p>
            <a:r>
              <a:rPr lang="en-US" smtClean="0"/>
              <a:t>After Windows Server 2016 is installed</a:t>
            </a:r>
          </a:p>
          <a:p>
            <a:pPr lvl="1"/>
            <a:r>
              <a:rPr lang="en-US" smtClean="0"/>
              <a:t>Necessary to activate the copy of the operating system</a:t>
            </a:r>
          </a:p>
          <a:p>
            <a:r>
              <a:rPr lang="en-US" smtClean="0"/>
              <a:t>You need to activate your copy of Windows Server 2016 before the short activation period expires</a:t>
            </a:r>
          </a:p>
          <a:p>
            <a:pPr lvl="1"/>
            <a:r>
              <a:rPr lang="en-US" smtClean="0"/>
              <a:t>Or else many functions of the operating system are disabled</a:t>
            </a:r>
          </a:p>
          <a:p>
            <a:r>
              <a:rPr lang="en-US" smtClean="0"/>
              <a:t>Windows Server 2016 can be activated through the Internet using Server Manager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48530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Server Activation (2 of 2)</a:t>
            </a:r>
            <a:endParaRPr lang="en-US" dirty="0"/>
          </a:p>
        </p:txBody>
      </p:sp>
      <p:pic>
        <p:nvPicPr>
          <p:cNvPr id="6" name="Content Placeholder 5" descr="Figure 2-17, Page No. 81, Complexity level: 1&#10;Screenshot shows “Enter a product key” window. The text below reads “Your product key should be in an email from whoever sold or distributed Windows to you, or on the box the Windows DVD or USB came in. The product key looks similar to this: PRODUCT KEY: XXXXX-XXXXX-XXXXX-XXXXX-XXXXX.” The Product key with a text box reads “Dashes will be added automatically.” The Cancel button is shown selected.&#10;" title="Figure 2-1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47800" y="1905000"/>
            <a:ext cx="6172281" cy="3871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315175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Windows Deployment Services</a:t>
            </a:r>
            <a:endParaRPr lang="en-US" dirty="0"/>
          </a:p>
        </p:txBody>
      </p:sp>
      <p:sp>
        <p:nvSpPr>
          <p:cNvPr id="2" name="Content Placeholder 1"/>
          <p:cNvSpPr>
            <a:spLocks noGrp="1"/>
          </p:cNvSpPr>
          <p:nvPr>
            <p:ph idx="1"/>
          </p:nvPr>
        </p:nvSpPr>
        <p:spPr/>
        <p:txBody>
          <a:bodyPr/>
          <a:lstStyle/>
          <a:p>
            <a:r>
              <a:rPr lang="en-US" smtClean="0"/>
              <a:t>Benefits</a:t>
            </a:r>
          </a:p>
          <a:p>
            <a:pPr lvl="1"/>
            <a:r>
              <a:rPr lang="en-US" smtClean="0"/>
              <a:t>Installs Windows Server from Server 2003 through Server 2016</a:t>
            </a:r>
          </a:p>
          <a:p>
            <a:pPr lvl="1"/>
            <a:r>
              <a:rPr lang="en-US" smtClean="0"/>
              <a:t>Installs Windows desktop systems from Windows Vista to Windows 10</a:t>
            </a:r>
          </a:p>
          <a:p>
            <a:pPr lvl="1"/>
            <a:r>
              <a:rPr lang="en-US" smtClean="0"/>
              <a:t>Enhances performance</a:t>
            </a:r>
          </a:p>
          <a:p>
            <a:pPr lvl="1"/>
            <a:r>
              <a:rPr lang="en-US" smtClean="0"/>
              <a:t>Provides updated boot format</a:t>
            </a:r>
          </a:p>
          <a:p>
            <a:pPr lvl="1"/>
            <a:r>
              <a:rPr lang="en-US" smtClean="0"/>
              <a:t>Uses image-based installation techniques</a:t>
            </a:r>
          </a:p>
          <a:p>
            <a:pPr lvl="1"/>
            <a:r>
              <a:rPr lang="en-US" smtClean="0"/>
              <a:t>Can utilize multicasting for network efficiency</a:t>
            </a:r>
          </a:p>
          <a:p>
            <a:pPr lvl="1"/>
            <a:r>
              <a:rPr lang="en-US" smtClean="0"/>
              <a:t>Offers a redesigned presentation for choosing which operating system to install</a:t>
            </a:r>
          </a:p>
          <a:p>
            <a:pPr lvl="1"/>
            <a:r>
              <a:rPr lang="en-US" smtClean="0"/>
              <a:t>Supports cmdlets and scripting in Windows PowerShell, which is new with Windows Server 2012 R2 and Server 2016</a:t>
            </a:r>
          </a:p>
          <a:p>
            <a:r>
              <a:rPr lang="en-US" smtClean="0"/>
              <a:t>WDS operates in Preboot Execution Environment (PXE)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50511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and Configuring Windows Deployment Services </a:t>
            </a:r>
            <a:endParaRPr lang="en-US" dirty="0"/>
          </a:p>
        </p:txBody>
      </p:sp>
      <p:sp>
        <p:nvSpPr>
          <p:cNvPr id="2" name="Content Placeholder 1"/>
          <p:cNvSpPr>
            <a:spLocks noGrp="1"/>
          </p:cNvSpPr>
          <p:nvPr>
            <p:ph idx="1"/>
          </p:nvPr>
        </p:nvSpPr>
        <p:spPr/>
        <p:txBody>
          <a:bodyPr/>
          <a:lstStyle/>
          <a:p>
            <a:r>
              <a:rPr lang="en-US" smtClean="0"/>
              <a:t>Requirements</a:t>
            </a:r>
          </a:p>
          <a:p>
            <a:pPr lvl="1"/>
            <a:r>
              <a:rPr lang="en-US" smtClean="0"/>
              <a:t>A DNS server already configured on the network</a:t>
            </a:r>
          </a:p>
          <a:p>
            <a:pPr lvl="1"/>
            <a:r>
              <a:rPr lang="en-US" smtClean="0"/>
              <a:t>A DHCP server already configured on the network</a:t>
            </a:r>
          </a:p>
          <a:p>
            <a:pPr lvl="1"/>
            <a:r>
              <a:rPr lang="en-US" smtClean="0"/>
              <a:t>Active Directory Domain Services already installed on a network server and the WDS server is part of the domain managed by Active Directory</a:t>
            </a:r>
          </a:p>
          <a:p>
            <a:pPr lvl="1"/>
            <a:r>
              <a:rPr lang="en-US" smtClean="0"/>
              <a:t> NTFS as the file system on the Windows Deployment Services server</a:t>
            </a:r>
          </a:p>
          <a:p>
            <a:r>
              <a:rPr lang="en-US" smtClean="0"/>
              <a:t>You can install the Windows Deployment Services role from Server Manager</a:t>
            </a:r>
          </a:p>
          <a:p>
            <a:pPr lvl="1"/>
            <a:r>
              <a:rPr lang="en-US" smtClean="0"/>
              <a:t>Activity 2-6 will step you through this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89816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Elements for an Unattended Installation (1 of 2)</a:t>
            </a:r>
            <a:endParaRPr lang="en-US" dirty="0"/>
          </a:p>
        </p:txBody>
      </p:sp>
      <p:sp>
        <p:nvSpPr>
          <p:cNvPr id="2" name="Content Placeholder 1"/>
          <p:cNvSpPr>
            <a:spLocks noGrp="1"/>
          </p:cNvSpPr>
          <p:nvPr>
            <p:ph idx="1"/>
          </p:nvPr>
        </p:nvSpPr>
        <p:spPr/>
        <p:txBody>
          <a:bodyPr/>
          <a:lstStyle/>
          <a:p>
            <a:r>
              <a:rPr lang="en-US" smtClean="0"/>
              <a:t>To set up for an unattended installation, it is necessary to do the following:</a:t>
            </a:r>
          </a:p>
          <a:p>
            <a:pPr lvl="1"/>
            <a:r>
              <a:rPr lang="en-US" smtClean="0"/>
              <a:t>Create the unattended answer file, in XML format</a:t>
            </a:r>
          </a:p>
          <a:p>
            <a:pPr lvl="1"/>
            <a:r>
              <a:rPr lang="en-US" smtClean="0"/>
              <a:t>Configure Windows Deployment Services to enable an unattended installation</a:t>
            </a:r>
          </a:p>
          <a:p>
            <a:r>
              <a:rPr lang="en-US" smtClean="0"/>
              <a:t>The answer file is created using Windows System Image Manager (Windows SIM)</a:t>
            </a:r>
          </a:p>
          <a:p>
            <a:pPr lvl="1"/>
            <a:r>
              <a:rPr lang="en-US" smtClean="0"/>
              <a:t>A tool included with the Windows Assessment and Deployment Kit (ADK)</a:t>
            </a:r>
          </a:p>
          <a:p>
            <a:r>
              <a:rPr lang="en-US" smtClean="0"/>
              <a:t>When you create the answer file using Windows SIM, you will likely need to set up several configuration passes</a:t>
            </a:r>
          </a:p>
          <a:p>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251589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Elements for an Unattended Installation (2 of 2)</a:t>
            </a:r>
            <a:endParaRPr lang="en-US" dirty="0"/>
          </a:p>
        </p:txBody>
      </p:sp>
      <p:pic>
        <p:nvPicPr>
          <p:cNvPr id="7" name="Content Placeholder 6" descr="Figure 2-25, Page No. 89, Complexity level: 1&#10;Screenshot shows “Accounting Properties” dialog box. The Client tab is selected. The cursor points to the “Enable unattended installation” option. The OK button is shown selected.&#10;" title="Figure 2-2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14600" y="1600200"/>
            <a:ext cx="4040263" cy="4252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938713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Windows Server Core</a:t>
            </a:r>
            <a:endParaRPr lang="en-US" dirty="0"/>
          </a:p>
        </p:txBody>
      </p:sp>
      <p:sp>
        <p:nvSpPr>
          <p:cNvPr id="2" name="Content Placeholder 1"/>
          <p:cNvSpPr>
            <a:spLocks noGrp="1"/>
          </p:cNvSpPr>
          <p:nvPr>
            <p:ph idx="1"/>
          </p:nvPr>
        </p:nvSpPr>
        <p:spPr/>
        <p:txBody>
          <a:bodyPr/>
          <a:lstStyle/>
          <a:p>
            <a:r>
              <a:rPr lang="en-US" smtClean="0"/>
              <a:t>The steps for installing Windows Server Core are nearly identical to the steps for a full installation</a:t>
            </a:r>
          </a:p>
          <a:p>
            <a:pPr lvl="1"/>
            <a:r>
              <a:rPr lang="en-US" smtClean="0"/>
              <a:t>Until you reach the end of the process when you need to log on to the newly installed system</a:t>
            </a:r>
          </a:p>
          <a:p>
            <a:r>
              <a:rPr lang="en-US" smtClean="0"/>
              <a:t>You can implement all or portions of the server roles listed in the earlier section titled “Identifying Server Roles”</a:t>
            </a:r>
          </a:p>
          <a:p>
            <a:r>
              <a:rPr lang="en-US" smtClean="0"/>
              <a:t>For some  of these roles, not all role services can be installed as in the full installation of Windows Server 2016</a:t>
            </a:r>
          </a:p>
          <a:p>
            <a:pPr lvl="1"/>
            <a:r>
              <a:rPr lang="en-US" smtClean="0"/>
              <a:t>This is in keeping with the design concept of having a smaller attack surface to discourage attackers and malicious software</a:t>
            </a:r>
          </a:p>
          <a:p>
            <a:r>
              <a:rPr lang="en-US" smtClean="0"/>
              <a:t>To access PowerShell, type powershell at the command prompt in the Server Core command-line</a:t>
            </a:r>
          </a:p>
          <a:p>
            <a:r>
              <a:rPr lang="en-US" smtClean="0"/>
              <a:t>At the command line, enter help to view a listing of commands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43497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and Managing Service Packs</a:t>
            </a:r>
            <a:endParaRPr lang="en-US" dirty="0"/>
          </a:p>
        </p:txBody>
      </p:sp>
      <p:sp>
        <p:nvSpPr>
          <p:cNvPr id="2" name="Content Placeholder 1"/>
          <p:cNvSpPr>
            <a:spLocks noGrp="1"/>
          </p:cNvSpPr>
          <p:nvPr>
            <p:ph idx="1"/>
          </p:nvPr>
        </p:nvSpPr>
        <p:spPr/>
        <p:txBody>
          <a:bodyPr/>
          <a:lstStyle/>
          <a:p>
            <a:r>
              <a:rPr lang="en-US" smtClean="0"/>
              <a:t>Service packs are designed to correct things such as security issues</a:t>
            </a:r>
          </a:p>
          <a:p>
            <a:pPr lvl="1"/>
            <a:r>
              <a:rPr lang="en-US" smtClean="0"/>
              <a:t>As well as problems affecting stability, performance, or the operation of features included with the operating system</a:t>
            </a:r>
          </a:p>
          <a:p>
            <a:r>
              <a:rPr lang="en-US" smtClean="0"/>
              <a:t>Guidelines when installing the latest service packs</a:t>
            </a:r>
          </a:p>
          <a:p>
            <a:pPr lvl="1"/>
            <a:r>
              <a:rPr lang="en-US" smtClean="0"/>
              <a:t>Download the latest service pack from Microsoft’s download site</a:t>
            </a:r>
          </a:p>
          <a:p>
            <a:pPr lvl="1"/>
            <a:r>
              <a:rPr lang="en-US" smtClean="0"/>
              <a:t>Review the documentation that comes with the service pack</a:t>
            </a:r>
          </a:p>
          <a:p>
            <a:pPr lvl="1"/>
            <a:r>
              <a:rPr lang="en-US" smtClean="0"/>
              <a:t>Perform a full backup before you do the service pack installation</a:t>
            </a:r>
          </a:p>
          <a:p>
            <a:pPr lvl="1"/>
            <a:r>
              <a:rPr lang="en-US" smtClean="0"/>
              <a:t>If the server is already available to clients, schedule when the service pack will be installed</a:t>
            </a:r>
          </a:p>
          <a:p>
            <a:pPr lvl="1"/>
            <a:r>
              <a:rPr lang="en-US" smtClean="0"/>
              <a:t>Once the service pack is installed, document any problems that occurred and how you fixed them for future reference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310529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Installation Problems</a:t>
            </a:r>
            <a:endParaRPr lang="en-US" dirty="0"/>
          </a:p>
        </p:txBody>
      </p:sp>
      <p:sp>
        <p:nvSpPr>
          <p:cNvPr id="2" name="Content Placeholder 1"/>
          <p:cNvSpPr>
            <a:spLocks noGrp="1"/>
          </p:cNvSpPr>
          <p:nvPr>
            <p:ph idx="1"/>
          </p:nvPr>
        </p:nvSpPr>
        <p:spPr/>
        <p:txBody>
          <a:bodyPr/>
          <a:lstStyle/>
          <a:p>
            <a:r>
              <a:rPr lang="en-US" smtClean="0"/>
              <a:t>Keep the following points in mind to avoid problems:</a:t>
            </a:r>
          </a:p>
          <a:p>
            <a:pPr lvl="1"/>
            <a:r>
              <a:rPr lang="en-US" smtClean="0"/>
              <a:t>Ensure that the hardware has the Certified for Windows Server 2008 sticker or is in the Windows Server Catalog of Tested Products</a:t>
            </a:r>
          </a:p>
          <a:p>
            <a:pPr lvl="1"/>
            <a:r>
              <a:rPr lang="en-US" smtClean="0"/>
              <a:t>Test all hardware before installing the operating system</a:t>
            </a:r>
          </a:p>
          <a:p>
            <a:pPr lvl="1"/>
            <a:r>
              <a:rPr lang="en-US" smtClean="0"/>
              <a:t>Run the computer manufacturer’s diagnostics before installing the operating system</a:t>
            </a:r>
          </a:p>
          <a:p>
            <a:pPr lvl="1"/>
            <a:r>
              <a:rPr lang="en-US" smtClean="0"/>
              <a:t>Run a comprehensive test of the hard disk to ensure it is functioning properly</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844653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Removing Windows Server 2016</a:t>
            </a:r>
            <a:endParaRPr lang="en-US" dirty="0"/>
          </a:p>
        </p:txBody>
      </p:sp>
      <p:sp>
        <p:nvSpPr>
          <p:cNvPr id="2" name="Content Placeholder 1"/>
          <p:cNvSpPr>
            <a:spLocks noGrp="1"/>
          </p:cNvSpPr>
          <p:nvPr>
            <p:ph idx="1"/>
          </p:nvPr>
        </p:nvSpPr>
        <p:spPr/>
        <p:txBody>
          <a:bodyPr/>
          <a:lstStyle/>
          <a:p>
            <a:r>
              <a:rPr lang="en-US" smtClean="0"/>
              <a:t>Removing Windows Server 2016 is a relatively straightforward process</a:t>
            </a:r>
          </a:p>
          <a:p>
            <a:pPr lvl="1"/>
            <a:r>
              <a:rPr lang="en-US" smtClean="0"/>
              <a:t>And requires you to format the partition on which it has been installed</a:t>
            </a:r>
          </a:p>
          <a:p>
            <a:r>
              <a:rPr lang="en-US" smtClean="0"/>
              <a:t>If you are installing another operating system</a:t>
            </a:r>
          </a:p>
          <a:p>
            <a:pPr lvl="1"/>
            <a:r>
              <a:rPr lang="en-US" smtClean="0"/>
              <a:t>You are usually given an opportunity to format the hard drive for that operating system</a:t>
            </a:r>
          </a:p>
          <a:p>
            <a:r>
              <a:rPr lang="en-US" smtClean="0"/>
              <a:t>You can also use the FDISK and FORMAT utilities </a:t>
            </a:r>
          </a:p>
          <a:p>
            <a:r>
              <a:rPr lang="en-US" smtClean="0"/>
              <a:t>Another option is to use the FORMAT or DISKPART utilities from the Command Prompt screen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44158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2)</a:t>
            </a:r>
            <a:endParaRPr lang="en-US" dirty="0"/>
          </a:p>
        </p:txBody>
      </p:sp>
      <p:sp>
        <p:nvSpPr>
          <p:cNvPr id="2" name="Content Placeholder 1"/>
          <p:cNvSpPr>
            <a:spLocks noGrp="1"/>
          </p:cNvSpPr>
          <p:nvPr>
            <p:ph idx="1"/>
          </p:nvPr>
        </p:nvSpPr>
        <p:spPr/>
        <p:txBody>
          <a:bodyPr/>
          <a:lstStyle/>
          <a:p>
            <a:r>
              <a:rPr lang="en-US" smtClean="0"/>
              <a:t>Before you install Windows Server 2016, complete the preinstallation tasks to help ensure the best result</a:t>
            </a:r>
          </a:p>
          <a:p>
            <a:r>
              <a:rPr lang="en-US" smtClean="0"/>
              <a:t>Windows Server 2016 has many server-based roles, from housing Active Directory functions to offering DNS or DHCP services to providing file and print services</a:t>
            </a:r>
          </a:p>
          <a:p>
            <a:r>
              <a:rPr lang="en-US" smtClean="0"/>
              <a:t>Windows Server 2016 can be installed using any of several methods, which include DVD installation, upgrading from Windows Server 2012/R2, using Hyper-V for a virtual server, and WDS</a:t>
            </a:r>
          </a:p>
          <a:p>
            <a:r>
              <a:rPr lang="en-US" smtClean="0"/>
              <a:t>After Windows Server 2016 is installed, you can perform basic configuration activities using Server Manager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94059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2)</a:t>
            </a:r>
            <a:endParaRPr lang="en-US" dirty="0"/>
          </a:p>
        </p:txBody>
      </p:sp>
      <p:sp>
        <p:nvSpPr>
          <p:cNvPr id="2" name="Content Placeholder 1"/>
          <p:cNvSpPr>
            <a:spLocks noGrp="1"/>
          </p:cNvSpPr>
          <p:nvPr>
            <p:ph idx="1"/>
          </p:nvPr>
        </p:nvSpPr>
        <p:spPr/>
        <p:txBody>
          <a:bodyPr/>
          <a:lstStyle/>
          <a:p>
            <a:r>
              <a:rPr lang="en-US" smtClean="0"/>
              <a:t>So that you can retain full use of Windows Server 2016, plan to activate the operating system immediately</a:t>
            </a:r>
          </a:p>
          <a:p>
            <a:r>
              <a:rPr lang="en-US" smtClean="0"/>
              <a:t>If your organization is planning to install multiple servers or many Windows 10 computers, you can use Windows Deployment Services to save time and effort</a:t>
            </a:r>
          </a:p>
          <a:p>
            <a:r>
              <a:rPr lang="en-US" smtClean="0"/>
              <a:t>An alternative to installing the GUI version of Windows Server 2016 is to install Server Core</a:t>
            </a:r>
          </a:p>
          <a:p>
            <a:r>
              <a:rPr lang="en-US" smtClean="0"/>
              <a:t>Service packs should be installed to fix any known problems with the OS</a:t>
            </a:r>
          </a:p>
          <a:p>
            <a:r>
              <a:rPr lang="en-US" smtClean="0"/>
              <a:t>If you run into installation problems, try the troubleshooting suggestions in Table 2-4</a:t>
            </a:r>
          </a:p>
          <a:p>
            <a:r>
              <a:rPr lang="en-US" smtClean="0"/>
              <a:t>To remove Windows Server 2016, use the installation of another operating system to overwrite the Windows Server 2016 installation or use tools such as FDISK, FORMAT, and DISKPART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13858</TotalTime>
  <Words>5960</Words>
  <Application>Microsoft Office PowerPoint</Application>
  <PresentationFormat>On-screen Show (4:3)</PresentationFormat>
  <Paragraphs>392</Paragraphs>
  <Slides>47</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Calibri Light</vt:lpstr>
      <vt:lpstr>Office Theme</vt:lpstr>
      <vt:lpstr>Hands-On Microsoft Windows Server 2016  2nd Edition</vt:lpstr>
      <vt:lpstr>Objectives (1 of 2)</vt:lpstr>
      <vt:lpstr>Objectives (2 of 2)</vt:lpstr>
      <vt:lpstr>Preparing for Installation</vt:lpstr>
      <vt:lpstr>Identifying Hardware Requirements and Determining Compatibility (1 of 2)</vt:lpstr>
      <vt:lpstr>Identifying Hardware Requirements and Determining Compatibility (2 of 2)</vt:lpstr>
      <vt:lpstr>Determining Disk Partitioning Options (1 of 3)</vt:lpstr>
      <vt:lpstr>Determining Disk Partitioning Options (2 of 3)</vt:lpstr>
      <vt:lpstr>Determining Disk Partitioning Options (3 of 3)</vt:lpstr>
      <vt:lpstr>Understanding NTFS and ReFS (1 of 3)</vt:lpstr>
      <vt:lpstr>Understanding NTFS and ReFS (2 of 3)</vt:lpstr>
      <vt:lpstr>Understanding NTFS and ReFS (3 of 3)</vt:lpstr>
      <vt:lpstr>Upgrading to Windows Server 2016</vt:lpstr>
      <vt:lpstr>Planning User and Device Licensing</vt:lpstr>
      <vt:lpstr>Determining Domain or Workgroup Membership</vt:lpstr>
      <vt:lpstr>Choosing a Computer Name</vt:lpstr>
      <vt:lpstr>Determining Whether to Install Nano Server, Server Core, or the Full GUI Version (1 of 2)</vt:lpstr>
      <vt:lpstr>Determining Whether to Install Nano Server, Server Core, or the Full GUI Version (2 of 2)</vt:lpstr>
      <vt:lpstr>Identifying Server Roles (1 of 8)</vt:lpstr>
      <vt:lpstr>Identifying Server Roles (2 of 8)</vt:lpstr>
      <vt:lpstr>Identifying Server Roles (3 of 8)</vt:lpstr>
      <vt:lpstr>Identifying Server Roles (4 of 8)</vt:lpstr>
      <vt:lpstr>Identifying Server Roles (5 of 8)</vt:lpstr>
      <vt:lpstr>Identifying Server Roles (6 of 8)</vt:lpstr>
      <vt:lpstr>Identifying Server Roles (7 of 8)</vt:lpstr>
      <vt:lpstr>Identifying Server Roles (8 of 8)</vt:lpstr>
      <vt:lpstr>Making Immediate Preparations</vt:lpstr>
      <vt:lpstr>Overview of Windows Server 2016 Installation Methods</vt:lpstr>
      <vt:lpstr>DVD or USB Thumb Drive Installation</vt:lpstr>
      <vt:lpstr>Upgrading from Windows Server 2012/R2</vt:lpstr>
      <vt:lpstr>Installation for a Virtual Server Using Hyper-V (1 of 2)</vt:lpstr>
      <vt:lpstr>Installation for a Virtual Server Using Hyper-V (2 of 2)</vt:lpstr>
      <vt:lpstr>Windows Deployment Services</vt:lpstr>
      <vt:lpstr>Performing a DVD-Based Installation</vt:lpstr>
      <vt:lpstr>Using Server Manager for the Initial Setup</vt:lpstr>
      <vt:lpstr>Server Activation (1 of 2)</vt:lpstr>
      <vt:lpstr>Server Activation (2 of 2)</vt:lpstr>
      <vt:lpstr>Using Windows Deployment Services</vt:lpstr>
      <vt:lpstr>Installing and Configuring Windows Deployment Services </vt:lpstr>
      <vt:lpstr>Elements for an Unattended Installation (1 of 2)</vt:lpstr>
      <vt:lpstr>Elements for an Unattended Installation (2 of 2)</vt:lpstr>
      <vt:lpstr>Installing Windows Server Core</vt:lpstr>
      <vt:lpstr>Installing and Managing Service Packs</vt:lpstr>
      <vt:lpstr>Troubleshooting Installation Problems</vt:lpstr>
      <vt:lpstr>Removing Windows Server 2016</vt:lpstr>
      <vt:lpstr>Chapter Summary (1 of 2)</vt:lpstr>
      <vt:lpstr>Chapter Summary (2 of 2)</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406</cp:revision>
  <cp:lastPrinted>2017-07-11T22:09:24Z</cp:lastPrinted>
  <dcterms:created xsi:type="dcterms:W3CDTF">2007-02-15T20:50:52Z</dcterms:created>
  <dcterms:modified xsi:type="dcterms:W3CDTF">2017-07-11T22:09:29Z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