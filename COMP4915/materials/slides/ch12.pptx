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0"/>
  </p:notesMasterIdLst>
  <p:handoutMasterIdLst>
    <p:handoutMasterId r:id="rId51"/>
  </p:handoutMasterIdLst>
  <p:sldIdLst>
    <p:sldId id="256" r:id="rId2"/>
    <p:sldId id="257"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08" r:id="rId48"/>
    <p:sldId id="310" r:id="rId49"/>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7" autoAdjust="0"/>
    <p:restoredTop sz="76197" autoAdjust="0"/>
  </p:normalViewPr>
  <p:slideViewPr>
    <p:cSldViewPr>
      <p:cViewPr varScale="1">
        <p:scale>
          <a:sx n="74" d="100"/>
          <a:sy n="74" d="100"/>
        </p:scale>
        <p:origin x="124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12</a:t>
            </a:r>
          </a:p>
          <a:p>
            <a:r>
              <a:rPr lang="en-US" smtClean="0"/>
              <a:t>Managing System Reliability and Availability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dirty="0"/>
          </a:p>
        </p:txBody>
      </p:sp>
      <p:sp>
        <p:nvSpPr>
          <p:cNvPr id="3" name="Text Placeholder 2"/>
          <p:cNvSpPr>
            <a:spLocks noGrp="1"/>
          </p:cNvSpPr>
          <p:nvPr>
            <p:ph type="body" idx="1"/>
          </p:nvPr>
        </p:nvSpPr>
        <p:spPr/>
        <p:txBody>
          <a:bodyPr/>
          <a:lstStyle/>
          <a:p>
            <a:r>
              <a:rPr lang="en-US" smtClean="0"/>
              <a:t>Understand general problem-solving strategies</a:t>
            </a:r>
          </a:p>
          <a:p>
            <a:r>
              <a:rPr lang="en-US" smtClean="0"/>
              <a:t>Resolve boot problems</a:t>
            </a:r>
          </a:p>
          <a:p>
            <a:r>
              <a:rPr lang="en-US" smtClean="0"/>
              <a:t>Use and configure Event Viewer</a:t>
            </a:r>
          </a:p>
          <a:p>
            <a:r>
              <a:rPr lang="en-US" smtClean="0"/>
              <a:t>Troubleshoot network connectivity</a:t>
            </a:r>
          </a:p>
          <a:p>
            <a:r>
              <a:rPr lang="en-US" smtClean="0"/>
              <a:t>Remotely administer one or more servers</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General Problem-Solving Strategies</a:t>
            </a:r>
            <a:endParaRPr lang="en-US" dirty="0"/>
          </a:p>
        </p:txBody>
      </p:sp>
      <p:sp>
        <p:nvSpPr>
          <p:cNvPr id="2" name="Content Placeholder 1"/>
          <p:cNvSpPr>
            <a:spLocks noGrp="1"/>
          </p:cNvSpPr>
          <p:nvPr>
            <p:ph idx="1"/>
          </p:nvPr>
        </p:nvSpPr>
        <p:spPr/>
        <p:txBody>
          <a:bodyPr/>
          <a:lstStyle/>
          <a:p>
            <a:r>
              <a:rPr lang="en-US" smtClean="0"/>
              <a:t>The best approach to solving server and network problems is to develop effective troubleshooting strategies</a:t>
            </a:r>
          </a:p>
          <a:p>
            <a:r>
              <a:rPr lang="en-US" smtClean="0"/>
              <a:t>Four general strategies are:</a:t>
            </a:r>
          </a:p>
          <a:p>
            <a:pPr lvl="1"/>
            <a:r>
              <a:rPr lang="en-US" smtClean="0"/>
              <a:t>Understanding how a server and the network interact</a:t>
            </a:r>
          </a:p>
          <a:p>
            <a:pPr lvl="1"/>
            <a:r>
              <a:rPr lang="en-US" smtClean="0"/>
              <a:t>Training your users to help you solve problems</a:t>
            </a:r>
          </a:p>
          <a:p>
            <a:pPr lvl="1"/>
            <a:r>
              <a:rPr lang="en-US" smtClean="0"/>
              <a:t>Solving problems step by step</a:t>
            </a:r>
          </a:p>
          <a:p>
            <a:pPr lvl="1"/>
            <a:r>
              <a:rPr lang="en-US" smtClean="0"/>
              <a:t>Tracking problems and solutions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1527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How Servers and the Network Interact (1 of 3)</a:t>
            </a:r>
            <a:endParaRPr lang="en-US" dirty="0"/>
          </a:p>
        </p:txBody>
      </p:sp>
      <p:sp>
        <p:nvSpPr>
          <p:cNvPr id="2" name="Content Placeholder 1"/>
          <p:cNvSpPr>
            <a:spLocks noGrp="1"/>
          </p:cNvSpPr>
          <p:nvPr>
            <p:ph idx="1"/>
          </p:nvPr>
        </p:nvSpPr>
        <p:spPr/>
        <p:txBody>
          <a:bodyPr/>
          <a:lstStyle/>
          <a:p>
            <a:r>
              <a:rPr lang="en-US" smtClean="0"/>
              <a:t>Many server and network administrators create a diagram of the entire network or diagrams of different portions of a network</a:t>
            </a:r>
          </a:p>
          <a:p>
            <a:pPr lvl="1"/>
            <a:r>
              <a:rPr lang="en-US" smtClean="0"/>
              <a:t>And then update the diagrams each time an aspect of the network changes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59987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How Servers and the Network Interact (2 of 3)</a:t>
            </a:r>
            <a:endParaRPr lang="en-US" dirty="0"/>
          </a:p>
        </p:txBody>
      </p:sp>
      <p:pic>
        <p:nvPicPr>
          <p:cNvPr id="6" name="Content Placeholder 5" descr="Figure 12-1, Page No. 516, Complexity level: 4&#10;A figure shows a “Sample network diagram.” In the figure, the Router is placed at the centre and it is connected to each of two Workgroup switch on either sides and to a High-speed switch at the top. Each of the Workgroup switch is connected to four computers. The four computers on the left is labeled as “Administrative and Human Resources departments” and four computers on the right is labeled as “Marketing and Reservations departments.” The High-speed switch is connected to four Server-farms. The information or data from the Router is transmitted to the Access point in conference room 1 enclosed in a circle and to the Access point in conference room 2 enclosed in another circle. The two circles are labeled as “Cells.”&#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676400"/>
            <a:ext cx="5208602"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72149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Understanding How Servers and the Network Interact (3 of 3)</a:t>
            </a:r>
            <a:endParaRPr lang="en-US" dirty="0"/>
          </a:p>
        </p:txBody>
      </p:sp>
      <p:sp>
        <p:nvSpPr>
          <p:cNvPr id="2" name="Content Placeholder 1"/>
          <p:cNvSpPr>
            <a:spLocks noGrp="1"/>
          </p:cNvSpPr>
          <p:nvPr>
            <p:ph idx="1"/>
          </p:nvPr>
        </p:nvSpPr>
        <p:spPr/>
        <p:txBody>
          <a:bodyPr/>
          <a:lstStyle/>
          <a:p>
            <a:r>
              <a:rPr lang="en-US" smtClean="0"/>
              <a:t>A network diagram should include the following elements:</a:t>
            </a:r>
          </a:p>
          <a:p>
            <a:pPr lvl="1"/>
            <a:r>
              <a:rPr lang="en-US" smtClean="0"/>
              <a:t>Servers (and any mainframes/supercomputers)</a:t>
            </a:r>
          </a:p>
          <a:p>
            <a:pPr lvl="1"/>
            <a:r>
              <a:rPr lang="en-US" smtClean="0"/>
              <a:t>Workstations and network printers (unless the network is too large to include these)</a:t>
            </a:r>
          </a:p>
          <a:p>
            <a:pPr lvl="1"/>
            <a:r>
              <a:rPr lang="en-US" smtClean="0"/>
              <a:t>Wireless network devices</a:t>
            </a:r>
          </a:p>
          <a:p>
            <a:pPr lvl="1"/>
            <a:r>
              <a:rPr lang="en-US" smtClean="0"/>
              <a:t>Cabled network devices</a:t>
            </a:r>
          </a:p>
          <a:p>
            <a:pPr lvl="1"/>
            <a:r>
              <a:rPr lang="en-US" smtClean="0"/>
              <a:t>Telecommunications links</a:t>
            </a:r>
          </a:p>
          <a:p>
            <a:pPr lvl="1"/>
            <a:r>
              <a:rPr lang="en-US" smtClean="0"/>
              <a:t>Wireless and cabled links</a:t>
            </a:r>
          </a:p>
          <a:p>
            <a:pPr lvl="1"/>
            <a:r>
              <a:rPr lang="en-US" smtClean="0"/>
              <a:t>Remote links</a:t>
            </a:r>
          </a:p>
          <a:p>
            <a:pPr lvl="1"/>
            <a:r>
              <a:rPr lang="en-US" smtClean="0"/>
              <a:t>Building locations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6178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Training Users to Help</a:t>
            </a:r>
            <a:endParaRPr lang="en-US" dirty="0"/>
          </a:p>
        </p:txBody>
      </p:sp>
      <p:sp>
        <p:nvSpPr>
          <p:cNvPr id="2" name="Content Placeholder 1"/>
          <p:cNvSpPr>
            <a:spLocks noGrp="1"/>
          </p:cNvSpPr>
          <p:nvPr>
            <p:ph idx="1"/>
          </p:nvPr>
        </p:nvSpPr>
        <p:spPr/>
        <p:txBody>
          <a:bodyPr/>
          <a:lstStyle/>
          <a:p>
            <a:r>
              <a:rPr lang="en-US" smtClean="0"/>
              <a:t>Train network users to be your partners in reporting problems</a:t>
            </a:r>
          </a:p>
          <a:p>
            <a:r>
              <a:rPr lang="en-US" smtClean="0"/>
              <a:t>For example, they should:</a:t>
            </a:r>
          </a:p>
          <a:p>
            <a:pPr lvl="1"/>
            <a:r>
              <a:rPr lang="en-US" smtClean="0"/>
              <a:t>Save their work at the first sign of a problem</a:t>
            </a:r>
          </a:p>
          <a:p>
            <a:pPr lvl="1"/>
            <a:r>
              <a:rPr lang="en-US" smtClean="0"/>
              <a:t>Record information about a problem as the problem is occurring</a:t>
            </a:r>
          </a:p>
          <a:p>
            <a:pPr lvl="1"/>
            <a:r>
              <a:rPr lang="en-US" smtClean="0"/>
              <a:t>Report any protocol information, such as error messages about a protocol or an address</a:t>
            </a:r>
          </a:p>
          <a:p>
            <a:pPr lvl="1"/>
            <a:r>
              <a:rPr lang="en-US" smtClean="0"/>
              <a:t>Quickly report a problem by telephone, or by voice mail if you cannot be reached immediately</a:t>
            </a:r>
          </a:p>
          <a:p>
            <a:pPr lvl="1"/>
            <a:r>
              <a:rPr lang="en-US" smtClean="0"/>
              <a:t>Avoid sending e-mail about urgent problems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56604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Solving Problems Step-by-Step (1 of 2)</a:t>
            </a:r>
            <a:endParaRPr lang="en-US" dirty="0"/>
          </a:p>
        </p:txBody>
      </p:sp>
      <p:sp>
        <p:nvSpPr>
          <p:cNvPr id="2" name="Content Placeholder 1"/>
          <p:cNvSpPr>
            <a:spLocks noGrp="1"/>
          </p:cNvSpPr>
          <p:nvPr>
            <p:ph idx="1"/>
          </p:nvPr>
        </p:nvSpPr>
        <p:spPr/>
        <p:txBody>
          <a:bodyPr/>
          <a:lstStyle/>
          <a:p>
            <a:r>
              <a:rPr lang="en-US" smtClean="0"/>
              <a:t>Step-by-step techniques to solve server and network problems:</a:t>
            </a:r>
          </a:p>
          <a:p>
            <a:pPr lvl="1"/>
            <a:r>
              <a:rPr lang="en-US" smtClean="0"/>
              <a:t>Get as much information as possible about the problem</a:t>
            </a:r>
          </a:p>
          <a:p>
            <a:pPr lvl="1"/>
            <a:r>
              <a:rPr lang="en-US" smtClean="0"/>
              <a:t>Record the error message at the time it appears or when a user reports it to you</a:t>
            </a:r>
          </a:p>
          <a:p>
            <a:pPr lvl="1"/>
            <a:r>
              <a:rPr lang="en-US" smtClean="0"/>
              <a:t>Determine if anyone else is experiencing the problem</a:t>
            </a:r>
          </a:p>
          <a:p>
            <a:pPr lvl="1"/>
            <a:r>
              <a:rPr lang="en-US" smtClean="0"/>
              <a:t>Check the Windows Server 2016 event logs for signs of a problem</a:t>
            </a:r>
          </a:p>
          <a:p>
            <a:pPr lvl="1"/>
            <a:r>
              <a:rPr lang="en-US" smtClean="0"/>
              <a:t>Use Performance Monitor, Data Collector Sets, Task Manager, Server Manager, and the Computer Management tool to help you troubleshoot problems</a:t>
            </a:r>
          </a:p>
          <a:p>
            <a:pPr lvl="1"/>
            <a:r>
              <a:rPr lang="en-US" smtClean="0"/>
              <a:t>Check for power interruptions</a:t>
            </a:r>
          </a:p>
          <a:p>
            <a:pPr lvl="1"/>
            <a:r>
              <a:rPr lang="en-US" smtClean="0"/>
              <a:t>Take the information you have gathered and define the problem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0781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Solving Problems Step-by-Step (2 of 2)</a:t>
            </a:r>
            <a:endParaRPr lang="en-US" dirty="0"/>
          </a:p>
        </p:txBody>
      </p:sp>
      <p:sp>
        <p:nvSpPr>
          <p:cNvPr id="2" name="Content Placeholder 1"/>
          <p:cNvSpPr>
            <a:spLocks noGrp="1"/>
          </p:cNvSpPr>
          <p:nvPr>
            <p:ph idx="1"/>
          </p:nvPr>
        </p:nvSpPr>
        <p:spPr/>
        <p:txBody>
          <a:bodyPr/>
          <a:lstStyle/>
          <a:p>
            <a:r>
              <a:rPr lang="en-US" smtClean="0"/>
              <a:t>Step-by-step techniques to solve server and network problems (cont’d):</a:t>
            </a:r>
          </a:p>
          <a:p>
            <a:pPr lvl="1"/>
            <a:r>
              <a:rPr lang="en-US" smtClean="0"/>
              <a:t>Determine possible solutions for the problem</a:t>
            </a:r>
          </a:p>
          <a:p>
            <a:pPr lvl="1"/>
            <a:r>
              <a:rPr lang="en-US" smtClean="0"/>
              <a:t>Consider the best or most likely solutions, which may be simple ones</a:t>
            </a:r>
          </a:p>
          <a:p>
            <a:pPr lvl="1"/>
            <a:r>
              <a:rPr lang="en-US" smtClean="0"/>
              <a:t>Determine how the solution will affect users</a:t>
            </a:r>
          </a:p>
          <a:p>
            <a:pPr lvl="1"/>
            <a:r>
              <a:rPr lang="en-US" smtClean="0"/>
              <a:t>After your solution is implemented, continue monitoring the server to ensure there are no further problems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8208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Tracking Problems and Solutions</a:t>
            </a:r>
            <a:endParaRPr lang="en-US" dirty="0"/>
          </a:p>
        </p:txBody>
      </p:sp>
      <p:sp>
        <p:nvSpPr>
          <p:cNvPr id="2" name="Content Placeholder 1"/>
          <p:cNvSpPr>
            <a:spLocks noGrp="1"/>
          </p:cNvSpPr>
          <p:nvPr>
            <p:ph idx="1"/>
          </p:nvPr>
        </p:nvSpPr>
        <p:spPr/>
        <p:txBody>
          <a:bodyPr/>
          <a:lstStyle/>
          <a:p>
            <a:r>
              <a:rPr lang="en-US" smtClean="0"/>
              <a:t>Keep a log of all network problems and their solution</a:t>
            </a:r>
          </a:p>
          <a:p>
            <a:r>
              <a:rPr lang="en-US" smtClean="0"/>
              <a:t>Help desk system</a:t>
            </a:r>
          </a:p>
          <a:p>
            <a:pPr lvl="1"/>
            <a:r>
              <a:rPr lang="en-US" smtClean="0"/>
              <a:t>Application software designed to maintain information on computer systems, user questions, problem solutions, and other information that members of the organization can reference</a:t>
            </a:r>
          </a:p>
          <a:p>
            <a:r>
              <a:rPr lang="en-US" smtClean="0"/>
              <a:t>The advantage of tracking problems is that you soon accumulate a wealth of information on solutions</a:t>
            </a:r>
          </a:p>
          <a:p>
            <a:pPr lvl="1"/>
            <a:r>
              <a:rPr lang="en-US" smtClean="0"/>
              <a:t>Log of problems can also be used as a teaching tool and reference for computer support staff</a:t>
            </a:r>
          </a:p>
          <a:p>
            <a:r>
              <a:rPr lang="en-US" smtClean="0"/>
              <a:t>It is also good practice to keep a change log</a:t>
            </a:r>
          </a:p>
          <a:p>
            <a:pPr lvl="1"/>
            <a:r>
              <a:rPr lang="en-US" smtClean="0"/>
              <a:t>A record of changes made to a server’s hardware and software</a:t>
            </a:r>
          </a:p>
          <a:p>
            <a:pPr lvl="1"/>
            <a:r>
              <a:rPr lang="en-US" smtClean="0"/>
              <a:t>Provides a reference for troubleshooting if problems arise later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4713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Resolving Boot Problems</a:t>
            </a:r>
            <a:endParaRPr lang="en-US" dirty="0"/>
          </a:p>
        </p:txBody>
      </p:sp>
      <p:sp>
        <p:nvSpPr>
          <p:cNvPr id="2" name="Content Placeholder 1"/>
          <p:cNvSpPr>
            <a:spLocks noGrp="1"/>
          </p:cNvSpPr>
          <p:nvPr>
            <p:ph idx="1"/>
          </p:nvPr>
        </p:nvSpPr>
        <p:spPr/>
        <p:txBody>
          <a:bodyPr/>
          <a:lstStyle/>
          <a:p>
            <a:r>
              <a:rPr lang="en-US" smtClean="0"/>
              <a:t>Some of the common causes of boot failures include:</a:t>
            </a:r>
          </a:p>
          <a:p>
            <a:pPr lvl="1"/>
            <a:r>
              <a:rPr lang="en-US" smtClean="0"/>
              <a:t>Disk failure on the drive or drives containing the system and boot files</a:t>
            </a:r>
          </a:p>
          <a:p>
            <a:pPr lvl="1"/>
            <a:r>
              <a:rPr lang="en-US" smtClean="0"/>
              <a:t>A corrupted partition table</a:t>
            </a:r>
          </a:p>
          <a:p>
            <a:pPr lvl="1"/>
            <a:r>
              <a:rPr lang="en-US" smtClean="0"/>
              <a:t>A corrupted boot file</a:t>
            </a:r>
          </a:p>
          <a:p>
            <a:pPr lvl="1"/>
            <a:r>
              <a:rPr lang="en-US" smtClean="0"/>
              <a:t>A corrupted master boot record</a:t>
            </a:r>
          </a:p>
          <a:p>
            <a:pPr lvl="1"/>
            <a:r>
              <a:rPr lang="en-US" smtClean="0"/>
              <a:t>A disk read error</a:t>
            </a:r>
          </a:p>
          <a:p>
            <a:r>
              <a:rPr lang="en-US" smtClean="0"/>
              <a:t>In most cases, the first step is to power off the computer and try rebooting it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87537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by Using Safe Mode (1 of 2)</a:t>
            </a:r>
            <a:endParaRPr lang="en-US" dirty="0"/>
          </a:p>
        </p:txBody>
      </p:sp>
      <p:sp>
        <p:nvSpPr>
          <p:cNvPr id="2" name="Content Placeholder 1"/>
          <p:cNvSpPr>
            <a:spLocks noGrp="1"/>
          </p:cNvSpPr>
          <p:nvPr>
            <p:ph idx="1"/>
          </p:nvPr>
        </p:nvSpPr>
        <p:spPr/>
        <p:txBody>
          <a:bodyPr/>
          <a:lstStyle/>
          <a:p>
            <a:r>
              <a:rPr lang="en-US" smtClean="0"/>
              <a:t>If a simple reboot does not fix the problem</a:t>
            </a:r>
          </a:p>
          <a:p>
            <a:pPr lvl="1"/>
            <a:r>
              <a:rPr lang="en-US" smtClean="0"/>
              <a:t>Try using the advanced options for booting, which is accessed by pressing F8 as soon as the computer boots</a:t>
            </a:r>
          </a:p>
          <a:p>
            <a:r>
              <a:rPr lang="en-US" smtClean="0"/>
              <a:t>Safe Mode</a:t>
            </a:r>
          </a:p>
          <a:p>
            <a:pPr lvl="1"/>
            <a:r>
              <a:rPr lang="en-US" smtClean="0"/>
              <a:t>Boots the server using the most generic default settings and only those services needed to boot a basic configuration</a:t>
            </a:r>
          </a:p>
          <a:p>
            <a:r>
              <a:rPr lang="en-US" smtClean="0"/>
              <a:t>After you boot into Safe Mode, you have the opportunity to further troubleshoot the problem</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72391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by Using Safe Mode (2 of 2)</a:t>
            </a:r>
            <a:endParaRPr lang="en-US" dirty="0"/>
          </a:p>
        </p:txBody>
      </p:sp>
      <p:sp>
        <p:nvSpPr>
          <p:cNvPr id="2" name="Content Placeholder 1"/>
          <p:cNvSpPr>
            <a:spLocks noGrp="1"/>
          </p:cNvSpPr>
          <p:nvPr>
            <p:ph idx="1"/>
          </p:nvPr>
        </p:nvSpPr>
        <p:spPr/>
        <p:txBody>
          <a:bodyPr/>
          <a:lstStyle/>
          <a:p>
            <a:r>
              <a:rPr lang="en-US" smtClean="0"/>
              <a:t>To access the Advanced Boot Options menu:</a:t>
            </a:r>
          </a:p>
          <a:p>
            <a:pPr lvl="1"/>
            <a:r>
              <a:rPr lang="en-US" smtClean="0"/>
              <a:t>Reboot the computer</a:t>
            </a:r>
          </a:p>
          <a:p>
            <a:pPr lvl="1"/>
            <a:r>
              <a:rPr lang="en-US" smtClean="0"/>
              <a:t>Press F8 as soon as the computer boots</a:t>
            </a:r>
          </a:p>
          <a:p>
            <a:pPr lvl="1"/>
            <a:r>
              <a:rPr lang="en-US" smtClean="0"/>
              <a:t>Select the option you want to use, such as Safe Mode, and press Enter</a:t>
            </a:r>
          </a:p>
          <a:p>
            <a:r>
              <a:rPr lang="en-US" smtClean="0"/>
              <a:t>If you use Safe Mode, but are unable to troubleshoot the problem, or a failed driver message is displayed during the boot process</a:t>
            </a:r>
          </a:p>
          <a:p>
            <a:pPr lvl="1"/>
            <a:r>
              <a:rPr lang="en-US" smtClean="0"/>
              <a:t>Use the Enable Boot Logging option so that you can create a log that you can later check for problems</a:t>
            </a:r>
          </a:p>
          <a:p>
            <a:r>
              <a:rPr lang="en-US" smtClean="0"/>
              <a:t>The Safe Mode with Command Prompt option is particularly useful when you can solve a problem by executing a command</a:t>
            </a:r>
          </a:p>
          <a:p>
            <a:pPr lvl="1"/>
            <a:r>
              <a:rPr lang="en-US" smtClean="0"/>
              <a:t>Such as running chkdsk to repair damaged files</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2588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by Using the Repair Your Computer Option or Installation DVD (1 of 3)</a:t>
            </a:r>
            <a:endParaRPr lang="en-US" dirty="0"/>
          </a:p>
        </p:txBody>
      </p:sp>
      <p:sp>
        <p:nvSpPr>
          <p:cNvPr id="2" name="Content Placeholder 1"/>
          <p:cNvSpPr>
            <a:spLocks noGrp="1"/>
          </p:cNvSpPr>
          <p:nvPr>
            <p:ph idx="1"/>
          </p:nvPr>
        </p:nvSpPr>
        <p:spPr/>
        <p:txBody>
          <a:bodyPr/>
          <a:lstStyle/>
          <a:p>
            <a:r>
              <a:rPr lang="en-US" smtClean="0"/>
              <a:t>In Windows Server 2016</a:t>
            </a:r>
          </a:p>
          <a:p>
            <a:pPr lvl="1"/>
            <a:r>
              <a:rPr lang="en-US" smtClean="0"/>
              <a:t>You can access repair options when you select Repair Your Computer from the Advanced Boot Options menu</a:t>
            </a:r>
          </a:p>
          <a:p>
            <a:pPr lvl="1"/>
            <a:r>
              <a:rPr lang="en-US" smtClean="0"/>
              <a:t>Or when you boot from an installation DVD and select the option to Repair your computer</a:t>
            </a:r>
          </a:p>
          <a:p>
            <a:r>
              <a:rPr lang="en-US" smtClean="0"/>
              <a:t>Options available when you select Repair Your Computer:</a:t>
            </a:r>
          </a:p>
          <a:p>
            <a:pPr lvl="1"/>
            <a:r>
              <a:rPr lang="en-US" smtClean="0"/>
              <a:t>Continue</a:t>
            </a:r>
          </a:p>
          <a:p>
            <a:pPr lvl="1"/>
            <a:r>
              <a:rPr lang="en-US" smtClean="0"/>
              <a:t>Use another operating system</a:t>
            </a:r>
          </a:p>
          <a:p>
            <a:pPr lvl="1"/>
            <a:r>
              <a:rPr lang="en-US" smtClean="0"/>
              <a:t>Troubleshoot</a:t>
            </a:r>
          </a:p>
          <a:p>
            <a:pPr lvl="1"/>
            <a:r>
              <a:rPr lang="en-US" smtClean="0"/>
              <a:t>Turn off your PC</a:t>
            </a:r>
          </a:p>
          <a:p>
            <a:r>
              <a:rPr lang="en-US" smtClean="0"/>
              <a:t>When you boot from the installation DVD and select Repair your computer you see the options:</a:t>
            </a:r>
          </a:p>
          <a:p>
            <a:pPr lvl="1"/>
            <a:r>
              <a:rPr lang="en-US" smtClean="0"/>
              <a:t>Continue, Troubleshoot, and Turn off your PC</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26016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by Using the Repair Your Computer Option or Installation DVD (2 of 3)</a:t>
            </a:r>
            <a:endParaRPr lang="en-US" dirty="0"/>
          </a:p>
        </p:txBody>
      </p:sp>
      <p:sp>
        <p:nvSpPr>
          <p:cNvPr id="2" name="Content Placeholder 1"/>
          <p:cNvSpPr>
            <a:spLocks noGrp="1"/>
          </p:cNvSpPr>
          <p:nvPr>
            <p:ph idx="1"/>
          </p:nvPr>
        </p:nvSpPr>
        <p:spPr/>
        <p:txBody>
          <a:bodyPr/>
          <a:lstStyle/>
          <a:p>
            <a:r>
              <a:rPr lang="en-US" smtClean="0"/>
              <a:t>When you select Troubleshoot</a:t>
            </a:r>
          </a:p>
          <a:p>
            <a:pPr lvl="1"/>
            <a:r>
              <a:rPr lang="en-US" smtClean="0"/>
              <a:t>You can select from the options: System Image Recovery or Command Prompt</a:t>
            </a:r>
          </a:p>
          <a:p>
            <a:r>
              <a:rPr lang="en-US" smtClean="0"/>
              <a:t>System Image Recovery</a:t>
            </a:r>
          </a:p>
          <a:p>
            <a:pPr lvl="1"/>
            <a:r>
              <a:rPr lang="en-US" smtClean="0"/>
              <a:t>An option that requires that you have previously taken an image</a:t>
            </a:r>
          </a:p>
          <a:p>
            <a:pPr lvl="1"/>
            <a:r>
              <a:rPr lang="en-US" smtClean="0"/>
              <a:t>Used for a full restore of all the files on a server using a complete image of all folders and files</a:t>
            </a:r>
          </a:p>
          <a:p>
            <a:pPr lvl="1"/>
            <a:r>
              <a:rPr lang="en-US" smtClean="0"/>
              <a:t>An all or none type of restore</a:t>
            </a:r>
          </a:p>
          <a:p>
            <a:pPr lvl="2"/>
            <a:r>
              <a:rPr lang="en-US" smtClean="0"/>
              <a:t>Cannot restore selected folders or files</a:t>
            </a:r>
          </a:p>
          <a:p>
            <a:pPr lvl="1"/>
            <a:r>
              <a:rPr lang="en-US" smtClean="0"/>
              <a:t>System state data</a:t>
            </a:r>
          </a:p>
          <a:p>
            <a:pPr lvl="2"/>
            <a:r>
              <a:rPr lang="en-US" smtClean="0"/>
              <a:t>Includes the operating system plus extra components and information that reflect the currently configured state of the server</a:t>
            </a:r>
          </a:p>
          <a:p>
            <a:pPr lvl="1"/>
            <a:r>
              <a:rPr lang="en-US" smtClean="0"/>
              <a:t>When you back up the system state data, you also are backing up the system protected files</a:t>
            </a:r>
          </a:p>
          <a:p>
            <a:pPr lvl="1"/>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06976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by Using the Repair Your Computer Option or Installation DVD (3 of 3)</a:t>
            </a:r>
            <a:endParaRPr lang="en-US" dirty="0"/>
          </a:p>
        </p:txBody>
      </p:sp>
      <p:sp>
        <p:nvSpPr>
          <p:cNvPr id="2" name="Content Placeholder 1"/>
          <p:cNvSpPr>
            <a:spLocks noGrp="1"/>
          </p:cNvSpPr>
          <p:nvPr>
            <p:ph idx="1"/>
          </p:nvPr>
        </p:nvSpPr>
        <p:spPr/>
        <p:txBody>
          <a:bodyPr/>
          <a:lstStyle/>
          <a:p>
            <a:r>
              <a:rPr lang="en-US" smtClean="0"/>
              <a:t>Using the Command Prompt</a:t>
            </a:r>
          </a:p>
          <a:p>
            <a:pPr lvl="1"/>
            <a:r>
              <a:rPr lang="en-US" smtClean="0"/>
              <a:t>When you select to use the Command Prompt option</a:t>
            </a:r>
          </a:p>
          <a:p>
            <a:pPr lvl="2"/>
            <a:r>
              <a:rPr lang="en-US" smtClean="0"/>
              <a:t>You can repair a disk problem or copy a critical file back to the server</a:t>
            </a:r>
          </a:p>
          <a:p>
            <a:pPr lvl="1"/>
            <a:r>
              <a:rPr lang="en-US" smtClean="0"/>
              <a:t>You can use it to copy off the server important files you have not yet backed up</a:t>
            </a:r>
          </a:p>
          <a:p>
            <a:pPr lvl="2"/>
            <a:r>
              <a:rPr lang="en-US" smtClean="0"/>
              <a:t>Can be vital when you cannot boot into your server</a:t>
            </a:r>
          </a:p>
          <a:p>
            <a:pPr lvl="1"/>
            <a:r>
              <a:rPr lang="en-US" smtClean="0"/>
              <a:t>You can execute many commands from the command prompt</a:t>
            </a:r>
          </a:p>
          <a:p>
            <a:pPr lvl="1"/>
            <a:r>
              <a:rPr lang="en-US" smtClean="0"/>
              <a:t>Table 12-2 shows many sample command prompt commands</a:t>
            </a:r>
          </a:p>
          <a:p>
            <a:r>
              <a:rPr lang="en-US" smtClean="0"/>
              <a:t>In Activity 12-3, you learn how to access the command prompt from the Windows Server 2016 installation DVD</a:t>
            </a:r>
          </a:p>
          <a:p>
            <a:pPr lvl="1"/>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69502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General Tips for Fixing Boot Problems</a:t>
            </a:r>
            <a:endParaRPr lang="en-US" dirty="0"/>
          </a:p>
        </p:txBody>
      </p:sp>
      <p:sp>
        <p:nvSpPr>
          <p:cNvPr id="2" name="Content Placeholder 1"/>
          <p:cNvSpPr>
            <a:spLocks noGrp="1"/>
          </p:cNvSpPr>
          <p:nvPr>
            <p:ph idx="1"/>
          </p:nvPr>
        </p:nvSpPr>
        <p:spPr/>
        <p:txBody>
          <a:bodyPr/>
          <a:lstStyle/>
          <a:p>
            <a:r>
              <a:rPr lang="en-US" smtClean="0"/>
              <a:t>Using the Safe Mode, the Windows Server 2016 installation DVD, and other techniques</a:t>
            </a:r>
          </a:p>
          <a:p>
            <a:pPr lvl="1"/>
            <a:r>
              <a:rPr lang="en-US" smtClean="0"/>
              <a:t>Tables 12-3 and 12-4 provide tips for fixing boot problems and responding to Stop messages</a:t>
            </a:r>
          </a:p>
          <a:p>
            <a:r>
              <a:rPr lang="en-US" smtClean="0"/>
              <a:t>Stop message</a:t>
            </a:r>
          </a:p>
          <a:p>
            <a:pPr lvl="1"/>
            <a:r>
              <a:rPr lang="en-US" smtClean="0"/>
              <a:t>An error message displayed when the server experiences a serious problem and then stops functioning</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3001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and Configuring Event Viewer (1 of 5)</a:t>
            </a:r>
            <a:endParaRPr lang="en-US" dirty="0"/>
          </a:p>
        </p:txBody>
      </p:sp>
      <p:sp>
        <p:nvSpPr>
          <p:cNvPr id="2" name="Content Placeholder 1"/>
          <p:cNvSpPr>
            <a:spLocks noGrp="1"/>
          </p:cNvSpPr>
          <p:nvPr>
            <p:ph idx="1"/>
          </p:nvPr>
        </p:nvSpPr>
        <p:spPr/>
        <p:txBody>
          <a:bodyPr/>
          <a:lstStyle/>
          <a:p>
            <a:r>
              <a:rPr lang="en-US" smtClean="0"/>
              <a:t>Event Viewer</a:t>
            </a:r>
          </a:p>
          <a:p>
            <a:pPr lvl="1"/>
            <a:r>
              <a:rPr lang="en-US" smtClean="0"/>
              <a:t>Houses the event logs that record information about all types of server events, in the form of errors, warnings, and informational events</a:t>
            </a:r>
          </a:p>
          <a:p>
            <a:r>
              <a:rPr lang="en-US" smtClean="0"/>
              <a:t>Windows Server 2016 event logs are divided into three general categories:</a:t>
            </a:r>
          </a:p>
          <a:p>
            <a:pPr lvl="1"/>
            <a:r>
              <a:rPr lang="en-US" smtClean="0"/>
              <a:t>Windows logs, applications and services logs, and Microsoft logs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11107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and Configuring Event Viewer (2 of 5)</a:t>
            </a:r>
            <a:endParaRPr lang="en-US" dirty="0"/>
          </a:p>
        </p:txBody>
      </p:sp>
      <p:pic>
        <p:nvPicPr>
          <p:cNvPr id="6" name="Content Placeholder 5" descr="Figure 12-6, Page No. 529, Complexity level: 1&#10;Screenshot shows the “Event Viewer” dialog box. On the left pane of the dialog box, the System option is selected under the Event Viewer (Local) option. On the right pane of the dialog box, the System option and Event 7036, Service Control Manager Option is selected under the Actions menu.&#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752600"/>
            <a:ext cx="4583747" cy="3719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11305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and Configuring Event Viewer (3 of 5)</a:t>
            </a:r>
            <a:endParaRPr lang="en-US" dirty="0"/>
          </a:p>
        </p:txBody>
      </p:sp>
      <p:sp>
        <p:nvSpPr>
          <p:cNvPr id="2" name="Content Placeholder 1"/>
          <p:cNvSpPr>
            <a:spLocks noGrp="1"/>
          </p:cNvSpPr>
          <p:nvPr>
            <p:ph idx="1"/>
          </p:nvPr>
        </p:nvSpPr>
        <p:spPr/>
        <p:txBody>
          <a:bodyPr/>
          <a:lstStyle/>
          <a:p>
            <a:r>
              <a:rPr lang="en-US" smtClean="0"/>
              <a:t>Windows generates logs for reporting general operating system and software application events:</a:t>
            </a:r>
          </a:p>
          <a:p>
            <a:pPr lvl="1"/>
            <a:r>
              <a:rPr lang="en-US" smtClean="0"/>
              <a:t>Application log</a:t>
            </a:r>
          </a:p>
          <a:p>
            <a:pPr lvl="1"/>
            <a:r>
              <a:rPr lang="en-US" smtClean="0"/>
              <a:t>Security log</a:t>
            </a:r>
          </a:p>
          <a:p>
            <a:pPr lvl="1"/>
            <a:r>
              <a:rPr lang="en-US" smtClean="0"/>
              <a:t>Setup log</a:t>
            </a:r>
          </a:p>
          <a:p>
            <a:pPr lvl="1"/>
            <a:r>
              <a:rPr lang="en-US" smtClean="0"/>
              <a:t>System log</a:t>
            </a:r>
          </a:p>
          <a:p>
            <a:pPr lvl="1"/>
            <a:r>
              <a:rPr lang="en-US" smtClean="0"/>
              <a:t>Forwarded events lot</a:t>
            </a:r>
          </a:p>
          <a:p>
            <a:r>
              <a:rPr lang="en-US" smtClean="0"/>
              <a:t>Admin logs</a:t>
            </a:r>
          </a:p>
          <a:p>
            <a:pPr lvl="1"/>
            <a:r>
              <a:rPr lang="en-US" smtClean="0"/>
              <a:t>Designed to help give the system administrator information about a specific problem and its causes and may suggest how to solve the problem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61322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and Configuring Event Viewer (4 of 5)</a:t>
            </a:r>
            <a:endParaRPr lang="en-US" dirty="0"/>
          </a:p>
        </p:txBody>
      </p:sp>
      <p:sp>
        <p:nvSpPr>
          <p:cNvPr id="2" name="Content Placeholder 1"/>
          <p:cNvSpPr>
            <a:spLocks noGrp="1"/>
          </p:cNvSpPr>
          <p:nvPr>
            <p:ph idx="1"/>
          </p:nvPr>
        </p:nvSpPr>
        <p:spPr/>
        <p:txBody>
          <a:bodyPr/>
          <a:lstStyle/>
          <a:p>
            <a:r>
              <a:rPr lang="en-US" smtClean="0"/>
              <a:t>Operational log</a:t>
            </a:r>
          </a:p>
          <a:p>
            <a:pPr lvl="1"/>
            <a:r>
              <a:rPr lang="en-US" smtClean="0"/>
              <a:t>Tracks occurrences of specific operations, such as when a disk drive is added</a:t>
            </a:r>
          </a:p>
          <a:p>
            <a:r>
              <a:rPr lang="en-US" smtClean="0"/>
              <a:t>Applications and services logs available in Event Viewer depend in part on which roles and features are installed</a:t>
            </a:r>
          </a:p>
          <a:p>
            <a:r>
              <a:rPr lang="en-US" smtClean="0"/>
              <a:t>A sampling of these logs include:</a:t>
            </a:r>
          </a:p>
          <a:p>
            <a:pPr lvl="1"/>
            <a:r>
              <a:rPr lang="en-US" smtClean="0"/>
              <a:t>Active Directory Web Services log</a:t>
            </a:r>
          </a:p>
          <a:p>
            <a:pPr lvl="1"/>
            <a:r>
              <a:rPr lang="en-US" smtClean="0"/>
              <a:t>DFS Replication log</a:t>
            </a:r>
          </a:p>
          <a:p>
            <a:pPr lvl="1"/>
            <a:r>
              <a:rPr lang="en-US" smtClean="0"/>
              <a:t>Directory Service log</a:t>
            </a:r>
          </a:p>
          <a:p>
            <a:pPr lvl="1"/>
            <a:r>
              <a:rPr lang="en-US" smtClean="0"/>
              <a:t>DNS Server log</a:t>
            </a:r>
          </a:p>
          <a:p>
            <a:pPr lvl="1"/>
            <a:r>
              <a:rPr lang="en-US" smtClean="0"/>
              <a:t>Hardware Events</a:t>
            </a:r>
          </a:p>
          <a:p>
            <a:pPr lvl="1"/>
            <a:r>
              <a:rPr lang="en-US" smtClean="0"/>
              <a:t>Internet Explorer</a:t>
            </a:r>
          </a:p>
          <a:p>
            <a:pPr lvl="1"/>
            <a:r>
              <a:rPr lang="en-US" smtClean="0"/>
              <a:t>Key Management Service</a:t>
            </a:r>
          </a:p>
          <a:p>
            <a:pPr lvl="1"/>
            <a:r>
              <a:rPr lang="en-US" smtClean="0"/>
              <a:t>Windows PowerShell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64268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and Configuring Event Viewer (5 of 5)</a:t>
            </a:r>
            <a:endParaRPr lang="en-US" dirty="0"/>
          </a:p>
        </p:txBody>
      </p:sp>
      <p:sp>
        <p:nvSpPr>
          <p:cNvPr id="2" name="Content Placeholder 1"/>
          <p:cNvSpPr>
            <a:spLocks noGrp="1"/>
          </p:cNvSpPr>
          <p:nvPr>
            <p:ph idx="1"/>
          </p:nvPr>
        </p:nvSpPr>
        <p:spPr/>
        <p:txBody>
          <a:bodyPr/>
          <a:lstStyle/>
          <a:p>
            <a:r>
              <a:rPr lang="en-US" smtClean="0"/>
              <a:t>Analytic logs</a:t>
            </a:r>
          </a:p>
          <a:p>
            <a:pPr lvl="1"/>
            <a:r>
              <a:rPr lang="en-US" smtClean="0"/>
              <a:t>Relate to how programs are operating and are typically used by application or system programmers</a:t>
            </a:r>
          </a:p>
          <a:p>
            <a:r>
              <a:rPr lang="en-US" smtClean="0"/>
              <a:t>Debug logs</a:t>
            </a:r>
          </a:p>
          <a:p>
            <a:pPr lvl="1"/>
            <a:r>
              <a:rPr lang="en-US" smtClean="0"/>
              <a:t>Used by application developers to help trace problems in programs so they can fix program code or program structures</a:t>
            </a:r>
          </a:p>
          <a:p>
            <a:r>
              <a:rPr lang="en-US" smtClean="0"/>
              <a:t>Several elements are related to working with event logs:</a:t>
            </a:r>
          </a:p>
          <a:p>
            <a:pPr lvl="1"/>
            <a:r>
              <a:rPr lang="en-US" smtClean="0"/>
              <a:t>Viewing log events</a:t>
            </a:r>
          </a:p>
          <a:p>
            <a:pPr lvl="1"/>
            <a:r>
              <a:rPr lang="en-US" smtClean="0"/>
              <a:t>Creating filters</a:t>
            </a:r>
          </a:p>
          <a:p>
            <a:pPr lvl="1"/>
            <a:r>
              <a:rPr lang="en-US" smtClean="0"/>
              <a:t>Maintaining event logs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38969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Viewing Log Events (1 of 4)</a:t>
            </a:r>
            <a:endParaRPr lang="en-US" dirty="0"/>
          </a:p>
        </p:txBody>
      </p:sp>
      <p:sp>
        <p:nvSpPr>
          <p:cNvPr id="2" name="Content Placeholder 1"/>
          <p:cNvSpPr>
            <a:spLocks noGrp="1"/>
          </p:cNvSpPr>
          <p:nvPr>
            <p:ph idx="1"/>
          </p:nvPr>
        </p:nvSpPr>
        <p:spPr/>
        <p:txBody>
          <a:bodyPr/>
          <a:lstStyle/>
          <a:p>
            <a:r>
              <a:rPr lang="en-US" smtClean="0"/>
              <a:t>Log events are displayed in Event Viewer with an icon that indicates the seriousness of the event</a:t>
            </a:r>
          </a:p>
          <a:p>
            <a:r>
              <a:rPr lang="en-US" smtClean="0"/>
              <a:t>Each log displays descriptive information about individual events, including the following provided in the system log:</a:t>
            </a:r>
          </a:p>
          <a:p>
            <a:pPr lvl="1"/>
            <a:r>
              <a:rPr lang="en-US" smtClean="0"/>
              <a:t>Description of the event</a:t>
            </a:r>
          </a:p>
          <a:p>
            <a:pPr lvl="1"/>
            <a:r>
              <a:rPr lang="en-US" smtClean="0"/>
              <a:t>Name of the log in which the event is recorded</a:t>
            </a:r>
          </a:p>
          <a:p>
            <a:pPr lvl="1"/>
            <a:r>
              <a:rPr lang="en-US" smtClean="0"/>
              <a:t>Source of the event</a:t>
            </a:r>
          </a:p>
          <a:p>
            <a:pPr lvl="1"/>
            <a:r>
              <a:rPr lang="en-US" smtClean="0"/>
              <a:t>Event ID</a:t>
            </a:r>
          </a:p>
          <a:p>
            <a:pPr lvl="1"/>
            <a:r>
              <a:rPr lang="en-US" smtClean="0"/>
              <a:t>Level of the event—information, warning, error</a:t>
            </a:r>
          </a:p>
          <a:p>
            <a:pPr lvl="1"/>
            <a:r>
              <a:rPr lang="en-US" smtClean="0"/>
              <a:t>User associated with the event, if any</a:t>
            </a:r>
          </a:p>
          <a:p>
            <a:pPr lvl="1"/>
            <a:r>
              <a:rPr lang="en-US" smtClean="0"/>
              <a:t>OpCode of the event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0987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Viewing Log Events (2 of 4)</a:t>
            </a:r>
            <a:endParaRPr lang="en-US" dirty="0"/>
          </a:p>
        </p:txBody>
      </p:sp>
      <p:sp>
        <p:nvSpPr>
          <p:cNvPr id="2" name="Content Placeholder 1"/>
          <p:cNvSpPr>
            <a:spLocks noGrp="1"/>
          </p:cNvSpPr>
          <p:nvPr>
            <p:ph idx="1"/>
          </p:nvPr>
        </p:nvSpPr>
        <p:spPr/>
        <p:txBody>
          <a:bodyPr/>
          <a:lstStyle/>
          <a:p>
            <a:r>
              <a:rPr lang="en-US" smtClean="0"/>
              <a:t>Each log displays descriptive information about individual events, including the following provided in the system log (cont’d):</a:t>
            </a:r>
          </a:p>
          <a:p>
            <a:pPr lvl="1"/>
            <a:r>
              <a:rPr lang="en-US" smtClean="0"/>
              <a:t>Link for more information</a:t>
            </a:r>
          </a:p>
          <a:p>
            <a:pPr lvl="1"/>
            <a:r>
              <a:rPr lang="en-US" smtClean="0"/>
              <a:t>Date and time the event was logged</a:t>
            </a:r>
          </a:p>
          <a:p>
            <a:pPr lvl="1"/>
            <a:r>
              <a:rPr lang="en-US" smtClean="0"/>
              <a:t>Task category of the event</a:t>
            </a:r>
          </a:p>
          <a:p>
            <a:pPr lvl="1"/>
            <a:r>
              <a:rPr lang="en-US" smtClean="0"/>
              <a:t>Keywords associated with the event</a:t>
            </a:r>
          </a:p>
          <a:p>
            <a:pPr lvl="1"/>
            <a:r>
              <a:rPr lang="en-US" smtClean="0"/>
              <a:t>Name of the computer on which the event occurred</a:t>
            </a:r>
          </a:p>
          <a:p>
            <a:r>
              <a:rPr lang="en-US" smtClean="0"/>
              <a:t>Event Viewer can be opened from Server Manager, the Windows Administrative Tools folder from the Start button, as an MMC snap-in, from the Computer Management tool, and by right-clicking Start and clicking Event Viewer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46228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Viewing Log Events (3 of 4)</a:t>
            </a:r>
            <a:endParaRPr lang="en-US" dirty="0"/>
          </a:p>
        </p:txBody>
      </p:sp>
      <p:sp>
        <p:nvSpPr>
          <p:cNvPr id="2" name="Content Placeholder 1"/>
          <p:cNvSpPr>
            <a:spLocks noGrp="1"/>
          </p:cNvSpPr>
          <p:nvPr>
            <p:ph idx="1"/>
          </p:nvPr>
        </p:nvSpPr>
        <p:spPr/>
        <p:txBody>
          <a:bodyPr/>
          <a:lstStyle/>
          <a:p>
            <a:r>
              <a:rPr lang="en-US" smtClean="0"/>
              <a:t>To view the contents of a log, click that log in the tree under Event Viewer</a:t>
            </a:r>
          </a:p>
          <a:p>
            <a:pPr lvl="1"/>
            <a:r>
              <a:rPr lang="en-US" smtClean="0"/>
              <a:t>To view the detailed information about an event, double-click the event</a:t>
            </a:r>
          </a:p>
          <a:p>
            <a:r>
              <a:rPr lang="en-US" smtClean="0"/>
              <a:t>The event logs are a good source of information to help you troubleshoot a software or hardware problem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15249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Viewing Log Events (4 of 4)</a:t>
            </a:r>
            <a:endParaRPr lang="en-US" dirty="0"/>
          </a:p>
        </p:txBody>
      </p:sp>
      <p:pic>
        <p:nvPicPr>
          <p:cNvPr id="6" name="Content Placeholder 5" descr="Figure 12-7, Page No. 531, Complexity level: 2&#10;Screenshot shows the “Event Properties – Event 7036, Service Control Manager” dialog box. The General tab is selected. “The update Orchestrator Service for Windows Update service entered the stopped state” text is shown in the box. Below the box shows, Log Name: System, Source: Service Control Manager, Event ID: 7036, Level: Information, User: N/A, OpCode: Info, More Information: Event Log Online Help., Logged: 11/5/2017 12:42:39 PM, Task Category: None, Keywords: Classic, and Computer: Accounting.jpcomp.com. A down arrow button is shown at the right side of the window. And at the bottom of the window, Copy button is shown on the left and Close button is shown on the right side.&#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752600"/>
            <a:ext cx="5248662" cy="3948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57760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Event Viewer Filter Option</a:t>
            </a:r>
            <a:endParaRPr lang="en-US" dirty="0"/>
          </a:p>
        </p:txBody>
      </p:sp>
      <p:sp>
        <p:nvSpPr>
          <p:cNvPr id="2" name="Content Placeholder 1"/>
          <p:cNvSpPr>
            <a:spLocks noGrp="1"/>
          </p:cNvSpPr>
          <p:nvPr>
            <p:ph idx="1"/>
          </p:nvPr>
        </p:nvSpPr>
        <p:spPr/>
        <p:txBody>
          <a:bodyPr/>
          <a:lstStyle/>
          <a:p>
            <a:r>
              <a:rPr lang="en-US" smtClean="0"/>
              <a:t>All of the event logs in Event Viewer have a filter option to help you quickly locate a problem</a:t>
            </a:r>
          </a:p>
          <a:p>
            <a:r>
              <a:rPr lang="en-US" smtClean="0"/>
              <a:t>The events can be filtered on the basis of the following criteria:</a:t>
            </a:r>
          </a:p>
          <a:p>
            <a:pPr lvl="1"/>
            <a:r>
              <a:rPr lang="en-US" smtClean="0"/>
              <a:t>When the event was logged, such as in the last 7 days</a:t>
            </a:r>
          </a:p>
          <a:p>
            <a:pPr lvl="1"/>
            <a:r>
              <a:rPr lang="en-US" smtClean="0"/>
              <a:t>Event level, such as information, warning, error, critical, and verbose</a:t>
            </a:r>
          </a:p>
          <a:p>
            <a:pPr lvl="1"/>
            <a:r>
              <a:rPr lang="en-US" smtClean="0"/>
              <a:t>By log, such as the system or security log</a:t>
            </a:r>
          </a:p>
          <a:p>
            <a:pPr lvl="1"/>
            <a:r>
              <a:rPr lang="en-US" smtClean="0"/>
              <a:t>By source of the event, such as a particular service or software component</a:t>
            </a:r>
          </a:p>
          <a:p>
            <a:pPr lvl="1"/>
            <a:r>
              <a:rPr lang="en-US" smtClean="0"/>
              <a:t>Task category of the event, such as a security change</a:t>
            </a:r>
          </a:p>
          <a:p>
            <a:pPr lvl="1"/>
            <a:r>
              <a:rPr lang="en-US" smtClean="0"/>
              <a:t>Keywords, such as Audit Failure and Audit Success</a:t>
            </a:r>
          </a:p>
          <a:p>
            <a:pPr lvl="1"/>
            <a:r>
              <a:rPr lang="en-US" smtClean="0"/>
              <a:t>User associated with the event</a:t>
            </a:r>
          </a:p>
          <a:p>
            <a:pPr lvl="1"/>
            <a:r>
              <a:rPr lang="en-US" smtClean="0"/>
              <a:t>Computer associated with the event</a:t>
            </a:r>
          </a:p>
          <a:p>
            <a:pPr lvl="1"/>
            <a:r>
              <a:rPr lang="en-US" smtClean="0"/>
              <a:t>Date and time ranges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10408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Maintaining Event Logs (1 of 2)</a:t>
            </a:r>
            <a:endParaRPr lang="en-US" dirty="0"/>
          </a:p>
        </p:txBody>
      </p:sp>
      <p:sp>
        <p:nvSpPr>
          <p:cNvPr id="2" name="Content Placeholder 1"/>
          <p:cNvSpPr>
            <a:spLocks noGrp="1"/>
          </p:cNvSpPr>
          <p:nvPr>
            <p:ph idx="1"/>
          </p:nvPr>
        </p:nvSpPr>
        <p:spPr/>
        <p:txBody>
          <a:bodyPr/>
          <a:lstStyle/>
          <a:p>
            <a:r>
              <a:rPr lang="en-US" smtClean="0"/>
              <a:t>The event logs quickly fill with information</a:t>
            </a:r>
          </a:p>
          <a:p>
            <a:r>
              <a:rPr lang="en-US" smtClean="0"/>
              <a:t>Logs can be maintained using several methods, as follows:</a:t>
            </a:r>
          </a:p>
          <a:p>
            <a:pPr lvl="1"/>
            <a:r>
              <a:rPr lang="en-US" smtClean="0"/>
              <a:t>Size each log to prevent it from filling too quickly</a:t>
            </a:r>
          </a:p>
          <a:p>
            <a:pPr lvl="1"/>
            <a:r>
              <a:rPr lang="en-US" smtClean="0"/>
              <a:t>Overwrite the oldest events when the log is full</a:t>
            </a:r>
          </a:p>
          <a:p>
            <a:pPr lvl="1"/>
            <a:r>
              <a:rPr lang="en-US" smtClean="0"/>
              <a:t>Archive the log when it is full</a:t>
            </a:r>
          </a:p>
          <a:p>
            <a:pPr lvl="1"/>
            <a:r>
              <a:rPr lang="en-US" smtClean="0"/>
              <a:t>Clear the log manually (does not overwrite events)</a:t>
            </a:r>
          </a:p>
          <a:p>
            <a:r>
              <a:rPr lang="en-US" smtClean="0"/>
              <a:t>It is recommended that you develop a maintenance schedule</a:t>
            </a:r>
          </a:p>
          <a:p>
            <a:pPr lvl="1"/>
            <a:r>
              <a:rPr lang="en-US" smtClean="0"/>
              <a:t>To save the log contents for a designated time period because logs contain valuable information about historical server activity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19478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Maintaining Event Logs (2 of 2)</a:t>
            </a:r>
            <a:endParaRPr lang="en-US" dirty="0"/>
          </a:p>
        </p:txBody>
      </p:sp>
      <p:sp>
        <p:nvSpPr>
          <p:cNvPr id="2" name="Content Placeholder 1"/>
          <p:cNvSpPr>
            <a:spLocks noGrp="1"/>
          </p:cNvSpPr>
          <p:nvPr>
            <p:ph idx="1"/>
          </p:nvPr>
        </p:nvSpPr>
        <p:spPr/>
        <p:txBody>
          <a:bodyPr/>
          <a:lstStyle/>
          <a:p>
            <a:r>
              <a:rPr lang="en-US" smtClean="0"/>
              <a:t>To tune the event logs, open Event Viewer and right-click each log you want to tune, one at a time</a:t>
            </a:r>
          </a:p>
          <a:p>
            <a:pPr lvl="1"/>
            <a:r>
              <a:rPr lang="en-US" smtClean="0"/>
              <a:t>And click Properties</a:t>
            </a:r>
          </a:p>
          <a:p>
            <a:r>
              <a:rPr lang="en-US" smtClean="0"/>
              <a:t>On the General tab, set the log size in the Maximum log size (KB): box</a:t>
            </a:r>
          </a:p>
          <a:p>
            <a:r>
              <a:rPr lang="en-US" smtClean="0"/>
              <a:t>To save a log, right-click the log in the tree, click Save All Events As, enter a name for the log file, and click Save</a:t>
            </a:r>
          </a:p>
          <a:p>
            <a:r>
              <a:rPr lang="en-US" smtClean="0"/>
              <a:t>You can save the log as one of the following kinds of files:</a:t>
            </a:r>
          </a:p>
          <a:p>
            <a:pPr lvl="1"/>
            <a:r>
              <a:rPr lang="en-US" smtClean="0"/>
              <a:t>.evtx</a:t>
            </a:r>
          </a:p>
          <a:p>
            <a:pPr lvl="1"/>
            <a:r>
              <a:rPr lang="en-US" smtClean="0"/>
              <a:t>.xml</a:t>
            </a:r>
          </a:p>
          <a:p>
            <a:pPr lvl="1"/>
            <a:r>
              <a:rPr lang="en-US" smtClean="0"/>
              <a:t>.txt</a:t>
            </a:r>
          </a:p>
          <a:p>
            <a:pPr lvl="1"/>
            <a:r>
              <a:rPr lang="en-US" smtClean="0"/>
              <a:t>.csv</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86069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Connectivity</a:t>
            </a:r>
            <a:endParaRPr lang="en-US" dirty="0"/>
          </a:p>
        </p:txBody>
      </p:sp>
      <p:sp>
        <p:nvSpPr>
          <p:cNvPr id="2" name="Content Placeholder 1"/>
          <p:cNvSpPr>
            <a:spLocks noGrp="1"/>
          </p:cNvSpPr>
          <p:nvPr>
            <p:ph idx="1"/>
          </p:nvPr>
        </p:nvSpPr>
        <p:spPr/>
        <p:txBody>
          <a:bodyPr/>
          <a:lstStyle/>
          <a:p>
            <a:r>
              <a:rPr lang="en-US" smtClean="0"/>
              <a:t>One area that server and network administrators often troubleshoot is TCP/IP connectivity</a:t>
            </a:r>
          </a:p>
          <a:p>
            <a:r>
              <a:rPr lang="en-US" smtClean="0"/>
              <a:t>Both command-line tools and graphical tools are available for troubleshooting Windows Server 2016 connectivity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93945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Command-Line Tools (1 of 4)</a:t>
            </a:r>
            <a:endParaRPr lang="en-US" dirty="0"/>
          </a:p>
        </p:txBody>
      </p:sp>
      <p:sp>
        <p:nvSpPr>
          <p:cNvPr id="2" name="Content Placeholder 1"/>
          <p:cNvSpPr>
            <a:spLocks noGrp="1"/>
          </p:cNvSpPr>
          <p:nvPr>
            <p:ph idx="1"/>
          </p:nvPr>
        </p:nvSpPr>
        <p:spPr/>
        <p:txBody>
          <a:bodyPr/>
          <a:lstStyle/>
          <a:p>
            <a:r>
              <a:rPr lang="en-US" smtClean="0"/>
              <a:t>Windows server and workstation OSs come with tools you can use to help test network connectivity</a:t>
            </a:r>
          </a:p>
          <a:p>
            <a:pPr lvl="1"/>
            <a:r>
              <a:rPr lang="en-US" smtClean="0"/>
              <a:t>Using the Windows PowerShell or the Command Prompt window</a:t>
            </a:r>
          </a:p>
          <a:p>
            <a:r>
              <a:rPr lang="en-US" smtClean="0"/>
              <a:t>Type ipconfig to view a dialog box showing the adapter address (MAC or Ethernet), IP address, subnet mask, and other information for that computer</a:t>
            </a:r>
          </a:p>
          <a:p>
            <a:pPr lvl="1"/>
            <a:r>
              <a:rPr lang="en-US" smtClean="0"/>
              <a:t>Can also show when there are multiple network adapters and can show when the media is disconnected</a:t>
            </a:r>
          </a:p>
          <a:p>
            <a:r>
              <a:rPr lang="en-US" smtClean="0"/>
              <a:t>Type ping to poll the presence of another TCP/IP computer</a:t>
            </a:r>
          </a:p>
          <a:p>
            <a:r>
              <a:rPr lang="en-US" smtClean="0"/>
              <a:t>netstat is a quick way to verify that a workstation or server has established a successful TCP/IP connection</a:t>
            </a:r>
          </a:p>
          <a:p>
            <a:pPr lvl="1"/>
            <a:r>
              <a:rPr lang="en-US" smtClean="0"/>
              <a:t>netstat -e provides a quick indication of the number of transmission errors and discarded packets detected at that computer’s NIC</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43841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Command-Line Tools (2 of 4)</a:t>
            </a:r>
            <a:endParaRPr lang="en-US" dirty="0"/>
          </a:p>
        </p:txBody>
      </p:sp>
      <p:pic>
        <p:nvPicPr>
          <p:cNvPr id="6" name="Content Placeholder 5" descr="Figure 12-10, Page No. 536, Complexity level: 4&#10;Screenshot shows the “Administrator: Windows PowerShell” window. The text in the window reads “PS C:\Users\Administrator greater symbol ipconfig. Windows IP Configuration, Ethernet adapter Ethernet: Connection-specific DNS Suffix.: domain.actdsltmp, IPv6 Address...........: fd47:6aa9:2c9e:3333::1, Link-local IPv6 Address.....: fe80::152c:fba1:8816:778%10, IPv4 Address...........:  192.16.0.22, Subnet Mask...........:255.255.255.0, Default Gateway.........: 192.168.0.1. Ethernet adapter vEthernet (Realtek PCIs GBE Family Controller – Virtual Switch): Connection-specific DNS Suffix.: , Link- local IPv6 Address...........: fe80::7092:58d8:362b:489b%5, Autoconfiguartion IPv4 Address.....: 169.254.72.155, Subnet Mask...........:255.255.0.0, Default Gateway.........: - Tunnel adapter isatap.domain.actdsltmp: Connection-specific DNS Suffix.: domain.actdsltmp. IPv6 address...........:fd47:6aa9:2c9e:1:0:5efe:192.168.0.22, Link-local IPv6 Address..........: fe80::5efe:192.168.0.22%15, Default gateway..........: Tunnel adapterisatap. (342DCEC7-E6AA-4B2B-B7A7-2DBABE551284): Connection-specific DNS Suffix.: , Link-local IPv6 Address.....: fe80::5efe:169.254.72.155%, Default Gateway.........: Tunnel adapter 6T04 Adapter: Media State...........: Medial disconnected. Connection-specific DNS Suffix.: unnel adapter IPHTTPSInterface: Connection-specific DNS Suffix.:, IPv6 Address............:fd47:6aa9:2c9e:1000::1, IPv6 Address............:fd47:6aa9:2c9e:1000:5171:bf7c:5f45:107b.  Link-local IPv6 Address......:fe80::5171:bf7c:5f45:107b%19, Default Gateway........:. PS C:\Users\Adminstrator greater than symbol _.”&#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600200"/>
            <a:ext cx="5065898" cy="4024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19993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Command-Line Tools (3 of 4)</a:t>
            </a:r>
            <a:endParaRPr lang="en-US" dirty="0"/>
          </a:p>
        </p:txBody>
      </p:sp>
      <p:pic>
        <p:nvPicPr>
          <p:cNvPr id="5" name="Content Placeholder 4" descr="Figure 12-11, Page No. 537, Complexity level: 3&#10;Screenshot shows the “Administrator: Windows PowerShell” window. The text in the window reads “Windows PowerShell. Copyright (C) 2016 Microsoft Corporation. All rights reserved. PS C:\Users\Administrator greater than ping 192.168.0.22. Pinging 192.168.0.22 with 32 bytes of data: Reply from 192.168.0.22: bytes = 32 time lesser than 1ms TTL = 128. Reply from 192.168.0.22: bytes = 32 time lesser than 1ms TTL = 128. Reply from 192.168.0.22: bytes = 32 time lesser than 1ms TTL = 128. Reply from 192.168.0.22: bytes = 32 time lesser than 1ms TTL = 128. Ping statistics for 192.168.0.22: Packets: Sent = 4, Receive = 4, Lost = 0 (0% loss), Approximate round trip times in milli-seconds: Minimum = 0ms, Maximum = 0ms, Average = 0ms. PS C:\Users\Administrator greater than symbol _.”&#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828800"/>
            <a:ext cx="5341561" cy="3948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17096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Command-Line Tools (4 of 4)</a:t>
            </a:r>
            <a:endParaRPr lang="en-US" dirty="0"/>
          </a:p>
        </p:txBody>
      </p:sp>
      <p:pic>
        <p:nvPicPr>
          <p:cNvPr id="6" name="Content Placeholder 5" descr="Figure 12-12, Page No. 538, Complexity level: 2&#10;Screenshot shows the “Administrator: Windows PowerShell” window. The text in the window reads “Windows PowerShell. Copyright (C) 2016 Microsoft Corporation. All rights reserved. PS C:\Users\Administrator greater than netstat –e. Interface statistics for received and sent. Bytes: 76260398 and 63620842. Unicast packets: 268630 and 155602. Non-unicast packets: 259202 and 24928. Errors: 0 and 0. Unknown protocols: 0 for received. PS C:\Users\Administrator greater than symbol _.”&#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7400" y="1752600"/>
            <a:ext cx="4824423" cy="3719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43202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Graphical Tools (1 of 2)</a:t>
            </a:r>
            <a:endParaRPr lang="en-US" dirty="0"/>
          </a:p>
        </p:txBody>
      </p:sp>
      <p:sp>
        <p:nvSpPr>
          <p:cNvPr id="2" name="Content Placeholder 1"/>
          <p:cNvSpPr>
            <a:spLocks noGrp="1"/>
          </p:cNvSpPr>
          <p:nvPr>
            <p:ph idx="1"/>
          </p:nvPr>
        </p:nvSpPr>
        <p:spPr/>
        <p:txBody>
          <a:bodyPr/>
          <a:lstStyle/>
          <a:p>
            <a:r>
              <a:rPr lang="en-US" smtClean="0"/>
              <a:t>You can use a GUI (graphical user interface) tool for diagnosing and repairing network problems</a:t>
            </a:r>
          </a:p>
          <a:p>
            <a:r>
              <a:rPr lang="en-US" smtClean="0"/>
              <a:t>The Network Connections window</a:t>
            </a:r>
          </a:p>
          <a:p>
            <a:pPr lvl="1"/>
            <a:r>
              <a:rPr lang="en-US" smtClean="0"/>
              <a:t>Use to disable and then enable network connections</a:t>
            </a:r>
          </a:p>
          <a:p>
            <a:pPr lvl="1"/>
            <a:r>
              <a:rPr lang="en-US" smtClean="0"/>
              <a:t>Doing so resets the NIC and the TCP/IP connectivity to make sure you have a clean connection</a:t>
            </a:r>
          </a:p>
          <a:p>
            <a:r>
              <a:rPr lang="en-US" smtClean="0"/>
              <a:t>You can also use the Network Connection window to diagnose a network problem</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57564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Graphical Tools (2 of 2)</a:t>
            </a:r>
            <a:endParaRPr lang="en-US" dirty="0"/>
          </a:p>
        </p:txBody>
      </p:sp>
      <p:pic>
        <p:nvPicPr>
          <p:cNvPr id="6" name="Content Placeholder 5" descr="Figure 12-13, Page No. 540, Complexity level: 1&#10;Screenshot shows the “Network Connections” dialog box. The window displays the Ethernet jpcomp.com. Realtek PCIe GBE Family Controller option and it is selected. It displays a small dialog box. The cursor points to the Disable option in the dialog box.&#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33600" y="1600200"/>
            <a:ext cx="4580613" cy="4024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8735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System Configuration Tool (1 of 2)</a:t>
            </a:r>
            <a:endParaRPr lang="en-US" dirty="0"/>
          </a:p>
        </p:txBody>
      </p:sp>
      <p:sp>
        <p:nvSpPr>
          <p:cNvPr id="2" name="Content Placeholder 1"/>
          <p:cNvSpPr>
            <a:spLocks noGrp="1"/>
          </p:cNvSpPr>
          <p:nvPr>
            <p:ph idx="1"/>
          </p:nvPr>
        </p:nvSpPr>
        <p:spPr/>
        <p:txBody>
          <a:bodyPr/>
          <a:lstStyle/>
          <a:p>
            <a:r>
              <a:rPr lang="en-US" smtClean="0"/>
              <a:t>Some server administrators like using the system configuration tool, msconfig</a:t>
            </a:r>
          </a:p>
          <a:p>
            <a:pPr lvl="1"/>
            <a:r>
              <a:rPr lang="en-US" smtClean="0"/>
              <a:t>To help troubleshoot a problems</a:t>
            </a:r>
          </a:p>
          <a:p>
            <a:r>
              <a:rPr lang="en-US" smtClean="0"/>
              <a:t>Start msconfig</a:t>
            </a:r>
          </a:p>
          <a:p>
            <a:pPr lvl="1"/>
            <a:r>
              <a:rPr lang="en-US" smtClean="0"/>
              <a:t>By typing this command in the Windows PowerShell or Command Prompt windows</a:t>
            </a:r>
          </a:p>
          <a:p>
            <a:r>
              <a:rPr lang="en-US" smtClean="0"/>
              <a:t>The System Configuration window has five tabs:</a:t>
            </a:r>
          </a:p>
          <a:p>
            <a:pPr lvl="1"/>
            <a:r>
              <a:rPr lang="en-US" smtClean="0"/>
              <a:t>General </a:t>
            </a:r>
          </a:p>
          <a:p>
            <a:pPr lvl="1"/>
            <a:r>
              <a:rPr lang="en-US" smtClean="0"/>
              <a:t>Boot</a:t>
            </a:r>
          </a:p>
          <a:p>
            <a:pPr lvl="1"/>
            <a:r>
              <a:rPr lang="en-US" smtClean="0"/>
              <a:t>Services</a:t>
            </a:r>
          </a:p>
          <a:p>
            <a:pPr lvl="1"/>
            <a:r>
              <a:rPr lang="en-US" smtClean="0"/>
              <a:t>Startup</a:t>
            </a:r>
          </a:p>
          <a:p>
            <a:pPr lvl="1"/>
            <a:r>
              <a:rPr lang="en-US" smtClean="0"/>
              <a:t>Tools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32718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System Configuration Tool (2 of 2)</a:t>
            </a:r>
            <a:endParaRPr lang="en-US" dirty="0"/>
          </a:p>
        </p:txBody>
      </p:sp>
      <p:pic>
        <p:nvPicPr>
          <p:cNvPr id="6" name="Content Placeholder 5" descr="Figure 12-14, Page No. 541, Complexity level: 2&#10;Screenshot shows the “System Configuration” dialog box. The General tab is selected. The Normal Startup- Load all device drivers and services radio button is selected under the Startup Selection option.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14742" y="1676400"/>
            <a:ext cx="5736836"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6785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Remotely Administering a Server (1 of 3)</a:t>
            </a:r>
            <a:endParaRPr lang="en-US" dirty="0"/>
          </a:p>
        </p:txBody>
      </p:sp>
      <p:sp>
        <p:nvSpPr>
          <p:cNvPr id="2" name="Content Placeholder 1"/>
          <p:cNvSpPr>
            <a:spLocks noGrp="1"/>
          </p:cNvSpPr>
          <p:nvPr>
            <p:ph idx="1"/>
          </p:nvPr>
        </p:nvSpPr>
        <p:spPr/>
        <p:txBody>
          <a:bodyPr/>
          <a:lstStyle/>
          <a:p>
            <a:r>
              <a:rPr lang="en-US" smtClean="0"/>
              <a:t>It is useful for server administrators to be able to remotely access a server in order to solve a problem</a:t>
            </a:r>
          </a:p>
          <a:p>
            <a:r>
              <a:rPr lang="en-US" smtClean="0"/>
              <a:t>Use the Remote Desktop client to remotely access and manage the server</a:t>
            </a:r>
          </a:p>
          <a:p>
            <a:pPr lvl="1"/>
            <a:r>
              <a:rPr lang="en-US" smtClean="0"/>
              <a:t>Such as through a VPN server or Internet connection</a:t>
            </a:r>
          </a:p>
          <a:p>
            <a:r>
              <a:rPr lang="en-US" smtClean="0"/>
              <a:t>You can configure Remote Desktop using Server Manager</a:t>
            </a:r>
          </a:p>
          <a:p>
            <a:pPr lvl="1"/>
            <a:r>
              <a:rPr lang="en-US" smtClean="0"/>
              <a:t>Or the System applet in Control Panel to access the System Properties dialog box</a:t>
            </a:r>
          </a:p>
          <a:p>
            <a:pPr lvl="1"/>
            <a:r>
              <a:rPr lang="en-US" smtClean="0"/>
              <a:t>Click Allow remote connections to this computer and Allow connections only  from computers running Remote Desktop with Network-Level Administration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27514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Remotely Administering a Server (2 of 3)</a:t>
            </a:r>
            <a:endParaRPr lang="en-US" dirty="0"/>
          </a:p>
        </p:txBody>
      </p:sp>
      <p:pic>
        <p:nvPicPr>
          <p:cNvPr id="6" name="Content Placeholder 5" descr="Figure 12-15, Page No. 542, Complexity level: 2&#10;Screenshot shows the “System Properties “dialog box. The Remote tab is selected. On the window, the advanced button is selected under the Remote Assistance. Allow a remote connection to this computer radio button is selected and the check box is selected for the option “allow connections only from computers running Remote Desktop with Network Level Authentication (recommended)” under the Remote Desktop.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43200" y="1524000"/>
            <a:ext cx="3552728" cy="4345067"/>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38627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Remotely Administering a Server (3 of 3)</a:t>
            </a:r>
            <a:endParaRPr lang="en-US" dirty="0"/>
          </a:p>
        </p:txBody>
      </p:sp>
      <p:sp>
        <p:nvSpPr>
          <p:cNvPr id="2" name="Content Placeholder 1"/>
          <p:cNvSpPr>
            <a:spLocks noGrp="1"/>
          </p:cNvSpPr>
          <p:nvPr>
            <p:ph idx="1"/>
          </p:nvPr>
        </p:nvSpPr>
        <p:spPr/>
        <p:txBody>
          <a:bodyPr/>
          <a:lstStyle/>
          <a:p>
            <a:r>
              <a:rPr lang="en-US" smtClean="0"/>
              <a:t>Configure a strong password for the account from which you perform administration</a:t>
            </a:r>
          </a:p>
          <a:p>
            <a:r>
              <a:rPr lang="en-US" smtClean="0"/>
              <a:t>Microsoft defines the following characteristics of a strong password:</a:t>
            </a:r>
          </a:p>
          <a:p>
            <a:pPr lvl="1"/>
            <a:r>
              <a:rPr lang="en-US" smtClean="0"/>
              <a:t>Contains seven or more characters (eight or more is better)</a:t>
            </a:r>
          </a:p>
          <a:p>
            <a:pPr lvl="1"/>
            <a:r>
              <a:rPr lang="en-US" smtClean="0"/>
              <a:t>Does not reflect qualities about you that others might guess</a:t>
            </a:r>
          </a:p>
          <a:p>
            <a:pPr lvl="1"/>
            <a:r>
              <a:rPr lang="en-US" smtClean="0"/>
              <a:t>Is not a word that could be found in a dictionary</a:t>
            </a:r>
          </a:p>
          <a:p>
            <a:pPr lvl="1"/>
            <a:r>
              <a:rPr lang="en-US" smtClean="0"/>
              <a:t>Is changed at regular intervals without repeating a previously used password</a:t>
            </a:r>
          </a:p>
          <a:p>
            <a:pPr lvl="1"/>
            <a:r>
              <a:rPr lang="en-US" smtClean="0"/>
              <a:t>Contains a combination of upper- and lowercase characters, numbers, and symbols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36746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 Server Administration Tools (1 of 5)</a:t>
            </a:r>
            <a:endParaRPr lang="en-US" dirty="0"/>
          </a:p>
        </p:txBody>
      </p:sp>
      <p:sp>
        <p:nvSpPr>
          <p:cNvPr id="2" name="Content Placeholder 1"/>
          <p:cNvSpPr>
            <a:spLocks noGrp="1"/>
          </p:cNvSpPr>
          <p:nvPr>
            <p:ph idx="1"/>
          </p:nvPr>
        </p:nvSpPr>
        <p:spPr/>
        <p:txBody>
          <a:bodyPr/>
          <a:lstStyle/>
          <a:p>
            <a:r>
              <a:rPr lang="en-US" smtClean="0"/>
              <a:t>Remote Server Administration Tools (RSAT)</a:t>
            </a:r>
          </a:p>
          <a:p>
            <a:pPr lvl="1"/>
            <a:r>
              <a:rPr lang="en-US" smtClean="0"/>
              <a:t>Enable you to manage multiple servers from one Windows Server 2016 server</a:t>
            </a:r>
          </a:p>
          <a:p>
            <a:r>
              <a:rPr lang="en-US" smtClean="0"/>
              <a:t>The Remote Server Administration Tools are offered through Server Manager</a:t>
            </a:r>
          </a:p>
          <a:p>
            <a:r>
              <a:rPr lang="en-US" smtClean="0"/>
              <a:t>Role Administration Tools</a:t>
            </a:r>
          </a:p>
          <a:p>
            <a:pPr lvl="1"/>
            <a:r>
              <a:rPr lang="en-US" smtClean="0"/>
              <a:t>A subset of the Remote Server Administration Tools automatically installed, but only for managing Active Directory DS, Active Directory LDS, and DNS Server</a:t>
            </a:r>
          </a:p>
          <a:p>
            <a:r>
              <a:rPr lang="en-US" smtClean="0"/>
              <a:t>You can install more role management tools through Server Manager</a:t>
            </a:r>
          </a:p>
          <a:p>
            <a:r>
              <a:rPr lang="en-US" smtClean="0"/>
              <a:t>The Remote Server Administration Tools enable you to manage roles and features that are installed on a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71347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 Server Administration Tools (2 of 5)</a:t>
            </a:r>
            <a:endParaRPr lang="en-US" dirty="0"/>
          </a:p>
        </p:txBody>
      </p:sp>
      <p:sp>
        <p:nvSpPr>
          <p:cNvPr id="2" name="Content Placeholder 1"/>
          <p:cNvSpPr>
            <a:spLocks noGrp="1"/>
          </p:cNvSpPr>
          <p:nvPr>
            <p:ph idx="1"/>
          </p:nvPr>
        </p:nvSpPr>
        <p:spPr/>
        <p:txBody>
          <a:bodyPr/>
          <a:lstStyle/>
          <a:p>
            <a:r>
              <a:rPr lang="en-US" smtClean="0"/>
              <a:t>The Remote Server Administration Tools enable you to manage roles and features that are installed on a server</a:t>
            </a:r>
          </a:p>
          <a:p>
            <a:r>
              <a:rPr lang="en-US" smtClean="0"/>
              <a:t>This includes the following role-based management tools:</a:t>
            </a:r>
          </a:p>
          <a:p>
            <a:pPr lvl="1"/>
            <a:r>
              <a:rPr lang="en-US" smtClean="0"/>
              <a:t>Active Directory Certificate Services Tools</a:t>
            </a:r>
          </a:p>
          <a:p>
            <a:pPr lvl="1"/>
            <a:r>
              <a:rPr lang="en-US" smtClean="0"/>
              <a:t>Active Directory Domain Services Tools</a:t>
            </a:r>
          </a:p>
          <a:p>
            <a:pPr lvl="1"/>
            <a:r>
              <a:rPr lang="en-US" smtClean="0"/>
              <a:t>Active Directory Lightweight Directory Services Tools</a:t>
            </a:r>
          </a:p>
          <a:p>
            <a:pPr lvl="1"/>
            <a:r>
              <a:rPr lang="en-US" smtClean="0"/>
              <a:t>Active Directory Rights Management Services Tools</a:t>
            </a:r>
          </a:p>
          <a:p>
            <a:pPr lvl="1"/>
            <a:r>
              <a:rPr lang="en-US" smtClean="0"/>
              <a:t>DHCP Server Tools</a:t>
            </a:r>
          </a:p>
          <a:p>
            <a:pPr lvl="1"/>
            <a:r>
              <a:rPr lang="en-US" smtClean="0"/>
              <a:t>DNS Server Tools</a:t>
            </a:r>
          </a:p>
          <a:p>
            <a:pPr lvl="1"/>
            <a:r>
              <a:rPr lang="en-US" smtClean="0"/>
              <a:t>FAX Server Tools</a:t>
            </a:r>
          </a:p>
          <a:p>
            <a:pPr lvl="1"/>
            <a:r>
              <a:rPr lang="en-US" smtClean="0"/>
              <a:t>File Services Tools</a:t>
            </a:r>
          </a:p>
          <a:p>
            <a:pPr lvl="1"/>
            <a:r>
              <a:rPr lang="en-US" smtClean="0"/>
              <a:t>Hyper-V Management Tools</a:t>
            </a:r>
          </a:p>
          <a:p>
            <a:pPr lvl="1"/>
            <a:r>
              <a:rPr lang="en-US" smtClean="0"/>
              <a:t>Network Controller Management Tools</a:t>
            </a:r>
          </a:p>
          <a:p>
            <a:pPr lvl="1"/>
            <a:endParaRPr lang="en-US" smtClean="0"/>
          </a:p>
          <a:p>
            <a:pPr lvl="1"/>
            <a:endParaRPr lang="en-US" smtClean="0"/>
          </a:p>
          <a:p>
            <a:pPr lvl="1"/>
            <a:endParaRPr lang="en-US" smtClean="0"/>
          </a:p>
          <a:p>
            <a:pPr lvl="1"/>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90213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 Server Administration Tools (3 of 5)</a:t>
            </a:r>
            <a:endParaRPr lang="en-US" dirty="0"/>
          </a:p>
        </p:txBody>
      </p:sp>
      <p:sp>
        <p:nvSpPr>
          <p:cNvPr id="2" name="Content Placeholder 1"/>
          <p:cNvSpPr>
            <a:spLocks noGrp="1"/>
          </p:cNvSpPr>
          <p:nvPr>
            <p:ph idx="1"/>
          </p:nvPr>
        </p:nvSpPr>
        <p:spPr/>
        <p:txBody>
          <a:bodyPr/>
          <a:lstStyle/>
          <a:p>
            <a:r>
              <a:rPr lang="en-US" smtClean="0"/>
              <a:t>Role-based management tools (cont’d):</a:t>
            </a:r>
          </a:p>
          <a:p>
            <a:pPr lvl="1"/>
            <a:r>
              <a:rPr lang="en-US" smtClean="0"/>
              <a:t>Network Policy and Access Services Tools</a:t>
            </a:r>
          </a:p>
          <a:p>
            <a:pPr lvl="1"/>
            <a:r>
              <a:rPr lang="en-US" smtClean="0"/>
              <a:t>Print and Document Services Tools</a:t>
            </a:r>
          </a:p>
          <a:p>
            <a:pPr lvl="1"/>
            <a:r>
              <a:rPr lang="en-US" smtClean="0"/>
              <a:t>Remote Access Management Tools</a:t>
            </a:r>
          </a:p>
          <a:p>
            <a:pPr lvl="1"/>
            <a:r>
              <a:rPr lang="en-US" smtClean="0"/>
              <a:t>Remote Desktop Services Tools</a:t>
            </a:r>
          </a:p>
          <a:p>
            <a:pPr lvl="1"/>
            <a:r>
              <a:rPr lang="en-US" smtClean="0"/>
              <a:t>Volume Activation Tools</a:t>
            </a:r>
          </a:p>
          <a:p>
            <a:pPr lvl="1"/>
            <a:r>
              <a:rPr lang="en-US" smtClean="0"/>
              <a:t>Windows Deployment Services Tools</a:t>
            </a:r>
          </a:p>
          <a:p>
            <a:pPr lvl="1"/>
            <a:r>
              <a:rPr lang="en-US" smtClean="0"/>
              <a:t>Windows Server Host Guardian Service Tools</a:t>
            </a:r>
          </a:p>
          <a:p>
            <a:pPr lvl="1"/>
            <a:endParaRPr lang="en-US" smtClean="0"/>
          </a:p>
          <a:p>
            <a:pPr lvl="1"/>
            <a:endParaRPr lang="en-US" smtClean="0"/>
          </a:p>
          <a:p>
            <a:pPr lvl="1"/>
            <a:endParaRPr lang="en-US" smtClean="0"/>
          </a:p>
          <a:p>
            <a:pPr lvl="1"/>
            <a:endParaRPr lang="en-US" smtClean="0"/>
          </a:p>
          <a:p>
            <a:pPr lvl="1"/>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5968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 Server Administration Tools (4 of 5)</a:t>
            </a:r>
            <a:endParaRPr lang="en-US" dirty="0"/>
          </a:p>
        </p:txBody>
      </p:sp>
      <p:sp>
        <p:nvSpPr>
          <p:cNvPr id="2" name="Content Placeholder 1"/>
          <p:cNvSpPr>
            <a:spLocks noGrp="1"/>
          </p:cNvSpPr>
          <p:nvPr>
            <p:ph idx="1"/>
          </p:nvPr>
        </p:nvSpPr>
        <p:spPr/>
        <p:txBody>
          <a:bodyPr/>
          <a:lstStyle/>
          <a:p>
            <a:r>
              <a:rPr lang="en-US" smtClean="0"/>
              <a:t>Remote Server Administration Tools also include the following tool sets, when the Feature Administration Tools subset is installed:</a:t>
            </a:r>
          </a:p>
          <a:p>
            <a:pPr lvl="1"/>
            <a:r>
              <a:rPr lang="en-US" smtClean="0"/>
              <a:t>BitLocker Drive Encryption Tools</a:t>
            </a:r>
          </a:p>
          <a:p>
            <a:pPr lvl="1"/>
            <a:r>
              <a:rPr lang="en-US" smtClean="0"/>
              <a:t>BITS Server Extensions Tools</a:t>
            </a:r>
          </a:p>
          <a:p>
            <a:pPr lvl="1"/>
            <a:r>
              <a:rPr lang="en-US" smtClean="0"/>
              <a:t>Failover Clustering Tools</a:t>
            </a:r>
          </a:p>
          <a:p>
            <a:pPr lvl="1"/>
            <a:r>
              <a:rPr lang="en-US" smtClean="0"/>
              <a:t>IP Address Management (IPAM) Client</a:t>
            </a:r>
          </a:p>
          <a:p>
            <a:pPr lvl="1"/>
            <a:r>
              <a:rPr lang="en-US" smtClean="0"/>
              <a:t>Network Load Balancing Tools</a:t>
            </a:r>
          </a:p>
          <a:p>
            <a:pPr lvl="1"/>
            <a:r>
              <a:rPr lang="en-US" smtClean="0"/>
              <a:t>Shielded VM Tools</a:t>
            </a:r>
          </a:p>
          <a:p>
            <a:pPr lvl="1"/>
            <a:r>
              <a:rPr lang="en-US" smtClean="0"/>
              <a:t>SMTP Server Tools</a:t>
            </a:r>
          </a:p>
          <a:p>
            <a:pPr lvl="1"/>
            <a:r>
              <a:rPr lang="en-US" smtClean="0"/>
              <a:t>Storage Replica Management Tools</a:t>
            </a:r>
          </a:p>
          <a:p>
            <a:pPr lvl="1"/>
            <a:r>
              <a:rPr lang="en-US" smtClean="0"/>
              <a:t>WINS Server Tools</a:t>
            </a:r>
          </a:p>
          <a:p>
            <a:pPr lvl="1"/>
            <a:endParaRPr lang="en-US" smtClean="0"/>
          </a:p>
          <a:p>
            <a:pPr lvl="1"/>
            <a:endParaRPr lang="en-US" smtClean="0"/>
          </a:p>
          <a:p>
            <a:pPr lvl="1"/>
            <a:endParaRPr lang="en-US" smtClean="0"/>
          </a:p>
          <a:p>
            <a:pPr lvl="1"/>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360713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Remote Server Administration Tools (5 of 5)</a:t>
            </a:r>
            <a:endParaRPr lang="en-US" dirty="0"/>
          </a:p>
        </p:txBody>
      </p:sp>
      <p:pic>
        <p:nvPicPr>
          <p:cNvPr id="6" name="Content Placeholder 5" descr="Figure 12-17, Page No. 546, Complexity level: 4&#10;Screenshot shows the “Add Roles and Features Wizard” dialog box. On the left pane of the dialog box, the features option is selected. On the Content pane of the dialog box, the Remote Server Administration Tools (19 of 42 installed) radio button is selected. Under this, the Feature Administration Tools (4 of 15 installed) radio button and the Role Administration Tools (15 of 27 installed) radio button is selected. Under the Administration Tools (4 of 15 installed) option, the BitLocker Drive Encryption Administration check box, IP Address Management (IPAM) Client (Installed) check box, and SNMP Tools (Installed) check box are selected. Under the Role Administration Tools (15 of 27 installed) option, the AD DS and AD LDS Tools (3 of 4 installed) option and Remote Desktop Services Tools (1 of 3 installed) option radio button is selected. The Hyper-V Management Tools (Installed) option check box is selected. The Previous button shown is selected.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752600"/>
            <a:ext cx="5202217" cy="3948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12134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Before problems occur, develop a problem-solving strategy</a:t>
            </a:r>
          </a:p>
          <a:p>
            <a:r>
              <a:rPr lang="en-US" smtClean="0"/>
              <a:t>Windows Server 2016 gives you the Advanced Boot Options menu for times when you have boot problems</a:t>
            </a:r>
          </a:p>
          <a:p>
            <a:r>
              <a:rPr lang="en-US" smtClean="0"/>
              <a:t>The Repair Your Computer option on the Advanced Boot Options menu or using the same option from the Windows Server 2016 installation DVD offers tools to recover a system, or work with a system that won’t boot</a:t>
            </a:r>
          </a:p>
          <a:p>
            <a:r>
              <a:rPr lang="en-US" smtClean="0"/>
              <a:t>Regularly perform a full backup, which includes system state data, so that you can fully recover a system that has failed</a:t>
            </a:r>
          </a:p>
          <a:p>
            <a:r>
              <a:rPr lang="en-US" smtClean="0"/>
              <a:t>Event Viewer is a storehouse of logs from which you can monitor a system and diagnose problems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Regularly use Event Viewer to monitor the contents of logs</a:t>
            </a:r>
          </a:p>
          <a:p>
            <a:r>
              <a:rPr lang="en-US" smtClean="0"/>
              <a:t>Windows Server 2016 contains command-line and graphical tools for troubleshooting network connectivity problems</a:t>
            </a:r>
          </a:p>
          <a:p>
            <a:r>
              <a:rPr lang="en-US" smtClean="0"/>
              <a:t>Windows Server offers Remote Server Administration Tools that enable you to manage a server remotely</a:t>
            </a:r>
          </a:p>
          <a:p>
            <a:r>
              <a:rPr lang="en-US" smtClean="0"/>
              <a:t>You can use the Remote Desktop client capability to remotely manage a Windows Server 2016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22873</TotalTime>
  <Words>5316</Words>
  <Application>Microsoft Office PowerPoint</Application>
  <PresentationFormat>On-screen Show (4:3)</PresentationFormat>
  <Paragraphs>376</Paragraphs>
  <Slides>48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Calibri Light</vt:lpstr>
      <vt:lpstr>Office Theme</vt:lpstr>
      <vt:lpstr>Hands-On Microsoft Windows Server 2016  2nd Edition</vt:lpstr>
      <vt:lpstr>Objectives</vt:lpstr>
      <vt:lpstr>General Problem-Solving Strategies</vt:lpstr>
      <vt:lpstr>Understanding How Servers and the Network Interact (1 of 3)</vt:lpstr>
      <vt:lpstr>Understanding How Servers and the Network Interact (2 of 3)</vt:lpstr>
      <vt:lpstr>Understanding How Servers and the Network Interact (3 of 3)</vt:lpstr>
      <vt:lpstr>Training Users to Help</vt:lpstr>
      <vt:lpstr>Solving Problems Step-by-Step (1 of 2)</vt:lpstr>
      <vt:lpstr>Solving Problems Step-by-Step (2 of 2)</vt:lpstr>
      <vt:lpstr>Tracking Problems and Solutions</vt:lpstr>
      <vt:lpstr>Resolving Boot Problems</vt:lpstr>
      <vt:lpstr>Troubleshooting by Using Safe Mode (1 of 2)</vt:lpstr>
      <vt:lpstr>Troubleshooting by Using Safe Mode (2 of 2)</vt:lpstr>
      <vt:lpstr>Troubleshooting by Using the Repair Your Computer Option or Installation DVD (1 of 3)</vt:lpstr>
      <vt:lpstr>Troubleshooting by Using the Repair Your Computer Option or Installation DVD (2 of 3)</vt:lpstr>
      <vt:lpstr>Troubleshooting by Using the Repair Your Computer Option or Installation DVD (3 of 3)</vt:lpstr>
      <vt:lpstr>General Tips for Fixing Boot Problems</vt:lpstr>
      <vt:lpstr>Using and Configuring Event Viewer (1 of 5)</vt:lpstr>
      <vt:lpstr>Using and Configuring Event Viewer (2 of 5)</vt:lpstr>
      <vt:lpstr>Using and Configuring Event Viewer (3 of 5)</vt:lpstr>
      <vt:lpstr>Using and Configuring Event Viewer (4 of 5)</vt:lpstr>
      <vt:lpstr>Using and Configuring Event Viewer (5 of 5)</vt:lpstr>
      <vt:lpstr>Viewing Log Events (1 of 4)</vt:lpstr>
      <vt:lpstr>Viewing Log Events (2 of 4)</vt:lpstr>
      <vt:lpstr>Viewing Log Events (3 of 4)</vt:lpstr>
      <vt:lpstr>Viewing Log Events (4 of 4)</vt:lpstr>
      <vt:lpstr>Using the Event Viewer Filter Option</vt:lpstr>
      <vt:lpstr>Maintaining Event Logs (1 of 2)</vt:lpstr>
      <vt:lpstr>Maintaining Event Logs (2 of 2)</vt:lpstr>
      <vt:lpstr>Troubleshooting Connectivity</vt:lpstr>
      <vt:lpstr>Command-Line Tools (1 of 4)</vt:lpstr>
      <vt:lpstr>Command-Line Tools (2 of 4)</vt:lpstr>
      <vt:lpstr>Command-Line Tools (3 of 4)</vt:lpstr>
      <vt:lpstr>Command-Line Tools (4 of 4)</vt:lpstr>
      <vt:lpstr>Graphical Tools (1 of 2)</vt:lpstr>
      <vt:lpstr>Graphical Tools (2 of 2)</vt:lpstr>
      <vt:lpstr>Using the System Configuration Tool (1 of 2)</vt:lpstr>
      <vt:lpstr>Using the System Configuration Tool (2 of 2)</vt:lpstr>
      <vt:lpstr>Remotely Administering a Server (1 of 3)</vt:lpstr>
      <vt:lpstr>Remotely Administering a Server (2 of 3)</vt:lpstr>
      <vt:lpstr>Remotely Administering a Server (3 of 3)</vt:lpstr>
      <vt:lpstr>Remote Server Administration Tools (1 of 5)</vt:lpstr>
      <vt:lpstr>Remote Server Administration Tools (2 of 5)</vt:lpstr>
      <vt:lpstr>Remote Server Administration Tools (3 of 5)</vt:lpstr>
      <vt:lpstr>Remote Server Administration Tools (4 of 5)</vt:lpstr>
      <vt:lpstr>Remote Server Administration Tools (5 of 5)</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813</cp:revision>
  <cp:lastPrinted>2017-07-11T22:18:01Z</cp:lastPrinted>
  <dcterms:created xsi:type="dcterms:W3CDTF">2007-02-15T20:50:52Z</dcterms:created>
  <dcterms:modified xsi:type="dcterms:W3CDTF">2017-07-11T22:18:06Z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