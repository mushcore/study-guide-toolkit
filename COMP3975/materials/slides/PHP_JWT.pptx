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7" r:id="rId4"/>
    <p:sldId id="258" r:id="rId5"/>
    <p:sldId id="259" r:id="rId6"/>
    <p:sldId id="260" r:id="rId7"/>
    <p:sldId id="261" r:id="rId8"/>
    <p:sldId id="262" r:id="rId9"/>
    <p:sldId id="264" r:id="rId10"/>
    <p:sldId id="265" r:id="rId11"/>
    <p:sldId id="266"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0" d="100"/>
          <a:sy n="70" d="100"/>
        </p:scale>
        <p:origin x="56" y="5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CA"/>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CA"/>
          </a:p>
        </p:txBody>
      </p:sp>
      <p:sp>
        <p:nvSpPr>
          <p:cNvPr id="4" name="Date Placeholder 3"/>
          <p:cNvSpPr>
            <a:spLocks noGrp="1"/>
          </p:cNvSpPr>
          <p:nvPr>
            <p:ph type="dt" sz="half" idx="10"/>
          </p:nvPr>
        </p:nvSpPr>
        <p:spPr/>
        <p:txBody>
          <a:bodyPr/>
          <a:lstStyle/>
          <a:p>
            <a:fld id="{7FA4FACF-2136-4241-BD36-45D907574C3A}" type="datetimeFigureOut">
              <a:rPr lang="en-CA" smtClean="0"/>
              <a:t>2021-03-21</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92E885CC-0CDE-4CBE-8E15-92DA78D11763}" type="slidenum">
              <a:rPr lang="en-CA" smtClean="0"/>
              <a:t>‹#›</a:t>
            </a:fld>
            <a:endParaRPr lang="en-CA"/>
          </a:p>
        </p:txBody>
      </p:sp>
    </p:spTree>
    <p:extLst>
      <p:ext uri="{BB962C8B-B14F-4D97-AF65-F5344CB8AC3E}">
        <p14:creationId xmlns:p14="http://schemas.microsoft.com/office/powerpoint/2010/main" val="29925599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4" name="Date Placeholder 3"/>
          <p:cNvSpPr>
            <a:spLocks noGrp="1"/>
          </p:cNvSpPr>
          <p:nvPr>
            <p:ph type="dt" sz="half" idx="10"/>
          </p:nvPr>
        </p:nvSpPr>
        <p:spPr/>
        <p:txBody>
          <a:bodyPr/>
          <a:lstStyle/>
          <a:p>
            <a:fld id="{7FA4FACF-2136-4241-BD36-45D907574C3A}" type="datetimeFigureOut">
              <a:rPr lang="en-CA" smtClean="0"/>
              <a:t>2021-03-21</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92E885CC-0CDE-4CBE-8E15-92DA78D11763}" type="slidenum">
              <a:rPr lang="en-CA" smtClean="0"/>
              <a:t>‹#›</a:t>
            </a:fld>
            <a:endParaRPr lang="en-CA"/>
          </a:p>
        </p:txBody>
      </p:sp>
    </p:spTree>
    <p:extLst>
      <p:ext uri="{BB962C8B-B14F-4D97-AF65-F5344CB8AC3E}">
        <p14:creationId xmlns:p14="http://schemas.microsoft.com/office/powerpoint/2010/main" val="6241819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CA"/>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7FA4FACF-2136-4241-BD36-45D907574C3A}" type="datetimeFigureOut">
              <a:rPr lang="en-CA" smtClean="0"/>
              <a:t>2021-03-21</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92E885CC-0CDE-4CBE-8E15-92DA78D11763}" type="slidenum">
              <a:rPr lang="en-CA" smtClean="0"/>
              <a:t>‹#›</a:t>
            </a:fld>
            <a:endParaRPr lang="en-CA"/>
          </a:p>
        </p:txBody>
      </p:sp>
    </p:spTree>
    <p:extLst>
      <p:ext uri="{BB962C8B-B14F-4D97-AF65-F5344CB8AC3E}">
        <p14:creationId xmlns:p14="http://schemas.microsoft.com/office/powerpoint/2010/main" val="10155196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5" name="Date Placeholder 4"/>
          <p:cNvSpPr>
            <a:spLocks noGrp="1"/>
          </p:cNvSpPr>
          <p:nvPr>
            <p:ph type="dt" sz="half" idx="10"/>
          </p:nvPr>
        </p:nvSpPr>
        <p:spPr/>
        <p:txBody>
          <a:bodyPr/>
          <a:lstStyle/>
          <a:p>
            <a:fld id="{7FA4FACF-2136-4241-BD36-45D907574C3A}" type="datetimeFigureOut">
              <a:rPr lang="en-CA" smtClean="0"/>
              <a:t>2021-03-21</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92E885CC-0CDE-4CBE-8E15-92DA78D11763}" type="slidenum">
              <a:rPr lang="en-CA" smtClean="0"/>
              <a:t>‹#›</a:t>
            </a:fld>
            <a:endParaRPr lang="en-CA"/>
          </a:p>
        </p:txBody>
      </p:sp>
    </p:spTree>
    <p:extLst>
      <p:ext uri="{BB962C8B-B14F-4D97-AF65-F5344CB8AC3E}">
        <p14:creationId xmlns:p14="http://schemas.microsoft.com/office/powerpoint/2010/main" val="24534294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CA"/>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7" name="Date Placeholder 6"/>
          <p:cNvSpPr>
            <a:spLocks noGrp="1"/>
          </p:cNvSpPr>
          <p:nvPr>
            <p:ph type="dt" sz="half" idx="10"/>
          </p:nvPr>
        </p:nvSpPr>
        <p:spPr/>
        <p:txBody>
          <a:bodyPr/>
          <a:lstStyle/>
          <a:p>
            <a:fld id="{7FA4FACF-2136-4241-BD36-45D907574C3A}" type="datetimeFigureOut">
              <a:rPr lang="en-CA" smtClean="0"/>
              <a:t>2021-03-21</a:t>
            </a:fld>
            <a:endParaRPr lang="en-CA"/>
          </a:p>
        </p:txBody>
      </p:sp>
      <p:sp>
        <p:nvSpPr>
          <p:cNvPr id="8" name="Footer Placeholder 7"/>
          <p:cNvSpPr>
            <a:spLocks noGrp="1"/>
          </p:cNvSpPr>
          <p:nvPr>
            <p:ph type="ftr" sz="quarter" idx="11"/>
          </p:nvPr>
        </p:nvSpPr>
        <p:spPr/>
        <p:txBody>
          <a:bodyPr/>
          <a:lstStyle/>
          <a:p>
            <a:endParaRPr lang="en-CA"/>
          </a:p>
        </p:txBody>
      </p:sp>
      <p:sp>
        <p:nvSpPr>
          <p:cNvPr id="9" name="Slide Number Placeholder 8"/>
          <p:cNvSpPr>
            <a:spLocks noGrp="1"/>
          </p:cNvSpPr>
          <p:nvPr>
            <p:ph type="sldNum" sz="quarter" idx="12"/>
          </p:nvPr>
        </p:nvSpPr>
        <p:spPr/>
        <p:txBody>
          <a:bodyPr/>
          <a:lstStyle/>
          <a:p>
            <a:fld id="{92E885CC-0CDE-4CBE-8E15-92DA78D11763}" type="slidenum">
              <a:rPr lang="en-CA" smtClean="0"/>
              <a:t>‹#›</a:t>
            </a:fld>
            <a:endParaRPr lang="en-CA"/>
          </a:p>
        </p:txBody>
      </p:sp>
    </p:spTree>
    <p:extLst>
      <p:ext uri="{BB962C8B-B14F-4D97-AF65-F5344CB8AC3E}">
        <p14:creationId xmlns:p14="http://schemas.microsoft.com/office/powerpoint/2010/main" val="41479029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Date Placeholder 2"/>
          <p:cNvSpPr>
            <a:spLocks noGrp="1"/>
          </p:cNvSpPr>
          <p:nvPr>
            <p:ph type="dt" sz="half" idx="10"/>
          </p:nvPr>
        </p:nvSpPr>
        <p:spPr/>
        <p:txBody>
          <a:bodyPr/>
          <a:lstStyle/>
          <a:p>
            <a:fld id="{7FA4FACF-2136-4241-BD36-45D907574C3A}" type="datetimeFigureOut">
              <a:rPr lang="en-CA" smtClean="0"/>
              <a:t>2021-03-21</a:t>
            </a:fld>
            <a:endParaRPr lang="en-CA"/>
          </a:p>
        </p:txBody>
      </p:sp>
      <p:sp>
        <p:nvSpPr>
          <p:cNvPr id="4" name="Footer Placeholder 3"/>
          <p:cNvSpPr>
            <a:spLocks noGrp="1"/>
          </p:cNvSpPr>
          <p:nvPr>
            <p:ph type="ftr" sz="quarter" idx="11"/>
          </p:nvPr>
        </p:nvSpPr>
        <p:spPr/>
        <p:txBody>
          <a:bodyPr/>
          <a:lstStyle/>
          <a:p>
            <a:endParaRPr lang="en-CA"/>
          </a:p>
        </p:txBody>
      </p:sp>
      <p:sp>
        <p:nvSpPr>
          <p:cNvPr id="5" name="Slide Number Placeholder 4"/>
          <p:cNvSpPr>
            <a:spLocks noGrp="1"/>
          </p:cNvSpPr>
          <p:nvPr>
            <p:ph type="sldNum" sz="quarter" idx="12"/>
          </p:nvPr>
        </p:nvSpPr>
        <p:spPr/>
        <p:txBody>
          <a:bodyPr/>
          <a:lstStyle/>
          <a:p>
            <a:fld id="{92E885CC-0CDE-4CBE-8E15-92DA78D11763}" type="slidenum">
              <a:rPr lang="en-CA" smtClean="0"/>
              <a:t>‹#›</a:t>
            </a:fld>
            <a:endParaRPr lang="en-CA"/>
          </a:p>
        </p:txBody>
      </p:sp>
    </p:spTree>
    <p:extLst>
      <p:ext uri="{BB962C8B-B14F-4D97-AF65-F5344CB8AC3E}">
        <p14:creationId xmlns:p14="http://schemas.microsoft.com/office/powerpoint/2010/main" val="40715995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FA4FACF-2136-4241-BD36-45D907574C3A}" type="datetimeFigureOut">
              <a:rPr lang="en-CA" smtClean="0"/>
              <a:t>2021-03-21</a:t>
            </a:fld>
            <a:endParaRPr lang="en-CA"/>
          </a:p>
        </p:txBody>
      </p:sp>
      <p:sp>
        <p:nvSpPr>
          <p:cNvPr id="3" name="Footer Placeholder 2"/>
          <p:cNvSpPr>
            <a:spLocks noGrp="1"/>
          </p:cNvSpPr>
          <p:nvPr>
            <p:ph type="ftr" sz="quarter" idx="11"/>
          </p:nvPr>
        </p:nvSpPr>
        <p:spPr/>
        <p:txBody>
          <a:bodyPr/>
          <a:lstStyle/>
          <a:p>
            <a:endParaRPr lang="en-CA"/>
          </a:p>
        </p:txBody>
      </p:sp>
      <p:sp>
        <p:nvSpPr>
          <p:cNvPr id="4" name="Slide Number Placeholder 3"/>
          <p:cNvSpPr>
            <a:spLocks noGrp="1"/>
          </p:cNvSpPr>
          <p:nvPr>
            <p:ph type="sldNum" sz="quarter" idx="12"/>
          </p:nvPr>
        </p:nvSpPr>
        <p:spPr/>
        <p:txBody>
          <a:bodyPr/>
          <a:lstStyle/>
          <a:p>
            <a:fld id="{92E885CC-0CDE-4CBE-8E15-92DA78D11763}" type="slidenum">
              <a:rPr lang="en-CA" smtClean="0"/>
              <a:t>‹#›</a:t>
            </a:fld>
            <a:endParaRPr lang="en-CA"/>
          </a:p>
        </p:txBody>
      </p:sp>
    </p:spTree>
    <p:extLst>
      <p:ext uri="{BB962C8B-B14F-4D97-AF65-F5344CB8AC3E}">
        <p14:creationId xmlns:p14="http://schemas.microsoft.com/office/powerpoint/2010/main" val="24736691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CA"/>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7FA4FACF-2136-4241-BD36-45D907574C3A}" type="datetimeFigureOut">
              <a:rPr lang="en-CA" smtClean="0"/>
              <a:t>2021-03-21</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92E885CC-0CDE-4CBE-8E15-92DA78D11763}" type="slidenum">
              <a:rPr lang="en-CA" smtClean="0"/>
              <a:t>‹#›</a:t>
            </a:fld>
            <a:endParaRPr lang="en-CA"/>
          </a:p>
        </p:txBody>
      </p:sp>
    </p:spTree>
    <p:extLst>
      <p:ext uri="{BB962C8B-B14F-4D97-AF65-F5344CB8AC3E}">
        <p14:creationId xmlns:p14="http://schemas.microsoft.com/office/powerpoint/2010/main" val="24650137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CA"/>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A"/>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7FA4FACF-2136-4241-BD36-45D907574C3A}" type="datetimeFigureOut">
              <a:rPr lang="en-CA" smtClean="0"/>
              <a:t>2021-03-21</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92E885CC-0CDE-4CBE-8E15-92DA78D11763}" type="slidenum">
              <a:rPr lang="en-CA" smtClean="0"/>
              <a:t>‹#›</a:t>
            </a:fld>
            <a:endParaRPr lang="en-CA"/>
          </a:p>
        </p:txBody>
      </p:sp>
    </p:spTree>
    <p:extLst>
      <p:ext uri="{BB962C8B-B14F-4D97-AF65-F5344CB8AC3E}">
        <p14:creationId xmlns:p14="http://schemas.microsoft.com/office/powerpoint/2010/main" val="37506281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4" name="Date Placeholder 3"/>
          <p:cNvSpPr>
            <a:spLocks noGrp="1"/>
          </p:cNvSpPr>
          <p:nvPr>
            <p:ph type="dt" sz="half" idx="10"/>
          </p:nvPr>
        </p:nvSpPr>
        <p:spPr/>
        <p:txBody>
          <a:bodyPr/>
          <a:lstStyle/>
          <a:p>
            <a:fld id="{7FA4FACF-2136-4241-BD36-45D907574C3A}" type="datetimeFigureOut">
              <a:rPr lang="en-CA" smtClean="0"/>
              <a:t>2021-03-21</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92E885CC-0CDE-4CBE-8E15-92DA78D11763}" type="slidenum">
              <a:rPr lang="en-CA" smtClean="0"/>
              <a:t>‹#›</a:t>
            </a:fld>
            <a:endParaRPr lang="en-CA"/>
          </a:p>
        </p:txBody>
      </p:sp>
    </p:spTree>
    <p:extLst>
      <p:ext uri="{BB962C8B-B14F-4D97-AF65-F5344CB8AC3E}">
        <p14:creationId xmlns:p14="http://schemas.microsoft.com/office/powerpoint/2010/main" val="10802748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CA"/>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4" name="Date Placeholder 3"/>
          <p:cNvSpPr>
            <a:spLocks noGrp="1"/>
          </p:cNvSpPr>
          <p:nvPr>
            <p:ph type="dt" sz="half" idx="10"/>
          </p:nvPr>
        </p:nvSpPr>
        <p:spPr/>
        <p:txBody>
          <a:bodyPr/>
          <a:lstStyle/>
          <a:p>
            <a:fld id="{7FA4FACF-2136-4241-BD36-45D907574C3A}" type="datetimeFigureOut">
              <a:rPr lang="en-CA" smtClean="0"/>
              <a:t>2021-03-21</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92E885CC-0CDE-4CBE-8E15-92DA78D11763}" type="slidenum">
              <a:rPr lang="en-CA" smtClean="0"/>
              <a:t>‹#›</a:t>
            </a:fld>
            <a:endParaRPr lang="en-CA"/>
          </a:p>
        </p:txBody>
      </p:sp>
    </p:spTree>
    <p:extLst>
      <p:ext uri="{BB962C8B-B14F-4D97-AF65-F5344CB8AC3E}">
        <p14:creationId xmlns:p14="http://schemas.microsoft.com/office/powerpoint/2010/main" val="3128734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One Content 2">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09600" y="1600204"/>
            <a:ext cx="10972800" cy="4525963"/>
          </a:xfrm>
        </p:spPr>
        <p:txBody>
          <a:bodyPr vert="horz" lIns="91440" tIns="45720" rIns="91440" bIns="45720" rtlCol="0">
            <a:normAutofit/>
          </a:bodyPr>
          <a:lstStyle>
            <a:lvl1pPr>
              <a:defRPr lang="en-US" dirty="0" smtClean="0"/>
            </a:lvl1pPr>
            <a:lvl2pPr>
              <a:defRPr lang="en-US" dirty="0" smtClean="0"/>
            </a:lvl2pPr>
            <a:lvl3pPr>
              <a:defRPr lang="en-US" dirty="0" smtClean="0"/>
            </a:lvl3pPr>
            <a:lvl4pPr>
              <a:defRPr lang="en-US" dirty="0" smtClean="0"/>
            </a:lvl4pPr>
            <a:lvl5pPr>
              <a:defRPr lang="en-US" dirty="0"/>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FE385BB4-6839-4F7D-B1DB-ED40FD8DB602}" type="datetime1">
              <a:rPr lang="en-US" smtClean="0"/>
              <a:t>3/21/2021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9A3E85D-0FC7-164D-9B9E-D8CDD8FC5B09}" type="slidenum">
              <a:rPr lang="en-US" smtClean="0"/>
              <a:pPr/>
              <a:t>‹#›</a:t>
            </a:fld>
            <a:endParaRPr lang="en-US"/>
          </a:p>
        </p:txBody>
      </p:sp>
      <p:sp>
        <p:nvSpPr>
          <p:cNvPr id="8" name="Title 1"/>
          <p:cNvSpPr>
            <a:spLocks noGrp="1"/>
          </p:cNvSpPr>
          <p:nvPr>
            <p:ph type="title" hasCustomPrompt="1"/>
          </p:nvPr>
        </p:nvSpPr>
        <p:spPr>
          <a:xfrm>
            <a:off x="609600" y="3"/>
            <a:ext cx="11582400" cy="864781"/>
          </a:xfrm>
        </p:spPr>
        <p:txBody>
          <a:bodyPr lIns="182880" tIns="0" rIns="182880" anchor="b" anchorCtr="0">
            <a:noAutofit/>
          </a:bodyPr>
          <a:lstStyle>
            <a:lvl1pPr algn="l">
              <a:defRPr sz="2100" b="0" cap="none">
                <a:solidFill>
                  <a:srgbClr val="0072C6"/>
                </a:solidFill>
                <a:latin typeface="Segoe Light"/>
                <a:cs typeface="Segoe Light"/>
              </a:defRPr>
            </a:lvl1pPr>
          </a:lstStyle>
          <a:p>
            <a:r>
              <a:rPr lang="en-US" dirty="0" smtClean="0"/>
              <a:t>title of text slide</a:t>
            </a:r>
            <a:endParaRPr lang="en-US" dirty="0"/>
          </a:p>
        </p:txBody>
      </p:sp>
    </p:spTree>
    <p:extLst>
      <p:ext uri="{BB962C8B-B14F-4D97-AF65-F5344CB8AC3E}">
        <p14:creationId xmlns:p14="http://schemas.microsoft.com/office/powerpoint/2010/main" val="3357790053"/>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Developer Code Layout">
    <p:spTree>
      <p:nvGrpSpPr>
        <p:cNvPr id="1" name=""/>
        <p:cNvGrpSpPr/>
        <p:nvPr/>
      </p:nvGrpSpPr>
      <p:grpSpPr>
        <a:xfrm>
          <a:off x="0" y="0"/>
          <a:ext cx="0" cy="0"/>
          <a:chOff x="0" y="0"/>
          <a:chExt cx="0" cy="0"/>
        </a:xfrm>
      </p:grpSpPr>
      <p:sp>
        <p:nvSpPr>
          <p:cNvPr id="2" name="Title 1"/>
          <p:cNvSpPr>
            <a:spLocks noGrp="1"/>
          </p:cNvSpPr>
          <p:nvPr>
            <p:ph type="title"/>
          </p:nvPr>
        </p:nvSpPr>
        <p:spPr>
          <a:xfrm>
            <a:off x="519249" y="207605"/>
            <a:ext cx="11151919" cy="747897"/>
          </a:xfrm>
        </p:spPr>
        <p:txBody>
          <a:bodyPr>
            <a:normAutofit/>
          </a:bodyPr>
          <a:lstStyle>
            <a:lvl1pPr>
              <a:defRPr sz="3001">
                <a:solidFill>
                  <a:schemeClr val="tx1">
                    <a:alpha val="99000"/>
                  </a:schemeClr>
                </a:solidFill>
              </a:defRPr>
            </a:lvl1pPr>
          </a:lstStyle>
          <a:p>
            <a:r>
              <a:rPr lang="en-US"/>
              <a:t>Click to edit Master title style</a:t>
            </a:r>
            <a:endParaRPr lang="en-US" dirty="0"/>
          </a:p>
        </p:txBody>
      </p:sp>
      <p:sp>
        <p:nvSpPr>
          <p:cNvPr id="5" name="Text Placeholder 4"/>
          <p:cNvSpPr>
            <a:spLocks noGrp="1"/>
          </p:cNvSpPr>
          <p:nvPr>
            <p:ph type="body" sz="quarter" idx="10"/>
          </p:nvPr>
        </p:nvSpPr>
        <p:spPr>
          <a:xfrm>
            <a:off x="518454" y="1219200"/>
            <a:ext cx="11155093" cy="5181600"/>
          </a:xfrm>
        </p:spPr>
        <p:txBody>
          <a:bodyPr/>
          <a:lstStyle>
            <a:lvl1pPr marL="342900" indent="-342900">
              <a:buFont typeface="Arial" panose="020B0604020202020204" pitchFamily="34" charset="0"/>
              <a:buChar char="•"/>
              <a:defRPr sz="2400" baseline="0">
                <a:gradFill>
                  <a:gsLst>
                    <a:gs pos="1250">
                      <a:srgbClr val="000000"/>
                    </a:gs>
                    <a:gs pos="100000">
                      <a:srgbClr val="000000"/>
                    </a:gs>
                  </a:gsLst>
                  <a:lin ang="5400000" scaled="0"/>
                </a:gradFill>
                <a:latin typeface="Segoe UI Light" panose="020B0502040204020203" pitchFamily="34" charset="0"/>
                <a:cs typeface="Consolas" pitchFamily="49" charset="0"/>
              </a:defRPr>
            </a:lvl1pPr>
            <a:lvl2pPr marL="512005" indent="-257244">
              <a:buFont typeface="Arial" panose="020B0604020202020204" pitchFamily="34" charset="0"/>
              <a:buChar char="•"/>
              <a:defRPr sz="2000" baseline="0">
                <a:gradFill>
                  <a:gsLst>
                    <a:gs pos="1250">
                      <a:srgbClr val="000000"/>
                    </a:gs>
                    <a:gs pos="100000">
                      <a:srgbClr val="000000"/>
                    </a:gs>
                  </a:gsLst>
                  <a:lin ang="5400000" scaled="0"/>
                </a:gradFill>
                <a:latin typeface="Segoe UI Light" panose="020B0502040204020203" pitchFamily="34" charset="0"/>
                <a:cs typeface="Consolas" pitchFamily="49" charset="0"/>
              </a:defRPr>
            </a:lvl2pPr>
            <a:lvl3pPr marL="687004" indent="-257244">
              <a:buFont typeface="Arial" panose="020B0604020202020204" pitchFamily="34" charset="0"/>
              <a:buChar char="•"/>
              <a:defRPr sz="1800" baseline="0">
                <a:gradFill>
                  <a:gsLst>
                    <a:gs pos="1250">
                      <a:srgbClr val="000000"/>
                    </a:gs>
                    <a:gs pos="100000">
                      <a:srgbClr val="000000"/>
                    </a:gs>
                  </a:gsLst>
                  <a:lin ang="5400000" scaled="0"/>
                </a:gradFill>
                <a:latin typeface="Segoe UI Light" panose="020B0502040204020203" pitchFamily="34" charset="0"/>
                <a:cs typeface="Consolas" pitchFamily="49" charset="0"/>
              </a:defRPr>
            </a:lvl3pPr>
            <a:lvl4pPr marL="856050" indent="-257244">
              <a:buFont typeface="Arial" panose="020B0604020202020204" pitchFamily="34" charset="0"/>
              <a:buChar char="•"/>
              <a:defRPr baseline="0">
                <a:gradFill>
                  <a:gsLst>
                    <a:gs pos="1250">
                      <a:srgbClr val="000000"/>
                    </a:gs>
                    <a:gs pos="100000">
                      <a:srgbClr val="000000"/>
                    </a:gs>
                  </a:gsLst>
                  <a:lin ang="5400000" scaled="0"/>
                </a:gradFill>
                <a:latin typeface="Segoe UI Light" panose="020B0502040204020203" pitchFamily="34" charset="0"/>
                <a:cs typeface="Consolas" pitchFamily="49" charset="0"/>
              </a:defRPr>
            </a:lvl4pPr>
            <a:lvl5pPr marL="1029860" indent="-257244">
              <a:buFont typeface="Arial" panose="020B0604020202020204" pitchFamily="34" charset="0"/>
              <a:buChar char="•"/>
              <a:defRPr baseline="0">
                <a:gradFill>
                  <a:gsLst>
                    <a:gs pos="1250">
                      <a:srgbClr val="000000"/>
                    </a:gs>
                    <a:gs pos="100000">
                      <a:srgbClr val="000000"/>
                    </a:gs>
                  </a:gsLst>
                  <a:lin ang="5400000" scaled="0"/>
                </a:gradFill>
                <a:latin typeface="Segoe UI Light" panose="020B0502040204020203" pitchFamily="34" charset="0"/>
                <a:cs typeface="Consolas" pitchFamily="49"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985139957"/>
      </p:ext>
    </p:extLst>
  </p:cSld>
  <p:clrMapOvr>
    <a:masterClrMapping/>
  </p:clrMapOvr>
  <p:transition spd="med">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Title Only 2">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p>
            <a:fld id="{624D6318-EE40-48FD-B84D-0821338283C1}" type="datetime1">
              <a:rPr lang="en-US" smtClean="0"/>
              <a:t>3/21/2021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9A3E85D-0FC7-164D-9B9E-D8CDD8FC5B09}" type="slidenum">
              <a:rPr lang="en-US" smtClean="0"/>
              <a:pPr/>
              <a:t>‹#›</a:t>
            </a:fld>
            <a:endParaRPr lang="en-US"/>
          </a:p>
        </p:txBody>
      </p:sp>
      <p:sp>
        <p:nvSpPr>
          <p:cNvPr id="6" name="Title 1"/>
          <p:cNvSpPr>
            <a:spLocks noGrp="1"/>
          </p:cNvSpPr>
          <p:nvPr>
            <p:ph type="title" hasCustomPrompt="1"/>
          </p:nvPr>
        </p:nvSpPr>
        <p:spPr>
          <a:xfrm>
            <a:off x="609600" y="3"/>
            <a:ext cx="11582400" cy="864781"/>
          </a:xfrm>
        </p:spPr>
        <p:txBody>
          <a:bodyPr lIns="182880" tIns="0" rIns="182880" anchor="b" anchorCtr="0">
            <a:noAutofit/>
          </a:bodyPr>
          <a:lstStyle>
            <a:lvl1pPr algn="l">
              <a:defRPr sz="2100" b="0" cap="none">
                <a:solidFill>
                  <a:srgbClr val="0072C6"/>
                </a:solidFill>
                <a:latin typeface="Segoe Light"/>
                <a:cs typeface="Segoe Light"/>
              </a:defRPr>
            </a:lvl1pPr>
          </a:lstStyle>
          <a:p>
            <a:r>
              <a:rPr lang="en-US" dirty="0" smtClean="0"/>
              <a:t>title of text slide</a:t>
            </a:r>
            <a:endParaRPr lang="en-US" dirty="0"/>
          </a:p>
        </p:txBody>
      </p:sp>
    </p:spTree>
    <p:extLst>
      <p:ext uri="{BB962C8B-B14F-4D97-AF65-F5344CB8AC3E}">
        <p14:creationId xmlns:p14="http://schemas.microsoft.com/office/powerpoint/2010/main" val="1863162369"/>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CA"/>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FA4FACF-2136-4241-BD36-45D907574C3A}" type="datetimeFigureOut">
              <a:rPr lang="en-CA" smtClean="0"/>
              <a:t>2021-03-21</a:t>
            </a:fld>
            <a:endParaRPr lang="en-CA"/>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CA"/>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2E885CC-0CDE-4CBE-8E15-92DA78D11763}" type="slidenum">
              <a:rPr lang="en-CA" smtClean="0"/>
              <a:t>‹#›</a:t>
            </a:fld>
            <a:endParaRPr lang="en-CA"/>
          </a:p>
        </p:txBody>
      </p:sp>
    </p:spTree>
    <p:extLst>
      <p:ext uri="{BB962C8B-B14F-4D97-AF65-F5344CB8AC3E}">
        <p14:creationId xmlns:p14="http://schemas.microsoft.com/office/powerpoint/2010/main" val="16322599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hyperlink" Target="http://jwtbuilder.jamiekurtz.com/" TargetMode="External"/><Relationship Id="rId2" Type="http://schemas.openxmlformats.org/officeDocument/2006/relationships/hyperlink" Target="http://jwt.io/" TargetMode="External"/><Relationship Id="rId1" Type="http://schemas.openxmlformats.org/officeDocument/2006/relationships/slideLayout" Target="../slideLayouts/slideLayout12.xml"/><Relationship Id="rId6" Type="http://schemas.openxmlformats.org/officeDocument/2006/relationships/hyperlink" Target="https://www.base64decode.org/" TargetMode="External"/><Relationship Id="rId5" Type="http://schemas.openxmlformats.org/officeDocument/2006/relationships/hyperlink" Target="https://www.base64encode.org/" TargetMode="External"/><Relationship Id="rId4" Type="http://schemas.openxmlformats.org/officeDocument/2006/relationships/hyperlink" Target="http://kjur.github.io/jsjws/tool_jwt.htm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CA" dirty="0" smtClean="0"/>
              <a:t>JWT</a:t>
            </a:r>
            <a:endParaRPr lang="en-CA" dirty="0"/>
          </a:p>
        </p:txBody>
      </p:sp>
      <p:sp>
        <p:nvSpPr>
          <p:cNvPr id="3" name="Subtitle 2"/>
          <p:cNvSpPr>
            <a:spLocks noGrp="1"/>
          </p:cNvSpPr>
          <p:nvPr>
            <p:ph type="subTitle" idx="1"/>
          </p:nvPr>
        </p:nvSpPr>
        <p:spPr/>
        <p:txBody>
          <a:bodyPr/>
          <a:lstStyle/>
          <a:p>
            <a:r>
              <a:rPr lang="en-CA" dirty="0" smtClean="0"/>
              <a:t>Medhat Elmasry</a:t>
            </a:r>
            <a:endParaRPr lang="en-CA" dirty="0"/>
          </a:p>
        </p:txBody>
      </p:sp>
    </p:spTree>
    <p:extLst>
      <p:ext uri="{BB962C8B-B14F-4D97-AF65-F5344CB8AC3E}">
        <p14:creationId xmlns:p14="http://schemas.microsoft.com/office/powerpoint/2010/main" val="23795845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What is JWT</a:t>
            </a:r>
            <a:endParaRPr lang="en-CA" dirty="0"/>
          </a:p>
        </p:txBody>
      </p:sp>
      <p:sp>
        <p:nvSpPr>
          <p:cNvPr id="3" name="Content Placeholder 2"/>
          <p:cNvSpPr>
            <a:spLocks noGrp="1"/>
          </p:cNvSpPr>
          <p:nvPr>
            <p:ph idx="1"/>
          </p:nvPr>
        </p:nvSpPr>
        <p:spPr/>
        <p:txBody>
          <a:bodyPr>
            <a:normAutofit lnSpcReduction="10000"/>
          </a:bodyPr>
          <a:lstStyle/>
          <a:p>
            <a:r>
              <a:rPr lang="en-CA" dirty="0" smtClean="0"/>
              <a:t>JWT stands for JSON Web Token</a:t>
            </a:r>
          </a:p>
          <a:p>
            <a:r>
              <a:rPr lang="en-CA" dirty="0" smtClean="0"/>
              <a:t>user encrypted information that can be used to authenticate users and exchange information between clients and servers</a:t>
            </a:r>
          </a:p>
          <a:p>
            <a:r>
              <a:rPr lang="en-CA" dirty="0" smtClean="0"/>
              <a:t>tokens are sent with HTTP headers from the server to clients where they are persisted (usually using local storage) then attached to every outgoing request originating from the client to the server</a:t>
            </a:r>
          </a:p>
          <a:p>
            <a:r>
              <a:rPr lang="en-CA" dirty="0" smtClean="0"/>
              <a:t>server checks the token and allow or deny access to the request resource.</a:t>
            </a:r>
          </a:p>
          <a:p>
            <a:r>
              <a:rPr lang="en-CA" dirty="0" smtClean="0"/>
              <a:t>JWT tokens are simply encrypted user's information like identifier, username, email and password.</a:t>
            </a:r>
            <a:endParaRPr lang="en-CA" dirty="0"/>
          </a:p>
        </p:txBody>
      </p:sp>
    </p:spTree>
    <p:extLst>
      <p:ext uri="{BB962C8B-B14F-4D97-AF65-F5344CB8AC3E}">
        <p14:creationId xmlns:p14="http://schemas.microsoft.com/office/powerpoint/2010/main" val="554909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JWT - </a:t>
            </a:r>
            <a:r>
              <a:rPr lang="en-US" dirty="0" err="1" smtClean="0"/>
              <a:t>Introction</a:t>
            </a:r>
            <a:endParaRPr lang="en-US" dirty="0"/>
          </a:p>
        </p:txBody>
      </p:sp>
      <p:sp>
        <p:nvSpPr>
          <p:cNvPr id="2" name="Content Placeholder 1"/>
          <p:cNvSpPr>
            <a:spLocks noGrp="1"/>
          </p:cNvSpPr>
          <p:nvPr>
            <p:ph idx="1"/>
          </p:nvPr>
        </p:nvSpPr>
        <p:spPr/>
        <p:txBody>
          <a:bodyPr/>
          <a:lstStyle/>
          <a:p>
            <a:r>
              <a:rPr lang="en-CA" smtClean="0"/>
              <a:t>Open standard for passing claims (security information) between two parties</a:t>
            </a:r>
          </a:p>
          <a:p>
            <a:r>
              <a:rPr lang="en-CA" smtClean="0"/>
              <a:t>Self-contained: carries all the information necessary within itself</a:t>
            </a:r>
          </a:p>
          <a:p>
            <a:r>
              <a:rPr lang="en-CA" smtClean="0"/>
              <a:t>JSON object on its own</a:t>
            </a:r>
          </a:p>
          <a:p>
            <a:r>
              <a:rPr lang="en-CA" smtClean="0"/>
              <a:t>Mainly used in web applications (or services)</a:t>
            </a:r>
          </a:p>
          <a:p>
            <a:r>
              <a:rPr lang="en-CA" smtClean="0"/>
              <a:t>Can be used in JavaScript, Node.js, Java, .NET, Python, PHP, Ruby, etc.</a:t>
            </a:r>
          </a:p>
          <a:p>
            <a:r>
              <a:rPr lang="en-CA" smtClean="0"/>
              <a:t>Can be used/passed as part of URL (query string), from body parameter, cookie or HTTP Header</a:t>
            </a:r>
          </a:p>
          <a:p>
            <a:r>
              <a:rPr lang="en-CA" smtClean="0"/>
              <a:t>Great for single sign-on context</a:t>
            </a:r>
          </a:p>
          <a:p>
            <a:endParaRPr lang="en-CA" smtClean="0"/>
          </a:p>
          <a:p>
            <a:endParaRPr lang="en-CA" dirty="0"/>
          </a:p>
        </p:txBody>
      </p:sp>
    </p:spTree>
    <p:extLst>
      <p:ext uri="{BB962C8B-B14F-4D97-AF65-F5344CB8AC3E}">
        <p14:creationId xmlns:p14="http://schemas.microsoft.com/office/powerpoint/2010/main" val="3348485654"/>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JWT token</a:t>
            </a:r>
            <a:endParaRPr lang="en-CA" dirty="0"/>
          </a:p>
        </p:txBody>
      </p:sp>
      <p:sp>
        <p:nvSpPr>
          <p:cNvPr id="3" name="Content Placeholder 2"/>
          <p:cNvSpPr>
            <a:spLocks noGrp="1"/>
          </p:cNvSpPr>
          <p:nvPr>
            <p:ph idx="1"/>
          </p:nvPr>
        </p:nvSpPr>
        <p:spPr/>
        <p:txBody>
          <a:bodyPr/>
          <a:lstStyle/>
          <a:p>
            <a:r>
              <a:rPr lang="en-CA" dirty="0" smtClean="0"/>
              <a:t>A JWT token is simply a JSON object that has information about the user. For example:</a:t>
            </a:r>
            <a:endParaRPr lang="en-CA" dirty="0"/>
          </a:p>
        </p:txBody>
      </p:sp>
      <p:sp>
        <p:nvSpPr>
          <p:cNvPr id="4" name="Rectangle 3"/>
          <p:cNvSpPr/>
          <p:nvPr/>
        </p:nvSpPr>
        <p:spPr>
          <a:xfrm>
            <a:off x="2700528" y="3557677"/>
            <a:ext cx="7165848" cy="1754326"/>
          </a:xfrm>
          <a:prstGeom prst="rect">
            <a:avLst/>
          </a:prstGeom>
        </p:spPr>
        <p:txBody>
          <a:bodyPr wrap="square">
            <a:spAutoFit/>
          </a:bodyPr>
          <a:lstStyle/>
          <a:p>
            <a:r>
              <a:rPr lang="en-CA" dirty="0" smtClean="0">
                <a:latin typeface="Lucida Console" panose="020B0609040504020204" pitchFamily="49" charset="0"/>
              </a:rPr>
              <a:t>{</a:t>
            </a:r>
          </a:p>
          <a:p>
            <a:r>
              <a:rPr lang="en-CA" dirty="0" smtClean="0">
                <a:latin typeface="Lucida Console" panose="020B0609040504020204" pitchFamily="49" charset="0"/>
              </a:rPr>
              <a:t>    "user": “</a:t>
            </a:r>
            <a:r>
              <a:rPr lang="en-CA" dirty="0" err="1" smtClean="0">
                <a:latin typeface="Lucida Console" panose="020B0609040504020204" pitchFamily="49" charset="0"/>
              </a:rPr>
              <a:t>benlee</a:t>
            </a:r>
            <a:r>
              <a:rPr lang="en-CA" dirty="0" smtClean="0">
                <a:latin typeface="Lucida Console" panose="020B0609040504020204" pitchFamily="49" charset="0"/>
              </a:rPr>
              <a:t>",</a:t>
            </a:r>
          </a:p>
          <a:p>
            <a:r>
              <a:rPr lang="en-CA" dirty="0" smtClean="0">
                <a:latin typeface="Lucida Console" panose="020B0609040504020204" pitchFamily="49" charset="0"/>
              </a:rPr>
              <a:t>    "email": "ben@lee.com",</a:t>
            </a:r>
          </a:p>
          <a:p>
            <a:r>
              <a:rPr lang="en-CA" dirty="0" smtClean="0">
                <a:latin typeface="Lucida Console" panose="020B0609040504020204" pitchFamily="49" charset="0"/>
              </a:rPr>
              <a:t>    "</a:t>
            </a:r>
            <a:r>
              <a:rPr lang="en-CA" dirty="0" err="1" smtClean="0">
                <a:latin typeface="Lucida Console" panose="020B0609040504020204" pitchFamily="49" charset="0"/>
              </a:rPr>
              <a:t>access_token</a:t>
            </a:r>
            <a:r>
              <a:rPr lang="en-CA" dirty="0" smtClean="0">
                <a:latin typeface="Lucida Console" panose="020B0609040504020204" pitchFamily="49" charset="0"/>
              </a:rPr>
              <a:t>": "at145451sd451sd4u7t3",</a:t>
            </a:r>
          </a:p>
          <a:p>
            <a:r>
              <a:rPr lang="en-CA" dirty="0" smtClean="0">
                <a:latin typeface="Lucida Console" panose="020B0609040504020204" pitchFamily="49" charset="0"/>
              </a:rPr>
              <a:t>    "</a:t>
            </a:r>
            <a:r>
              <a:rPr lang="en-CA" dirty="0" err="1" smtClean="0">
                <a:latin typeface="Lucida Console" panose="020B0609040504020204" pitchFamily="49" charset="0"/>
              </a:rPr>
              <a:t>expire_at</a:t>
            </a:r>
            <a:r>
              <a:rPr lang="en-CA" dirty="0" smtClean="0">
                <a:latin typeface="Lucida Console" panose="020B0609040504020204" pitchFamily="49" charset="0"/>
              </a:rPr>
              <a:t>"; "11245964"</a:t>
            </a:r>
          </a:p>
          <a:p>
            <a:r>
              <a:rPr lang="en-CA" dirty="0" smtClean="0">
                <a:latin typeface="Lucida Console" panose="020B0609040504020204" pitchFamily="49" charset="0"/>
              </a:rPr>
              <a:t>}</a:t>
            </a:r>
            <a:endParaRPr lang="en-CA" dirty="0">
              <a:latin typeface="Lucida Console" panose="020B0609040504020204" pitchFamily="49" charset="0"/>
            </a:endParaRPr>
          </a:p>
        </p:txBody>
      </p:sp>
    </p:spTree>
    <p:extLst>
      <p:ext uri="{BB962C8B-B14F-4D97-AF65-F5344CB8AC3E}">
        <p14:creationId xmlns:p14="http://schemas.microsoft.com/office/powerpoint/2010/main" val="20834474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Token tampering</a:t>
            </a:r>
            <a:endParaRPr lang="en-CA" dirty="0"/>
          </a:p>
        </p:txBody>
      </p:sp>
      <p:sp>
        <p:nvSpPr>
          <p:cNvPr id="3" name="Content Placeholder 2"/>
          <p:cNvSpPr>
            <a:spLocks noGrp="1"/>
          </p:cNvSpPr>
          <p:nvPr>
            <p:ph idx="1"/>
          </p:nvPr>
        </p:nvSpPr>
        <p:spPr/>
        <p:txBody>
          <a:bodyPr/>
          <a:lstStyle/>
          <a:p>
            <a:r>
              <a:rPr lang="en-CA" dirty="0" smtClean="0"/>
              <a:t>To token tampering, JWTs need to be signed by the server. </a:t>
            </a:r>
          </a:p>
          <a:p>
            <a:r>
              <a:rPr lang="en-CA" dirty="0" smtClean="0"/>
              <a:t>If the token is changed on the client side, the token's signature will no longer be valid and the server will deny access to the requested resource.</a:t>
            </a:r>
            <a:endParaRPr lang="en-CA" dirty="0"/>
          </a:p>
        </p:txBody>
      </p:sp>
    </p:spTree>
    <p:extLst>
      <p:ext uri="{BB962C8B-B14F-4D97-AF65-F5344CB8AC3E}">
        <p14:creationId xmlns:p14="http://schemas.microsoft.com/office/powerpoint/2010/main" val="15647374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What is PHP-JWT</a:t>
            </a:r>
            <a:endParaRPr lang="en-CA" dirty="0"/>
          </a:p>
        </p:txBody>
      </p:sp>
      <p:sp>
        <p:nvSpPr>
          <p:cNvPr id="3" name="Content Placeholder 2"/>
          <p:cNvSpPr>
            <a:spLocks noGrp="1"/>
          </p:cNvSpPr>
          <p:nvPr>
            <p:ph idx="1"/>
          </p:nvPr>
        </p:nvSpPr>
        <p:spPr/>
        <p:txBody>
          <a:bodyPr/>
          <a:lstStyle/>
          <a:p>
            <a:r>
              <a:rPr lang="en-CA" dirty="0" err="1" smtClean="0"/>
              <a:t>php-jwt</a:t>
            </a:r>
            <a:r>
              <a:rPr lang="en-CA" dirty="0" smtClean="0"/>
              <a:t> is a PHP library that allows you to encode and decode JSON Web Tokens (JWT) in PHP</a:t>
            </a:r>
            <a:endParaRPr lang="en-CA" dirty="0"/>
          </a:p>
        </p:txBody>
      </p:sp>
    </p:spTree>
    <p:extLst>
      <p:ext uri="{BB962C8B-B14F-4D97-AF65-F5344CB8AC3E}">
        <p14:creationId xmlns:p14="http://schemas.microsoft.com/office/powerpoint/2010/main" val="39119994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Token data structure </a:t>
            </a:r>
            <a:endParaRPr lang="en-CA" dirty="0"/>
          </a:p>
        </p:txBody>
      </p:sp>
      <p:sp>
        <p:nvSpPr>
          <p:cNvPr id="3" name="Content Placeholder 2"/>
          <p:cNvSpPr>
            <a:spLocks noGrp="1"/>
          </p:cNvSpPr>
          <p:nvPr>
            <p:ph idx="1"/>
          </p:nvPr>
        </p:nvSpPr>
        <p:spPr/>
        <p:txBody>
          <a:bodyPr/>
          <a:lstStyle/>
          <a:p>
            <a:r>
              <a:rPr lang="en-CA" dirty="0" smtClean="0"/>
              <a:t>You can define a token’s data structure as you want (I.E. You can add user's email or ID or both with any extra information like the user's name)</a:t>
            </a:r>
          </a:p>
          <a:p>
            <a:r>
              <a:rPr lang="en-CA" dirty="0"/>
              <a:t>T</a:t>
            </a:r>
            <a:r>
              <a:rPr lang="en-CA" dirty="0" smtClean="0"/>
              <a:t>here are, however,  some reserved JWT claims that should be defined properly because they affect the validity of the JWT token</a:t>
            </a:r>
            <a:endParaRPr lang="en-CA" dirty="0"/>
          </a:p>
        </p:txBody>
      </p:sp>
    </p:spTree>
    <p:extLst>
      <p:ext uri="{BB962C8B-B14F-4D97-AF65-F5344CB8AC3E}">
        <p14:creationId xmlns:p14="http://schemas.microsoft.com/office/powerpoint/2010/main" val="18667488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Reserved JWT claims </a:t>
            </a:r>
            <a:endParaRPr lang="en-CA"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594977919"/>
              </p:ext>
            </p:extLst>
          </p:nvPr>
        </p:nvGraphicFramePr>
        <p:xfrm>
          <a:off x="838200" y="1825625"/>
          <a:ext cx="10515600" cy="4206240"/>
        </p:xfrm>
        <a:graphic>
          <a:graphicData uri="http://schemas.openxmlformats.org/drawingml/2006/table">
            <a:tbl>
              <a:tblPr bandRow="1">
                <a:tableStyleId>{5940675A-B579-460E-94D1-54222C63F5DA}</a:tableStyleId>
              </a:tblPr>
              <a:tblGrid>
                <a:gridCol w="1383792">
                  <a:extLst>
                    <a:ext uri="{9D8B030D-6E8A-4147-A177-3AD203B41FA5}">
                      <a16:colId xmlns:a16="http://schemas.microsoft.com/office/drawing/2014/main" val="4251979356"/>
                    </a:ext>
                  </a:extLst>
                </a:gridCol>
                <a:gridCol w="9131808">
                  <a:extLst>
                    <a:ext uri="{9D8B030D-6E8A-4147-A177-3AD203B41FA5}">
                      <a16:colId xmlns:a16="http://schemas.microsoft.com/office/drawing/2014/main" val="3425177439"/>
                    </a:ext>
                  </a:extLst>
                </a:gridCol>
              </a:tblGrid>
              <a:tr h="370840">
                <a:tc>
                  <a:txBody>
                    <a:bodyPr/>
                    <a:lstStyle/>
                    <a:p>
                      <a:r>
                        <a:rPr lang="en-CA" sz="2800" dirty="0" err="1" smtClean="0"/>
                        <a:t>iat</a:t>
                      </a:r>
                      <a:endParaRPr lang="en-CA" sz="2800" dirty="0"/>
                    </a:p>
                  </a:txBody>
                  <a:tcPr/>
                </a:tc>
                <a:tc>
                  <a:txBody>
                    <a:bodyPr/>
                    <a:lstStyle/>
                    <a:p>
                      <a:r>
                        <a:rPr lang="en-CA" sz="2800" dirty="0" smtClean="0"/>
                        <a:t>timestamp of token issuing</a:t>
                      </a:r>
                      <a:endParaRPr lang="en-CA" sz="2800" dirty="0"/>
                    </a:p>
                  </a:txBody>
                  <a:tcPr/>
                </a:tc>
                <a:extLst>
                  <a:ext uri="{0D108BD9-81ED-4DB2-BD59-A6C34878D82A}">
                    <a16:rowId xmlns:a16="http://schemas.microsoft.com/office/drawing/2014/main" val="3184444248"/>
                  </a:ext>
                </a:extLst>
              </a:tr>
              <a:tr h="370840">
                <a:tc>
                  <a:txBody>
                    <a:bodyPr/>
                    <a:lstStyle/>
                    <a:p>
                      <a:r>
                        <a:rPr lang="en-CA" sz="2800" dirty="0" err="1" smtClean="0"/>
                        <a:t>iss</a:t>
                      </a:r>
                      <a:r>
                        <a:rPr lang="en-CA" sz="2800" dirty="0" smtClean="0"/>
                        <a:t> </a:t>
                      </a:r>
                      <a:endParaRPr lang="en-CA" sz="2800" dirty="0"/>
                    </a:p>
                  </a:txBody>
                  <a:tcPr/>
                </a:tc>
                <a:tc>
                  <a:txBody>
                    <a:bodyPr/>
                    <a:lstStyle/>
                    <a:p>
                      <a:r>
                        <a:rPr lang="en-CA" sz="2800" dirty="0" smtClean="0"/>
                        <a:t>string containing identifier of the issuer application. Can be a domain name and can be used to discard tokens from other applications</a:t>
                      </a:r>
                      <a:endParaRPr lang="en-CA" sz="2800" dirty="0"/>
                    </a:p>
                  </a:txBody>
                  <a:tcPr/>
                </a:tc>
                <a:extLst>
                  <a:ext uri="{0D108BD9-81ED-4DB2-BD59-A6C34878D82A}">
                    <a16:rowId xmlns:a16="http://schemas.microsoft.com/office/drawing/2014/main" val="2966842726"/>
                  </a:ext>
                </a:extLst>
              </a:tr>
              <a:tr h="370840">
                <a:tc>
                  <a:txBody>
                    <a:bodyPr/>
                    <a:lstStyle/>
                    <a:p>
                      <a:r>
                        <a:rPr lang="en-CA" sz="2800" dirty="0" err="1" smtClean="0"/>
                        <a:t>nbf</a:t>
                      </a:r>
                      <a:r>
                        <a:rPr lang="en-CA" sz="2800" dirty="0" smtClean="0"/>
                        <a:t> </a:t>
                      </a:r>
                      <a:endParaRPr lang="en-CA" sz="2800" dirty="0"/>
                    </a:p>
                  </a:txBody>
                  <a:tcPr/>
                </a:tc>
                <a:tc>
                  <a:txBody>
                    <a:bodyPr/>
                    <a:lstStyle/>
                    <a:p>
                      <a:r>
                        <a:rPr lang="en-CA" sz="2800" dirty="0" smtClean="0"/>
                        <a:t>Timestamp of when the token should start being considered valid. Should be equal to or greater than </a:t>
                      </a:r>
                      <a:r>
                        <a:rPr lang="en-CA" sz="2800" dirty="0" err="1" smtClean="0"/>
                        <a:t>iat</a:t>
                      </a:r>
                      <a:r>
                        <a:rPr lang="en-CA" sz="2800" dirty="0" smtClean="0"/>
                        <a:t>. In this example, the token will begin to be valid 10 seconds after being issued</a:t>
                      </a:r>
                      <a:endParaRPr lang="en-CA" sz="2800" dirty="0"/>
                    </a:p>
                  </a:txBody>
                  <a:tcPr/>
                </a:tc>
                <a:extLst>
                  <a:ext uri="{0D108BD9-81ED-4DB2-BD59-A6C34878D82A}">
                    <a16:rowId xmlns:a16="http://schemas.microsoft.com/office/drawing/2014/main" val="2325256310"/>
                  </a:ext>
                </a:extLst>
              </a:tr>
              <a:tr h="370840">
                <a:tc>
                  <a:txBody>
                    <a:bodyPr/>
                    <a:lstStyle/>
                    <a:p>
                      <a:r>
                        <a:rPr lang="en-CA" sz="2800" dirty="0" err="1" smtClean="0"/>
                        <a:t>exp</a:t>
                      </a:r>
                      <a:r>
                        <a:rPr lang="en-CA" sz="2800" dirty="0" smtClean="0"/>
                        <a:t> </a:t>
                      </a:r>
                      <a:endParaRPr lang="en-CA" sz="2800" dirty="0"/>
                    </a:p>
                  </a:txBody>
                  <a:tcPr/>
                </a:tc>
                <a:tc>
                  <a:txBody>
                    <a:bodyPr/>
                    <a:lstStyle/>
                    <a:p>
                      <a:r>
                        <a:rPr lang="en-CA" sz="2800" dirty="0" smtClean="0"/>
                        <a:t>Timestamp of when the token should expire. Needs to be greater than </a:t>
                      </a:r>
                      <a:r>
                        <a:rPr lang="en-CA" sz="2800" dirty="0" err="1" smtClean="0"/>
                        <a:t>iat</a:t>
                      </a:r>
                      <a:r>
                        <a:rPr lang="en-CA" sz="2800" dirty="0" smtClean="0"/>
                        <a:t> and </a:t>
                      </a:r>
                      <a:r>
                        <a:rPr lang="en-CA" sz="2800" dirty="0" err="1" smtClean="0"/>
                        <a:t>nbf</a:t>
                      </a:r>
                      <a:r>
                        <a:rPr lang="en-CA" sz="2800" dirty="0" smtClean="0"/>
                        <a:t>. </a:t>
                      </a:r>
                      <a:endParaRPr lang="en-CA" sz="2800" dirty="0"/>
                    </a:p>
                  </a:txBody>
                  <a:tcPr/>
                </a:tc>
                <a:extLst>
                  <a:ext uri="{0D108BD9-81ED-4DB2-BD59-A6C34878D82A}">
                    <a16:rowId xmlns:a16="http://schemas.microsoft.com/office/drawing/2014/main" val="1737645312"/>
                  </a:ext>
                </a:extLst>
              </a:tr>
            </a:tbl>
          </a:graphicData>
        </a:graphic>
      </p:graphicFrame>
    </p:spTree>
    <p:extLst>
      <p:ext uri="{BB962C8B-B14F-4D97-AF65-F5344CB8AC3E}">
        <p14:creationId xmlns:p14="http://schemas.microsoft.com/office/powerpoint/2010/main" val="31947839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JWT - structure</a:t>
            </a:r>
          </a:p>
        </p:txBody>
      </p:sp>
      <p:sp>
        <p:nvSpPr>
          <p:cNvPr id="3" name="Text Placeholder 2"/>
          <p:cNvSpPr>
            <a:spLocks noGrp="1"/>
          </p:cNvSpPr>
          <p:nvPr>
            <p:ph type="body" sz="quarter" idx="10"/>
          </p:nvPr>
        </p:nvSpPr>
        <p:spPr>
          <a:xfrm>
            <a:off x="518455" y="1219200"/>
            <a:ext cx="5619868" cy="5181600"/>
          </a:xfrm>
        </p:spPr>
        <p:txBody>
          <a:bodyPr>
            <a:normAutofit lnSpcReduction="10000"/>
          </a:bodyPr>
          <a:lstStyle/>
          <a:p>
            <a:r>
              <a:rPr lang="en-US" dirty="0"/>
              <a:t>Three sections separated with dots</a:t>
            </a:r>
          </a:p>
          <a:p>
            <a:pPr lvl="1"/>
            <a:r>
              <a:rPr lang="en-US" dirty="0"/>
              <a:t>Header, payload and signature</a:t>
            </a:r>
          </a:p>
          <a:p>
            <a:pPr lvl="1"/>
            <a:r>
              <a:rPr lang="en-US" dirty="0"/>
              <a:t>All as base64 encoded</a:t>
            </a:r>
          </a:p>
          <a:p>
            <a:r>
              <a:rPr lang="en-US" dirty="0"/>
              <a:t>Header – usually contains 2 parts, in the form of JSON</a:t>
            </a:r>
          </a:p>
          <a:p>
            <a:pPr lvl="1"/>
            <a:r>
              <a:rPr lang="en-US" dirty="0" err="1"/>
              <a:t>typ</a:t>
            </a:r>
            <a:r>
              <a:rPr lang="en-US" dirty="0"/>
              <a:t> – should be JWT</a:t>
            </a:r>
          </a:p>
          <a:p>
            <a:pPr lvl="1"/>
            <a:r>
              <a:rPr lang="en-US" dirty="0" err="1"/>
              <a:t>alg</a:t>
            </a:r>
            <a:r>
              <a:rPr lang="en-US" dirty="0"/>
              <a:t> – hashing algorithm (HS256, RS512, ES384 etc.)</a:t>
            </a:r>
          </a:p>
          <a:p>
            <a:r>
              <a:rPr lang="en-US" dirty="0"/>
              <a:t>Payload – contains:</a:t>
            </a:r>
          </a:p>
          <a:p>
            <a:pPr lvl="1"/>
            <a:r>
              <a:rPr lang="en-US" dirty="0"/>
              <a:t>The information we need to transmit</a:t>
            </a:r>
          </a:p>
          <a:p>
            <a:pPr lvl="1"/>
            <a:r>
              <a:rPr lang="en-US" dirty="0"/>
              <a:t>The information related to token itself</a:t>
            </a:r>
          </a:p>
          <a:p>
            <a:pPr lvl="1"/>
            <a:r>
              <a:rPr lang="en-US" dirty="0"/>
              <a:t>Information is JSON representation of claims (key : value)</a:t>
            </a:r>
          </a:p>
          <a:p>
            <a:r>
              <a:rPr lang="en-US" dirty="0"/>
              <a:t>Signature</a:t>
            </a:r>
          </a:p>
          <a:p>
            <a:pPr lvl="1"/>
            <a:r>
              <a:rPr lang="en-US" dirty="0"/>
              <a:t>A hash of header and payload using a secret</a:t>
            </a:r>
          </a:p>
        </p:txBody>
      </p:sp>
      <p:grpSp>
        <p:nvGrpSpPr>
          <p:cNvPr id="12" name="Group 11"/>
          <p:cNvGrpSpPr/>
          <p:nvPr/>
        </p:nvGrpSpPr>
        <p:grpSpPr>
          <a:xfrm>
            <a:off x="5994400" y="1416143"/>
            <a:ext cx="5676768" cy="878355"/>
            <a:chOff x="5994400" y="1088765"/>
            <a:chExt cx="5676768" cy="878355"/>
          </a:xfrm>
        </p:grpSpPr>
        <p:sp>
          <p:nvSpPr>
            <p:cNvPr id="4" name="Rectangle 3"/>
            <p:cNvSpPr/>
            <p:nvPr/>
          </p:nvSpPr>
          <p:spPr>
            <a:xfrm>
              <a:off x="5994400" y="1525600"/>
              <a:ext cx="1659467" cy="3693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r>
                <a:rPr lang="en-US" dirty="0" err="1">
                  <a:solidFill>
                    <a:schemeClr val="tx1"/>
                  </a:solidFill>
                </a:rPr>
                <a:t>abcabcabc</a:t>
              </a:r>
              <a:endParaRPr lang="en-US" dirty="0">
                <a:solidFill>
                  <a:schemeClr val="tx1"/>
                </a:solidFill>
              </a:endParaRPr>
            </a:p>
          </p:txBody>
        </p:sp>
        <p:sp>
          <p:nvSpPr>
            <p:cNvPr id="5" name="Rectangle 4"/>
            <p:cNvSpPr/>
            <p:nvPr/>
          </p:nvSpPr>
          <p:spPr>
            <a:xfrm>
              <a:off x="8004239" y="1525599"/>
              <a:ext cx="1659467" cy="36933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rtlCol="0" anchor="ctr">
              <a:spAutoFit/>
            </a:bodyPr>
            <a:lstStyle/>
            <a:p>
              <a:pPr algn="ctr"/>
              <a:r>
                <a:rPr lang="en-US" dirty="0" err="1">
                  <a:solidFill>
                    <a:schemeClr val="tx1"/>
                  </a:solidFill>
                </a:rPr>
                <a:t>pqrpqrpqr</a:t>
              </a:r>
              <a:endParaRPr lang="en-US" dirty="0">
                <a:solidFill>
                  <a:schemeClr val="tx1"/>
                </a:solidFill>
              </a:endParaRPr>
            </a:p>
          </p:txBody>
        </p:sp>
        <p:sp>
          <p:nvSpPr>
            <p:cNvPr id="6" name="Rectangle 5"/>
            <p:cNvSpPr/>
            <p:nvPr/>
          </p:nvSpPr>
          <p:spPr>
            <a:xfrm>
              <a:off x="10011701" y="1525599"/>
              <a:ext cx="1659467" cy="369332"/>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wrap="square" rtlCol="0" anchor="ctr">
              <a:spAutoFit/>
            </a:bodyPr>
            <a:lstStyle/>
            <a:p>
              <a:pPr algn="ctr"/>
              <a:r>
                <a:rPr lang="en-US" dirty="0" err="1">
                  <a:solidFill>
                    <a:schemeClr val="tx1"/>
                  </a:solidFill>
                </a:rPr>
                <a:t>hijhijhij</a:t>
              </a:r>
              <a:endParaRPr lang="en-US" dirty="0">
                <a:solidFill>
                  <a:schemeClr val="tx1"/>
                </a:solidFill>
              </a:endParaRPr>
            </a:p>
          </p:txBody>
        </p:sp>
        <p:sp>
          <p:nvSpPr>
            <p:cNvPr id="7" name="TextBox 6"/>
            <p:cNvSpPr txBox="1"/>
            <p:nvPr/>
          </p:nvSpPr>
          <p:spPr>
            <a:xfrm>
              <a:off x="7523065" y="1136123"/>
              <a:ext cx="609600" cy="830997"/>
            </a:xfrm>
            <a:prstGeom prst="rect">
              <a:avLst/>
            </a:prstGeom>
            <a:noFill/>
          </p:spPr>
          <p:txBody>
            <a:bodyPr wrap="square" lIns="0" tIns="0" rIns="0" bIns="0" rtlCol="0" anchor="t">
              <a:spAutoFit/>
            </a:bodyPr>
            <a:lstStyle/>
            <a:p>
              <a:pPr algn="ctr"/>
              <a:r>
                <a:rPr lang="en-US" sz="5400" dirty="0">
                  <a:solidFill>
                    <a:schemeClr val="bg1"/>
                  </a:solidFill>
                </a:rPr>
                <a:t>.</a:t>
              </a:r>
            </a:p>
          </p:txBody>
        </p:sp>
        <p:sp>
          <p:nvSpPr>
            <p:cNvPr id="8" name="TextBox 7"/>
            <p:cNvSpPr txBox="1"/>
            <p:nvPr/>
          </p:nvSpPr>
          <p:spPr>
            <a:xfrm>
              <a:off x="9569104" y="1136123"/>
              <a:ext cx="609600" cy="830997"/>
            </a:xfrm>
            <a:prstGeom prst="rect">
              <a:avLst/>
            </a:prstGeom>
            <a:noFill/>
          </p:spPr>
          <p:txBody>
            <a:bodyPr wrap="square" lIns="0" tIns="0" rIns="0" bIns="0" rtlCol="0" anchor="t">
              <a:spAutoFit/>
            </a:bodyPr>
            <a:lstStyle/>
            <a:p>
              <a:pPr algn="ctr"/>
              <a:r>
                <a:rPr lang="en-US" sz="5400" dirty="0">
                  <a:solidFill>
                    <a:schemeClr val="bg1"/>
                  </a:solidFill>
                </a:rPr>
                <a:t>.</a:t>
              </a:r>
            </a:p>
          </p:txBody>
        </p:sp>
        <p:sp>
          <p:nvSpPr>
            <p:cNvPr id="9" name="TextBox 8"/>
            <p:cNvSpPr txBox="1"/>
            <p:nvPr/>
          </p:nvSpPr>
          <p:spPr>
            <a:xfrm>
              <a:off x="6275104" y="1094712"/>
              <a:ext cx="1098058" cy="430887"/>
            </a:xfrm>
            <a:prstGeom prst="rect">
              <a:avLst/>
            </a:prstGeom>
            <a:noFill/>
          </p:spPr>
          <p:txBody>
            <a:bodyPr wrap="none" lIns="0" tIns="0" rIns="0" bIns="0" rtlCol="0">
              <a:spAutoFit/>
            </a:bodyPr>
            <a:lstStyle/>
            <a:p>
              <a:r>
                <a:rPr lang="en-US" sz="2800" dirty="0">
                  <a:solidFill>
                    <a:schemeClr val="bg1"/>
                  </a:solidFill>
                </a:rPr>
                <a:t>header</a:t>
              </a:r>
            </a:p>
          </p:txBody>
        </p:sp>
        <p:sp>
          <p:nvSpPr>
            <p:cNvPr id="10" name="TextBox 9"/>
            <p:cNvSpPr txBox="1"/>
            <p:nvPr/>
          </p:nvSpPr>
          <p:spPr>
            <a:xfrm>
              <a:off x="8143131" y="1088765"/>
              <a:ext cx="1248868" cy="430887"/>
            </a:xfrm>
            <a:prstGeom prst="rect">
              <a:avLst/>
            </a:prstGeom>
            <a:noFill/>
          </p:spPr>
          <p:txBody>
            <a:bodyPr wrap="none" lIns="0" tIns="0" rIns="0" bIns="0" rtlCol="0">
              <a:spAutoFit/>
            </a:bodyPr>
            <a:lstStyle/>
            <a:p>
              <a:r>
                <a:rPr lang="en-US" sz="2800" dirty="0">
                  <a:solidFill>
                    <a:schemeClr val="bg1"/>
                  </a:solidFill>
                </a:rPr>
                <a:t>payload</a:t>
              </a:r>
            </a:p>
          </p:txBody>
        </p:sp>
        <p:sp>
          <p:nvSpPr>
            <p:cNvPr id="11" name="TextBox 10"/>
            <p:cNvSpPr txBox="1"/>
            <p:nvPr/>
          </p:nvSpPr>
          <p:spPr>
            <a:xfrm>
              <a:off x="10093429" y="1088765"/>
              <a:ext cx="1470018" cy="430887"/>
            </a:xfrm>
            <a:prstGeom prst="rect">
              <a:avLst/>
            </a:prstGeom>
            <a:noFill/>
          </p:spPr>
          <p:txBody>
            <a:bodyPr wrap="none" lIns="0" tIns="0" rIns="0" bIns="0" rtlCol="0">
              <a:spAutoFit/>
            </a:bodyPr>
            <a:lstStyle/>
            <a:p>
              <a:r>
                <a:rPr lang="en-US" sz="2800" dirty="0">
                  <a:solidFill>
                    <a:schemeClr val="bg1"/>
                  </a:solidFill>
                </a:rPr>
                <a:t>signature</a:t>
              </a:r>
            </a:p>
          </p:txBody>
        </p:sp>
      </p:grpSp>
      <p:sp>
        <p:nvSpPr>
          <p:cNvPr id="13" name="TextBox 12"/>
          <p:cNvSpPr txBox="1"/>
          <p:nvPr/>
        </p:nvSpPr>
        <p:spPr>
          <a:xfrm>
            <a:off x="6165388" y="2612718"/>
            <a:ext cx="1761555" cy="984885"/>
          </a:xfrm>
          <a:prstGeom prst="rect">
            <a:avLst/>
          </a:prstGeom>
          <a:ln>
            <a:solidFill>
              <a:schemeClr val="tx1">
                <a:lumMod val="65000"/>
              </a:schemeClr>
            </a:solidFill>
          </a:ln>
        </p:spPr>
        <p:style>
          <a:lnRef idx="2">
            <a:schemeClr val="dk1"/>
          </a:lnRef>
          <a:fillRef idx="1">
            <a:schemeClr val="lt1"/>
          </a:fillRef>
          <a:effectRef idx="0">
            <a:schemeClr val="dk1"/>
          </a:effectRef>
          <a:fontRef idx="minor">
            <a:schemeClr val="dk1"/>
          </a:fontRef>
        </p:style>
        <p:txBody>
          <a:bodyPr wrap="square" lIns="0" tIns="0" rIns="0" bIns="0" rtlCol="0">
            <a:spAutoFit/>
          </a:bodyPr>
          <a:lstStyle/>
          <a:p>
            <a:r>
              <a:rPr lang="en-US" sz="1600" dirty="0">
                <a:solidFill>
                  <a:schemeClr val="tx2"/>
                </a:solidFill>
              </a:rPr>
              <a:t>{</a:t>
            </a:r>
          </a:p>
          <a:p>
            <a:r>
              <a:rPr lang="en-US" sz="1600" dirty="0">
                <a:solidFill>
                  <a:schemeClr val="tx2"/>
                </a:solidFill>
              </a:rPr>
              <a:t>  "</a:t>
            </a:r>
            <a:r>
              <a:rPr lang="en-US" sz="1600" dirty="0" err="1">
                <a:solidFill>
                  <a:schemeClr val="tx2"/>
                </a:solidFill>
              </a:rPr>
              <a:t>typ</a:t>
            </a:r>
            <a:r>
              <a:rPr lang="en-US" sz="1600" dirty="0">
                <a:solidFill>
                  <a:schemeClr val="tx2"/>
                </a:solidFill>
              </a:rPr>
              <a:t>": "JWT",</a:t>
            </a:r>
          </a:p>
          <a:p>
            <a:r>
              <a:rPr lang="en-US" sz="1600" dirty="0">
                <a:solidFill>
                  <a:schemeClr val="tx2"/>
                </a:solidFill>
              </a:rPr>
              <a:t>  "</a:t>
            </a:r>
            <a:r>
              <a:rPr lang="en-US" sz="1600" dirty="0" err="1">
                <a:solidFill>
                  <a:schemeClr val="tx2"/>
                </a:solidFill>
              </a:rPr>
              <a:t>alg</a:t>
            </a:r>
            <a:r>
              <a:rPr lang="en-US" sz="1600" dirty="0">
                <a:solidFill>
                  <a:schemeClr val="tx2"/>
                </a:solidFill>
              </a:rPr>
              <a:t>": "HS256"</a:t>
            </a:r>
          </a:p>
          <a:p>
            <a:r>
              <a:rPr lang="en-US" sz="1600" dirty="0">
                <a:solidFill>
                  <a:schemeClr val="tx2"/>
                </a:solidFill>
              </a:rPr>
              <a:t>}</a:t>
            </a:r>
          </a:p>
        </p:txBody>
      </p:sp>
      <p:cxnSp>
        <p:nvCxnSpPr>
          <p:cNvPr id="15" name="Straight Arrow Connector 14"/>
          <p:cNvCxnSpPr>
            <a:cxnSpLocks/>
            <a:stCxn id="13" idx="0"/>
            <a:endCxn id="4" idx="2"/>
          </p:cNvCxnSpPr>
          <p:nvPr/>
        </p:nvCxnSpPr>
        <p:spPr>
          <a:xfrm flipH="1" flipV="1">
            <a:off x="6824134" y="2222310"/>
            <a:ext cx="222032" cy="390408"/>
          </a:xfrm>
          <a:prstGeom prst="straightConnector1">
            <a:avLst/>
          </a:prstGeom>
          <a:ln w="38100">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6224516" y="3758886"/>
            <a:ext cx="1809680" cy="1261884"/>
          </a:xfrm>
          <a:prstGeom prst="rect">
            <a:avLst/>
          </a:prstGeom>
          <a:ln>
            <a:solidFill>
              <a:schemeClr val="tx1">
                <a:lumMod val="65000"/>
              </a:schemeClr>
            </a:solidFill>
          </a:ln>
        </p:spPr>
        <p:style>
          <a:lnRef idx="2">
            <a:schemeClr val="dk1"/>
          </a:lnRef>
          <a:fillRef idx="1">
            <a:schemeClr val="lt1"/>
          </a:fillRef>
          <a:effectRef idx="0">
            <a:schemeClr val="dk1"/>
          </a:effectRef>
          <a:fontRef idx="minor">
            <a:schemeClr val="dk1"/>
          </a:fontRef>
        </p:style>
        <p:txBody>
          <a:bodyPr wrap="square" lIns="0" tIns="0" rIns="0" bIns="0" rtlCol="0">
            <a:spAutoFit/>
          </a:bodyPr>
          <a:lstStyle/>
          <a:p>
            <a:r>
              <a:rPr lang="en-US" sz="1600" dirty="0">
                <a:solidFill>
                  <a:schemeClr val="tx2"/>
                </a:solidFill>
              </a:rPr>
              <a:t>{</a:t>
            </a:r>
          </a:p>
          <a:p>
            <a:r>
              <a:rPr lang="en-US" sz="1600" dirty="0">
                <a:solidFill>
                  <a:schemeClr val="tx2"/>
                </a:solidFill>
              </a:rPr>
              <a:t>  "</a:t>
            </a:r>
            <a:r>
              <a:rPr lang="en-US" sz="1600" dirty="0" err="1">
                <a:solidFill>
                  <a:schemeClr val="tx2"/>
                </a:solidFill>
              </a:rPr>
              <a:t>iss</a:t>
            </a:r>
            <a:r>
              <a:rPr lang="en-US" sz="1600" dirty="0">
                <a:solidFill>
                  <a:schemeClr val="tx2"/>
                </a:solidFill>
              </a:rPr>
              <a:t>": "HSBC",</a:t>
            </a:r>
          </a:p>
          <a:p>
            <a:r>
              <a:rPr lang="en-US" sz="1600" dirty="0">
                <a:solidFill>
                  <a:schemeClr val="tx2"/>
                </a:solidFill>
              </a:rPr>
              <a:t>  "name": "John",</a:t>
            </a:r>
          </a:p>
          <a:p>
            <a:r>
              <a:rPr lang="en-US" sz="1600" dirty="0">
                <a:solidFill>
                  <a:schemeClr val="tx2"/>
                </a:solidFill>
              </a:rPr>
              <a:t>  "admin": false</a:t>
            </a:r>
          </a:p>
          <a:p>
            <a:r>
              <a:rPr lang="en-US" sz="1600" dirty="0">
                <a:solidFill>
                  <a:schemeClr val="tx2"/>
                </a:solidFill>
              </a:rPr>
              <a:t>}</a:t>
            </a:r>
          </a:p>
        </p:txBody>
      </p:sp>
      <p:cxnSp>
        <p:nvCxnSpPr>
          <p:cNvPr id="20" name="Straight Arrow Connector 19"/>
          <p:cNvCxnSpPr>
            <a:cxnSpLocks/>
            <a:stCxn id="18" idx="3"/>
            <a:endCxn id="5" idx="2"/>
          </p:cNvCxnSpPr>
          <p:nvPr/>
        </p:nvCxnSpPr>
        <p:spPr>
          <a:xfrm flipV="1">
            <a:off x="8034196" y="2222309"/>
            <a:ext cx="799777" cy="2167519"/>
          </a:xfrm>
          <a:prstGeom prst="straightConnector1">
            <a:avLst/>
          </a:prstGeom>
          <a:ln w="38100">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24" name="TextBox 23"/>
          <p:cNvSpPr txBox="1"/>
          <p:nvPr/>
        </p:nvSpPr>
        <p:spPr>
          <a:xfrm>
            <a:off x="6224516" y="5133248"/>
            <a:ext cx="2144890" cy="1508105"/>
          </a:xfrm>
          <a:prstGeom prst="rect">
            <a:avLst/>
          </a:prstGeom>
          <a:ln>
            <a:solidFill>
              <a:schemeClr val="tx1">
                <a:lumMod val="65000"/>
              </a:schemeClr>
            </a:solidFill>
          </a:ln>
        </p:spPr>
        <p:style>
          <a:lnRef idx="2">
            <a:schemeClr val="dk1"/>
          </a:lnRef>
          <a:fillRef idx="1">
            <a:schemeClr val="lt1"/>
          </a:fillRef>
          <a:effectRef idx="0">
            <a:schemeClr val="dk1"/>
          </a:effectRef>
          <a:fontRef idx="minor">
            <a:schemeClr val="dk1"/>
          </a:fontRef>
        </p:style>
        <p:txBody>
          <a:bodyPr wrap="square" lIns="0" tIns="0" rIns="0" bIns="0" rtlCol="0">
            <a:spAutoFit/>
          </a:bodyPr>
          <a:lstStyle/>
          <a:p>
            <a:r>
              <a:rPr lang="en-US" sz="1400" dirty="0" err="1">
                <a:solidFill>
                  <a:schemeClr val="tx2"/>
                </a:solidFill>
              </a:rPr>
              <a:t>iss</a:t>
            </a:r>
            <a:r>
              <a:rPr lang="en-US" sz="1400" dirty="0">
                <a:solidFill>
                  <a:schemeClr val="tx2"/>
                </a:solidFill>
              </a:rPr>
              <a:t> - issuer</a:t>
            </a:r>
          </a:p>
          <a:p>
            <a:r>
              <a:rPr lang="en-US" sz="1400" dirty="0">
                <a:solidFill>
                  <a:schemeClr val="tx2"/>
                </a:solidFill>
              </a:rPr>
              <a:t>sub - subject</a:t>
            </a:r>
          </a:p>
          <a:p>
            <a:r>
              <a:rPr lang="en-US" sz="1400" dirty="0" err="1">
                <a:solidFill>
                  <a:schemeClr val="tx2"/>
                </a:solidFill>
              </a:rPr>
              <a:t>aud</a:t>
            </a:r>
            <a:r>
              <a:rPr lang="en-US" sz="1400" dirty="0">
                <a:solidFill>
                  <a:schemeClr val="tx2"/>
                </a:solidFill>
              </a:rPr>
              <a:t> - audience</a:t>
            </a:r>
          </a:p>
          <a:p>
            <a:r>
              <a:rPr lang="en-US" sz="1400" dirty="0" err="1">
                <a:solidFill>
                  <a:schemeClr val="tx2"/>
                </a:solidFill>
              </a:rPr>
              <a:t>exp</a:t>
            </a:r>
            <a:r>
              <a:rPr lang="en-US" sz="1400" dirty="0">
                <a:solidFill>
                  <a:schemeClr val="tx2"/>
                </a:solidFill>
              </a:rPr>
              <a:t> - expiration time</a:t>
            </a:r>
          </a:p>
          <a:p>
            <a:r>
              <a:rPr lang="en-US" sz="1400" dirty="0" err="1">
                <a:solidFill>
                  <a:schemeClr val="tx2"/>
                </a:solidFill>
              </a:rPr>
              <a:t>nbf</a:t>
            </a:r>
            <a:r>
              <a:rPr lang="en-US" sz="1400" dirty="0">
                <a:solidFill>
                  <a:schemeClr val="tx2"/>
                </a:solidFill>
              </a:rPr>
              <a:t> - not before</a:t>
            </a:r>
          </a:p>
          <a:p>
            <a:r>
              <a:rPr lang="en-US" sz="1400" dirty="0" err="1">
                <a:solidFill>
                  <a:schemeClr val="tx2"/>
                </a:solidFill>
              </a:rPr>
              <a:t>iat</a:t>
            </a:r>
            <a:r>
              <a:rPr lang="en-US" sz="1400" dirty="0">
                <a:solidFill>
                  <a:schemeClr val="tx2"/>
                </a:solidFill>
              </a:rPr>
              <a:t> - issued at</a:t>
            </a:r>
          </a:p>
          <a:p>
            <a:r>
              <a:rPr lang="en-US" sz="1400" dirty="0" err="1">
                <a:solidFill>
                  <a:schemeClr val="tx2"/>
                </a:solidFill>
              </a:rPr>
              <a:t>jti</a:t>
            </a:r>
            <a:r>
              <a:rPr lang="en-US" sz="1400" dirty="0">
                <a:solidFill>
                  <a:schemeClr val="tx2"/>
                </a:solidFill>
              </a:rPr>
              <a:t> - JWT id</a:t>
            </a:r>
          </a:p>
        </p:txBody>
      </p:sp>
      <p:sp>
        <p:nvSpPr>
          <p:cNvPr id="30" name="TextBox 29"/>
          <p:cNvSpPr txBox="1"/>
          <p:nvPr/>
        </p:nvSpPr>
        <p:spPr>
          <a:xfrm>
            <a:off x="8466667" y="3891315"/>
            <a:ext cx="3658791" cy="984885"/>
          </a:xfrm>
          <a:prstGeom prst="rect">
            <a:avLst/>
          </a:prstGeom>
          <a:ln>
            <a:solidFill>
              <a:schemeClr val="tx1">
                <a:lumMod val="65000"/>
              </a:schemeClr>
            </a:solidFill>
          </a:ln>
        </p:spPr>
        <p:style>
          <a:lnRef idx="2">
            <a:schemeClr val="dk1"/>
          </a:lnRef>
          <a:fillRef idx="1">
            <a:schemeClr val="lt1"/>
          </a:fillRef>
          <a:effectRef idx="0">
            <a:schemeClr val="dk1"/>
          </a:effectRef>
          <a:fontRef idx="minor">
            <a:schemeClr val="dk1"/>
          </a:fontRef>
        </p:style>
        <p:txBody>
          <a:bodyPr wrap="square" lIns="0" tIns="0" rIns="0" bIns="0" rtlCol="0">
            <a:spAutoFit/>
          </a:bodyPr>
          <a:lstStyle/>
          <a:p>
            <a:r>
              <a:rPr lang="en-US" sz="1600" dirty="0" err="1">
                <a:solidFill>
                  <a:schemeClr val="tx2"/>
                </a:solidFill>
              </a:rPr>
              <a:t>var</a:t>
            </a:r>
            <a:r>
              <a:rPr lang="en-US" sz="1600" dirty="0">
                <a:solidFill>
                  <a:schemeClr val="tx2"/>
                </a:solidFill>
              </a:rPr>
              <a:t> s = base64Encode(header)</a:t>
            </a:r>
          </a:p>
          <a:p>
            <a:r>
              <a:rPr lang="en-US" sz="1600" dirty="0">
                <a:solidFill>
                  <a:schemeClr val="tx2"/>
                </a:solidFill>
              </a:rPr>
              <a:t>  + "."</a:t>
            </a:r>
          </a:p>
          <a:p>
            <a:r>
              <a:rPr lang="en-US" sz="1600" dirty="0">
                <a:solidFill>
                  <a:schemeClr val="tx2"/>
                </a:solidFill>
              </a:rPr>
              <a:t>  + base64Encode(payload);</a:t>
            </a:r>
          </a:p>
          <a:p>
            <a:r>
              <a:rPr lang="en-US" sz="1600" dirty="0" err="1">
                <a:solidFill>
                  <a:schemeClr val="tx2"/>
                </a:solidFill>
              </a:rPr>
              <a:t>var</a:t>
            </a:r>
            <a:r>
              <a:rPr lang="en-US" sz="1600" dirty="0">
                <a:solidFill>
                  <a:schemeClr val="tx2"/>
                </a:solidFill>
              </a:rPr>
              <a:t> signature = hashAlgHs256(s, 'secret');</a:t>
            </a:r>
          </a:p>
        </p:txBody>
      </p:sp>
      <p:cxnSp>
        <p:nvCxnSpPr>
          <p:cNvPr id="36" name="Straight Arrow Connector 35"/>
          <p:cNvCxnSpPr>
            <a:cxnSpLocks/>
            <a:stCxn id="30" idx="0"/>
            <a:endCxn id="6" idx="2"/>
          </p:cNvCxnSpPr>
          <p:nvPr/>
        </p:nvCxnSpPr>
        <p:spPr>
          <a:xfrm flipV="1">
            <a:off x="10296063" y="2222309"/>
            <a:ext cx="545372" cy="1669006"/>
          </a:xfrm>
          <a:prstGeom prst="straightConnector1">
            <a:avLst/>
          </a:prstGeom>
          <a:ln w="38100">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a:xfrm flipH="1">
            <a:off x="5926775" y="1170700"/>
            <a:ext cx="22578" cy="5663120"/>
          </a:xfrm>
          <a:prstGeom prst="line">
            <a:avLst/>
          </a:prstGeom>
          <a:ln>
            <a:headEnd type="none"/>
            <a:tailEnd type="oval"/>
          </a:ln>
        </p:spPr>
        <p:style>
          <a:lnRef idx="1">
            <a:schemeClr val="dk1"/>
          </a:lnRef>
          <a:fillRef idx="0">
            <a:schemeClr val="dk1"/>
          </a:fillRef>
          <a:effectRef idx="0">
            <a:schemeClr val="dk1"/>
          </a:effectRef>
          <a:fontRef idx="minor">
            <a:schemeClr val="tx1"/>
          </a:fontRef>
        </p:style>
      </p:cxnSp>
      <p:sp>
        <p:nvSpPr>
          <p:cNvPr id="44" name="TextBox 43"/>
          <p:cNvSpPr txBox="1"/>
          <p:nvPr/>
        </p:nvSpPr>
        <p:spPr>
          <a:xfrm>
            <a:off x="9020528" y="5641078"/>
            <a:ext cx="2551068" cy="492443"/>
          </a:xfrm>
          <a:prstGeom prst="rect">
            <a:avLst/>
          </a:prstGeom>
          <a:ln>
            <a:solidFill>
              <a:schemeClr val="tx1">
                <a:lumMod val="65000"/>
              </a:schemeClr>
            </a:solidFill>
          </a:ln>
        </p:spPr>
        <p:style>
          <a:lnRef idx="2">
            <a:schemeClr val="dk1"/>
          </a:lnRef>
          <a:fillRef idx="1">
            <a:schemeClr val="lt1"/>
          </a:fillRef>
          <a:effectRef idx="0">
            <a:schemeClr val="dk1"/>
          </a:effectRef>
          <a:fontRef idx="minor">
            <a:schemeClr val="dk1"/>
          </a:fontRef>
        </p:style>
        <p:txBody>
          <a:bodyPr wrap="square" lIns="0" tIns="0" rIns="0" bIns="0" rtlCol="0">
            <a:spAutoFit/>
          </a:bodyPr>
          <a:lstStyle/>
          <a:p>
            <a:r>
              <a:rPr lang="en-US" sz="1600" dirty="0" err="1">
                <a:solidFill>
                  <a:schemeClr val="tx2"/>
                </a:solidFill>
              </a:rPr>
              <a:t>var</a:t>
            </a:r>
            <a:r>
              <a:rPr lang="en-US" sz="1600" dirty="0">
                <a:solidFill>
                  <a:schemeClr val="tx2"/>
                </a:solidFill>
              </a:rPr>
              <a:t> </a:t>
            </a:r>
            <a:r>
              <a:rPr lang="en-US" sz="1600" dirty="0" err="1">
                <a:solidFill>
                  <a:schemeClr val="tx2"/>
                </a:solidFill>
              </a:rPr>
              <a:t>jwt</a:t>
            </a:r>
            <a:r>
              <a:rPr lang="en-US" sz="1600" dirty="0">
                <a:solidFill>
                  <a:schemeClr val="tx2"/>
                </a:solidFill>
              </a:rPr>
              <a:t> = s + "." </a:t>
            </a:r>
          </a:p>
          <a:p>
            <a:r>
              <a:rPr lang="en-US" sz="1600" dirty="0">
                <a:solidFill>
                  <a:schemeClr val="tx2"/>
                </a:solidFill>
              </a:rPr>
              <a:t>+ base64Encode(signature);</a:t>
            </a:r>
          </a:p>
        </p:txBody>
      </p:sp>
    </p:spTree>
    <p:extLst>
      <p:ext uri="{BB962C8B-B14F-4D97-AF65-F5344CB8AC3E}">
        <p14:creationId xmlns:p14="http://schemas.microsoft.com/office/powerpoint/2010/main" val="305143601"/>
      </p:ext>
    </p:extLst>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50911"/>
          </a:xfrm>
        </p:spPr>
        <p:txBody>
          <a:bodyPr>
            <a:normAutofit fontScale="90000"/>
          </a:bodyPr>
          <a:lstStyle/>
          <a:p>
            <a:r>
              <a:rPr lang="en-US" dirty="0"/>
              <a:t>JWT – in the real world</a:t>
            </a:r>
          </a:p>
        </p:txBody>
      </p:sp>
      <p:sp>
        <p:nvSpPr>
          <p:cNvPr id="4" name="Rectangle: Rounded Corners 3"/>
          <p:cNvSpPr/>
          <p:nvPr/>
        </p:nvSpPr>
        <p:spPr>
          <a:xfrm>
            <a:off x="519248" y="1063879"/>
            <a:ext cx="1911435" cy="2109869"/>
          </a:xfrm>
          <a:prstGeom prst="roundRect">
            <a:avLst/>
          </a:prstGeom>
          <a:effectLst>
            <a:glow rad="228600">
              <a:schemeClr val="accent5">
                <a:satMod val="175000"/>
                <a:alpha val="40000"/>
              </a:schemeClr>
            </a:glow>
          </a:effectLst>
        </p:spPr>
        <p:style>
          <a:lnRef idx="2">
            <a:schemeClr val="accent2">
              <a:shade val="50000"/>
            </a:schemeClr>
          </a:lnRef>
          <a:fillRef idx="1">
            <a:schemeClr val="accent2"/>
          </a:fillRef>
          <a:effectRef idx="0">
            <a:schemeClr val="accent2"/>
          </a:effectRef>
          <a:fontRef idx="minor">
            <a:schemeClr val="lt1"/>
          </a:fontRef>
        </p:style>
        <p:txBody>
          <a:bodyPr wrap="square" rtlCol="0" anchor="t">
            <a:noAutofit/>
          </a:bodyPr>
          <a:lstStyle/>
          <a:p>
            <a:r>
              <a:rPr lang="en-US" dirty="0">
                <a:solidFill>
                  <a:schemeClr val="bg2"/>
                </a:solidFill>
              </a:rPr>
              <a:t>Client /</a:t>
            </a:r>
          </a:p>
          <a:p>
            <a:r>
              <a:rPr lang="en-US" dirty="0">
                <a:solidFill>
                  <a:schemeClr val="bg2"/>
                </a:solidFill>
              </a:rPr>
              <a:t>Consumer /</a:t>
            </a:r>
          </a:p>
          <a:p>
            <a:r>
              <a:rPr lang="en-US" dirty="0">
                <a:solidFill>
                  <a:schemeClr val="bg2"/>
                </a:solidFill>
              </a:rPr>
              <a:t>App</a:t>
            </a:r>
          </a:p>
        </p:txBody>
      </p:sp>
      <p:sp>
        <p:nvSpPr>
          <p:cNvPr id="5" name="Rectangle: Rounded Corners 4"/>
          <p:cNvSpPr/>
          <p:nvPr/>
        </p:nvSpPr>
        <p:spPr>
          <a:xfrm>
            <a:off x="9792182" y="1028163"/>
            <a:ext cx="1878986" cy="2145585"/>
          </a:xfrm>
          <a:prstGeom prst="roundRect">
            <a:avLst/>
          </a:prstGeom>
          <a:solidFill>
            <a:srgbClr val="0070C0"/>
          </a:solidFill>
          <a:effectLst>
            <a:glow rad="228600">
              <a:schemeClr val="accent1">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gn="r"/>
            <a:r>
              <a:rPr lang="en-US" dirty="0">
                <a:solidFill>
                  <a:schemeClr val="bg2"/>
                </a:solidFill>
              </a:rPr>
              <a:t>Server /</a:t>
            </a:r>
          </a:p>
          <a:p>
            <a:pPr algn="r"/>
            <a:r>
              <a:rPr lang="en-US" dirty="0">
                <a:solidFill>
                  <a:schemeClr val="bg2"/>
                </a:solidFill>
              </a:rPr>
              <a:t>Service</a:t>
            </a:r>
          </a:p>
          <a:p>
            <a:pPr algn="r"/>
            <a:r>
              <a:rPr lang="en-US" dirty="0">
                <a:solidFill>
                  <a:schemeClr val="bg2"/>
                </a:solidFill>
              </a:rPr>
              <a:t>App</a:t>
            </a:r>
          </a:p>
        </p:txBody>
      </p:sp>
      <p:grpSp>
        <p:nvGrpSpPr>
          <p:cNvPr id="11" name="Group 10"/>
          <p:cNvGrpSpPr/>
          <p:nvPr/>
        </p:nvGrpSpPr>
        <p:grpSpPr>
          <a:xfrm>
            <a:off x="2430683" y="984107"/>
            <a:ext cx="7361499" cy="519351"/>
            <a:chOff x="2430683" y="984107"/>
            <a:chExt cx="7361499" cy="519351"/>
          </a:xfrm>
        </p:grpSpPr>
        <p:cxnSp>
          <p:nvCxnSpPr>
            <p:cNvPr id="7" name="Straight Arrow Connector 6"/>
            <p:cNvCxnSpPr>
              <a:cxnSpLocks/>
            </p:cNvCxnSpPr>
            <p:nvPr/>
          </p:nvCxnSpPr>
          <p:spPr>
            <a:xfrm>
              <a:off x="2430683" y="1250066"/>
              <a:ext cx="7361499" cy="11575"/>
            </a:xfrm>
            <a:prstGeom prst="straightConnector1">
              <a:avLst/>
            </a:prstGeom>
            <a:ln>
              <a:headEnd type="none"/>
              <a:tailEnd type="triangle"/>
            </a:ln>
          </p:spPr>
          <p:style>
            <a:lnRef idx="1">
              <a:schemeClr val="dk1"/>
            </a:lnRef>
            <a:fillRef idx="0">
              <a:schemeClr val="dk1"/>
            </a:fillRef>
            <a:effectRef idx="0">
              <a:schemeClr val="dk1"/>
            </a:effectRef>
            <a:fontRef idx="minor">
              <a:schemeClr val="tx1"/>
            </a:fontRef>
          </p:style>
        </p:cxnSp>
        <p:sp>
          <p:nvSpPr>
            <p:cNvPr id="10" name="Oval 9"/>
            <p:cNvSpPr/>
            <p:nvPr/>
          </p:nvSpPr>
          <p:spPr>
            <a:xfrm>
              <a:off x="2708476" y="984107"/>
              <a:ext cx="497711" cy="519351"/>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wrap="square" rtlCol="0" anchor="ctr">
              <a:spAutoFit/>
            </a:bodyPr>
            <a:lstStyle/>
            <a:p>
              <a:pPr algn="ctr"/>
              <a:r>
                <a:rPr lang="en-US" dirty="0"/>
                <a:t>1</a:t>
              </a:r>
            </a:p>
          </p:txBody>
        </p:sp>
      </p:grpSp>
      <p:grpSp>
        <p:nvGrpSpPr>
          <p:cNvPr id="15" name="Group 14"/>
          <p:cNvGrpSpPr/>
          <p:nvPr/>
        </p:nvGrpSpPr>
        <p:grpSpPr>
          <a:xfrm>
            <a:off x="270392" y="3421204"/>
            <a:ext cx="3757597" cy="553998"/>
            <a:chOff x="270392" y="3084823"/>
            <a:chExt cx="3757597" cy="553998"/>
          </a:xfrm>
        </p:grpSpPr>
        <p:sp>
          <p:nvSpPr>
            <p:cNvPr id="12" name="Oval 11"/>
            <p:cNvSpPr/>
            <p:nvPr/>
          </p:nvSpPr>
          <p:spPr>
            <a:xfrm>
              <a:off x="270392" y="3116530"/>
              <a:ext cx="497711" cy="519351"/>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wrap="square" rtlCol="0" anchor="ctr">
              <a:spAutoFit/>
            </a:bodyPr>
            <a:lstStyle/>
            <a:p>
              <a:pPr algn="ctr"/>
              <a:r>
                <a:rPr lang="en-US" dirty="0">
                  <a:solidFill>
                    <a:srgbClr val="002060"/>
                  </a:solidFill>
                </a:rPr>
                <a:t>1</a:t>
              </a:r>
            </a:p>
          </p:txBody>
        </p:sp>
        <p:sp>
          <p:nvSpPr>
            <p:cNvPr id="14" name="TextBox 13"/>
            <p:cNvSpPr txBox="1"/>
            <p:nvPr/>
          </p:nvSpPr>
          <p:spPr>
            <a:xfrm>
              <a:off x="833377" y="3084823"/>
              <a:ext cx="3194612" cy="553998"/>
            </a:xfrm>
            <a:prstGeom prst="rect">
              <a:avLst/>
            </a:prstGeom>
            <a:noFill/>
          </p:spPr>
          <p:txBody>
            <a:bodyPr wrap="square" lIns="0" tIns="0" rIns="0" bIns="0" rtlCol="0">
              <a:spAutoFit/>
            </a:bodyPr>
            <a:lstStyle/>
            <a:p>
              <a:r>
                <a:rPr lang="en-US" dirty="0">
                  <a:solidFill>
                    <a:srgbClr val="002060"/>
                  </a:solidFill>
                </a:rPr>
                <a:t>Request token (by providing credentials</a:t>
              </a:r>
            </a:p>
          </p:txBody>
        </p:sp>
      </p:grpSp>
      <p:sp>
        <p:nvSpPr>
          <p:cNvPr id="16" name="Oval 15"/>
          <p:cNvSpPr/>
          <p:nvPr/>
        </p:nvSpPr>
        <p:spPr>
          <a:xfrm>
            <a:off x="9821119" y="1063879"/>
            <a:ext cx="497711" cy="51935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r>
              <a:rPr lang="en-US" dirty="0"/>
              <a:t>2</a:t>
            </a:r>
          </a:p>
        </p:txBody>
      </p:sp>
      <p:grpSp>
        <p:nvGrpSpPr>
          <p:cNvPr id="17" name="Group 16"/>
          <p:cNvGrpSpPr/>
          <p:nvPr/>
        </p:nvGrpSpPr>
        <p:grpSpPr>
          <a:xfrm>
            <a:off x="8191175" y="3435587"/>
            <a:ext cx="3757597" cy="553998"/>
            <a:chOff x="270392" y="3084823"/>
            <a:chExt cx="3757597" cy="553998"/>
          </a:xfrm>
        </p:grpSpPr>
        <p:sp>
          <p:nvSpPr>
            <p:cNvPr id="18" name="Oval 17"/>
            <p:cNvSpPr/>
            <p:nvPr/>
          </p:nvSpPr>
          <p:spPr>
            <a:xfrm>
              <a:off x="270392" y="3116530"/>
              <a:ext cx="497711" cy="51935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r>
                <a:rPr lang="en-US" dirty="0">
                  <a:solidFill>
                    <a:srgbClr val="002060"/>
                  </a:solidFill>
                </a:rPr>
                <a:t>2</a:t>
              </a:r>
            </a:p>
          </p:txBody>
        </p:sp>
        <p:sp>
          <p:nvSpPr>
            <p:cNvPr id="19" name="TextBox 18"/>
            <p:cNvSpPr txBox="1"/>
            <p:nvPr/>
          </p:nvSpPr>
          <p:spPr>
            <a:xfrm>
              <a:off x="833377" y="3084823"/>
              <a:ext cx="3194612" cy="553998"/>
            </a:xfrm>
            <a:prstGeom prst="rect">
              <a:avLst/>
            </a:prstGeom>
            <a:noFill/>
          </p:spPr>
          <p:txBody>
            <a:bodyPr wrap="square" lIns="0" tIns="0" rIns="0" bIns="0" rtlCol="0">
              <a:spAutoFit/>
            </a:bodyPr>
            <a:lstStyle/>
            <a:p>
              <a:pPr marL="285750" indent="-285750">
                <a:buFont typeface="Arial" panose="020B0604020202020204" pitchFamily="34" charset="0"/>
                <a:buChar char="•"/>
              </a:pPr>
              <a:r>
                <a:rPr lang="en-US" dirty="0">
                  <a:solidFill>
                    <a:srgbClr val="002060"/>
                  </a:solidFill>
                </a:rPr>
                <a:t>Check credentials</a:t>
              </a:r>
            </a:p>
            <a:p>
              <a:pPr marL="285750" indent="-285750">
                <a:buFont typeface="Arial" panose="020B0604020202020204" pitchFamily="34" charset="0"/>
                <a:buChar char="•"/>
              </a:pPr>
              <a:r>
                <a:rPr lang="en-US" dirty="0">
                  <a:solidFill>
                    <a:srgbClr val="002060"/>
                  </a:solidFill>
                </a:rPr>
                <a:t>Create token (JWT)</a:t>
              </a:r>
            </a:p>
          </p:txBody>
        </p:sp>
      </p:grpSp>
      <p:grpSp>
        <p:nvGrpSpPr>
          <p:cNvPr id="20" name="Group 19"/>
          <p:cNvGrpSpPr/>
          <p:nvPr/>
        </p:nvGrpSpPr>
        <p:grpSpPr>
          <a:xfrm>
            <a:off x="8204835" y="4243954"/>
            <a:ext cx="3757597" cy="553998"/>
            <a:chOff x="270392" y="3084823"/>
            <a:chExt cx="3757597" cy="553998"/>
          </a:xfrm>
        </p:grpSpPr>
        <p:sp>
          <p:nvSpPr>
            <p:cNvPr id="21" name="Oval 20"/>
            <p:cNvSpPr/>
            <p:nvPr/>
          </p:nvSpPr>
          <p:spPr>
            <a:xfrm>
              <a:off x="270392" y="3116530"/>
              <a:ext cx="497711" cy="51935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r>
                <a:rPr lang="en-US" dirty="0">
                  <a:solidFill>
                    <a:srgbClr val="002060"/>
                  </a:solidFill>
                </a:rPr>
                <a:t>3</a:t>
              </a:r>
            </a:p>
          </p:txBody>
        </p:sp>
        <p:sp>
          <p:nvSpPr>
            <p:cNvPr id="22" name="TextBox 21"/>
            <p:cNvSpPr txBox="1"/>
            <p:nvPr/>
          </p:nvSpPr>
          <p:spPr>
            <a:xfrm>
              <a:off x="833377" y="3084823"/>
              <a:ext cx="3194612" cy="553998"/>
            </a:xfrm>
            <a:prstGeom prst="rect">
              <a:avLst/>
            </a:prstGeom>
            <a:noFill/>
          </p:spPr>
          <p:txBody>
            <a:bodyPr wrap="square" lIns="0" tIns="0" rIns="0" bIns="0" rtlCol="0">
              <a:spAutoFit/>
            </a:bodyPr>
            <a:lstStyle/>
            <a:p>
              <a:r>
                <a:rPr lang="en-US" dirty="0">
                  <a:solidFill>
                    <a:srgbClr val="002060"/>
                  </a:solidFill>
                </a:rPr>
                <a:t>Send JWT to client (or error if not authenticated)</a:t>
              </a:r>
            </a:p>
          </p:txBody>
        </p:sp>
      </p:grpSp>
      <p:grpSp>
        <p:nvGrpSpPr>
          <p:cNvPr id="23" name="Group 22"/>
          <p:cNvGrpSpPr/>
          <p:nvPr/>
        </p:nvGrpSpPr>
        <p:grpSpPr>
          <a:xfrm>
            <a:off x="2459620" y="1477280"/>
            <a:ext cx="7361499" cy="519351"/>
            <a:chOff x="2430683" y="990390"/>
            <a:chExt cx="7361499" cy="519351"/>
          </a:xfrm>
        </p:grpSpPr>
        <p:cxnSp>
          <p:nvCxnSpPr>
            <p:cNvPr id="24" name="Straight Arrow Connector 23"/>
            <p:cNvCxnSpPr>
              <a:cxnSpLocks/>
            </p:cNvCxnSpPr>
            <p:nvPr/>
          </p:nvCxnSpPr>
          <p:spPr>
            <a:xfrm>
              <a:off x="2430683" y="1250066"/>
              <a:ext cx="7361499" cy="11575"/>
            </a:xfrm>
            <a:prstGeom prst="straightConnector1">
              <a:avLst/>
            </a:prstGeom>
            <a:ln>
              <a:headEnd type="triangle" w="med" len="med"/>
              <a:tailEnd type="none" w="med" len="med"/>
            </a:ln>
          </p:spPr>
          <p:style>
            <a:lnRef idx="1">
              <a:schemeClr val="dk1"/>
            </a:lnRef>
            <a:fillRef idx="0">
              <a:schemeClr val="dk1"/>
            </a:fillRef>
            <a:effectRef idx="0">
              <a:schemeClr val="dk1"/>
            </a:effectRef>
            <a:fontRef idx="minor">
              <a:schemeClr val="tx1"/>
            </a:fontRef>
          </p:style>
        </p:cxnSp>
        <p:sp>
          <p:nvSpPr>
            <p:cNvPr id="25" name="Oval 24"/>
            <p:cNvSpPr/>
            <p:nvPr/>
          </p:nvSpPr>
          <p:spPr>
            <a:xfrm>
              <a:off x="8979060" y="990390"/>
              <a:ext cx="497711" cy="51935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r>
                <a:rPr lang="en-US" dirty="0"/>
                <a:t>3</a:t>
              </a:r>
            </a:p>
          </p:txBody>
        </p:sp>
      </p:grpSp>
      <p:sp>
        <p:nvSpPr>
          <p:cNvPr id="26" name="Oval 25"/>
          <p:cNvSpPr/>
          <p:nvPr/>
        </p:nvSpPr>
        <p:spPr>
          <a:xfrm>
            <a:off x="1924290" y="1461192"/>
            <a:ext cx="497711" cy="519351"/>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wrap="square" rtlCol="0" anchor="ctr">
            <a:spAutoFit/>
          </a:bodyPr>
          <a:lstStyle/>
          <a:p>
            <a:pPr algn="ctr"/>
            <a:r>
              <a:rPr lang="en-US" dirty="0"/>
              <a:t>4</a:t>
            </a:r>
          </a:p>
        </p:txBody>
      </p:sp>
      <p:grpSp>
        <p:nvGrpSpPr>
          <p:cNvPr id="27" name="Group 26"/>
          <p:cNvGrpSpPr/>
          <p:nvPr/>
        </p:nvGrpSpPr>
        <p:grpSpPr>
          <a:xfrm>
            <a:off x="262991" y="4151143"/>
            <a:ext cx="3757597" cy="1107996"/>
            <a:chOff x="270392" y="3084823"/>
            <a:chExt cx="3757597" cy="1107996"/>
          </a:xfrm>
        </p:grpSpPr>
        <p:sp>
          <p:nvSpPr>
            <p:cNvPr id="28" name="Oval 27"/>
            <p:cNvSpPr/>
            <p:nvPr/>
          </p:nvSpPr>
          <p:spPr>
            <a:xfrm>
              <a:off x="270392" y="3116530"/>
              <a:ext cx="497711" cy="519351"/>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wrap="square" rtlCol="0" anchor="ctr">
              <a:spAutoFit/>
            </a:bodyPr>
            <a:lstStyle/>
            <a:p>
              <a:pPr algn="ctr"/>
              <a:r>
                <a:rPr lang="en-US" dirty="0">
                  <a:solidFill>
                    <a:srgbClr val="002060"/>
                  </a:solidFill>
                </a:rPr>
                <a:t>4</a:t>
              </a:r>
            </a:p>
          </p:txBody>
        </p:sp>
        <p:sp>
          <p:nvSpPr>
            <p:cNvPr id="29" name="TextBox 28"/>
            <p:cNvSpPr txBox="1"/>
            <p:nvPr/>
          </p:nvSpPr>
          <p:spPr>
            <a:xfrm>
              <a:off x="833377" y="3084823"/>
              <a:ext cx="3194612" cy="1107996"/>
            </a:xfrm>
            <a:prstGeom prst="rect">
              <a:avLst/>
            </a:prstGeom>
            <a:noFill/>
          </p:spPr>
          <p:txBody>
            <a:bodyPr wrap="square" lIns="0" tIns="0" rIns="0" bIns="0" rtlCol="0">
              <a:spAutoFit/>
            </a:bodyPr>
            <a:lstStyle/>
            <a:p>
              <a:pPr marL="285750" indent="-285750">
                <a:buFont typeface="Arial" panose="020B0604020202020204" pitchFamily="34" charset="0"/>
                <a:buChar char="•"/>
              </a:pPr>
              <a:r>
                <a:rPr lang="en-US" dirty="0">
                  <a:solidFill>
                    <a:srgbClr val="002060"/>
                  </a:solidFill>
                </a:rPr>
                <a:t>Verify token (optional)</a:t>
              </a:r>
            </a:p>
            <a:p>
              <a:pPr marL="285750" indent="-285750">
                <a:buFont typeface="Arial" panose="020B0604020202020204" pitchFamily="34" charset="0"/>
                <a:buChar char="•"/>
              </a:pPr>
              <a:r>
                <a:rPr lang="en-US" dirty="0">
                  <a:solidFill>
                    <a:srgbClr val="002060"/>
                  </a:solidFill>
                </a:rPr>
                <a:t>Extract information for app usage (optional)</a:t>
              </a:r>
            </a:p>
            <a:p>
              <a:pPr marL="285750" indent="-285750">
                <a:buFont typeface="Arial" panose="020B0604020202020204" pitchFamily="34" charset="0"/>
                <a:buChar char="•"/>
              </a:pPr>
              <a:r>
                <a:rPr lang="en-US" dirty="0">
                  <a:solidFill>
                    <a:srgbClr val="002060"/>
                  </a:solidFill>
                </a:rPr>
                <a:t>Persist token (at client-side)</a:t>
              </a:r>
            </a:p>
          </p:txBody>
        </p:sp>
      </p:grpSp>
      <p:grpSp>
        <p:nvGrpSpPr>
          <p:cNvPr id="30" name="Group 29"/>
          <p:cNvGrpSpPr/>
          <p:nvPr/>
        </p:nvGrpSpPr>
        <p:grpSpPr>
          <a:xfrm>
            <a:off x="2459620" y="1978773"/>
            <a:ext cx="7361499" cy="519351"/>
            <a:chOff x="2430683" y="984107"/>
            <a:chExt cx="7361499" cy="519351"/>
          </a:xfrm>
        </p:grpSpPr>
        <p:cxnSp>
          <p:nvCxnSpPr>
            <p:cNvPr id="31" name="Straight Arrow Connector 30"/>
            <p:cNvCxnSpPr>
              <a:cxnSpLocks/>
            </p:cNvCxnSpPr>
            <p:nvPr/>
          </p:nvCxnSpPr>
          <p:spPr>
            <a:xfrm>
              <a:off x="2430683" y="1250066"/>
              <a:ext cx="7361499" cy="11575"/>
            </a:xfrm>
            <a:prstGeom prst="straightConnector1">
              <a:avLst/>
            </a:prstGeom>
            <a:ln>
              <a:headEnd type="none"/>
              <a:tailEnd type="triangle"/>
            </a:ln>
          </p:spPr>
          <p:style>
            <a:lnRef idx="1">
              <a:schemeClr val="dk1"/>
            </a:lnRef>
            <a:fillRef idx="0">
              <a:schemeClr val="dk1"/>
            </a:fillRef>
            <a:effectRef idx="0">
              <a:schemeClr val="dk1"/>
            </a:effectRef>
            <a:fontRef idx="minor">
              <a:schemeClr val="tx1"/>
            </a:fontRef>
          </p:style>
        </p:cxnSp>
        <p:sp>
          <p:nvSpPr>
            <p:cNvPr id="32" name="Oval 31"/>
            <p:cNvSpPr/>
            <p:nvPr/>
          </p:nvSpPr>
          <p:spPr>
            <a:xfrm>
              <a:off x="2708476" y="984107"/>
              <a:ext cx="497711" cy="519351"/>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wrap="square" rtlCol="0" anchor="ctr">
              <a:spAutoFit/>
            </a:bodyPr>
            <a:lstStyle/>
            <a:p>
              <a:pPr algn="ctr"/>
              <a:r>
                <a:rPr lang="en-US" dirty="0"/>
                <a:t>5</a:t>
              </a:r>
            </a:p>
          </p:txBody>
        </p:sp>
      </p:grpSp>
      <p:grpSp>
        <p:nvGrpSpPr>
          <p:cNvPr id="33" name="Group 32"/>
          <p:cNvGrpSpPr/>
          <p:nvPr/>
        </p:nvGrpSpPr>
        <p:grpSpPr>
          <a:xfrm>
            <a:off x="263798" y="5435080"/>
            <a:ext cx="3757597" cy="553998"/>
            <a:chOff x="270392" y="3084823"/>
            <a:chExt cx="3757597" cy="553998"/>
          </a:xfrm>
        </p:grpSpPr>
        <p:sp>
          <p:nvSpPr>
            <p:cNvPr id="34" name="Oval 33"/>
            <p:cNvSpPr/>
            <p:nvPr/>
          </p:nvSpPr>
          <p:spPr>
            <a:xfrm>
              <a:off x="270392" y="3116530"/>
              <a:ext cx="497711" cy="519351"/>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wrap="square" rtlCol="0" anchor="ctr">
              <a:spAutoFit/>
            </a:bodyPr>
            <a:lstStyle/>
            <a:p>
              <a:pPr algn="ctr"/>
              <a:r>
                <a:rPr lang="en-US" dirty="0">
                  <a:solidFill>
                    <a:srgbClr val="002060"/>
                  </a:solidFill>
                </a:rPr>
                <a:t>5</a:t>
              </a:r>
            </a:p>
          </p:txBody>
        </p:sp>
        <p:sp>
          <p:nvSpPr>
            <p:cNvPr id="35" name="TextBox 34"/>
            <p:cNvSpPr txBox="1"/>
            <p:nvPr/>
          </p:nvSpPr>
          <p:spPr>
            <a:xfrm>
              <a:off x="833377" y="3084823"/>
              <a:ext cx="3194612" cy="553998"/>
            </a:xfrm>
            <a:prstGeom prst="rect">
              <a:avLst/>
            </a:prstGeom>
            <a:noFill/>
          </p:spPr>
          <p:txBody>
            <a:bodyPr wrap="square" lIns="0" tIns="0" rIns="0" bIns="0" rtlCol="0">
              <a:spAutoFit/>
            </a:bodyPr>
            <a:lstStyle/>
            <a:p>
              <a:r>
                <a:rPr lang="en-US" dirty="0">
                  <a:solidFill>
                    <a:srgbClr val="002060"/>
                  </a:solidFill>
                </a:rPr>
                <a:t>Use same (persisted) token for subsequent calls to server</a:t>
              </a:r>
            </a:p>
          </p:txBody>
        </p:sp>
      </p:grpSp>
      <p:sp>
        <p:nvSpPr>
          <p:cNvPr id="36" name="Oval 35"/>
          <p:cNvSpPr/>
          <p:nvPr/>
        </p:nvSpPr>
        <p:spPr>
          <a:xfrm>
            <a:off x="9824013" y="1906778"/>
            <a:ext cx="497711" cy="51935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r>
              <a:rPr lang="en-US" dirty="0"/>
              <a:t>6</a:t>
            </a:r>
          </a:p>
        </p:txBody>
      </p:sp>
      <p:grpSp>
        <p:nvGrpSpPr>
          <p:cNvPr id="37" name="Group 36"/>
          <p:cNvGrpSpPr/>
          <p:nvPr/>
        </p:nvGrpSpPr>
        <p:grpSpPr>
          <a:xfrm>
            <a:off x="2459619" y="2509086"/>
            <a:ext cx="7361499" cy="519351"/>
            <a:chOff x="2430683" y="990390"/>
            <a:chExt cx="7361499" cy="519351"/>
          </a:xfrm>
        </p:grpSpPr>
        <p:cxnSp>
          <p:nvCxnSpPr>
            <p:cNvPr id="38" name="Straight Arrow Connector 37"/>
            <p:cNvCxnSpPr>
              <a:cxnSpLocks/>
            </p:cNvCxnSpPr>
            <p:nvPr/>
          </p:nvCxnSpPr>
          <p:spPr>
            <a:xfrm>
              <a:off x="2430683" y="1250066"/>
              <a:ext cx="7361499" cy="11575"/>
            </a:xfrm>
            <a:prstGeom prst="straightConnector1">
              <a:avLst/>
            </a:prstGeom>
            <a:ln>
              <a:headEnd type="triangle" w="med" len="med"/>
              <a:tailEnd type="none" w="med" len="med"/>
            </a:ln>
          </p:spPr>
          <p:style>
            <a:lnRef idx="1">
              <a:schemeClr val="dk1"/>
            </a:lnRef>
            <a:fillRef idx="0">
              <a:schemeClr val="dk1"/>
            </a:fillRef>
            <a:effectRef idx="0">
              <a:schemeClr val="dk1"/>
            </a:effectRef>
            <a:fontRef idx="minor">
              <a:schemeClr val="tx1"/>
            </a:fontRef>
          </p:style>
        </p:cxnSp>
        <p:sp>
          <p:nvSpPr>
            <p:cNvPr id="39" name="Oval 38"/>
            <p:cNvSpPr/>
            <p:nvPr/>
          </p:nvSpPr>
          <p:spPr>
            <a:xfrm>
              <a:off x="8979060" y="990390"/>
              <a:ext cx="497711" cy="51935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r>
                <a:rPr lang="en-US" dirty="0"/>
                <a:t>7</a:t>
              </a:r>
            </a:p>
          </p:txBody>
        </p:sp>
      </p:grpSp>
      <p:grpSp>
        <p:nvGrpSpPr>
          <p:cNvPr id="40" name="Group 39"/>
          <p:cNvGrpSpPr/>
          <p:nvPr/>
        </p:nvGrpSpPr>
        <p:grpSpPr>
          <a:xfrm>
            <a:off x="8204835" y="5017675"/>
            <a:ext cx="3757597" cy="553998"/>
            <a:chOff x="270392" y="3084823"/>
            <a:chExt cx="3757597" cy="553998"/>
          </a:xfrm>
        </p:grpSpPr>
        <p:sp>
          <p:nvSpPr>
            <p:cNvPr id="41" name="Oval 40"/>
            <p:cNvSpPr/>
            <p:nvPr/>
          </p:nvSpPr>
          <p:spPr>
            <a:xfrm>
              <a:off x="270392" y="3116530"/>
              <a:ext cx="497711" cy="51935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r>
                <a:rPr lang="en-US" dirty="0">
                  <a:solidFill>
                    <a:srgbClr val="002060"/>
                  </a:solidFill>
                </a:rPr>
                <a:t>6</a:t>
              </a:r>
            </a:p>
          </p:txBody>
        </p:sp>
        <p:sp>
          <p:nvSpPr>
            <p:cNvPr id="42" name="TextBox 41"/>
            <p:cNvSpPr txBox="1"/>
            <p:nvPr/>
          </p:nvSpPr>
          <p:spPr>
            <a:xfrm>
              <a:off x="833377" y="3084823"/>
              <a:ext cx="3194612" cy="553998"/>
            </a:xfrm>
            <a:prstGeom prst="rect">
              <a:avLst/>
            </a:prstGeom>
            <a:noFill/>
          </p:spPr>
          <p:txBody>
            <a:bodyPr wrap="square" lIns="0" tIns="0" rIns="0" bIns="0" rtlCol="0">
              <a:spAutoFit/>
            </a:bodyPr>
            <a:lstStyle/>
            <a:p>
              <a:r>
                <a:rPr lang="en-US" dirty="0">
                  <a:solidFill>
                    <a:srgbClr val="002060"/>
                  </a:solidFill>
                </a:rPr>
                <a:t>Verify token for all subsequent requests</a:t>
              </a:r>
            </a:p>
          </p:txBody>
        </p:sp>
      </p:grpSp>
      <p:grpSp>
        <p:nvGrpSpPr>
          <p:cNvPr id="43" name="Group 42"/>
          <p:cNvGrpSpPr/>
          <p:nvPr/>
        </p:nvGrpSpPr>
        <p:grpSpPr>
          <a:xfrm>
            <a:off x="8191175" y="5749040"/>
            <a:ext cx="3757597" cy="553998"/>
            <a:chOff x="270392" y="3084823"/>
            <a:chExt cx="3757597" cy="553998"/>
          </a:xfrm>
        </p:grpSpPr>
        <p:sp>
          <p:nvSpPr>
            <p:cNvPr id="44" name="Oval 43"/>
            <p:cNvSpPr/>
            <p:nvPr/>
          </p:nvSpPr>
          <p:spPr>
            <a:xfrm>
              <a:off x="270392" y="3116530"/>
              <a:ext cx="497711" cy="51935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r>
                <a:rPr lang="en-US" dirty="0">
                  <a:solidFill>
                    <a:srgbClr val="002060"/>
                  </a:solidFill>
                </a:rPr>
                <a:t>7</a:t>
              </a:r>
            </a:p>
          </p:txBody>
        </p:sp>
        <p:sp>
          <p:nvSpPr>
            <p:cNvPr id="45" name="TextBox 44"/>
            <p:cNvSpPr txBox="1"/>
            <p:nvPr/>
          </p:nvSpPr>
          <p:spPr>
            <a:xfrm>
              <a:off x="833377" y="3084823"/>
              <a:ext cx="3194612" cy="553998"/>
            </a:xfrm>
            <a:prstGeom prst="rect">
              <a:avLst/>
            </a:prstGeom>
            <a:noFill/>
          </p:spPr>
          <p:txBody>
            <a:bodyPr wrap="square" lIns="0" tIns="0" rIns="0" bIns="0" rtlCol="0">
              <a:spAutoFit/>
            </a:bodyPr>
            <a:lstStyle/>
            <a:p>
              <a:r>
                <a:rPr lang="en-US" dirty="0">
                  <a:solidFill>
                    <a:srgbClr val="002060"/>
                  </a:solidFill>
                </a:rPr>
                <a:t>If valid token, respond with results – else, return error.</a:t>
              </a:r>
            </a:p>
          </p:txBody>
        </p:sp>
      </p:grpSp>
    </p:spTree>
    <p:extLst>
      <p:ext uri="{BB962C8B-B14F-4D97-AF65-F5344CB8AC3E}">
        <p14:creationId xmlns:p14="http://schemas.microsoft.com/office/powerpoint/2010/main" val="4139468315"/>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a:xfrm>
            <a:off x="397163" y="1563259"/>
            <a:ext cx="10972800" cy="4525963"/>
          </a:xfrm>
        </p:spPr>
        <p:txBody>
          <a:bodyPr/>
          <a:lstStyle/>
          <a:p>
            <a:r>
              <a:rPr lang="en-US" dirty="0"/>
              <a:t>Verify JWT</a:t>
            </a:r>
          </a:p>
          <a:p>
            <a:pPr lvl="1"/>
            <a:r>
              <a:rPr lang="en-US">
                <a:hlinkClick r:id="rId2"/>
              </a:rPr>
              <a:t>http://jwt.io</a:t>
            </a:r>
            <a:endParaRPr lang="en-US"/>
          </a:p>
          <a:p>
            <a:r>
              <a:rPr lang="en-US" smtClean="0"/>
              <a:t>Create </a:t>
            </a:r>
            <a:r>
              <a:rPr lang="en-US" dirty="0"/>
              <a:t>JWT</a:t>
            </a:r>
          </a:p>
          <a:p>
            <a:pPr lvl="1"/>
            <a:r>
              <a:rPr lang="en-US" dirty="0">
                <a:hlinkClick r:id="rId3"/>
              </a:rPr>
              <a:t>http://jwtbuilder.jamiekurtz.com</a:t>
            </a:r>
            <a:endParaRPr lang="en-US" dirty="0"/>
          </a:p>
          <a:p>
            <a:pPr lvl="1"/>
            <a:r>
              <a:rPr lang="en-US" dirty="0">
                <a:hlinkClick r:id="rId4"/>
              </a:rPr>
              <a:t>http://kjur.github.io/jsjws/tool_jwt.html</a:t>
            </a:r>
            <a:endParaRPr lang="en-US" dirty="0"/>
          </a:p>
          <a:p>
            <a:r>
              <a:rPr lang="en-US" dirty="0" smtClean="0"/>
              <a:t>Base64 </a:t>
            </a:r>
            <a:r>
              <a:rPr lang="en-US" dirty="0"/>
              <a:t>encode / decode</a:t>
            </a:r>
          </a:p>
          <a:p>
            <a:pPr lvl="1"/>
            <a:r>
              <a:rPr lang="en-US" dirty="0">
                <a:hlinkClick r:id="rId5"/>
              </a:rPr>
              <a:t>https://www.base64encode.org</a:t>
            </a:r>
            <a:endParaRPr lang="en-US" dirty="0"/>
          </a:p>
          <a:p>
            <a:pPr lvl="1"/>
            <a:r>
              <a:rPr lang="en-US" dirty="0">
                <a:hlinkClick r:id="rId6"/>
              </a:rPr>
              <a:t>https://www.base64decode.org</a:t>
            </a:r>
            <a:endParaRPr lang="en-US" dirty="0"/>
          </a:p>
          <a:p>
            <a:endParaRPr lang="en-US" dirty="0"/>
          </a:p>
          <a:p>
            <a:endParaRPr lang="en-CA" dirty="0"/>
          </a:p>
        </p:txBody>
      </p:sp>
      <p:sp>
        <p:nvSpPr>
          <p:cNvPr id="3" name="Title 2"/>
          <p:cNvSpPr>
            <a:spLocks noGrp="1"/>
          </p:cNvSpPr>
          <p:nvPr>
            <p:ph type="title"/>
          </p:nvPr>
        </p:nvSpPr>
        <p:spPr/>
        <p:txBody>
          <a:bodyPr/>
          <a:lstStyle/>
          <a:p>
            <a:r>
              <a:rPr lang="en-US" dirty="0"/>
              <a:t>JWT - helpful links to test online</a:t>
            </a:r>
          </a:p>
        </p:txBody>
      </p:sp>
    </p:spTree>
    <p:extLst>
      <p:ext uri="{BB962C8B-B14F-4D97-AF65-F5344CB8AC3E}">
        <p14:creationId xmlns:p14="http://schemas.microsoft.com/office/powerpoint/2010/main" val="1274056031"/>
      </p:ext>
    </p:extLst>
  </p:cSld>
  <p:clrMapOvr>
    <a:masterClrMapping/>
  </p:clrMapOvr>
  <p:transition>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125</TotalTime>
  <Words>750</Words>
  <Application>Microsoft Office PowerPoint</Application>
  <PresentationFormat>Widescreen</PresentationFormat>
  <Paragraphs>124</Paragraphs>
  <Slides>11</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11</vt:i4>
      </vt:variant>
    </vt:vector>
  </HeadingPairs>
  <TitlesOfParts>
    <vt:vector size="19" baseType="lpstr">
      <vt:lpstr>Arial</vt:lpstr>
      <vt:lpstr>Calibri</vt:lpstr>
      <vt:lpstr>Calibri Light</vt:lpstr>
      <vt:lpstr>Consolas</vt:lpstr>
      <vt:lpstr>Lucida Console</vt:lpstr>
      <vt:lpstr>Segoe Light</vt:lpstr>
      <vt:lpstr>Segoe UI Light</vt:lpstr>
      <vt:lpstr>Office Theme</vt:lpstr>
      <vt:lpstr>JWT</vt:lpstr>
      <vt:lpstr>What is JWT</vt:lpstr>
      <vt:lpstr>JWT - Introction</vt:lpstr>
      <vt:lpstr>JWT token</vt:lpstr>
      <vt:lpstr>Token tampering</vt:lpstr>
      <vt:lpstr>What is PHP-JWT</vt:lpstr>
      <vt:lpstr>Token data structure </vt:lpstr>
      <vt:lpstr>Reserved JWT claims </vt:lpstr>
      <vt:lpstr>JWT - structure</vt:lpstr>
      <vt:lpstr>JWT – in the real world</vt:lpstr>
      <vt:lpstr>JWT - helpful links to test online</vt:lpstr>
    </vt:vector>
  </TitlesOfParts>
  <Company>BCIT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JWT</dc:title>
  <dc:creator>Medhat Elmasry</dc:creator>
  <cp:lastModifiedBy>Medhat Elmasry</cp:lastModifiedBy>
  <cp:revision>5</cp:revision>
  <dcterms:created xsi:type="dcterms:W3CDTF">2021-03-22T01:57:39Z</dcterms:created>
  <dcterms:modified xsi:type="dcterms:W3CDTF">2021-03-22T04:06:05Z</dcterms:modified>
</cp:coreProperties>
</file>