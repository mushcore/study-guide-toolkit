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0914"/>
  </p:normalViewPr>
  <p:slideViewPr>
    <p:cSldViewPr snapToGrid="0">
      <p:cViewPr varScale="1">
        <p:scale>
          <a:sx n="87" d="100"/>
          <a:sy n="87" d="100"/>
        </p:scale>
        <p:origin x="1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4386BD-0928-F648-9D90-6B434FFDFC0A}" type="datetimeFigureOut">
              <a:rPr lang="en-US" smtClean="0"/>
              <a:t>2/19/26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9EC4E-A411-7146-B3D4-121807D0E983}" type="slidenum">
              <a:rPr lang="en-US" smtClean="0"/>
              <a:t>‹#›</a:t>
            </a:fld>
            <a:endParaRPr lang="en-US"/>
          </a:p>
        </p:txBody>
      </p:sp>
    </p:spTree>
    <p:extLst>
      <p:ext uri="{BB962C8B-B14F-4D97-AF65-F5344CB8AC3E}">
        <p14:creationId xmlns:p14="http://schemas.microsoft.com/office/powerpoint/2010/main" val="1531080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effectLst/>
              </a:rPr>
              <a:t>Today we’re going to explore Azure Functions using TypeScript. The goal is to understand how serverless development works on Azure, why TypeScript is such a strong fit, and how to build, run, and deploy real functions. By the end, you’ll have a clear sense of how to use this in your own projects or labs.</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1</a:t>
            </a:fld>
            <a:endParaRPr lang="en-US"/>
          </a:p>
        </p:txBody>
      </p:sp>
    </p:spTree>
    <p:extLst>
      <p:ext uri="{BB962C8B-B14F-4D97-AF65-F5344CB8AC3E}">
        <p14:creationId xmlns:p14="http://schemas.microsoft.com/office/powerpoint/2010/main" val="20244082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effectLst/>
              </a:rPr>
              <a:t>Azure Functions are Microsoft’s serverless compute offering. Instead of provisioning servers, you write small pieces of code that run in response to events. Azure handles scaling, availability, and infrastructure. You only pay when your function actually runs, which makes it ideal for lightweight APIs, automation tasks, and event‑driven workflows.</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2</a:t>
            </a:fld>
            <a:endParaRPr lang="en-US"/>
          </a:p>
        </p:txBody>
      </p:sp>
    </p:spTree>
    <p:extLst>
      <p:ext uri="{BB962C8B-B14F-4D97-AF65-F5344CB8AC3E}">
        <p14:creationId xmlns:p14="http://schemas.microsoft.com/office/powerpoint/2010/main" val="4111343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TypeScript gives us type safety, better tooling, and more confidence in our code. When you’re building serverless functions—where bugs often show up only at runtime—TypeScript helps catch issues early. Azure Functions v4 has excellent TypeScript support, so the development experience feels modern and productive.</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3</a:t>
            </a:fld>
            <a:endParaRPr lang="en-US"/>
          </a:p>
        </p:txBody>
      </p:sp>
    </p:spTree>
    <p:extLst>
      <p:ext uri="{BB962C8B-B14F-4D97-AF65-F5344CB8AC3E}">
        <p14:creationId xmlns:p14="http://schemas.microsoft.com/office/powerpoint/2010/main" val="3565649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Azure Functions revolve around triggers and bindings. A trigger defines how the function starts—maybe an HTTP request, a timer, or a message in a queue. Bindings let you connect to services like storage or Cosmos DB without writing boilerplate code. All your functions live inside a Function App, which is the deployable unit. And depending on your workload, you can choose between Consumption, Premium, or Dedicated hosting plans.</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4</a:t>
            </a:fld>
            <a:endParaRPr lang="en-US"/>
          </a:p>
        </p:txBody>
      </p:sp>
    </p:spTree>
    <p:extLst>
      <p:ext uri="{BB962C8B-B14F-4D97-AF65-F5344CB8AC3E}">
        <p14:creationId xmlns:p14="http://schemas.microsoft.com/office/powerpoint/2010/main" val="358867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get started, you need Node.js, the Azure Functions Core Tools, and the Azure CLI. VS Code is the recommended editor because the Azure Functions extension streamlines everything. Once your environment is ready, you can initialize a new project with </a:t>
            </a:r>
            <a:r>
              <a:rPr lang="en-CA" sz="1200" kern="1200" dirty="0" err="1">
                <a:solidFill>
                  <a:schemeClr val="tx1"/>
                </a:solidFill>
                <a:effectLst/>
                <a:latin typeface="+mn-lt"/>
                <a:ea typeface="+mn-ea"/>
                <a:cs typeface="+mn-cs"/>
              </a:rPr>
              <a:t>func</a:t>
            </a:r>
            <a:r>
              <a:rPr lang="en-CA" sz="1200" kern="1200" dirty="0">
                <a:solidFill>
                  <a:schemeClr val="tx1"/>
                </a:solidFill>
                <a:effectLst/>
                <a:latin typeface="+mn-lt"/>
                <a:ea typeface="+mn-ea"/>
                <a:cs typeface="+mn-cs"/>
              </a:rPr>
              <a:t> </a:t>
            </a:r>
            <a:r>
              <a:rPr lang="en-CA" sz="1200" kern="1200" dirty="0" err="1">
                <a:solidFill>
                  <a:schemeClr val="tx1"/>
                </a:solidFill>
                <a:effectLst/>
                <a:latin typeface="+mn-lt"/>
                <a:ea typeface="+mn-ea"/>
                <a:cs typeface="+mn-cs"/>
              </a:rPr>
              <a:t>init</a:t>
            </a:r>
            <a:r>
              <a:rPr lang="en-CA" dirty="0"/>
              <a:t> and choose TypeScript as the language. This sets up the folder structure and build pipeline for you.</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5</a:t>
            </a:fld>
            <a:endParaRPr lang="en-US"/>
          </a:p>
        </p:txBody>
      </p:sp>
    </p:spTree>
    <p:extLst>
      <p:ext uri="{BB962C8B-B14F-4D97-AF65-F5344CB8AC3E}">
        <p14:creationId xmlns:p14="http://schemas.microsoft.com/office/powerpoint/2010/main" val="30000887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Creating a new function is as simple as running </a:t>
            </a:r>
            <a:r>
              <a:rPr lang="en-CA" sz="1200" kern="1200" dirty="0" err="1">
                <a:solidFill>
                  <a:schemeClr val="tx1"/>
                </a:solidFill>
                <a:effectLst/>
                <a:latin typeface="+mn-lt"/>
                <a:ea typeface="+mn-ea"/>
                <a:cs typeface="+mn-cs"/>
              </a:rPr>
              <a:t>func</a:t>
            </a:r>
            <a:r>
              <a:rPr lang="en-CA" sz="1200" kern="1200" dirty="0">
                <a:solidFill>
                  <a:schemeClr val="tx1"/>
                </a:solidFill>
                <a:effectLst/>
                <a:latin typeface="+mn-lt"/>
                <a:ea typeface="+mn-ea"/>
                <a:cs typeface="+mn-cs"/>
              </a:rPr>
              <a:t> new</a:t>
            </a:r>
            <a:r>
              <a:rPr lang="en-CA" dirty="0"/>
              <a:t> and selecting a template. The HTTP trigger is the most common starting point. Azure generates the TypeScript file and the </a:t>
            </a:r>
            <a:r>
              <a:rPr lang="en-CA" sz="1200" kern="1200" dirty="0" err="1">
                <a:solidFill>
                  <a:schemeClr val="tx1"/>
                </a:solidFill>
                <a:effectLst/>
                <a:latin typeface="+mn-lt"/>
                <a:ea typeface="+mn-ea"/>
                <a:cs typeface="+mn-cs"/>
              </a:rPr>
              <a:t>function.json</a:t>
            </a:r>
            <a:r>
              <a:rPr lang="en-CA" dirty="0"/>
              <a:t> configuration for you. Running </a:t>
            </a:r>
            <a:r>
              <a:rPr lang="en-CA" sz="1200" kern="1200" dirty="0" err="1">
                <a:solidFill>
                  <a:schemeClr val="tx1"/>
                </a:solidFill>
                <a:effectLst/>
                <a:latin typeface="+mn-lt"/>
                <a:ea typeface="+mn-ea"/>
                <a:cs typeface="+mn-cs"/>
              </a:rPr>
              <a:t>func</a:t>
            </a:r>
            <a:r>
              <a:rPr lang="en-CA" sz="1200" kern="1200" dirty="0">
                <a:solidFill>
                  <a:schemeClr val="tx1"/>
                </a:solidFill>
                <a:effectLst/>
                <a:latin typeface="+mn-lt"/>
                <a:ea typeface="+mn-ea"/>
                <a:cs typeface="+mn-cs"/>
              </a:rPr>
              <a:t> start</a:t>
            </a:r>
            <a:r>
              <a:rPr lang="en-CA" dirty="0"/>
              <a:t> launches a local server so you can test your function immediately, complete with hot reload.</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6</a:t>
            </a:fld>
            <a:endParaRPr lang="en-US"/>
          </a:p>
        </p:txBody>
      </p:sp>
    </p:spTree>
    <p:extLst>
      <p:ext uri="{BB962C8B-B14F-4D97-AF65-F5344CB8AC3E}">
        <p14:creationId xmlns:p14="http://schemas.microsoft.com/office/powerpoint/2010/main" val="1458202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Here’s a simple HTTP function. Notice how TypeScript types like </a:t>
            </a:r>
            <a:r>
              <a:rPr lang="en-CA" sz="1200" kern="1200" dirty="0">
                <a:solidFill>
                  <a:schemeClr val="tx1"/>
                </a:solidFill>
                <a:effectLst/>
                <a:latin typeface="+mn-lt"/>
                <a:ea typeface="+mn-ea"/>
                <a:cs typeface="+mn-cs"/>
              </a:rPr>
              <a:t>Context</a:t>
            </a:r>
            <a:r>
              <a:rPr lang="en-CA" dirty="0"/>
              <a:t> and </a:t>
            </a:r>
            <a:r>
              <a:rPr lang="en-CA" sz="1200" kern="1200" dirty="0" err="1">
                <a:solidFill>
                  <a:schemeClr val="tx1"/>
                </a:solidFill>
                <a:effectLst/>
                <a:latin typeface="+mn-lt"/>
                <a:ea typeface="+mn-ea"/>
                <a:cs typeface="+mn-cs"/>
              </a:rPr>
              <a:t>HttpRequest</a:t>
            </a:r>
            <a:r>
              <a:rPr lang="en-CA" dirty="0"/>
              <a:t> give us IntelliSense and guardrails. The function reads a name from the query string or body and returns a greeting. This is the basic pattern: read input, do some work, and set </a:t>
            </a:r>
            <a:r>
              <a:rPr lang="en-CA" sz="1200" kern="1200" dirty="0" err="1">
                <a:solidFill>
                  <a:schemeClr val="tx1"/>
                </a:solidFill>
                <a:effectLst/>
                <a:latin typeface="+mn-lt"/>
                <a:ea typeface="+mn-ea"/>
                <a:cs typeface="+mn-cs"/>
              </a:rPr>
              <a:t>context.res</a:t>
            </a:r>
            <a:r>
              <a:rPr lang="en-CA" dirty="0"/>
              <a:t> to send a response.</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7</a:t>
            </a:fld>
            <a:endParaRPr lang="en-US"/>
          </a:p>
        </p:txBody>
      </p:sp>
    </p:spTree>
    <p:extLst>
      <p:ext uri="{BB962C8B-B14F-4D97-AF65-F5344CB8AC3E}">
        <p14:creationId xmlns:p14="http://schemas.microsoft.com/office/powerpoint/2010/main" val="646629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Bindings are one of the biggest advantages of Azure Functions. Instead of writing code to connect to storage or queues, you declare bindings in </a:t>
            </a:r>
            <a:r>
              <a:rPr lang="en-CA" sz="1200" kern="1200" dirty="0" err="1">
                <a:solidFill>
                  <a:schemeClr val="tx1"/>
                </a:solidFill>
                <a:effectLst/>
                <a:latin typeface="+mn-lt"/>
                <a:ea typeface="+mn-ea"/>
                <a:cs typeface="+mn-cs"/>
              </a:rPr>
              <a:t>function.json</a:t>
            </a:r>
            <a:r>
              <a:rPr lang="en-CA" dirty="0"/>
              <a:t>. Azure injects the data for you. This keeps your functions small, clean, and focused on logic rather than plumbing. It also makes it easier to test and maintain.</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8</a:t>
            </a:fld>
            <a:endParaRPr lang="en-US"/>
          </a:p>
        </p:txBody>
      </p:sp>
    </p:spTree>
    <p:extLst>
      <p:ext uri="{BB962C8B-B14F-4D97-AF65-F5344CB8AC3E}">
        <p14:creationId xmlns:p14="http://schemas.microsoft.com/office/powerpoint/2010/main" val="6885524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When you’re ready to deploy, you have several options. VS Code offers a one‑click deployment experience. The Azure CLI gives you more control and works well for automation. For production scenarios, GitHub Actions or Azure DevOps pipelines are ideal. You can also deploy via zip packages or containers if you need more customization.</a:t>
            </a:r>
            <a:endParaRPr lang="en-US" dirty="0"/>
          </a:p>
        </p:txBody>
      </p:sp>
      <p:sp>
        <p:nvSpPr>
          <p:cNvPr id="4" name="Slide Number Placeholder 3"/>
          <p:cNvSpPr>
            <a:spLocks noGrp="1"/>
          </p:cNvSpPr>
          <p:nvPr>
            <p:ph type="sldNum" sz="quarter" idx="5"/>
          </p:nvPr>
        </p:nvSpPr>
        <p:spPr/>
        <p:txBody>
          <a:bodyPr/>
          <a:lstStyle/>
          <a:p>
            <a:fld id="{DEA9EC4E-A411-7146-B3D4-121807D0E983}" type="slidenum">
              <a:rPr lang="en-US" smtClean="0"/>
              <a:t>9</a:t>
            </a:fld>
            <a:endParaRPr lang="en-US"/>
          </a:p>
        </p:txBody>
      </p:sp>
    </p:spTree>
    <p:extLst>
      <p:ext uri="{BB962C8B-B14F-4D97-AF65-F5344CB8AC3E}">
        <p14:creationId xmlns:p14="http://schemas.microsoft.com/office/powerpoint/2010/main" val="5111591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wrap up, keep your functions small and single‑purpose. Use environment variables for configuration. Organize shared logic in separate modules. Turn on Application Insights so you can monitor performance and diagnose issues. For long‑running workflows, consider Durable Functions. </a:t>
            </a:r>
            <a:r>
              <a:rPr lang="en-CA"/>
              <a:t>And always validate inputs—serverless functions often sit at the edge of your system, so they need to be resilient.</a:t>
            </a:r>
            <a:endParaRPr lang="en-US"/>
          </a:p>
        </p:txBody>
      </p:sp>
      <p:sp>
        <p:nvSpPr>
          <p:cNvPr id="4" name="Slide Number Placeholder 3"/>
          <p:cNvSpPr>
            <a:spLocks noGrp="1"/>
          </p:cNvSpPr>
          <p:nvPr>
            <p:ph type="sldNum" sz="quarter" idx="5"/>
          </p:nvPr>
        </p:nvSpPr>
        <p:spPr/>
        <p:txBody>
          <a:bodyPr/>
          <a:lstStyle/>
          <a:p>
            <a:fld id="{DEA9EC4E-A411-7146-B3D4-121807D0E983}" type="slidenum">
              <a:rPr lang="en-US" smtClean="0"/>
              <a:t>10</a:t>
            </a:fld>
            <a:endParaRPr lang="en-US"/>
          </a:p>
        </p:txBody>
      </p:sp>
    </p:spTree>
    <p:extLst>
      <p:ext uri="{BB962C8B-B14F-4D97-AF65-F5344CB8AC3E}">
        <p14:creationId xmlns:p14="http://schemas.microsoft.com/office/powerpoint/2010/main" val="83372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BCD94-A7BE-8CCF-135C-35A3DB66B9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FF318C-D9F0-5C74-9A4D-361A89F33D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B484D59-AC41-E120-4E45-134614E3C7AD}"/>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E956AEA8-26F7-3ADD-D804-E513065BF1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9C6E65-99E1-1A93-EF86-54FAC50D6414}"/>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1081625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C0032-E282-69F5-2C44-95D7F3D395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026690E-BE4D-BBF6-C5E3-9292E0672C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3AF25F-6B59-8C10-AA5C-27F2774EDEA1}"/>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0E655FA6-7F5A-0144-D0A8-19A4901CA4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C6D529-CE0F-9FCC-B83F-4E5177D148B3}"/>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600650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0A510-E87F-57DE-A2E9-61B605AC6D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67BE33E-1366-A168-1E61-CB612DFB79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B083F4C-7940-27B6-8D93-EE693EC4A593}"/>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801A55D1-5918-B87D-BC89-276665EE96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5DFDA2-8304-4917-7888-9FA3A99FB6CB}"/>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1109301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7BB4A-3AE1-D38B-3BA4-29774BF287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37B465-0292-5485-2BEA-335BF6092B4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587DB1-C7D5-836E-355F-577ABAB376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9894F1-F621-757A-1A4B-70B86A85A941}"/>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6" name="Footer Placeholder 5">
            <a:extLst>
              <a:ext uri="{FF2B5EF4-FFF2-40B4-BE49-F238E27FC236}">
                <a16:creationId xmlns:a16="http://schemas.microsoft.com/office/drawing/2014/main" id="{4DF477EB-3757-1F22-33DA-0EADBB2D5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DC4012-9FDB-5C35-2754-63A4CBAAE099}"/>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794990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C2D0D-5B48-252B-1B8F-8DA36399073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6D3C3C-8356-85A3-AD42-0816380692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433E52-5A92-2D0B-B5A3-D7B53141DB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C6DCA2-AB62-9E07-1515-29A49CFB49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781684-43F0-EAF6-6536-DFC922F9AB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BEABAC7-5E2B-7B18-FA87-B8040B080D07}"/>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8" name="Footer Placeholder 7">
            <a:extLst>
              <a:ext uri="{FF2B5EF4-FFF2-40B4-BE49-F238E27FC236}">
                <a16:creationId xmlns:a16="http://schemas.microsoft.com/office/drawing/2014/main" id="{3DC332F6-5522-59C2-237D-13CC1C1660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04AAB02-0243-0C31-257C-CA756B9ACE22}"/>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492784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55D2C-0091-B82E-F96B-5789CB6B0A9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D53DAC-ACFD-8B8A-22BF-4726E8EF434C}"/>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4" name="Footer Placeholder 3">
            <a:extLst>
              <a:ext uri="{FF2B5EF4-FFF2-40B4-BE49-F238E27FC236}">
                <a16:creationId xmlns:a16="http://schemas.microsoft.com/office/drawing/2014/main" id="{3C46395C-592D-41D2-6119-255D72FCFCB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A3E8E3-D79C-CFCB-9009-7B498A9016D1}"/>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767826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348D50-EA28-EE61-7EB1-014880844ACB}"/>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3" name="Footer Placeholder 2">
            <a:extLst>
              <a:ext uri="{FF2B5EF4-FFF2-40B4-BE49-F238E27FC236}">
                <a16:creationId xmlns:a16="http://schemas.microsoft.com/office/drawing/2014/main" id="{E9E8D6DA-1969-B73A-BBA7-2A42B3B4C7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2DF3F2-7E9C-6838-DC6E-BAC2C65395B6}"/>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333606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334C0-9501-F8E2-D947-8DE7EABAE1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1E9D58-1A32-8E1F-17CF-2A655E73C4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367BA8-677A-17E7-9E6C-CBBE5C44BF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386642-D230-2CD1-C68F-504C0DCD384B}"/>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6" name="Footer Placeholder 5">
            <a:extLst>
              <a:ext uri="{FF2B5EF4-FFF2-40B4-BE49-F238E27FC236}">
                <a16:creationId xmlns:a16="http://schemas.microsoft.com/office/drawing/2014/main" id="{A3F3E98F-018F-D1CD-9804-91F9A6B7AA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E10FBD-A6FB-8523-923A-FD72CCBA7340}"/>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2968987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77403-9E9E-3779-85DE-CBB5A1F6CE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4F06F8A-1D9E-880D-009E-B23322760A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3DC28A-B217-C62D-E00F-5218BD575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6074D3-F2DF-BA2C-E0D5-A41D4FA2EC4D}"/>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6" name="Footer Placeholder 5">
            <a:extLst>
              <a:ext uri="{FF2B5EF4-FFF2-40B4-BE49-F238E27FC236}">
                <a16:creationId xmlns:a16="http://schemas.microsoft.com/office/drawing/2014/main" id="{A4110478-A3E2-670D-3B69-E4757F6CCD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5C04CB-7E7B-885F-CCC0-341FBEF9B63B}"/>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913797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D941B-5F17-3101-91D1-C3A37BA839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E94E05-B63F-67C2-C576-CBF57FD2DA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1B3508-1092-3DB1-1828-A7097DB39D49}"/>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C7C8BBAF-CDD1-0859-B6BA-32D70427DB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810CBA-7F40-1588-2844-944CF643D3D4}"/>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1784430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EEDA25-F29F-F8ED-3E7D-215915918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158089-5F6C-F701-5C06-3C5D91B29E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36D675-7C9F-21CD-B3D1-640873D9A4F9}"/>
              </a:ext>
            </a:extLst>
          </p:cNvPr>
          <p:cNvSpPr>
            <a:spLocks noGrp="1"/>
          </p:cNvSpPr>
          <p:nvPr>
            <p:ph type="dt" sz="half" idx="10"/>
          </p:nvPr>
        </p:nvSpPr>
        <p:spPr/>
        <p:txBody>
          <a:body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EE6860C0-1966-05EA-4B7D-88C149F86A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D00899-ECA2-0851-5955-9574F44C3E50}"/>
              </a:ext>
            </a:extLst>
          </p:cNvPr>
          <p:cNvSpPr>
            <a:spLocks noGrp="1"/>
          </p:cNvSpPr>
          <p:nvPr>
            <p:ph type="sldNum" sz="quarter" idx="12"/>
          </p:nvPr>
        </p:nvSpPr>
        <p:spPr/>
        <p:txBody>
          <a:bodyPr/>
          <a:lstStyle/>
          <a:p>
            <a:fld id="{3FD1DA4F-2D79-9D4D-97D8-51520AADD87B}" type="slidenum">
              <a:rPr lang="en-US" smtClean="0"/>
              <a:t>‹#›</a:t>
            </a:fld>
            <a:endParaRPr lang="en-US"/>
          </a:p>
        </p:txBody>
      </p:sp>
    </p:spTree>
    <p:extLst>
      <p:ext uri="{BB962C8B-B14F-4D97-AF65-F5344CB8AC3E}">
        <p14:creationId xmlns:p14="http://schemas.microsoft.com/office/powerpoint/2010/main" val="39318783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10D7A6E-A51E-DD94-C592-4CE9D867B0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CED904-DD1A-BC4E-40E2-A3E4BEBF5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F7391A-3518-A8D1-7C49-418FB312DE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B3C3AC0-57F9-0843-B2CC-8ABCE65BCEF1}" type="datetimeFigureOut">
              <a:rPr lang="en-US" smtClean="0"/>
              <a:t>2/19/26</a:t>
            </a:fld>
            <a:endParaRPr lang="en-US"/>
          </a:p>
        </p:txBody>
      </p:sp>
      <p:sp>
        <p:nvSpPr>
          <p:cNvPr id="5" name="Footer Placeholder 4">
            <a:extLst>
              <a:ext uri="{FF2B5EF4-FFF2-40B4-BE49-F238E27FC236}">
                <a16:creationId xmlns:a16="http://schemas.microsoft.com/office/drawing/2014/main" id="{384F24CD-9F3D-60C1-1D81-A28A4B79B3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B2A6349-1759-D2B2-30D4-84F810D0293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D1DA4F-2D79-9D4D-97D8-51520AADD87B}" type="slidenum">
              <a:rPr lang="en-US" smtClean="0"/>
              <a:t>‹#›</a:t>
            </a:fld>
            <a:endParaRPr lang="en-US"/>
          </a:p>
        </p:txBody>
      </p:sp>
    </p:spTree>
    <p:extLst>
      <p:ext uri="{BB962C8B-B14F-4D97-AF65-F5344CB8AC3E}">
        <p14:creationId xmlns:p14="http://schemas.microsoft.com/office/powerpoint/2010/main" val="423858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8BC73-182A-1375-5006-F1F176E6B2E8}"/>
              </a:ext>
            </a:extLst>
          </p:cNvPr>
          <p:cNvSpPr>
            <a:spLocks noGrp="1"/>
          </p:cNvSpPr>
          <p:nvPr>
            <p:ph type="ctrTitle"/>
          </p:nvPr>
        </p:nvSpPr>
        <p:spPr/>
        <p:txBody>
          <a:bodyPr/>
          <a:lstStyle/>
          <a:p>
            <a:r>
              <a:rPr lang="en-US" dirty="0"/>
              <a:t>Azure Functions with TypeScript </a:t>
            </a:r>
          </a:p>
        </p:txBody>
      </p:sp>
      <p:sp>
        <p:nvSpPr>
          <p:cNvPr id="3" name="Subtitle 2">
            <a:extLst>
              <a:ext uri="{FF2B5EF4-FFF2-40B4-BE49-F238E27FC236}">
                <a16:creationId xmlns:a16="http://schemas.microsoft.com/office/drawing/2014/main" id="{4E50D001-54AB-36DF-E754-E31C97EDF9AF}"/>
              </a:ext>
            </a:extLst>
          </p:cNvPr>
          <p:cNvSpPr>
            <a:spLocks noGrp="1"/>
          </p:cNvSpPr>
          <p:nvPr>
            <p:ph type="subTitle" idx="1"/>
          </p:nvPr>
        </p:nvSpPr>
        <p:spPr/>
        <p:txBody>
          <a:bodyPr/>
          <a:lstStyle/>
          <a:p>
            <a:r>
              <a:rPr lang="en-US" dirty="0"/>
              <a:t>Building Serverless Applications on Azure</a:t>
            </a:r>
          </a:p>
          <a:p>
            <a:r>
              <a:rPr lang="en-US" dirty="0"/>
              <a:t>By: </a:t>
            </a:r>
            <a:r>
              <a:rPr lang="en-US" i="1" dirty="0"/>
              <a:t>Medhat Elmasry</a:t>
            </a:r>
          </a:p>
        </p:txBody>
      </p:sp>
    </p:spTree>
    <p:extLst>
      <p:ext uri="{BB962C8B-B14F-4D97-AF65-F5344CB8AC3E}">
        <p14:creationId xmlns:p14="http://schemas.microsoft.com/office/powerpoint/2010/main" val="246740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662B-FB49-988D-F97E-5E5BAB25621D}"/>
              </a:ext>
            </a:extLst>
          </p:cNvPr>
          <p:cNvSpPr>
            <a:spLocks noGrp="1"/>
          </p:cNvSpPr>
          <p:nvPr>
            <p:ph type="title"/>
          </p:nvPr>
        </p:nvSpPr>
        <p:spPr/>
        <p:txBody>
          <a:bodyPr/>
          <a:lstStyle/>
          <a:p>
            <a:r>
              <a:rPr lang="en-US" dirty="0"/>
              <a:t>What Are Azure Functions?</a:t>
            </a:r>
          </a:p>
        </p:txBody>
      </p:sp>
      <p:sp>
        <p:nvSpPr>
          <p:cNvPr id="3" name="Content Placeholder 2">
            <a:extLst>
              <a:ext uri="{FF2B5EF4-FFF2-40B4-BE49-F238E27FC236}">
                <a16:creationId xmlns:a16="http://schemas.microsoft.com/office/drawing/2014/main" id="{F47A9876-82B3-D3B2-79DF-CD1D40939FA5}"/>
              </a:ext>
            </a:extLst>
          </p:cNvPr>
          <p:cNvSpPr>
            <a:spLocks noGrp="1"/>
          </p:cNvSpPr>
          <p:nvPr>
            <p:ph idx="1"/>
          </p:nvPr>
        </p:nvSpPr>
        <p:spPr/>
        <p:txBody>
          <a:bodyPr/>
          <a:lstStyle/>
          <a:p>
            <a:r>
              <a:rPr lang="en-US" dirty="0"/>
              <a:t>Event‑driven, serverless compute platform</a:t>
            </a:r>
          </a:p>
          <a:p>
            <a:r>
              <a:rPr lang="en-US" dirty="0"/>
              <a:t>Automatically scales based on demand</a:t>
            </a:r>
          </a:p>
          <a:p>
            <a:r>
              <a:rPr lang="en-US" dirty="0"/>
              <a:t>Pay‑per‑execution model</a:t>
            </a:r>
          </a:p>
          <a:p>
            <a:r>
              <a:rPr lang="en-US" dirty="0"/>
              <a:t>Ideal for APIs, automation, integrations, and background tasks</a:t>
            </a:r>
          </a:p>
        </p:txBody>
      </p:sp>
    </p:spTree>
    <p:extLst>
      <p:ext uri="{BB962C8B-B14F-4D97-AF65-F5344CB8AC3E}">
        <p14:creationId xmlns:p14="http://schemas.microsoft.com/office/powerpoint/2010/main" val="1208158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B3B9A-5F23-FCA0-E0D2-54BEF471177B}"/>
              </a:ext>
            </a:extLst>
          </p:cNvPr>
          <p:cNvSpPr>
            <a:spLocks noGrp="1"/>
          </p:cNvSpPr>
          <p:nvPr>
            <p:ph type="title"/>
          </p:nvPr>
        </p:nvSpPr>
        <p:spPr/>
        <p:txBody>
          <a:bodyPr/>
          <a:lstStyle/>
          <a:p>
            <a:r>
              <a:rPr lang="en-US" dirty="0"/>
              <a:t>Why Use TypeScript?</a:t>
            </a:r>
          </a:p>
        </p:txBody>
      </p:sp>
      <p:sp>
        <p:nvSpPr>
          <p:cNvPr id="3" name="Content Placeholder 2">
            <a:extLst>
              <a:ext uri="{FF2B5EF4-FFF2-40B4-BE49-F238E27FC236}">
                <a16:creationId xmlns:a16="http://schemas.microsoft.com/office/drawing/2014/main" id="{1DBC347A-12AD-C32F-21BE-13F28AF2B369}"/>
              </a:ext>
            </a:extLst>
          </p:cNvPr>
          <p:cNvSpPr>
            <a:spLocks noGrp="1"/>
          </p:cNvSpPr>
          <p:nvPr>
            <p:ph idx="1"/>
          </p:nvPr>
        </p:nvSpPr>
        <p:spPr/>
        <p:txBody>
          <a:bodyPr/>
          <a:lstStyle/>
          <a:p>
            <a:r>
              <a:rPr lang="en-US" dirty="0"/>
              <a:t>Strong typing improves reliability</a:t>
            </a:r>
          </a:p>
          <a:p>
            <a:r>
              <a:rPr lang="en-US" dirty="0"/>
              <a:t>Better tooling: IntelliSense, refactoring, debugging</a:t>
            </a:r>
          </a:p>
          <a:p>
            <a:r>
              <a:rPr lang="en-US" dirty="0"/>
              <a:t>Modern JavaScript features with compile‑time checks</a:t>
            </a:r>
          </a:p>
          <a:p>
            <a:r>
              <a:rPr lang="en-US" dirty="0"/>
              <a:t>First‑class support in Azure Functions v4</a:t>
            </a:r>
          </a:p>
        </p:txBody>
      </p:sp>
    </p:spTree>
    <p:extLst>
      <p:ext uri="{BB962C8B-B14F-4D97-AF65-F5344CB8AC3E}">
        <p14:creationId xmlns:p14="http://schemas.microsoft.com/office/powerpoint/2010/main" val="1054071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EFD4F-3DB1-CECB-2034-D682D6FA19D5}"/>
              </a:ext>
            </a:extLst>
          </p:cNvPr>
          <p:cNvSpPr>
            <a:spLocks noGrp="1"/>
          </p:cNvSpPr>
          <p:nvPr>
            <p:ph type="title"/>
          </p:nvPr>
        </p:nvSpPr>
        <p:spPr/>
        <p:txBody>
          <a:bodyPr/>
          <a:lstStyle/>
          <a:p>
            <a:r>
              <a:rPr lang="en-US" dirty="0"/>
              <a:t>Azure Functions Core Concepts</a:t>
            </a:r>
          </a:p>
        </p:txBody>
      </p:sp>
      <p:sp>
        <p:nvSpPr>
          <p:cNvPr id="3" name="Content Placeholder 2">
            <a:extLst>
              <a:ext uri="{FF2B5EF4-FFF2-40B4-BE49-F238E27FC236}">
                <a16:creationId xmlns:a16="http://schemas.microsoft.com/office/drawing/2014/main" id="{A299A148-C08C-13DC-F16C-F5D4C24EC579}"/>
              </a:ext>
            </a:extLst>
          </p:cNvPr>
          <p:cNvSpPr>
            <a:spLocks noGrp="1"/>
          </p:cNvSpPr>
          <p:nvPr>
            <p:ph idx="1"/>
          </p:nvPr>
        </p:nvSpPr>
        <p:spPr/>
        <p:txBody>
          <a:bodyPr/>
          <a:lstStyle/>
          <a:p>
            <a:r>
              <a:rPr lang="en-US" b="1" dirty="0"/>
              <a:t>Triggers</a:t>
            </a:r>
            <a:r>
              <a:rPr lang="en-US" dirty="0"/>
              <a:t>: define how a function starts (HTTP, Timer, Queue, Blob, Event Hub…)</a:t>
            </a:r>
          </a:p>
          <a:p>
            <a:r>
              <a:rPr lang="en-US" b="1" dirty="0"/>
              <a:t>Bindings</a:t>
            </a:r>
            <a:r>
              <a:rPr lang="en-US" dirty="0"/>
              <a:t>: input/output integrations without boilerplate code</a:t>
            </a:r>
          </a:p>
          <a:p>
            <a:r>
              <a:rPr lang="en-US" b="1" dirty="0"/>
              <a:t>Function App</a:t>
            </a:r>
            <a:r>
              <a:rPr lang="en-US" dirty="0"/>
              <a:t>: container for one or more functions</a:t>
            </a:r>
          </a:p>
          <a:p>
            <a:r>
              <a:rPr lang="en-US" dirty="0"/>
              <a:t>Consumption vs. Premium vs. Dedicated plans</a:t>
            </a:r>
          </a:p>
        </p:txBody>
      </p:sp>
    </p:spTree>
    <p:extLst>
      <p:ext uri="{BB962C8B-B14F-4D97-AF65-F5344CB8AC3E}">
        <p14:creationId xmlns:p14="http://schemas.microsoft.com/office/powerpoint/2010/main" val="1770554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8C22C-8C20-122B-7425-2BC8BAD7AAE5}"/>
              </a:ext>
            </a:extLst>
          </p:cNvPr>
          <p:cNvSpPr>
            <a:spLocks noGrp="1"/>
          </p:cNvSpPr>
          <p:nvPr>
            <p:ph type="title"/>
          </p:nvPr>
        </p:nvSpPr>
        <p:spPr/>
        <p:txBody>
          <a:bodyPr/>
          <a:lstStyle/>
          <a:p>
            <a:r>
              <a:rPr lang="en-US" dirty="0"/>
              <a:t>Development Environment Setup</a:t>
            </a:r>
          </a:p>
        </p:txBody>
      </p:sp>
      <p:sp>
        <p:nvSpPr>
          <p:cNvPr id="3" name="Content Placeholder 2">
            <a:extLst>
              <a:ext uri="{FF2B5EF4-FFF2-40B4-BE49-F238E27FC236}">
                <a16:creationId xmlns:a16="http://schemas.microsoft.com/office/drawing/2014/main" id="{7E197EE9-5FE7-27E8-C602-3673DF77CD56}"/>
              </a:ext>
            </a:extLst>
          </p:cNvPr>
          <p:cNvSpPr>
            <a:spLocks noGrp="1"/>
          </p:cNvSpPr>
          <p:nvPr>
            <p:ph idx="1"/>
          </p:nvPr>
        </p:nvSpPr>
        <p:spPr>
          <a:xfrm>
            <a:off x="838200" y="1744477"/>
            <a:ext cx="10515600" cy="4351338"/>
          </a:xfrm>
        </p:spPr>
        <p:txBody>
          <a:bodyPr>
            <a:normAutofit/>
          </a:bodyPr>
          <a:lstStyle/>
          <a:p>
            <a:r>
              <a:rPr lang="en-US" dirty="0"/>
              <a:t>Install Node.js (LTS)</a:t>
            </a:r>
          </a:p>
          <a:p>
            <a:r>
              <a:rPr lang="en-US" dirty="0"/>
              <a:t>Install Azure Functions Core Tools</a:t>
            </a:r>
          </a:p>
          <a:p>
            <a:r>
              <a:rPr lang="en-US" dirty="0"/>
              <a:t>Install Azure CLI (optional)</a:t>
            </a:r>
          </a:p>
          <a:p>
            <a:r>
              <a:rPr lang="en-US" dirty="0"/>
              <a:t>VS Code with Azure Functions extension</a:t>
            </a:r>
          </a:p>
          <a:p>
            <a:r>
              <a:rPr lang="en-US" dirty="0"/>
              <a:t>Initialize project:</a:t>
            </a:r>
          </a:p>
        </p:txBody>
      </p:sp>
      <p:sp>
        <p:nvSpPr>
          <p:cNvPr id="4" name="Rounded Rectangle 3">
            <a:extLst>
              <a:ext uri="{FF2B5EF4-FFF2-40B4-BE49-F238E27FC236}">
                <a16:creationId xmlns:a16="http://schemas.microsoft.com/office/drawing/2014/main" id="{A9513219-6A42-F4F0-4F8F-9E0F22AFB183}"/>
              </a:ext>
            </a:extLst>
          </p:cNvPr>
          <p:cNvSpPr/>
          <p:nvPr/>
        </p:nvSpPr>
        <p:spPr>
          <a:xfrm>
            <a:off x="2269864" y="4335333"/>
            <a:ext cx="5023821" cy="6777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Lucida Console" panose="020B0609040504020204" pitchFamily="49" charset="0"/>
              </a:rPr>
              <a:t>func</a:t>
            </a:r>
            <a:r>
              <a:rPr lang="en-US" dirty="0">
                <a:latin typeface="Lucida Console" panose="020B0609040504020204" pitchFamily="49" charset="0"/>
              </a:rPr>
              <a:t> </a:t>
            </a:r>
            <a:r>
              <a:rPr lang="en-US" dirty="0" err="1">
                <a:latin typeface="Lucida Console" panose="020B0609040504020204" pitchFamily="49" charset="0"/>
              </a:rPr>
              <a:t>init</a:t>
            </a:r>
            <a:r>
              <a:rPr lang="en-US" dirty="0">
                <a:latin typeface="Lucida Console" panose="020B0609040504020204" pitchFamily="49" charset="0"/>
              </a:rPr>
              <a:t> </a:t>
            </a:r>
            <a:r>
              <a:rPr lang="en-US" dirty="0" err="1">
                <a:latin typeface="Lucida Console" panose="020B0609040504020204" pitchFamily="49" charset="0"/>
              </a:rPr>
              <a:t>myapp</a:t>
            </a:r>
            <a:r>
              <a:rPr lang="en-US" dirty="0">
                <a:latin typeface="Lucida Console" panose="020B0609040504020204" pitchFamily="49" charset="0"/>
              </a:rPr>
              <a:t> --typescript</a:t>
            </a:r>
          </a:p>
        </p:txBody>
      </p:sp>
    </p:spTree>
    <p:extLst>
      <p:ext uri="{BB962C8B-B14F-4D97-AF65-F5344CB8AC3E}">
        <p14:creationId xmlns:p14="http://schemas.microsoft.com/office/powerpoint/2010/main" val="28199964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9235F-3527-A4CB-2BAC-64D676EFE1C4}"/>
              </a:ext>
            </a:extLst>
          </p:cNvPr>
          <p:cNvSpPr>
            <a:spLocks noGrp="1"/>
          </p:cNvSpPr>
          <p:nvPr>
            <p:ph type="title"/>
          </p:nvPr>
        </p:nvSpPr>
        <p:spPr/>
        <p:txBody>
          <a:bodyPr/>
          <a:lstStyle/>
          <a:p>
            <a:r>
              <a:rPr lang="en-US" dirty="0"/>
              <a:t>Creating a Function (HTTP Example)</a:t>
            </a:r>
          </a:p>
        </p:txBody>
      </p:sp>
      <p:sp>
        <p:nvSpPr>
          <p:cNvPr id="3" name="Content Placeholder 2">
            <a:extLst>
              <a:ext uri="{FF2B5EF4-FFF2-40B4-BE49-F238E27FC236}">
                <a16:creationId xmlns:a16="http://schemas.microsoft.com/office/drawing/2014/main" id="{16DF82EF-A549-3568-7DB2-A68D2A4A50F6}"/>
              </a:ext>
            </a:extLst>
          </p:cNvPr>
          <p:cNvSpPr>
            <a:spLocks noGrp="1"/>
          </p:cNvSpPr>
          <p:nvPr>
            <p:ph idx="1"/>
          </p:nvPr>
        </p:nvSpPr>
        <p:spPr>
          <a:xfrm>
            <a:off x="838200" y="3076687"/>
            <a:ext cx="10515600" cy="1710466"/>
          </a:xfrm>
        </p:spPr>
        <p:txBody>
          <a:bodyPr/>
          <a:lstStyle/>
          <a:p>
            <a:pPr marL="0" indent="0">
              <a:buNone/>
            </a:pPr>
            <a:r>
              <a:rPr lang="en-US" dirty="0"/>
              <a:t>Generated structure:</a:t>
            </a:r>
          </a:p>
          <a:p>
            <a:pPr lvl="1"/>
            <a:r>
              <a:rPr lang="en-US" dirty="0"/>
              <a:t>hello/</a:t>
            </a:r>
            <a:r>
              <a:rPr lang="en-US" dirty="0" err="1"/>
              <a:t>index.ts</a:t>
            </a:r>
            <a:endParaRPr lang="en-US" dirty="0"/>
          </a:p>
          <a:p>
            <a:pPr lvl="1"/>
            <a:r>
              <a:rPr lang="en-US" dirty="0" err="1"/>
              <a:t>function.json</a:t>
            </a:r>
            <a:endParaRPr lang="en-US" dirty="0"/>
          </a:p>
          <a:p>
            <a:pPr lvl="1"/>
            <a:r>
              <a:rPr lang="en-US" dirty="0"/>
              <a:t>Local dev server:</a:t>
            </a:r>
          </a:p>
          <a:p>
            <a:endParaRPr lang="en-US" dirty="0"/>
          </a:p>
        </p:txBody>
      </p:sp>
      <p:sp>
        <p:nvSpPr>
          <p:cNvPr id="4" name="Rounded Rectangle 3">
            <a:extLst>
              <a:ext uri="{FF2B5EF4-FFF2-40B4-BE49-F238E27FC236}">
                <a16:creationId xmlns:a16="http://schemas.microsoft.com/office/drawing/2014/main" id="{5BF5326F-6521-6AF9-2815-C7EBDB26B9D0}"/>
              </a:ext>
            </a:extLst>
          </p:cNvPr>
          <p:cNvSpPr/>
          <p:nvPr/>
        </p:nvSpPr>
        <p:spPr>
          <a:xfrm>
            <a:off x="2609626" y="1802773"/>
            <a:ext cx="6972748" cy="6777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Lucida Console" panose="020B0609040504020204" pitchFamily="49" charset="0"/>
              </a:rPr>
              <a:t>func</a:t>
            </a:r>
            <a:r>
              <a:rPr lang="en-US" dirty="0">
                <a:latin typeface="Lucida Console" panose="020B0609040504020204" pitchFamily="49" charset="0"/>
              </a:rPr>
              <a:t> new --name hello --template "HTTP trigger"</a:t>
            </a:r>
          </a:p>
        </p:txBody>
      </p:sp>
      <p:sp>
        <p:nvSpPr>
          <p:cNvPr id="5" name="Rounded Rectangle 4">
            <a:extLst>
              <a:ext uri="{FF2B5EF4-FFF2-40B4-BE49-F238E27FC236}">
                <a16:creationId xmlns:a16="http://schemas.microsoft.com/office/drawing/2014/main" id="{1834D554-21E1-84B9-8958-5FCD57B44547}"/>
              </a:ext>
            </a:extLst>
          </p:cNvPr>
          <p:cNvSpPr/>
          <p:nvPr/>
        </p:nvSpPr>
        <p:spPr>
          <a:xfrm>
            <a:off x="2609626" y="4967314"/>
            <a:ext cx="1901414" cy="6777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Lucida Console" panose="020B0609040504020204" pitchFamily="49" charset="0"/>
              </a:rPr>
              <a:t>func</a:t>
            </a:r>
            <a:r>
              <a:rPr lang="en-US" dirty="0">
                <a:latin typeface="Lucida Console" panose="020B0609040504020204" pitchFamily="49" charset="0"/>
              </a:rPr>
              <a:t> start</a:t>
            </a:r>
          </a:p>
        </p:txBody>
      </p:sp>
    </p:spTree>
    <p:extLst>
      <p:ext uri="{BB962C8B-B14F-4D97-AF65-F5344CB8AC3E}">
        <p14:creationId xmlns:p14="http://schemas.microsoft.com/office/powerpoint/2010/main" val="3107686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1832F-D748-AF86-4562-D7C7808589B1}"/>
              </a:ext>
            </a:extLst>
          </p:cNvPr>
          <p:cNvSpPr>
            <a:spLocks noGrp="1"/>
          </p:cNvSpPr>
          <p:nvPr>
            <p:ph type="title"/>
          </p:nvPr>
        </p:nvSpPr>
        <p:spPr/>
        <p:txBody>
          <a:bodyPr/>
          <a:lstStyle/>
          <a:p>
            <a:r>
              <a:rPr lang="en-US" dirty="0"/>
              <a:t>Example TypeScript Function</a:t>
            </a:r>
          </a:p>
        </p:txBody>
      </p:sp>
      <p:sp>
        <p:nvSpPr>
          <p:cNvPr id="3" name="Content Placeholder 2">
            <a:extLst>
              <a:ext uri="{FF2B5EF4-FFF2-40B4-BE49-F238E27FC236}">
                <a16:creationId xmlns:a16="http://schemas.microsoft.com/office/drawing/2014/main" id="{97CE5C1C-0B7E-E5BE-178D-1057D44DFE7A}"/>
              </a:ext>
            </a:extLst>
          </p:cNvPr>
          <p:cNvSpPr>
            <a:spLocks noGrp="1"/>
          </p:cNvSpPr>
          <p:nvPr>
            <p:ph idx="1"/>
          </p:nvPr>
        </p:nvSpPr>
        <p:spPr>
          <a:xfrm>
            <a:off x="838200" y="4572000"/>
            <a:ext cx="10515600" cy="1604962"/>
          </a:xfrm>
        </p:spPr>
        <p:txBody>
          <a:bodyPr>
            <a:normAutofit/>
          </a:bodyPr>
          <a:lstStyle/>
          <a:p>
            <a:pPr marL="0" indent="0">
              <a:buNone/>
            </a:pPr>
            <a:r>
              <a:rPr lang="en-US" dirty="0"/>
              <a:t>Key points:</a:t>
            </a:r>
          </a:p>
          <a:p>
            <a:pPr lvl="1"/>
            <a:r>
              <a:rPr lang="en-US" dirty="0"/>
              <a:t>Strong typing for </a:t>
            </a:r>
            <a:r>
              <a:rPr lang="en-US" i="1" dirty="0"/>
              <a:t>Context</a:t>
            </a:r>
            <a:r>
              <a:rPr lang="en-US" dirty="0"/>
              <a:t> and </a:t>
            </a:r>
            <a:r>
              <a:rPr lang="en-US" i="1" dirty="0" err="1"/>
              <a:t>HttpRequest</a:t>
            </a:r>
            <a:endParaRPr lang="en-US" i="1" dirty="0"/>
          </a:p>
          <a:p>
            <a:pPr lvl="1"/>
            <a:r>
              <a:rPr lang="en-US" dirty="0"/>
              <a:t>Simple return via </a:t>
            </a:r>
            <a:r>
              <a:rPr lang="en-US" i="1" dirty="0" err="1"/>
              <a:t>context.res</a:t>
            </a:r>
            <a:endParaRPr lang="en-US" i="1" dirty="0"/>
          </a:p>
        </p:txBody>
      </p:sp>
      <p:sp>
        <p:nvSpPr>
          <p:cNvPr id="6" name="Rounded Rectangle 5">
            <a:extLst>
              <a:ext uri="{FF2B5EF4-FFF2-40B4-BE49-F238E27FC236}">
                <a16:creationId xmlns:a16="http://schemas.microsoft.com/office/drawing/2014/main" id="{17D7EE75-88A6-4909-5312-30E7224403BD}"/>
              </a:ext>
            </a:extLst>
          </p:cNvPr>
          <p:cNvSpPr/>
          <p:nvPr/>
        </p:nvSpPr>
        <p:spPr>
          <a:xfrm>
            <a:off x="2102672" y="1733718"/>
            <a:ext cx="7986656" cy="25065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r>
              <a:rPr lang="en-US" sz="1400" dirty="0">
                <a:latin typeface="Lucida Console" panose="020B0609040504020204" pitchFamily="49" charset="0"/>
              </a:rPr>
              <a:t>import { </a:t>
            </a:r>
            <a:r>
              <a:rPr lang="en-US" sz="1400" dirty="0" err="1">
                <a:latin typeface="Lucida Console" panose="020B0609040504020204" pitchFamily="49" charset="0"/>
              </a:rPr>
              <a:t>AzureFunction</a:t>
            </a:r>
            <a:r>
              <a:rPr lang="en-US" sz="1400" dirty="0">
                <a:latin typeface="Lucida Console" panose="020B0609040504020204" pitchFamily="49" charset="0"/>
              </a:rPr>
              <a:t>, Context, </a:t>
            </a:r>
            <a:r>
              <a:rPr lang="en-US" sz="1400" dirty="0" err="1">
                <a:latin typeface="Lucida Console" panose="020B0609040504020204" pitchFamily="49" charset="0"/>
              </a:rPr>
              <a:t>HttpRequest</a:t>
            </a:r>
            <a:r>
              <a:rPr lang="en-US" sz="1400" dirty="0">
                <a:latin typeface="Lucida Console" panose="020B0609040504020204" pitchFamily="49" charset="0"/>
              </a:rPr>
              <a:t> } from "@azure/functions";</a:t>
            </a:r>
          </a:p>
          <a:p>
            <a:endParaRPr lang="en-US" sz="1400" dirty="0">
              <a:latin typeface="Lucida Console" panose="020B0609040504020204" pitchFamily="49" charset="0"/>
            </a:endParaRPr>
          </a:p>
          <a:p>
            <a:r>
              <a:rPr lang="en-US" sz="1400" dirty="0">
                <a:latin typeface="Lucida Console" panose="020B0609040504020204" pitchFamily="49" charset="0"/>
              </a:rPr>
              <a:t>const </a:t>
            </a:r>
            <a:r>
              <a:rPr lang="en-US" sz="1400" dirty="0" err="1">
                <a:latin typeface="Lucida Console" panose="020B0609040504020204" pitchFamily="49" charset="0"/>
              </a:rPr>
              <a:t>httpTrigger</a:t>
            </a:r>
            <a:r>
              <a:rPr lang="en-US" sz="1400" dirty="0">
                <a:latin typeface="Lucida Console" panose="020B0609040504020204" pitchFamily="49" charset="0"/>
              </a:rPr>
              <a:t>: </a:t>
            </a:r>
            <a:r>
              <a:rPr lang="en-US" sz="1400" dirty="0" err="1">
                <a:latin typeface="Lucida Console" panose="020B0609040504020204" pitchFamily="49" charset="0"/>
              </a:rPr>
              <a:t>AzureFunction</a:t>
            </a:r>
            <a:r>
              <a:rPr lang="en-US" sz="1400" dirty="0">
                <a:latin typeface="Lucida Console" panose="020B0609040504020204" pitchFamily="49" charset="0"/>
              </a:rPr>
              <a:t> = async (context: Context, req: </a:t>
            </a:r>
            <a:r>
              <a:rPr lang="en-US" sz="1400" dirty="0" err="1">
                <a:latin typeface="Lucida Console" panose="020B0609040504020204" pitchFamily="49" charset="0"/>
              </a:rPr>
              <a:t>HttpRequest</a:t>
            </a:r>
            <a:r>
              <a:rPr lang="en-US" sz="1400" dirty="0">
                <a:latin typeface="Lucida Console" panose="020B0609040504020204" pitchFamily="49" charset="0"/>
              </a:rPr>
              <a:t>) =&gt; {</a:t>
            </a:r>
          </a:p>
          <a:p>
            <a:r>
              <a:rPr lang="en-US" sz="1400" dirty="0">
                <a:latin typeface="Lucida Console" panose="020B0609040504020204" pitchFamily="49" charset="0"/>
              </a:rPr>
              <a:t>  const name = </a:t>
            </a:r>
            <a:r>
              <a:rPr lang="en-US" sz="1400" dirty="0" err="1">
                <a:latin typeface="Lucida Console" panose="020B0609040504020204" pitchFamily="49" charset="0"/>
              </a:rPr>
              <a:t>req.query.name</a:t>
            </a:r>
            <a:r>
              <a:rPr lang="en-US" sz="1400" dirty="0">
                <a:latin typeface="Lucida Console" panose="020B0609040504020204" pitchFamily="49" charset="0"/>
              </a:rPr>
              <a:t> || </a:t>
            </a:r>
            <a:r>
              <a:rPr lang="en-US" sz="1400" dirty="0" err="1">
                <a:latin typeface="Lucida Console" panose="020B0609040504020204" pitchFamily="49" charset="0"/>
              </a:rPr>
              <a:t>req.body?.name</a:t>
            </a:r>
            <a:r>
              <a:rPr lang="en-US" sz="1400" dirty="0">
                <a:latin typeface="Lucida Console" panose="020B0609040504020204" pitchFamily="49" charset="0"/>
              </a:rPr>
              <a:t> || "world";</a:t>
            </a:r>
          </a:p>
          <a:p>
            <a:r>
              <a:rPr lang="en-US" sz="1400" dirty="0">
                <a:latin typeface="Lucida Console" panose="020B0609040504020204" pitchFamily="49" charset="0"/>
              </a:rPr>
              <a:t>  </a:t>
            </a:r>
            <a:r>
              <a:rPr lang="en-US" sz="1400" dirty="0" err="1">
                <a:latin typeface="Lucida Console" panose="020B0609040504020204" pitchFamily="49" charset="0"/>
              </a:rPr>
              <a:t>context.res</a:t>
            </a:r>
            <a:r>
              <a:rPr lang="en-US" sz="1400" dirty="0">
                <a:latin typeface="Lucida Console" panose="020B0609040504020204" pitchFamily="49" charset="0"/>
              </a:rPr>
              <a:t> = { body: `Hello, ${name}!` };</a:t>
            </a:r>
          </a:p>
          <a:p>
            <a:r>
              <a:rPr lang="en-US" sz="1400" dirty="0">
                <a:latin typeface="Lucida Console" panose="020B0609040504020204" pitchFamily="49" charset="0"/>
              </a:rPr>
              <a:t>};</a:t>
            </a:r>
          </a:p>
          <a:p>
            <a:endParaRPr lang="en-US" sz="1400" dirty="0">
              <a:latin typeface="Lucida Console" panose="020B0609040504020204" pitchFamily="49" charset="0"/>
            </a:endParaRPr>
          </a:p>
          <a:p>
            <a:r>
              <a:rPr lang="en-US" sz="1400" dirty="0">
                <a:latin typeface="Lucida Console" panose="020B0609040504020204" pitchFamily="49" charset="0"/>
              </a:rPr>
              <a:t>export default </a:t>
            </a:r>
            <a:r>
              <a:rPr lang="en-US" sz="1400" dirty="0" err="1">
                <a:latin typeface="Lucida Console" panose="020B0609040504020204" pitchFamily="49" charset="0"/>
              </a:rPr>
              <a:t>httpTrigger</a:t>
            </a:r>
            <a:r>
              <a:rPr lang="en-US" sz="1400" dirty="0">
                <a:latin typeface="Lucida Console" panose="020B0609040504020204" pitchFamily="49" charset="0"/>
              </a:rPr>
              <a:t>;</a:t>
            </a:r>
          </a:p>
        </p:txBody>
      </p:sp>
    </p:spTree>
    <p:extLst>
      <p:ext uri="{BB962C8B-B14F-4D97-AF65-F5344CB8AC3E}">
        <p14:creationId xmlns:p14="http://schemas.microsoft.com/office/powerpoint/2010/main" val="350397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5AF07-AA76-8BC7-E229-AB728648B7C3}"/>
              </a:ext>
            </a:extLst>
          </p:cNvPr>
          <p:cNvSpPr>
            <a:spLocks noGrp="1"/>
          </p:cNvSpPr>
          <p:nvPr>
            <p:ph type="title"/>
          </p:nvPr>
        </p:nvSpPr>
        <p:spPr/>
        <p:txBody>
          <a:bodyPr/>
          <a:lstStyle/>
          <a:p>
            <a:r>
              <a:rPr lang="en-US" dirty="0"/>
              <a:t>Bindings Overview</a:t>
            </a:r>
          </a:p>
        </p:txBody>
      </p:sp>
      <p:sp>
        <p:nvSpPr>
          <p:cNvPr id="3" name="Content Placeholder 2">
            <a:extLst>
              <a:ext uri="{FF2B5EF4-FFF2-40B4-BE49-F238E27FC236}">
                <a16:creationId xmlns:a16="http://schemas.microsoft.com/office/drawing/2014/main" id="{BB88EDCD-0F0D-3083-8DA9-4FB08D7EAD6E}"/>
              </a:ext>
            </a:extLst>
          </p:cNvPr>
          <p:cNvSpPr>
            <a:spLocks noGrp="1"/>
          </p:cNvSpPr>
          <p:nvPr>
            <p:ph idx="1"/>
          </p:nvPr>
        </p:nvSpPr>
        <p:spPr/>
        <p:txBody>
          <a:bodyPr>
            <a:normAutofit/>
          </a:bodyPr>
          <a:lstStyle/>
          <a:p>
            <a:r>
              <a:rPr lang="en-US" dirty="0"/>
              <a:t>Input bindings:</a:t>
            </a:r>
          </a:p>
          <a:p>
            <a:pPr lvl="1"/>
            <a:r>
              <a:rPr lang="en-US" dirty="0"/>
              <a:t>Read from storage, queues, Cosmos DB, etc.</a:t>
            </a:r>
          </a:p>
          <a:p>
            <a:r>
              <a:rPr lang="en-US" dirty="0"/>
              <a:t>Output bindings:</a:t>
            </a:r>
          </a:p>
          <a:p>
            <a:pPr lvl="1"/>
            <a:r>
              <a:rPr lang="en-US" dirty="0"/>
              <a:t>Write to queues, storage, Event Hub, Service Bus, etc.</a:t>
            </a:r>
          </a:p>
          <a:p>
            <a:r>
              <a:rPr lang="en-US" dirty="0"/>
              <a:t>Benefits:</a:t>
            </a:r>
          </a:p>
          <a:p>
            <a:pPr lvl="1"/>
            <a:r>
              <a:rPr lang="en-US" dirty="0"/>
              <a:t>No SDK boilerplate</a:t>
            </a:r>
          </a:p>
          <a:p>
            <a:pPr lvl="1"/>
            <a:r>
              <a:rPr lang="en-US" dirty="0"/>
              <a:t>Declarative configuration in </a:t>
            </a:r>
            <a:r>
              <a:rPr lang="en-US" i="1" dirty="0" err="1"/>
              <a:t>function.json</a:t>
            </a:r>
            <a:endParaRPr lang="en-US" i="1" dirty="0"/>
          </a:p>
        </p:txBody>
      </p:sp>
    </p:spTree>
    <p:extLst>
      <p:ext uri="{BB962C8B-B14F-4D97-AF65-F5344CB8AC3E}">
        <p14:creationId xmlns:p14="http://schemas.microsoft.com/office/powerpoint/2010/main" val="120121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0A159-8746-FA75-80C2-BF9EF812B8F3}"/>
              </a:ext>
            </a:extLst>
          </p:cNvPr>
          <p:cNvSpPr>
            <a:spLocks noGrp="1"/>
          </p:cNvSpPr>
          <p:nvPr>
            <p:ph type="title"/>
          </p:nvPr>
        </p:nvSpPr>
        <p:spPr/>
        <p:txBody>
          <a:bodyPr/>
          <a:lstStyle/>
          <a:p>
            <a:r>
              <a:rPr lang="en-US" dirty="0"/>
              <a:t>Deployment Options</a:t>
            </a:r>
          </a:p>
        </p:txBody>
      </p:sp>
      <p:sp>
        <p:nvSpPr>
          <p:cNvPr id="3" name="Content Placeholder 2">
            <a:extLst>
              <a:ext uri="{FF2B5EF4-FFF2-40B4-BE49-F238E27FC236}">
                <a16:creationId xmlns:a16="http://schemas.microsoft.com/office/drawing/2014/main" id="{AEDAB7B9-032D-599B-CAB3-A0CD8BCB034C}"/>
              </a:ext>
            </a:extLst>
          </p:cNvPr>
          <p:cNvSpPr>
            <a:spLocks noGrp="1"/>
          </p:cNvSpPr>
          <p:nvPr>
            <p:ph idx="1"/>
          </p:nvPr>
        </p:nvSpPr>
        <p:spPr/>
        <p:txBody>
          <a:bodyPr/>
          <a:lstStyle/>
          <a:p>
            <a:r>
              <a:rPr lang="en-US" dirty="0"/>
              <a:t>VS Code one‑click deploy</a:t>
            </a:r>
          </a:p>
          <a:p>
            <a:r>
              <a:rPr lang="en-US" dirty="0"/>
              <a:t>Azure CLI:</a:t>
            </a:r>
          </a:p>
          <a:p>
            <a:endParaRPr lang="en-US" dirty="0"/>
          </a:p>
          <a:p>
            <a:pPr marL="0" indent="0">
              <a:buNone/>
            </a:pPr>
            <a:endParaRPr lang="en-US" dirty="0"/>
          </a:p>
          <a:p>
            <a:r>
              <a:rPr lang="en-US" dirty="0"/>
              <a:t>GitHub Actions CI/CD</a:t>
            </a:r>
          </a:p>
          <a:p>
            <a:r>
              <a:rPr lang="en-US" dirty="0"/>
              <a:t>Zip deploy or containerized deployment</a:t>
            </a:r>
          </a:p>
        </p:txBody>
      </p:sp>
      <p:sp>
        <p:nvSpPr>
          <p:cNvPr id="4" name="Rounded Rectangle 3">
            <a:extLst>
              <a:ext uri="{FF2B5EF4-FFF2-40B4-BE49-F238E27FC236}">
                <a16:creationId xmlns:a16="http://schemas.microsoft.com/office/drawing/2014/main" id="{37766360-0D39-B91B-1954-54C5384BC8C0}"/>
              </a:ext>
            </a:extLst>
          </p:cNvPr>
          <p:cNvSpPr/>
          <p:nvPr/>
        </p:nvSpPr>
        <p:spPr>
          <a:xfrm>
            <a:off x="2921596" y="2831951"/>
            <a:ext cx="3425415" cy="67773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latin typeface="Lucida Console" panose="020B0609040504020204" pitchFamily="49" charset="0"/>
              </a:rPr>
              <a:t>az</a:t>
            </a:r>
            <a:r>
              <a:rPr lang="en-US" dirty="0">
                <a:latin typeface="Lucida Console" panose="020B0609040504020204" pitchFamily="49" charset="0"/>
              </a:rPr>
              <a:t> </a:t>
            </a:r>
            <a:r>
              <a:rPr lang="en-US" dirty="0" err="1">
                <a:latin typeface="Lucida Console" panose="020B0609040504020204" pitchFamily="49" charset="0"/>
              </a:rPr>
              <a:t>functionapp</a:t>
            </a:r>
            <a:r>
              <a:rPr lang="en-US" dirty="0">
                <a:latin typeface="Lucida Console" panose="020B0609040504020204" pitchFamily="49" charset="0"/>
              </a:rPr>
              <a:t> deploy</a:t>
            </a:r>
          </a:p>
        </p:txBody>
      </p:sp>
    </p:spTree>
    <p:extLst>
      <p:ext uri="{BB962C8B-B14F-4D97-AF65-F5344CB8AC3E}">
        <p14:creationId xmlns:p14="http://schemas.microsoft.com/office/powerpoint/2010/main" val="256641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7F22F-C60C-82C7-21CE-E2D0E9052DE9}"/>
              </a:ext>
            </a:extLst>
          </p:cNvPr>
          <p:cNvSpPr>
            <a:spLocks noGrp="1"/>
          </p:cNvSpPr>
          <p:nvPr>
            <p:ph type="title"/>
          </p:nvPr>
        </p:nvSpPr>
        <p:spPr/>
        <p:txBody>
          <a:bodyPr/>
          <a:lstStyle/>
          <a:p>
            <a:r>
              <a:rPr lang="en-US" dirty="0"/>
              <a:t>Best Practices</a:t>
            </a:r>
          </a:p>
        </p:txBody>
      </p:sp>
      <p:sp>
        <p:nvSpPr>
          <p:cNvPr id="3" name="Content Placeholder 2">
            <a:extLst>
              <a:ext uri="{FF2B5EF4-FFF2-40B4-BE49-F238E27FC236}">
                <a16:creationId xmlns:a16="http://schemas.microsoft.com/office/drawing/2014/main" id="{3D65E50F-EC07-AF69-1E2C-4EFA90324D7C}"/>
              </a:ext>
            </a:extLst>
          </p:cNvPr>
          <p:cNvSpPr>
            <a:spLocks noGrp="1"/>
          </p:cNvSpPr>
          <p:nvPr>
            <p:ph idx="1"/>
          </p:nvPr>
        </p:nvSpPr>
        <p:spPr/>
        <p:txBody>
          <a:bodyPr>
            <a:normAutofit/>
          </a:bodyPr>
          <a:lstStyle/>
          <a:p>
            <a:r>
              <a:rPr lang="en-US" dirty="0"/>
              <a:t>Keep functions small and single‑purpose</a:t>
            </a:r>
          </a:p>
          <a:p>
            <a:r>
              <a:rPr lang="en-US" dirty="0"/>
              <a:t>Use environment variables (</a:t>
            </a:r>
            <a:r>
              <a:rPr lang="en-US" dirty="0" err="1"/>
              <a:t>local.settings.json</a:t>
            </a:r>
            <a:r>
              <a:rPr lang="en-US" dirty="0"/>
              <a:t>)</a:t>
            </a:r>
          </a:p>
          <a:p>
            <a:r>
              <a:rPr lang="en-US" dirty="0"/>
              <a:t>Organize shared code in </a:t>
            </a:r>
            <a:r>
              <a:rPr lang="en-US" i="1" dirty="0"/>
              <a:t>/shared </a:t>
            </a:r>
            <a:r>
              <a:rPr lang="en-US" dirty="0"/>
              <a:t>modules</a:t>
            </a:r>
          </a:p>
          <a:p>
            <a:r>
              <a:rPr lang="en-US" dirty="0"/>
              <a:t>Enable Application Insights for monitoring</a:t>
            </a:r>
          </a:p>
          <a:p>
            <a:r>
              <a:rPr lang="en-US" dirty="0"/>
              <a:t>Use durable functions for workflows</a:t>
            </a:r>
          </a:p>
          <a:p>
            <a:r>
              <a:rPr lang="en-US" dirty="0"/>
              <a:t>Validate inputs and handle errors gracefully</a:t>
            </a:r>
          </a:p>
        </p:txBody>
      </p:sp>
    </p:spTree>
    <p:extLst>
      <p:ext uri="{BB962C8B-B14F-4D97-AF65-F5344CB8AC3E}">
        <p14:creationId xmlns:p14="http://schemas.microsoft.com/office/powerpoint/2010/main" val="31806359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1050</Words>
  <Application>Microsoft Macintosh PowerPoint</Application>
  <PresentationFormat>Widescreen</PresentationFormat>
  <Paragraphs>87</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Aptos Display</vt:lpstr>
      <vt:lpstr>Arial</vt:lpstr>
      <vt:lpstr>Lucida Console</vt:lpstr>
      <vt:lpstr>Office Theme</vt:lpstr>
      <vt:lpstr>Azure Functions with TypeScript </vt:lpstr>
      <vt:lpstr>What Are Azure Functions?</vt:lpstr>
      <vt:lpstr>Why Use TypeScript?</vt:lpstr>
      <vt:lpstr>Azure Functions Core Concepts</vt:lpstr>
      <vt:lpstr>Development Environment Setup</vt:lpstr>
      <vt:lpstr>Creating a Function (HTTP Example)</vt:lpstr>
      <vt:lpstr>Example TypeScript Function</vt:lpstr>
      <vt:lpstr>Bindings Overview</vt:lpstr>
      <vt:lpstr>Deployment Options</vt:lpstr>
      <vt:lpstr>Best Practices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Medhat Elmasry</dc:creator>
  <cp:lastModifiedBy>Medhat Elmasry</cp:lastModifiedBy>
  <cp:revision>1</cp:revision>
  <dcterms:created xsi:type="dcterms:W3CDTF">2026-02-19T17:06:34Z</dcterms:created>
  <dcterms:modified xsi:type="dcterms:W3CDTF">2026-02-19T17:24:43Z</dcterms:modified>
</cp:coreProperties>
</file>